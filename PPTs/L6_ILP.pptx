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148"/>
  </p:notesMasterIdLst>
  <p:sldIdLst>
    <p:sldId id="256" r:id="rId2"/>
    <p:sldId id="796" r:id="rId3"/>
    <p:sldId id="466" r:id="rId4"/>
    <p:sldId id="798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864" r:id="rId19"/>
    <p:sldId id="825" r:id="rId20"/>
    <p:sldId id="865" r:id="rId21"/>
    <p:sldId id="866" r:id="rId22"/>
    <p:sldId id="826" r:id="rId23"/>
    <p:sldId id="828" r:id="rId24"/>
    <p:sldId id="830" r:id="rId25"/>
    <p:sldId id="829" r:id="rId26"/>
    <p:sldId id="273" r:id="rId27"/>
    <p:sldId id="861" r:id="rId28"/>
    <p:sldId id="868" r:id="rId29"/>
    <p:sldId id="807" r:id="rId30"/>
    <p:sldId id="274" r:id="rId31"/>
    <p:sldId id="275" r:id="rId32"/>
    <p:sldId id="276" r:id="rId33"/>
    <p:sldId id="277" r:id="rId34"/>
    <p:sldId id="278" r:id="rId35"/>
    <p:sldId id="279" r:id="rId36"/>
    <p:sldId id="280" r:id="rId37"/>
    <p:sldId id="281" r:id="rId38"/>
    <p:sldId id="282" r:id="rId39"/>
    <p:sldId id="283" r:id="rId40"/>
    <p:sldId id="284" r:id="rId41"/>
    <p:sldId id="285" r:id="rId42"/>
    <p:sldId id="286" r:id="rId43"/>
    <p:sldId id="287" r:id="rId44"/>
    <p:sldId id="288" r:id="rId45"/>
    <p:sldId id="289" r:id="rId46"/>
    <p:sldId id="860" r:id="rId47"/>
    <p:sldId id="859" r:id="rId48"/>
    <p:sldId id="862" r:id="rId49"/>
    <p:sldId id="863" r:id="rId50"/>
    <p:sldId id="808" r:id="rId51"/>
    <p:sldId id="290" r:id="rId52"/>
    <p:sldId id="291" r:id="rId53"/>
    <p:sldId id="292" r:id="rId54"/>
    <p:sldId id="293" r:id="rId55"/>
    <p:sldId id="294" r:id="rId56"/>
    <p:sldId id="295" r:id="rId57"/>
    <p:sldId id="296" r:id="rId58"/>
    <p:sldId id="297" r:id="rId59"/>
    <p:sldId id="298" r:id="rId60"/>
    <p:sldId id="299" r:id="rId61"/>
    <p:sldId id="300" r:id="rId62"/>
    <p:sldId id="301" r:id="rId63"/>
    <p:sldId id="302" r:id="rId64"/>
    <p:sldId id="303" r:id="rId65"/>
    <p:sldId id="304" r:id="rId66"/>
    <p:sldId id="305" r:id="rId67"/>
    <p:sldId id="306" r:id="rId68"/>
    <p:sldId id="307" r:id="rId69"/>
    <p:sldId id="308" r:id="rId70"/>
    <p:sldId id="309" r:id="rId71"/>
    <p:sldId id="310" r:id="rId72"/>
    <p:sldId id="311" r:id="rId73"/>
    <p:sldId id="312" r:id="rId74"/>
    <p:sldId id="313" r:id="rId75"/>
    <p:sldId id="314" r:id="rId76"/>
    <p:sldId id="315" r:id="rId77"/>
    <p:sldId id="316" r:id="rId78"/>
    <p:sldId id="317" r:id="rId79"/>
    <p:sldId id="318" r:id="rId80"/>
    <p:sldId id="319" r:id="rId81"/>
    <p:sldId id="320" r:id="rId82"/>
    <p:sldId id="321" r:id="rId83"/>
    <p:sldId id="322" r:id="rId84"/>
    <p:sldId id="323" r:id="rId85"/>
    <p:sldId id="324" r:id="rId86"/>
    <p:sldId id="325" r:id="rId87"/>
    <p:sldId id="326" r:id="rId88"/>
    <p:sldId id="327" r:id="rId89"/>
    <p:sldId id="328" r:id="rId90"/>
    <p:sldId id="329" r:id="rId91"/>
    <p:sldId id="330" r:id="rId92"/>
    <p:sldId id="331" r:id="rId93"/>
    <p:sldId id="332" r:id="rId94"/>
    <p:sldId id="333" r:id="rId95"/>
    <p:sldId id="334" r:id="rId96"/>
    <p:sldId id="342" r:id="rId97"/>
    <p:sldId id="801" r:id="rId98"/>
    <p:sldId id="809" r:id="rId99"/>
    <p:sldId id="374" r:id="rId100"/>
    <p:sldId id="335" r:id="rId101"/>
    <p:sldId id="336" r:id="rId102"/>
    <p:sldId id="337" r:id="rId103"/>
    <p:sldId id="338" r:id="rId104"/>
    <p:sldId id="339" r:id="rId105"/>
    <p:sldId id="340" r:id="rId106"/>
    <p:sldId id="341" r:id="rId107"/>
    <p:sldId id="806" r:id="rId108"/>
    <p:sldId id="803" r:id="rId109"/>
    <p:sldId id="737" r:id="rId110"/>
    <p:sldId id="755" r:id="rId111"/>
    <p:sldId id="747" r:id="rId112"/>
    <p:sldId id="750" r:id="rId113"/>
    <p:sldId id="751" r:id="rId114"/>
    <p:sldId id="752" r:id="rId115"/>
    <p:sldId id="805" r:id="rId116"/>
    <p:sldId id="810" r:id="rId117"/>
    <p:sldId id="343" r:id="rId118"/>
    <p:sldId id="344" r:id="rId119"/>
    <p:sldId id="375" r:id="rId120"/>
    <p:sldId id="345" r:id="rId121"/>
    <p:sldId id="346" r:id="rId122"/>
    <p:sldId id="347" r:id="rId123"/>
    <p:sldId id="348" r:id="rId124"/>
    <p:sldId id="349" r:id="rId125"/>
    <p:sldId id="350" r:id="rId126"/>
    <p:sldId id="362" r:id="rId127"/>
    <p:sldId id="363" r:id="rId128"/>
    <p:sldId id="377" r:id="rId129"/>
    <p:sldId id="376" r:id="rId130"/>
    <p:sldId id="364" r:id="rId131"/>
    <p:sldId id="365" r:id="rId132"/>
    <p:sldId id="812" r:id="rId133"/>
    <p:sldId id="804" r:id="rId134"/>
    <p:sldId id="811" r:id="rId135"/>
    <p:sldId id="351" r:id="rId136"/>
    <p:sldId id="352" r:id="rId137"/>
    <p:sldId id="353" r:id="rId138"/>
    <p:sldId id="354" r:id="rId139"/>
    <p:sldId id="355" r:id="rId140"/>
    <p:sldId id="356" r:id="rId141"/>
    <p:sldId id="357" r:id="rId142"/>
    <p:sldId id="358" r:id="rId143"/>
    <p:sldId id="359" r:id="rId144"/>
    <p:sldId id="360" r:id="rId145"/>
    <p:sldId id="361" r:id="rId146"/>
    <p:sldId id="823" r:id="rId147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432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46F890A9-2807-4EBB-B81D-B2AA78EC7F39}" styleName="Dark Style 2 - Accent 5/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357"/>
    <p:restoredTop sz="83425"/>
  </p:normalViewPr>
  <p:slideViewPr>
    <p:cSldViewPr>
      <p:cViewPr varScale="1">
        <p:scale>
          <a:sx n="105" d="100"/>
          <a:sy n="105" d="100"/>
        </p:scale>
        <p:origin x="2464" y="184"/>
      </p:cViewPr>
      <p:guideLst>
        <p:guide orient="horz" pos="2160"/>
        <p:guide pos="2880"/>
      </p:guideLst>
    </p:cSldViewPr>
  </p:slideViewPr>
  <p:notesTextViewPr>
    <p:cViewPr>
      <p:scale>
        <a:sx n="85" d="100"/>
        <a:sy n="85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presProps" Target="presProps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viewProps" Target="view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theme" Target="theme/theme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D608DC-8D6E-4521-83A1-1679D4D138BF}" type="datetimeFigureOut">
              <a:rPr lang="en-US" smtClean="0"/>
              <a:t>3/30/26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B38D67-2875-4081-97FB-ED7B2AD29D1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40451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23541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Rectangle 7">
            <a:extLst>
              <a:ext uri="{FF2B5EF4-FFF2-40B4-BE49-F238E27FC236}">
                <a16:creationId xmlns:a16="http://schemas.microsoft.com/office/drawing/2014/main" id="{465D957C-B8AA-964A-924F-9C644975CC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1pPr>
            <a:lvl2pPr marL="742950" indent="-28575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2pPr>
            <a:lvl3pPr marL="11430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3pPr>
            <a:lvl4pPr marL="16002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4pPr>
            <a:lvl5pPr marL="20574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5pPr>
            <a:lvl6pPr marL="25146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6pPr>
            <a:lvl7pPr marL="29718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7pPr>
            <a:lvl8pPr marL="34290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8pPr>
            <a:lvl9pPr marL="38862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fld id="{1CFF7585-90A3-684C-A260-0E2539BCD1DA}" type="slidenum">
              <a:rPr lang="en-US" altLang="en-US">
                <a:latin typeface="Times" pitchFamily="2" charset="0"/>
              </a:rPr>
              <a:pPr>
                <a:spcBef>
                  <a:spcPct val="0"/>
                </a:spcBef>
              </a:pPr>
              <a:t>3</a:t>
            </a:fld>
            <a:endParaRPr lang="en-US" altLang="en-US">
              <a:latin typeface="Times" pitchFamily="2" charset="0"/>
            </a:endParaRPr>
          </a:p>
        </p:txBody>
      </p:sp>
      <p:sp>
        <p:nvSpPr>
          <p:cNvPr id="8194" name="Rectangle 2">
            <a:extLst>
              <a:ext uri="{FF2B5EF4-FFF2-40B4-BE49-F238E27FC236}">
                <a16:creationId xmlns:a16="http://schemas.microsoft.com/office/drawing/2014/main" id="{D407000C-6324-D342-977F-FCD1D0B0CF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572F598C-A89E-5B41-9B34-739F28F657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Helvetica" pitchFamily="2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Following instructions can be stalled by the anti-dependent instruction stall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03735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Slide Image Placeholder 1">
            <a:extLst>
              <a:ext uri="{FF2B5EF4-FFF2-40B4-BE49-F238E27FC236}">
                <a16:creationId xmlns:a16="http://schemas.microsoft.com/office/drawing/2014/main" id="{DC51AA5C-D7DE-A946-91FC-702641AE7F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4" name="Notes Placeholder 2">
            <a:extLst>
              <a:ext uri="{FF2B5EF4-FFF2-40B4-BE49-F238E27FC236}">
                <a16:creationId xmlns:a16="http://schemas.microsoft.com/office/drawing/2014/main" id="{0F3C08EE-5FE2-B448-8E08-D5F960172D6A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dirty="0">
                <a:latin typeface="Times New Roman" panose="02020603050405020304" pitchFamily="18" charset="0"/>
                <a:ea typeface="ＭＳ Ｐゴシック" panose="020B0600070205080204" pitchFamily="34" charset="-128"/>
              </a:rPr>
              <a:t>Andi-dependent, and independent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Issue stage has buffers</a:t>
            </a:r>
          </a:p>
          <a:p>
            <a:r>
              <a:rPr lang="en-US" dirty="0"/>
              <a:t>Keep instructions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182448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5917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0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Functional Unit • A computer in its simplest form comprises of five functional units namely </a:t>
            </a:r>
            <a:r>
              <a:rPr lang="en-US" b="1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input unit,</a:t>
            </a:r>
            <a:r>
              <a:rPr lang="en-US" b="0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 </a:t>
            </a:r>
            <a:r>
              <a:rPr lang="en-US" b="1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output unit, memory unit, arithmetic &amp; logic unit and control unit</a:t>
            </a:r>
            <a:r>
              <a:rPr lang="en-US" b="0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.</a:t>
            </a:r>
          </a:p>
          <a:p>
            <a:endParaRPr lang="en-US" b="0" i="0" dirty="0">
              <a:solidFill>
                <a:srgbClr val="202124"/>
              </a:solidFill>
              <a:effectLst/>
              <a:latin typeface="Roboto" panose="02000000000000000000" pitchFamily="2" charset="0"/>
            </a:endParaRPr>
          </a:p>
          <a:p>
            <a:r>
              <a:rPr lang="en-US" b="0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If no structural, WAW hazard, then go to scoreboard for data dependence check</a:t>
            </a:r>
          </a:p>
          <a:p>
            <a:endParaRPr lang="en-US" b="0" i="0" dirty="0">
              <a:solidFill>
                <a:srgbClr val="202124"/>
              </a:solidFill>
              <a:effectLst/>
              <a:latin typeface="Roboto" panose="02000000000000000000" pitchFamily="2" charset="0"/>
            </a:endParaRPr>
          </a:p>
          <a:p>
            <a:r>
              <a:rPr lang="en-US" b="0" i="0" dirty="0">
                <a:solidFill>
                  <a:srgbClr val="202124"/>
                </a:solidFill>
                <a:effectLst/>
                <a:latin typeface="Roboto" panose="02000000000000000000" pitchFamily="2" charset="0"/>
              </a:rPr>
              <a:t>WAR, cache miss…read takes more cycles…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08635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Scoreboard hazard detection unit, </a:t>
            </a:r>
          </a:p>
          <a:p>
            <a:r>
              <a:rPr lang="en-US" dirty="0"/>
              <a:t>Control FU and registers</a:t>
            </a:r>
          </a:p>
          <a:p>
            <a:endParaRPr lang="en-US" dirty="0"/>
          </a:p>
          <a:p>
            <a:r>
              <a:rPr lang="en-US" dirty="0"/>
              <a:t>Traffic signal regulate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When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138771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51113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229742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097614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533879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579462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981914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882839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825922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Rectangle 7">
            <a:extLst>
              <a:ext uri="{FF2B5EF4-FFF2-40B4-BE49-F238E27FC236}">
                <a16:creationId xmlns:a16="http://schemas.microsoft.com/office/drawing/2014/main" id="{465D957C-B8AA-964A-924F-9C644975CC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1pPr>
            <a:lvl2pPr marL="742950" indent="-28575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2pPr>
            <a:lvl3pPr marL="11430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3pPr>
            <a:lvl4pPr marL="16002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4pPr>
            <a:lvl5pPr marL="20574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5pPr>
            <a:lvl6pPr marL="25146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6pPr>
            <a:lvl7pPr marL="29718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7pPr>
            <a:lvl8pPr marL="34290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8pPr>
            <a:lvl9pPr marL="38862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fld id="{1CFF7585-90A3-684C-A260-0E2539BCD1DA}" type="slidenum">
              <a:rPr lang="en-US" altLang="en-US">
                <a:latin typeface="Times" pitchFamily="2" charset="0"/>
              </a:rPr>
              <a:pPr>
                <a:spcBef>
                  <a:spcPct val="0"/>
                </a:spcBef>
              </a:pPr>
              <a:t>27</a:t>
            </a:fld>
            <a:endParaRPr lang="en-US" altLang="en-US">
              <a:latin typeface="Times" pitchFamily="2" charset="0"/>
            </a:endParaRPr>
          </a:p>
        </p:txBody>
      </p:sp>
      <p:sp>
        <p:nvSpPr>
          <p:cNvPr id="8194" name="Rectangle 2">
            <a:extLst>
              <a:ext uri="{FF2B5EF4-FFF2-40B4-BE49-F238E27FC236}">
                <a16:creationId xmlns:a16="http://schemas.microsoft.com/office/drawing/2014/main" id="{D407000C-6324-D342-977F-FCD1D0B0CF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572F598C-A89E-5B41-9B34-739F28F657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Helvetica" pitchFamily="2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8781481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051206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7">
            <a:extLst>
              <a:ext uri="{FF2B5EF4-FFF2-40B4-BE49-F238E27FC236}">
                <a16:creationId xmlns:a16="http://schemas.microsoft.com/office/drawing/2014/main" id="{71DAF7DE-F919-5847-BD8B-13CB19E382FF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 bwMode="auto">
          <a:xfrm>
            <a:off x="0" y="0"/>
            <a:ext cx="0" cy="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E987859-BFAF-EB40-908E-59839CFF5589}" type="slidenum">
              <a:rPr lang="en-US" altLang="en-US" sz="2400"/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2400"/>
          </a:p>
        </p:txBody>
      </p:sp>
      <p:sp>
        <p:nvSpPr>
          <p:cNvPr id="36866" name="Rectangle 2">
            <a:extLst>
              <a:ext uri="{FF2B5EF4-FFF2-40B4-BE49-F238E27FC236}">
                <a16:creationId xmlns:a16="http://schemas.microsoft.com/office/drawing/2014/main" id="{F9A2579D-6ED6-4E40-B687-A9848C861E6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1" name="Rectangle 3">
            <a:extLst>
              <a:ext uri="{FF2B5EF4-FFF2-40B4-BE49-F238E27FC236}">
                <a16:creationId xmlns:a16="http://schemas.microsoft.com/office/drawing/2014/main" id="{0FC0AE95-7E1A-2149-B6E0-2654E29A84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n-cs"/>
              </a:rPr>
              <a:t>Struc hazard: no free RS (rather than free FU!) so less structural hazard than CDC since num RSes &gt; num FUs</a:t>
            </a:r>
          </a:p>
          <a:p>
            <a:pPr>
              <a:defRPr/>
            </a:pPr>
            <a:r>
              <a:rPr lang="en-US">
                <a:cs typeface="+mn-cs"/>
              </a:rPr>
              <a:t>Tomasulo has renaming (register operand index is renamed to RS index vs. CDC that has no renaming!)</a:t>
            </a:r>
          </a:p>
          <a:p>
            <a:pPr>
              <a:defRPr/>
            </a:pPr>
            <a:r>
              <a:rPr lang="en-US">
                <a:cs typeface="+mn-cs"/>
              </a:rPr>
              <a:t>Tomasulo uses bypassing using CDB where producer inst broadcasts its result to others in RS (CDC passes values through regsister files)</a:t>
            </a:r>
          </a:p>
          <a:p>
            <a:pPr>
              <a:defRPr/>
            </a:pPr>
            <a:r>
              <a:rPr lang="en-US">
                <a:cs typeface="+mn-cs"/>
              </a:rPr>
              <a:t>Tomasulo potentially supports OOO issue (since wakeup-select can be easily supported with RS)</a:t>
            </a:r>
          </a:p>
          <a:p>
            <a:pPr>
              <a:defRPr/>
            </a:pPr>
            <a:r>
              <a:rPr lang="en-US">
                <a:cs typeface="+mn-cs"/>
              </a:rPr>
              <a:t>Tomasulo uses reg file to store value or RS tag (for reg mapping), so if there are two insts writing to the same reg, the map will change to the </a:t>
            </a:r>
          </a:p>
          <a:p>
            <a:pPr>
              <a:defRPr/>
            </a:pPr>
            <a:r>
              <a:rPr lang="en-US">
                <a:cs typeface="+mn-cs"/>
              </a:rPr>
              <a:t>Latter inst. This means that the first inst will not write to reg file (it will just broadcast its result), while the second will write to reg file. </a:t>
            </a: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Tag is just a new name of </a:t>
            </a:r>
            <a:r>
              <a:rPr lang="en-US" dirty="0" err="1"/>
              <a:t>regiter</a:t>
            </a:r>
            <a:r>
              <a:rPr lang="en-US" dirty="0"/>
              <a:t> specifier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90197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7">
            <a:extLst>
              <a:ext uri="{FF2B5EF4-FFF2-40B4-BE49-F238E27FC236}">
                <a16:creationId xmlns:a16="http://schemas.microsoft.com/office/drawing/2014/main" id="{7EFB930A-8BA3-F14A-967D-D85FB5F68A0A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 bwMode="auto">
          <a:xfrm>
            <a:off x="0" y="0"/>
            <a:ext cx="0" cy="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812E94F-D7D0-0044-901F-AC1EB4106EB0}" type="slidenum">
              <a:rPr lang="en-US" altLang="en-US" sz="2400"/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2400"/>
          </a:p>
        </p:txBody>
      </p:sp>
      <p:sp>
        <p:nvSpPr>
          <p:cNvPr id="27650" name="Rectangle 2">
            <a:extLst>
              <a:ext uri="{FF2B5EF4-FFF2-40B4-BE49-F238E27FC236}">
                <a16:creationId xmlns:a16="http://schemas.microsoft.com/office/drawing/2014/main" id="{510A109C-82BE-1548-BCC6-73B593FFC9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7" name="Rectangle 3">
            <a:extLst>
              <a:ext uri="{FF2B5EF4-FFF2-40B4-BE49-F238E27FC236}">
                <a16:creationId xmlns:a16="http://schemas.microsoft.com/office/drawing/2014/main" id="{B185F2F1-8489-5947-9103-398966EA39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MULTD is delayed because of true dep, prior instruction first writes result (WR), then it reads operand (IS) before execution</a:t>
            </a:r>
          </a:p>
          <a:p>
            <a:pPr>
              <a:defRPr/>
            </a:pPr>
            <a:r>
              <a:rPr lang="en-US" dirty="0">
                <a:cs typeface="+mn-cs"/>
              </a:rPr>
              <a:t>SUBD has the same thing</a:t>
            </a:r>
          </a:p>
          <a:p>
            <a:pPr>
              <a:defRPr/>
            </a:pPr>
            <a:r>
              <a:rPr lang="en-US" dirty="0">
                <a:cs typeface="+mn-cs"/>
              </a:rPr>
              <a:t>DIVD depends on MULTD so it has to wait until MULTD finishes writing its result</a:t>
            </a:r>
          </a:p>
          <a:p>
            <a:pPr>
              <a:defRPr/>
            </a:pPr>
            <a:r>
              <a:rPr lang="en-US" dirty="0">
                <a:cs typeface="+mn-cs"/>
              </a:rPr>
              <a:t>Another problem: binding of </a:t>
            </a:r>
            <a:r>
              <a:rPr lang="en-US" dirty="0" err="1">
                <a:cs typeface="+mn-cs"/>
              </a:rPr>
              <a:t>inst</a:t>
            </a:r>
            <a:r>
              <a:rPr lang="en-US" dirty="0">
                <a:cs typeface="+mn-cs"/>
              </a:rPr>
              <a:t> to FU is early (dispatch) so the last ADDD suffers structural hazard for too long</a:t>
            </a:r>
          </a:p>
          <a:p>
            <a:pPr>
              <a:defRPr/>
            </a:pPr>
            <a:r>
              <a:rPr lang="en-US" dirty="0">
                <a:cs typeface="+mn-cs"/>
              </a:rPr>
              <a:t>Final problem: FU is bound to </a:t>
            </a:r>
            <a:r>
              <a:rPr lang="en-US" dirty="0" err="1">
                <a:cs typeface="+mn-cs"/>
              </a:rPr>
              <a:t>inst</a:t>
            </a:r>
            <a:r>
              <a:rPr lang="en-US" dirty="0">
                <a:cs typeface="+mn-cs"/>
              </a:rPr>
              <a:t> for too long (if there is a WAR dep), creating further structural hazards</a:t>
            </a:r>
          </a:p>
        </p:txBody>
      </p:sp>
    </p:spTree>
    <p:extLst>
      <p:ext uri="{BB962C8B-B14F-4D97-AF65-F5344CB8AC3E}">
        <p14:creationId xmlns:p14="http://schemas.microsoft.com/office/powerpoint/2010/main" val="82229034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>
            <a:extLst>
              <a:ext uri="{FF2B5EF4-FFF2-40B4-BE49-F238E27FC236}">
                <a16:creationId xmlns:a16="http://schemas.microsoft.com/office/drawing/2014/main" id="{0E2048CC-FEF0-8344-AEA2-B4AEA597232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F3BF9DC-C798-A543-BF3A-800496059A47}" type="slidenum">
              <a:rPr lang="en-US" altLang="en-US"/>
              <a:pPr/>
              <a:t>47</a:t>
            </a:fld>
            <a:endParaRPr lang="en-US" altLang="en-US"/>
          </a:p>
        </p:txBody>
      </p: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D69C1F9E-AD94-4F4C-9ED6-F6612622E9B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1152525" y="692150"/>
            <a:ext cx="4554538" cy="34163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98407AD7-6391-FA42-B7A8-C830663A27D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 lIns="89730" tIns="44865" rIns="89730" bIns="44865"/>
          <a:lstStyle/>
          <a:p>
            <a:r>
              <a:rPr lang="en-US" altLang="en-US" dirty="0" err="1"/>
              <a:t>Tomasulo</a:t>
            </a:r>
            <a:r>
              <a:rPr lang="en-US" altLang="en-US" dirty="0"/>
              <a:t> finished in 59 cycles vs. 61 for CDC: problem is divide instruction takes too long (good example of Amdahl’s law)</a:t>
            </a:r>
          </a:p>
          <a:p>
            <a:r>
              <a:rPr lang="en-US" altLang="en-US" dirty="0"/>
              <a:t>However, we get to the divide 3 cycles earlier in </a:t>
            </a:r>
            <a:r>
              <a:rPr lang="en-US" altLang="en-US" dirty="0" err="1"/>
              <a:t>Tomasulo’s</a:t>
            </a:r>
            <a:r>
              <a:rPr lang="en-US" altLang="en-US" dirty="0"/>
              <a:t> algorithm than the CDC scoreboard.</a:t>
            </a:r>
          </a:p>
          <a:p>
            <a:r>
              <a:rPr lang="en-US" altLang="en-US" dirty="0"/>
              <a:t>Why?</a:t>
            </a:r>
          </a:p>
        </p:txBody>
      </p:sp>
    </p:spTree>
    <p:extLst>
      <p:ext uri="{BB962C8B-B14F-4D97-AF65-F5344CB8AC3E}">
        <p14:creationId xmlns:p14="http://schemas.microsoft.com/office/powerpoint/2010/main" val="412512274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Rectangle 7">
            <a:extLst>
              <a:ext uri="{FF2B5EF4-FFF2-40B4-BE49-F238E27FC236}">
                <a16:creationId xmlns:a16="http://schemas.microsoft.com/office/drawing/2014/main" id="{465D957C-B8AA-964A-924F-9C644975CC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1pPr>
            <a:lvl2pPr marL="742950" indent="-28575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2pPr>
            <a:lvl3pPr marL="11430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3pPr>
            <a:lvl4pPr marL="16002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4pPr>
            <a:lvl5pPr marL="2057400" indent="-228600" defTabSz="949325">
              <a:spcBef>
                <a:spcPct val="30000"/>
              </a:spcBef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5pPr>
            <a:lvl6pPr marL="25146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6pPr>
            <a:lvl7pPr marL="29718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7pPr>
            <a:lvl8pPr marL="34290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8pPr>
            <a:lvl9pPr marL="3886200" indent="-228600" defTabSz="9493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Helvetica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fld id="{1CFF7585-90A3-684C-A260-0E2539BCD1DA}" type="slidenum">
              <a:rPr lang="en-US" altLang="en-US">
                <a:latin typeface="Times" pitchFamily="2" charset="0"/>
              </a:rPr>
              <a:pPr>
                <a:spcBef>
                  <a:spcPct val="0"/>
                </a:spcBef>
              </a:pPr>
              <a:t>49</a:t>
            </a:fld>
            <a:endParaRPr lang="en-US" altLang="en-US">
              <a:latin typeface="Times" pitchFamily="2" charset="0"/>
            </a:endParaRPr>
          </a:p>
        </p:txBody>
      </p:sp>
      <p:sp>
        <p:nvSpPr>
          <p:cNvPr id="8194" name="Rectangle 2">
            <a:extLst>
              <a:ext uri="{FF2B5EF4-FFF2-40B4-BE49-F238E27FC236}">
                <a16:creationId xmlns:a16="http://schemas.microsoft.com/office/drawing/2014/main" id="{D407000C-6324-D342-977F-FCD1D0B0CF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572F598C-A89E-5B41-9B34-739F28F657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Helvetica" pitchFamily="2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5167883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Rectangle 7">
            <a:extLst>
              <a:ext uri="{FF2B5EF4-FFF2-40B4-BE49-F238E27FC236}">
                <a16:creationId xmlns:a16="http://schemas.microsoft.com/office/drawing/2014/main" id="{BB34D872-556D-D845-8051-55015C0E3024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 bwMode="auto">
          <a:xfrm>
            <a:off x="0" y="0"/>
            <a:ext cx="0" cy="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97DF76B-9700-B64B-92F1-E441A61C48F3}" type="slidenum">
              <a:rPr lang="en-US" altLang="en-US" sz="2400"/>
              <a:pPr>
                <a:spcBef>
                  <a:spcPct val="0"/>
                </a:spcBef>
                <a:buClrTx/>
                <a:buSzTx/>
                <a:buFontTx/>
                <a:buNone/>
              </a:pPr>
              <a:t>109</a:t>
            </a:fld>
            <a:endParaRPr lang="en-US" altLang="en-US" sz="2400"/>
          </a:p>
        </p:txBody>
      </p:sp>
      <p:sp>
        <p:nvSpPr>
          <p:cNvPr id="111618" name="Rectangle 2">
            <a:extLst>
              <a:ext uri="{FF2B5EF4-FFF2-40B4-BE49-F238E27FC236}">
                <a16:creationId xmlns:a16="http://schemas.microsoft.com/office/drawing/2014/main" id="{E12B420F-95A9-9347-B9FF-3D60F014B7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>
            <a:extLst>
              <a:ext uri="{FF2B5EF4-FFF2-40B4-BE49-F238E27FC236}">
                <a16:creationId xmlns:a16="http://schemas.microsoft.com/office/drawing/2014/main" id="{AE6C25C1-1194-384D-A195-45BDA8216DB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  <a:ea typeface="ＭＳ Ｐゴシック" panose="020B0600070205080204" pitchFamily="34" charset="-128"/>
              </a:rPr>
              <a:t>Store in order: why? Precise interrupts + Multi Processors.</a:t>
            </a: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Instruction table describe first</a:t>
            </a:r>
          </a:p>
          <a:p>
            <a:endParaRPr lang="en-US" dirty="0"/>
          </a:p>
          <a:p>
            <a:r>
              <a:rPr lang="en-US" dirty="0"/>
              <a:t>Snapshot</a:t>
            </a:r>
          </a:p>
          <a:p>
            <a:r>
              <a:rPr lang="en-US" dirty="0"/>
              <a:t>Why two mult1?</a:t>
            </a:r>
          </a:p>
          <a:p>
            <a:endParaRPr lang="en-US" dirty="0"/>
          </a:p>
          <a:p>
            <a:r>
              <a:rPr lang="en-US" dirty="0"/>
              <a:t>Why add Ri yes?</a:t>
            </a:r>
          </a:p>
          <a:p>
            <a:endParaRPr lang="en-US" dirty="0"/>
          </a:p>
          <a:p>
            <a:r>
              <a:rPr lang="en-US" dirty="0"/>
              <a:t>The first LD is finished already in this example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B38D67-2875-4081-97FB-ED7B2AD29D1C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6900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3505200"/>
            <a:ext cx="6400800" cy="1752600"/>
          </a:xfrm>
        </p:spPr>
        <p:txBody>
          <a:bodyPr/>
          <a:lstStyle>
            <a:lvl1pPr marL="0" indent="0" algn="l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B805CF0-1361-DF42-A81B-EE39E9DCC38A}"/>
              </a:ext>
            </a:extLst>
          </p:cNvPr>
          <p:cNvSpPr/>
          <p:nvPr userDrawn="1"/>
        </p:nvSpPr>
        <p:spPr>
          <a:xfrm>
            <a:off x="1772" y="6633009"/>
            <a:ext cx="9144000" cy="224991"/>
          </a:xfrm>
          <a:prstGeom prst="rect">
            <a:avLst/>
          </a:prstGeom>
          <a:solidFill>
            <a:srgbClr val="FFCA2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CA29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D01A2ED-5530-7545-AD52-8B53BF4BC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66754" y="6145823"/>
            <a:ext cx="527774" cy="712177"/>
          </a:xfrm>
          <a:prstGeom prst="rect">
            <a:avLst/>
          </a:prstGeom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94591D4-0904-A244-93C6-160819086B95}"/>
              </a:ext>
            </a:extLst>
          </p:cNvPr>
          <p:cNvCxnSpPr>
            <a:cxnSpLocks/>
          </p:cNvCxnSpPr>
          <p:nvPr userDrawn="1"/>
        </p:nvCxnSpPr>
        <p:spPr>
          <a:xfrm>
            <a:off x="0" y="772401"/>
            <a:ext cx="91440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2362200"/>
            <a:ext cx="7772400" cy="2200275"/>
          </a:xfrm>
        </p:spPr>
        <p:txBody>
          <a:bodyPr anchor="b">
            <a:normAutofit/>
          </a:bodyPr>
          <a:lstStyle>
            <a:lvl1pPr algn="l">
              <a:defRPr sz="4800" b="0" cap="all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4626864"/>
            <a:ext cx="7772400" cy="1500187"/>
          </a:xfrm>
        </p:spPr>
        <p:txBody>
          <a:bodyPr anchor="t">
            <a:normAutofit/>
          </a:bodyPr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731520" y="4599432"/>
            <a:ext cx="7848600" cy="1588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73352"/>
            <a:ext cx="4038600" cy="471830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73352"/>
            <a:ext cx="4038600" cy="471830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76400"/>
            <a:ext cx="3931920" cy="639762"/>
          </a:xfrm>
          <a:noFill/>
          <a:ln>
            <a:noFill/>
          </a:ln>
          <a:effectLst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none"/>
        </p:style>
        <p:txBody>
          <a:bodyPr anchor="ctr">
            <a:normAutofit/>
          </a:bodyPr>
          <a:lstStyle>
            <a:lvl1pPr marL="0" indent="0" algn="ctr"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438400"/>
            <a:ext cx="393192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754880" y="1676400"/>
            <a:ext cx="3931920" cy="639762"/>
          </a:xfrm>
          <a:noFill/>
          <a:ln>
            <a:noFill/>
          </a:ln>
          <a:effectLst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none"/>
        </p:style>
        <p:txBody>
          <a:bodyPr anchor="ctr">
            <a:normAutofit/>
          </a:bodyPr>
          <a:lstStyle>
            <a:lvl1pPr marL="0" indent="0" algn="ctr">
              <a:buNone/>
              <a:defRPr lang="en-US" sz="2000" b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754880" y="2438400"/>
            <a:ext cx="393192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  <p:cxnSp>
        <p:nvCxnSpPr>
          <p:cNvPr id="11" name="Straight Connector 10"/>
          <p:cNvCxnSpPr/>
          <p:nvPr/>
        </p:nvCxnSpPr>
        <p:spPr>
          <a:xfrm rot="5400000">
            <a:off x="2217817" y="4045823"/>
            <a:ext cx="4709160" cy="794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792080"/>
            <a:ext cx="2139696" cy="1261872"/>
          </a:xfrm>
        </p:spPr>
        <p:txBody>
          <a:bodyPr anchor="b">
            <a:no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71800" y="792080"/>
            <a:ext cx="5715000" cy="557784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2130552"/>
            <a:ext cx="2139696" cy="4243615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/>
          <p:cNvCxnSpPr/>
          <p:nvPr/>
        </p:nvCxnSpPr>
        <p:spPr>
          <a:xfrm rot="5400000">
            <a:off x="-13116" y="3580206"/>
            <a:ext cx="5577840" cy="1588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792480"/>
            <a:ext cx="2142680" cy="1264920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858610" y="838201"/>
            <a:ext cx="5904390" cy="5500456"/>
          </a:xfrm>
          <a:solidFill>
            <a:schemeClr val="bg2"/>
          </a:solidFill>
          <a:ln w="76200">
            <a:solidFill>
              <a:srgbClr val="FFFFFF"/>
            </a:solidFill>
            <a:miter lim="800000"/>
          </a:ln>
          <a:effectLst>
            <a:outerShdw blurRad="50800" dist="12700" dir="5400000" algn="t" rotWithShape="0">
              <a:prstClr val="black">
                <a:alpha val="59000"/>
              </a:prstClr>
            </a:outerShdw>
          </a:effectLst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2133600"/>
            <a:ext cx="2139696" cy="4242816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609600"/>
            <a:ext cx="2057400" cy="5867400"/>
          </a:xfrm>
        </p:spPr>
        <p:txBody>
          <a:bodyPr vert="eaVert" anchor="b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609600"/>
            <a:ext cx="601980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252041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220786"/>
            <a:ext cx="9144000" cy="228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860" y="0"/>
            <a:ext cx="8229600" cy="772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876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18288"/>
            <a:ext cx="2895600" cy="32918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FFFFFF"/>
                </a:solidFill>
              </a:defRPr>
            </a:lvl1pPr>
          </a:lstStyle>
          <a:p>
            <a:fld id="{E23C4B32-181F-47F3-A9E7-1A626A04E949}" type="datetimeFigureOut">
              <a:rPr lang="en-US" smtClean="0"/>
              <a:t>3/30/26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29000" y="18288"/>
            <a:ext cx="4114800" cy="32918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rgbClr val="FFFFFF"/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620000" y="18288"/>
            <a:ext cx="1066800" cy="32918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400" b="1">
                <a:solidFill>
                  <a:srgbClr val="FFFFFF"/>
                </a:solidFill>
              </a:defRPr>
            </a:lvl1pPr>
          </a:lstStyle>
          <a:p>
            <a:fld id="{FAEBFB59-84EC-4E39-89BD-0BD405E72013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txStyles>
    <p:titleStyle>
      <a:lvl1pPr algn="l" defTabSz="914400" rtl="0" eaLnBrk="1" latinLnBrk="0" hangingPunct="1">
        <a:spcBef>
          <a:spcPct val="0"/>
        </a:spcBef>
        <a:buNone/>
        <a:defRPr sz="4000" kern="1200" spc="-10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spcBef>
          <a:spcPct val="20000"/>
        </a:spcBef>
        <a:buClr>
          <a:schemeClr val="accent1"/>
        </a:buClr>
        <a:buSzPct val="85000"/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0" hangingPunct="1">
        <a:spcBef>
          <a:spcPct val="20000"/>
        </a:spcBef>
        <a:buClr>
          <a:schemeClr val="accent1"/>
        </a:buClr>
        <a:buSzPct val="85000"/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731520" indent="-182880" algn="l" defTabSz="914400" rtl="0" eaLnBrk="1" latinLnBrk="0" hangingPunct="1">
        <a:spcBef>
          <a:spcPct val="20000"/>
        </a:spcBef>
        <a:buClr>
          <a:schemeClr val="accent1"/>
        </a:buClr>
        <a:buSzPct val="90000"/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00584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188720" indent="-137160" algn="l" defTabSz="914400" rtl="0" eaLnBrk="1" latinLnBrk="0" hangingPunct="1">
        <a:spcBef>
          <a:spcPct val="20000"/>
        </a:spcBef>
        <a:buClr>
          <a:schemeClr val="accent1"/>
        </a:buClr>
        <a:buSzPct val="100000"/>
        <a:buFont typeface="Arial" pitchFamily="34" charset="0"/>
        <a:buChar char="•"/>
        <a:defRPr sz="14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6pPr>
      <a:lvl7pPr marL="155448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7pPr>
      <a:lvl8pPr marL="173736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8pPr>
      <a:lvl9pPr marL="192024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gif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79D6D57C-B711-024C-BAF2-BA883E357E72}"/>
              </a:ext>
            </a:extLst>
          </p:cNvPr>
          <p:cNvSpPr txBox="1">
            <a:spLocks/>
          </p:cNvSpPr>
          <p:nvPr/>
        </p:nvSpPr>
        <p:spPr>
          <a:xfrm>
            <a:off x="-75622" y="5101062"/>
            <a:ext cx="9144000" cy="60599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500" b="0" i="0" kern="1200">
                <a:solidFill>
                  <a:schemeClr val="tx1"/>
                </a:solidFill>
                <a:latin typeface="Helvetica Neue Medium" charset="0"/>
                <a:ea typeface="Helvetica Neue Medium" charset="0"/>
                <a:cs typeface="Helvetica Neue Medium" charset="0"/>
              </a:defRPr>
            </a:lvl1pPr>
          </a:lstStyle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2800" dirty="0">
                <a:solidFill>
                  <a:srgbClr val="0432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Prof. Jongouk Choi</a:t>
            </a:r>
          </a:p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28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Central Florida</a:t>
            </a:r>
          </a:p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28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Spring 2026</a:t>
            </a:r>
            <a:endParaRPr lang="en-US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A5499016-53BA-F842-AC44-ED74722B0422}"/>
              </a:ext>
            </a:extLst>
          </p:cNvPr>
          <p:cNvSpPr txBox="1">
            <a:spLocks/>
          </p:cNvSpPr>
          <p:nvPr/>
        </p:nvSpPr>
        <p:spPr>
          <a:xfrm>
            <a:off x="-7412" y="3200400"/>
            <a:ext cx="9144000" cy="718002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500" b="0" i="0" kern="1200">
                <a:solidFill>
                  <a:schemeClr val="tx1"/>
                </a:solidFill>
                <a:latin typeface="Helvetica Neue Medium" charset="0"/>
                <a:ea typeface="Helvetica Neue Medium" charset="0"/>
                <a:cs typeface="Helvetica Neue Medium" charset="0"/>
              </a:defRPr>
            </a:lvl1pPr>
          </a:lstStyle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4000" b="1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CDA 5106: Advanced Computer</a:t>
            </a:r>
          </a:p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4000" b="1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Architecture</a:t>
            </a:r>
          </a:p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endParaRPr lang="en-US" sz="4000" b="1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>
              <a:lnSpc>
                <a:spcPts val="270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sz="36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Lecture 6: ILP</a:t>
            </a:r>
            <a:endParaRPr lang="en-US" sz="18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60788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Title 1">
            <a:extLst>
              <a:ext uri="{FF2B5EF4-FFF2-40B4-BE49-F238E27FC236}">
                <a16:creationId xmlns:a16="http://schemas.microsoft.com/office/drawing/2014/main" id="{FDD4A6D6-3BE1-E44D-8D90-ADA5969294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7170" name="Content Placeholder 2">
            <a:extLst>
              <a:ext uri="{FF2B5EF4-FFF2-40B4-BE49-F238E27FC236}">
                <a16:creationId xmlns:a16="http://schemas.microsoft.com/office/drawing/2014/main" id="{E6F51D36-3BE8-E94E-9A35-7327F5A798D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Understand key Instruction Level Parallelism (ILP): superscalar and out-of-order scheduling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Dynamic or out-of-order (OOO) scheduling: instructions don’t have to execute in original program order</a:t>
            </a:r>
          </a:p>
          <a:p>
            <a:pPr lvl="1"/>
            <a:r>
              <a:rPr lang="en-US" altLang="en-US" dirty="0" err="1">
                <a:ea typeface="ＭＳ Ｐゴシック" panose="020B0600070205080204" pitchFamily="34" charset="-128"/>
              </a:rPr>
              <a:t>Scoreboarding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 err="1">
                <a:ea typeface="ＭＳ Ｐゴシック" panose="020B0600070205080204" pitchFamily="34" charset="-128"/>
              </a:rPr>
              <a:t>Tomasulo’s</a:t>
            </a:r>
            <a:r>
              <a:rPr lang="en-US" altLang="en-US" dirty="0">
                <a:ea typeface="ＭＳ Ｐゴシック" panose="020B0600070205080204" pitchFamily="34" charset="-128"/>
              </a:rPr>
              <a:t> algorithm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2">
            <a:extLst>
              <a:ext uri="{FF2B5EF4-FFF2-40B4-BE49-F238E27FC236}">
                <a16:creationId xmlns:a16="http://schemas.microsoft.com/office/drawing/2014/main" id="{5A206BAE-BD1E-934F-A2B1-9282229AF8A8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457200" y="2133600"/>
            <a:ext cx="8458200" cy="1470025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panose="020B0600070205080204" pitchFamily="34" charset="-128"/>
              </a:rPr>
              <a:t>Module 6.1: Overview And CDC-6600</a:t>
            </a:r>
            <a:br>
              <a:rPr lang="en-US" altLang="en-US" dirty="0">
                <a:ea typeface="ＭＳ Ｐゴシック" panose="020B0600070205080204" pitchFamily="34" charset="-128"/>
              </a:rPr>
            </a:br>
            <a:r>
              <a:rPr lang="en-US" altLang="en-US" dirty="0">
                <a:ea typeface="ＭＳ Ｐゴシック" panose="020B0600070205080204" pitchFamily="34" charset="-128"/>
              </a:rPr>
              <a:t>(</a:t>
            </a:r>
            <a:r>
              <a:rPr lang="en-US" altLang="en-US" dirty="0" err="1">
                <a:ea typeface="ＭＳ Ｐゴシック" panose="020B0600070205080204" pitchFamily="34" charset="-128"/>
              </a:rPr>
              <a:t>scoreboarding</a:t>
            </a:r>
            <a:r>
              <a:rPr lang="en-US" altLang="en-US" dirty="0">
                <a:ea typeface="ＭＳ Ｐゴシック" panose="020B0600070205080204" pitchFamily="34" charset="-128"/>
              </a:rPr>
              <a:t>)</a:t>
            </a: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Title 1">
            <a:extLst>
              <a:ext uri="{FF2B5EF4-FFF2-40B4-BE49-F238E27FC236}">
                <a16:creationId xmlns:a16="http://schemas.microsoft.com/office/drawing/2014/main" id="{E228E3EE-FB31-B547-AAB3-3384B1EBE0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9218" name="Content Placeholder 2">
            <a:extLst>
              <a:ext uri="{FF2B5EF4-FFF2-40B4-BE49-F238E27FC236}">
                <a16:creationId xmlns:a16="http://schemas.microsoft.com/office/drawing/2014/main" id="{1E72B0D3-C46E-D74A-BE4E-30E801FBF54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Understand the concept of dynamic or out-of-order scheduling of instructions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Problem with static scheduling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Scheduling instructions based on the availability of data (dataflow)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Decoupling Decode into Dispatch + Issue stages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Dynamic scheduling in CDC-6600 architecture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Rectangle 2">
            <a:extLst>
              <a:ext uri="{FF2B5EF4-FFF2-40B4-BE49-F238E27FC236}">
                <a16:creationId xmlns:a16="http://schemas.microsoft.com/office/drawing/2014/main" id="{8118A64D-1C02-D84A-8262-D8EA095F8E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Overview</a:t>
            </a:r>
          </a:p>
        </p:txBody>
      </p:sp>
      <p:sp>
        <p:nvSpPr>
          <p:cNvPr id="10242" name="Rectangle 3">
            <a:extLst>
              <a:ext uri="{FF2B5EF4-FFF2-40B4-BE49-F238E27FC236}">
                <a16:creationId xmlns:a16="http://schemas.microsoft.com/office/drawing/2014/main" id="{4520C50D-7FCE-5A4D-804E-CF020C241EE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pPr>
              <a:lnSpc>
                <a:spcPct val="110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Dynamic or Out of Order (OOO) scheduling</a:t>
            </a:r>
          </a:p>
          <a:p>
            <a:pPr lvl="1">
              <a:lnSpc>
                <a:spcPct val="110000"/>
              </a:lnSpc>
            </a:pPr>
            <a:r>
              <a:rPr lang="en-US" altLang="en-US" sz="2000" dirty="0"/>
              <a:t>Expose more parallelism by ignoring artificial serial constraints of </a:t>
            </a:r>
            <a:r>
              <a:rPr lang="ja-JP" altLang="en-US" sz="2000">
                <a:latin typeface="Arial" panose="020B0604020202020204" pitchFamily="34" charset="0"/>
              </a:rPr>
              <a:t>“</a:t>
            </a:r>
            <a:r>
              <a:rPr lang="en-US" altLang="en-US" sz="2000" dirty="0"/>
              <a:t>sequential</a:t>
            </a:r>
            <a:r>
              <a:rPr lang="ja-JP" altLang="en-US" sz="2000">
                <a:latin typeface="Arial" panose="020B0604020202020204" pitchFamily="34" charset="0"/>
              </a:rPr>
              <a:t>”</a:t>
            </a:r>
            <a:r>
              <a:rPr lang="en-US" altLang="en-US" sz="2000" dirty="0"/>
              <a:t> program (insight: instructions don</a:t>
            </a:r>
            <a:r>
              <a:rPr lang="ja-JP" altLang="en-US" sz="2000">
                <a:latin typeface="Arial" panose="020B0604020202020204" pitchFamily="34" charset="0"/>
              </a:rPr>
              <a:t>’</a:t>
            </a:r>
            <a:r>
              <a:rPr lang="en-US" altLang="en-US" sz="2000" dirty="0"/>
              <a:t>t have to execute in original program order)</a:t>
            </a:r>
          </a:p>
          <a:p>
            <a:pPr lvl="1">
              <a:lnSpc>
                <a:spcPct val="110000"/>
              </a:lnSpc>
            </a:pPr>
            <a:r>
              <a:rPr lang="en-US" altLang="en-US" sz="2000" dirty="0"/>
              <a:t>Early machines: CDC-6600 and IBM 360/91</a:t>
            </a:r>
          </a:p>
          <a:p>
            <a:pPr>
              <a:lnSpc>
                <a:spcPct val="110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Register renaming</a:t>
            </a:r>
          </a:p>
          <a:p>
            <a:pPr lvl="1">
              <a:lnSpc>
                <a:spcPct val="110000"/>
              </a:lnSpc>
            </a:pPr>
            <a:r>
              <a:rPr lang="en-US" altLang="en-US" sz="2000" dirty="0"/>
              <a:t>Often used with dynamic scheduling</a:t>
            </a:r>
          </a:p>
          <a:p>
            <a:pPr>
              <a:lnSpc>
                <a:spcPct val="110000"/>
              </a:lnSpc>
            </a:pPr>
            <a:r>
              <a:rPr lang="en-US" altLang="en-US" sz="2400" strike="sngStrike" dirty="0">
                <a:ea typeface="ＭＳ Ｐゴシック" panose="020B0600070205080204" pitchFamily="34" charset="-128"/>
              </a:rPr>
              <a:t>Precise interrupts</a:t>
            </a:r>
          </a:p>
          <a:p>
            <a:pPr lvl="1">
              <a:lnSpc>
                <a:spcPct val="110000"/>
              </a:lnSpc>
            </a:pPr>
            <a:r>
              <a:rPr lang="en-US" altLang="en-US" sz="2000" strike="sngStrike" dirty="0"/>
              <a:t>Why we care about precise interrupts</a:t>
            </a:r>
          </a:p>
          <a:p>
            <a:pPr lvl="1">
              <a:lnSpc>
                <a:spcPct val="110000"/>
              </a:lnSpc>
            </a:pPr>
            <a:r>
              <a:rPr lang="en-US" altLang="en-US" sz="2000" strike="sngStrike" dirty="0"/>
              <a:t>Reorder buffer</a:t>
            </a:r>
          </a:p>
          <a:p>
            <a:pPr>
              <a:lnSpc>
                <a:spcPct val="110000"/>
              </a:lnSpc>
            </a:pPr>
            <a:r>
              <a:rPr lang="en-US" altLang="en-US" sz="2400" strike="sngStrike" dirty="0">
                <a:ea typeface="ＭＳ Ｐゴシック" panose="020B0600070205080204" pitchFamily="34" charset="-128"/>
              </a:rPr>
              <a:t>Superscalar and VLIW processors</a:t>
            </a:r>
          </a:p>
          <a:p>
            <a:pPr lvl="1">
              <a:lnSpc>
                <a:spcPct val="110000"/>
              </a:lnSpc>
            </a:pPr>
            <a:r>
              <a:rPr lang="en-US" altLang="en-US" sz="2000" strike="sngStrike" dirty="0"/>
              <a:t>Fetch and execute more than 1 instruction each cycle</a:t>
            </a: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Rectangle 1026">
            <a:extLst>
              <a:ext uri="{FF2B5EF4-FFF2-40B4-BE49-F238E27FC236}">
                <a16:creationId xmlns:a16="http://schemas.microsoft.com/office/drawing/2014/main" id="{012A9FD3-2136-2649-8DE7-C3CAB33F59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True data dependences</a:t>
            </a:r>
          </a:p>
        </p:txBody>
      </p:sp>
      <p:sp>
        <p:nvSpPr>
          <p:cNvPr id="11266" name="Rectangle 1027">
            <a:extLst>
              <a:ext uri="{FF2B5EF4-FFF2-40B4-BE49-F238E27FC236}">
                <a16:creationId xmlns:a16="http://schemas.microsoft.com/office/drawing/2014/main" id="{15A8F391-B368-794E-98AF-C6229A383E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Consider simple DLX pipeline</a:t>
            </a:r>
          </a:p>
          <a:p>
            <a:pPr lvl="1">
              <a:lnSpc>
                <a:spcPct val="80000"/>
              </a:lnSpc>
            </a:pPr>
            <a:r>
              <a:rPr lang="en-US" altLang="en-US" dirty="0"/>
              <a:t>Most operations take only 1 cycle to execute</a:t>
            </a:r>
          </a:p>
          <a:p>
            <a:pPr lvl="1">
              <a:lnSpc>
                <a:spcPct val="80000"/>
              </a:lnSpc>
            </a:pPr>
            <a:r>
              <a:rPr lang="en-US" altLang="en-US" dirty="0"/>
              <a:t>Bypasses handle most RAW hazards optimally (i.e., no stalls)</a:t>
            </a:r>
          </a:p>
          <a:p>
            <a:pPr lvl="1">
              <a:lnSpc>
                <a:spcPct val="80000"/>
              </a:lnSpc>
            </a:pPr>
            <a:r>
              <a:rPr lang="en-US" altLang="en-US" dirty="0"/>
              <a:t>Loads are a problem</a:t>
            </a:r>
          </a:p>
          <a:p>
            <a:pPr lvl="2">
              <a:lnSpc>
                <a:spcPct val="80000"/>
              </a:lnSpc>
            </a:pPr>
            <a:r>
              <a:rPr lang="en-US" altLang="en-US" dirty="0"/>
              <a:t>Cache hit: 2 cycles (EX generates address, MEM loads data)</a:t>
            </a:r>
          </a:p>
          <a:p>
            <a:pPr lvl="2">
              <a:lnSpc>
                <a:spcPct val="80000"/>
              </a:lnSpc>
            </a:pPr>
            <a:r>
              <a:rPr lang="en-US" altLang="en-US" dirty="0"/>
              <a:t>Cache miss: takes forever</a:t>
            </a:r>
          </a:p>
          <a:p>
            <a:pPr lvl="2">
              <a:lnSpc>
                <a:spcPct val="80000"/>
              </a:lnSpc>
            </a:pPr>
            <a:r>
              <a:rPr lang="en-US" altLang="en-US" dirty="0"/>
              <a:t>Data dependent instruction must stall</a:t>
            </a:r>
          </a:p>
          <a:p>
            <a:pPr lvl="2">
              <a:lnSpc>
                <a:spcPct val="80000"/>
              </a:lnSpc>
            </a:pPr>
            <a:r>
              <a:rPr lang="en-US" altLang="en-US" dirty="0"/>
              <a:t>Worse: the entire pipeline stalls, even other </a:t>
            </a:r>
            <a:r>
              <a:rPr lang="en-US" altLang="en-US" u="sng" dirty="0"/>
              <a:t>independent instructions</a:t>
            </a:r>
          </a:p>
          <a:p>
            <a:pPr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Longer latencies make matters worse</a:t>
            </a:r>
          </a:p>
          <a:p>
            <a:pPr lvl="1">
              <a:lnSpc>
                <a:spcPct val="80000"/>
              </a:lnSpc>
            </a:pPr>
            <a:r>
              <a:rPr lang="en-US" altLang="en-US" dirty="0"/>
              <a:t>E.g., floating-point operations</a:t>
            </a:r>
          </a:p>
          <a:p>
            <a:pPr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Superscalar processing makes matters worse</a:t>
            </a:r>
          </a:p>
          <a:p>
            <a:pPr lvl="1">
              <a:lnSpc>
                <a:spcPct val="80000"/>
              </a:lnSpc>
            </a:pPr>
            <a:r>
              <a:rPr lang="en-US" altLang="en-US" dirty="0"/>
              <a:t>Even with short latencies, </a:t>
            </a:r>
            <a:r>
              <a:rPr lang="en-US" altLang="en-US" i="1" dirty="0"/>
              <a:t>long serial dependence chains</a:t>
            </a:r>
            <a:r>
              <a:rPr lang="en-US" altLang="en-US" dirty="0"/>
              <a:t> limit parallelism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" name="Rectangle 2">
            <a:extLst>
              <a:ext uri="{FF2B5EF4-FFF2-40B4-BE49-F238E27FC236}">
                <a16:creationId xmlns:a16="http://schemas.microsoft.com/office/drawing/2014/main" id="{8CF1A110-3822-3344-B5B1-8935E01ED7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Dynamic scheduling</a:t>
            </a:r>
          </a:p>
        </p:txBody>
      </p:sp>
      <p:sp>
        <p:nvSpPr>
          <p:cNvPr id="180227" name="Rectangle 3">
            <a:extLst>
              <a:ext uri="{FF2B5EF4-FFF2-40B4-BE49-F238E27FC236}">
                <a16:creationId xmlns:a16="http://schemas.microsoft.com/office/drawing/2014/main" id="{7B112359-EC80-F747-8EEA-46E3CFA135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defRPr/>
            </a:pPr>
            <a:r>
              <a:rPr lang="en-US" dirty="0"/>
              <a:t>Lessen impact of true data dependences</a:t>
            </a:r>
          </a:p>
          <a:p>
            <a:pPr lvl="1">
              <a:lnSpc>
                <a:spcPct val="80000"/>
              </a:lnSpc>
              <a:defRPr/>
            </a:pPr>
            <a:r>
              <a:rPr lang="en-US" dirty="0"/>
              <a:t>Only data dependent instructions must wait for data (stall)</a:t>
            </a:r>
          </a:p>
          <a:p>
            <a:pPr lvl="1">
              <a:lnSpc>
                <a:spcPct val="80000"/>
              </a:lnSpc>
              <a:defRPr/>
            </a:pPr>
            <a:r>
              <a:rPr lang="en-US" dirty="0"/>
              <a:t>Independent instructions after the dependent ones don</a:t>
            </a:r>
            <a:r>
              <a:rPr lang="ja-JP" altLang="en-US">
                <a:latin typeface="Arial"/>
              </a:rPr>
              <a:t>’</a:t>
            </a:r>
            <a:r>
              <a:rPr lang="en-US" dirty="0"/>
              <a:t>t stall if their data is available</a:t>
            </a:r>
          </a:p>
          <a:p>
            <a:pPr lvl="1">
              <a:lnSpc>
                <a:spcPct val="80000"/>
              </a:lnSpc>
              <a:defRPr/>
            </a:pPr>
            <a:r>
              <a:rPr lang="en-US" dirty="0"/>
              <a:t>Execute instructions in the order specified by true data dependences, not the artificial program order</a:t>
            </a:r>
          </a:p>
          <a:p>
            <a:pPr lvl="1">
              <a:lnSpc>
                <a:spcPct val="80000"/>
              </a:lnSpc>
              <a:defRPr/>
            </a:pPr>
            <a:r>
              <a:rPr lang="en-US" i="1" dirty="0"/>
              <a:t>Dataflow graph</a:t>
            </a:r>
            <a:r>
              <a:rPr lang="en-US" dirty="0"/>
              <a:t> defines execution order</a:t>
            </a:r>
          </a:p>
          <a:p>
            <a:pPr lvl="1">
              <a:lnSpc>
                <a:spcPct val="80000"/>
              </a:lnSpc>
              <a:defRPr/>
            </a:pPr>
            <a:endParaRPr lang="en-US" dirty="0"/>
          </a:p>
          <a:p>
            <a:pPr lvl="1">
              <a:lnSpc>
                <a:spcPct val="80000"/>
              </a:lnSpc>
              <a:defRPr/>
            </a:pPr>
            <a:endParaRPr lang="en-US" dirty="0"/>
          </a:p>
          <a:p>
            <a:pPr lvl="1">
              <a:lnSpc>
                <a:spcPct val="80000"/>
              </a:lnSpc>
              <a:defRPr/>
            </a:pPr>
            <a:endParaRPr lang="en-US" dirty="0"/>
          </a:p>
          <a:p>
            <a:pPr marL="457200" lvl="1" indent="0">
              <a:lnSpc>
                <a:spcPct val="80000"/>
              </a:lnSpc>
              <a:buFont typeface="Times New Roman" panose="02020603050405020304" pitchFamily="18" charset="0"/>
              <a:buNone/>
              <a:defRPr/>
            </a:pPr>
            <a:endParaRPr lang="en-US" dirty="0"/>
          </a:p>
          <a:p>
            <a:pPr lvl="1">
              <a:lnSpc>
                <a:spcPct val="80000"/>
              </a:lnSpc>
              <a:defRPr/>
            </a:pPr>
            <a:endParaRPr lang="en-US" dirty="0"/>
          </a:p>
          <a:p>
            <a:pPr lvl="1">
              <a:lnSpc>
                <a:spcPct val="80000"/>
              </a:lnSpc>
              <a:defRPr/>
            </a:pPr>
            <a:endParaRPr lang="en-US" dirty="0"/>
          </a:p>
          <a:p>
            <a:pPr lvl="1">
              <a:lnSpc>
                <a:spcPct val="80000"/>
              </a:lnSpc>
              <a:defRPr/>
            </a:pPr>
            <a:r>
              <a:rPr lang="en-US" dirty="0"/>
              <a:t>Divide takes many cycles: stall the dependent ADDD but not the independent SUBD</a:t>
            </a:r>
          </a:p>
          <a:p>
            <a:pPr lvl="1">
              <a:lnSpc>
                <a:spcPct val="80000"/>
              </a:lnSpc>
              <a:defRPr/>
            </a:pPr>
            <a:r>
              <a:rPr lang="en-US" dirty="0"/>
              <a:t>OOO execution allows SUBD to execute before ADDD</a:t>
            </a:r>
          </a:p>
        </p:txBody>
      </p:sp>
      <p:sp>
        <p:nvSpPr>
          <p:cNvPr id="12291" name="Text Box 4">
            <a:extLst>
              <a:ext uri="{FF2B5EF4-FFF2-40B4-BE49-F238E27FC236}">
                <a16:creationId xmlns:a16="http://schemas.microsoft.com/office/drawing/2014/main" id="{49192AF6-7833-1746-B616-F3404E26C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1075" y="4114800"/>
            <a:ext cx="17526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DIVD 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F10, F0, F</a:t>
            </a:r>
            <a:r>
              <a:rPr lang="en-US" altLang="ko-KR" sz="1000" dirty="0">
                <a:latin typeface="Courier" pitchFamily="2" charset="0"/>
              </a:rPr>
              <a:t>9</a:t>
            </a:r>
            <a:endParaRPr lang="en-US" altLang="en-US" sz="1000" dirty="0">
              <a:latin typeface="Courier" pitchFamily="2" charset="0"/>
            </a:endParaRP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SUBD  F8 , F8, F14</a:t>
            </a:r>
          </a:p>
        </p:txBody>
      </p:sp>
      <p:sp>
        <p:nvSpPr>
          <p:cNvPr id="12292" name="Text Box 5">
            <a:extLst>
              <a:ext uri="{FF2B5EF4-FFF2-40B4-BE49-F238E27FC236}">
                <a16:creationId xmlns:a16="http://schemas.microsoft.com/office/drawing/2014/main" id="{73E11111-8D58-334D-9C62-5A4A8839A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7275" y="3810000"/>
            <a:ext cx="13112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imes New Roman" panose="02020603050405020304" pitchFamily="18" charset="0"/>
              </a:rPr>
              <a:t>Program fragment</a:t>
            </a:r>
          </a:p>
        </p:txBody>
      </p:sp>
      <p:sp>
        <p:nvSpPr>
          <p:cNvPr id="12293" name="Line 6">
            <a:extLst>
              <a:ext uri="{FF2B5EF4-FFF2-40B4-BE49-F238E27FC236}">
                <a16:creationId xmlns:a16="http://schemas.microsoft.com/office/drawing/2014/main" id="{179B8897-0411-A441-B7A5-294D03969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6400" y="4300538"/>
            <a:ext cx="22860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4" name="Group 10">
            <a:extLst>
              <a:ext uri="{FF2B5EF4-FFF2-40B4-BE49-F238E27FC236}">
                <a16:creationId xmlns:a16="http://schemas.microsoft.com/office/drawing/2014/main" id="{EE05B833-E693-6E48-BCC6-D2CFE3A174D1}"/>
              </a:ext>
            </a:extLst>
          </p:cNvPr>
          <p:cNvGrpSpPr>
            <a:grpSpLocks/>
          </p:cNvGrpSpPr>
          <p:nvPr/>
        </p:nvGrpSpPr>
        <p:grpSpPr bwMode="auto">
          <a:xfrm>
            <a:off x="4689475" y="4191000"/>
            <a:ext cx="492125" cy="381000"/>
            <a:chOff x="3542" y="3117"/>
            <a:chExt cx="310" cy="240"/>
          </a:xfrm>
        </p:grpSpPr>
        <p:sp>
          <p:nvSpPr>
            <p:cNvPr id="12303" name="Oval 8">
              <a:extLst>
                <a:ext uri="{FF2B5EF4-FFF2-40B4-BE49-F238E27FC236}">
                  <a16:creationId xmlns:a16="http://schemas.microsoft.com/office/drawing/2014/main" id="{C9C8058F-9290-9F47-BEB0-E5E3D3474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3117"/>
              <a:ext cx="225" cy="24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urier" pitchFamily="2" charset="0"/>
              </a:endParaRPr>
            </a:p>
          </p:txBody>
        </p:sp>
        <p:sp>
          <p:nvSpPr>
            <p:cNvPr id="12304" name="Text Box 9">
              <a:extLst>
                <a:ext uri="{FF2B5EF4-FFF2-40B4-BE49-F238E27FC236}">
                  <a16:creationId xmlns:a16="http://schemas.microsoft.com/office/drawing/2014/main" id="{3E201166-A757-C441-8CB8-C7AD3F3D0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2" y="3153"/>
              <a:ext cx="3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Courier" pitchFamily="2" charset="0"/>
                </a:rPr>
                <a:t>DIVD</a:t>
              </a:r>
            </a:p>
          </p:txBody>
        </p:sp>
      </p:grpSp>
      <p:grpSp>
        <p:nvGrpSpPr>
          <p:cNvPr id="12295" name="Group 11">
            <a:extLst>
              <a:ext uri="{FF2B5EF4-FFF2-40B4-BE49-F238E27FC236}">
                <a16:creationId xmlns:a16="http://schemas.microsoft.com/office/drawing/2014/main" id="{AA89CDCE-BAB4-3A48-BE36-39E48D17AA9B}"/>
              </a:ext>
            </a:extLst>
          </p:cNvPr>
          <p:cNvGrpSpPr>
            <a:grpSpLocks/>
          </p:cNvGrpSpPr>
          <p:nvPr/>
        </p:nvGrpSpPr>
        <p:grpSpPr bwMode="auto">
          <a:xfrm>
            <a:off x="4689475" y="4953000"/>
            <a:ext cx="492125" cy="381000"/>
            <a:chOff x="3542" y="3117"/>
            <a:chExt cx="310" cy="240"/>
          </a:xfrm>
        </p:grpSpPr>
        <p:sp>
          <p:nvSpPr>
            <p:cNvPr id="12301" name="Oval 12">
              <a:extLst>
                <a:ext uri="{FF2B5EF4-FFF2-40B4-BE49-F238E27FC236}">
                  <a16:creationId xmlns:a16="http://schemas.microsoft.com/office/drawing/2014/main" id="{A6E79EEC-9DA4-454C-B9E7-118C1502D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3117"/>
              <a:ext cx="225" cy="24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urier" pitchFamily="2" charset="0"/>
              </a:endParaRPr>
            </a:p>
          </p:txBody>
        </p:sp>
        <p:sp>
          <p:nvSpPr>
            <p:cNvPr id="12302" name="Text Box 13">
              <a:extLst>
                <a:ext uri="{FF2B5EF4-FFF2-40B4-BE49-F238E27FC236}">
                  <a16:creationId xmlns:a16="http://schemas.microsoft.com/office/drawing/2014/main" id="{BDAA3A1D-22BE-5C4E-B791-62EAE9D929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2" y="3153"/>
              <a:ext cx="3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Courier" pitchFamily="2" charset="0"/>
                </a:rPr>
                <a:t>ADDD</a:t>
              </a:r>
            </a:p>
          </p:txBody>
        </p:sp>
      </p:grpSp>
      <p:grpSp>
        <p:nvGrpSpPr>
          <p:cNvPr id="12296" name="Group 14">
            <a:extLst>
              <a:ext uri="{FF2B5EF4-FFF2-40B4-BE49-F238E27FC236}">
                <a16:creationId xmlns:a16="http://schemas.microsoft.com/office/drawing/2014/main" id="{49F31710-EA8D-374A-8006-30BCC731D428}"/>
              </a:ext>
            </a:extLst>
          </p:cNvPr>
          <p:cNvGrpSpPr>
            <a:grpSpLocks/>
          </p:cNvGrpSpPr>
          <p:nvPr/>
        </p:nvGrpSpPr>
        <p:grpSpPr bwMode="auto">
          <a:xfrm>
            <a:off x="5527675" y="4191000"/>
            <a:ext cx="492125" cy="381000"/>
            <a:chOff x="3542" y="3117"/>
            <a:chExt cx="310" cy="240"/>
          </a:xfrm>
        </p:grpSpPr>
        <p:sp>
          <p:nvSpPr>
            <p:cNvPr id="12299" name="Oval 15">
              <a:extLst>
                <a:ext uri="{FF2B5EF4-FFF2-40B4-BE49-F238E27FC236}">
                  <a16:creationId xmlns:a16="http://schemas.microsoft.com/office/drawing/2014/main" id="{AAE53938-E179-6A4B-9120-1C2BEA9F7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3117"/>
              <a:ext cx="225" cy="24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urier" pitchFamily="2" charset="0"/>
              </a:endParaRPr>
            </a:p>
          </p:txBody>
        </p:sp>
        <p:sp>
          <p:nvSpPr>
            <p:cNvPr id="12300" name="Text Box 16">
              <a:extLst>
                <a:ext uri="{FF2B5EF4-FFF2-40B4-BE49-F238E27FC236}">
                  <a16:creationId xmlns:a16="http://schemas.microsoft.com/office/drawing/2014/main" id="{D00C25F4-F4C3-154F-AD61-6A2E0264B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2" y="3153"/>
              <a:ext cx="3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Courier" pitchFamily="2" charset="0"/>
                </a:rPr>
                <a:t>SUBD</a:t>
              </a:r>
            </a:p>
          </p:txBody>
        </p:sp>
      </p:grpSp>
      <p:sp>
        <p:nvSpPr>
          <p:cNvPr id="12297" name="Line 17">
            <a:extLst>
              <a:ext uri="{FF2B5EF4-FFF2-40B4-BE49-F238E27FC236}">
                <a16:creationId xmlns:a16="http://schemas.microsoft.com/office/drawing/2014/main" id="{1B552FB9-60F4-C942-952C-1F2B46DEB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8075" y="4572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Text Box 18">
            <a:extLst>
              <a:ext uri="{FF2B5EF4-FFF2-40B4-BE49-F238E27FC236}">
                <a16:creationId xmlns:a16="http://schemas.microsoft.com/office/drawing/2014/main" id="{B3CB8C46-4CF6-3941-88A0-13ADD0FA0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875" y="3810000"/>
            <a:ext cx="11811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imes New Roman" panose="02020603050405020304" pitchFamily="18" charset="0"/>
              </a:rPr>
              <a:t>Dataflow Graph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Rectangle 2">
            <a:extLst>
              <a:ext uri="{FF2B5EF4-FFF2-40B4-BE49-F238E27FC236}">
                <a16:creationId xmlns:a16="http://schemas.microsoft.com/office/drawing/2014/main" id="{4D5E6ACA-306C-CB4D-B92D-F8FF90F50E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Pipeline modification</a:t>
            </a:r>
          </a:p>
        </p:txBody>
      </p:sp>
      <p:sp>
        <p:nvSpPr>
          <p:cNvPr id="14338" name="Rectangle 3">
            <a:extLst>
              <a:ext uri="{FF2B5EF4-FFF2-40B4-BE49-F238E27FC236}">
                <a16:creationId xmlns:a16="http://schemas.microsoft.com/office/drawing/2014/main" id="{3FC17E16-5AE1-E847-8A94-1C5BFD68DD7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Fundamental pipeline change needed</a:t>
            </a:r>
          </a:p>
          <a:p>
            <a:pPr lvl="1"/>
            <a:r>
              <a:rPr lang="en-US" altLang="en-US"/>
              <a:t>Stalled dependent instructions cannot block later independent instructions</a:t>
            </a:r>
          </a:p>
          <a:p>
            <a:pPr lvl="1"/>
            <a:r>
              <a:rPr lang="en-US" altLang="en-US"/>
              <a:t>Split ID (decode stage) into two new stages</a:t>
            </a:r>
          </a:p>
          <a:p>
            <a:pPr lvl="2"/>
            <a:r>
              <a:rPr lang="en-US" altLang="en-US"/>
              <a:t>DISPATCH (ID): instruction dispatch</a:t>
            </a:r>
          </a:p>
          <a:p>
            <a:pPr lvl="2"/>
            <a:r>
              <a:rPr lang="en-US" altLang="en-US"/>
              <a:t>ISSUE (IS): instruction schedule / issue</a:t>
            </a:r>
          </a:p>
          <a:p>
            <a:pPr lvl="1"/>
            <a:r>
              <a:rPr lang="en-US" altLang="en-US"/>
              <a:t>The ISSUE stage buffers instructions waiting (stalled) for data</a:t>
            </a:r>
          </a:p>
          <a:p>
            <a:pPr lvl="1"/>
            <a:r>
              <a:rPr lang="en-US" altLang="en-US"/>
              <a:t>This allows later instructions to make progress (FETCH and DISPATCH are not stalled)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Rectangle 1026">
            <a:extLst>
              <a:ext uri="{FF2B5EF4-FFF2-40B4-BE49-F238E27FC236}">
                <a16:creationId xmlns:a16="http://schemas.microsoft.com/office/drawing/2014/main" id="{80E22541-31D4-6144-B6F2-3CDF48D747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Pipeline modification</a:t>
            </a:r>
          </a:p>
        </p:txBody>
      </p:sp>
      <p:sp>
        <p:nvSpPr>
          <p:cNvPr id="15362" name="Rectangle 1027">
            <a:extLst>
              <a:ext uri="{FF2B5EF4-FFF2-40B4-BE49-F238E27FC236}">
                <a16:creationId xmlns:a16="http://schemas.microsoft.com/office/drawing/2014/main" id="{B1161EAB-728D-DE42-A8F7-EFEFE12B96D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Simple in-order pipeline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Stalled instruction </a:t>
            </a:r>
            <a:r>
              <a:rPr lang="en-US" altLang="en-US" i="1">
                <a:ea typeface="ＭＳ Ｐゴシック" panose="020B0600070205080204" pitchFamily="34" charset="-128"/>
              </a:rPr>
              <a:t>has no where to go</a:t>
            </a:r>
          </a:p>
          <a:p>
            <a:pPr lvl="1"/>
            <a:r>
              <a:rPr lang="en-US" altLang="en-US"/>
              <a:t>Stalls in decode (ID) stage</a:t>
            </a:r>
          </a:p>
          <a:p>
            <a:pPr lvl="1"/>
            <a:r>
              <a:rPr lang="en-US" altLang="en-US"/>
              <a:t>This stalls later instruction in IF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  <p:grpSp>
        <p:nvGrpSpPr>
          <p:cNvPr id="15363" name="Group 1028">
            <a:extLst>
              <a:ext uri="{FF2B5EF4-FFF2-40B4-BE49-F238E27FC236}">
                <a16:creationId xmlns:a16="http://schemas.microsoft.com/office/drawing/2014/main" id="{E779B1DC-A49B-584C-AE3B-E57B2FE9F822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2057400"/>
            <a:ext cx="1539875" cy="914400"/>
            <a:chOff x="672" y="3072"/>
            <a:chExt cx="970" cy="576"/>
          </a:xfrm>
        </p:grpSpPr>
        <p:grpSp>
          <p:nvGrpSpPr>
            <p:cNvPr id="15364" name="Group 1029">
              <a:extLst>
                <a:ext uri="{FF2B5EF4-FFF2-40B4-BE49-F238E27FC236}">
                  <a16:creationId xmlns:a16="http://schemas.microsoft.com/office/drawing/2014/main" id="{BC553B2C-79A7-B24C-8FAC-CBA9FDD837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3072"/>
              <a:ext cx="187" cy="576"/>
              <a:chOff x="672" y="3072"/>
              <a:chExt cx="187" cy="576"/>
            </a:xfrm>
          </p:grpSpPr>
          <p:sp>
            <p:nvSpPr>
              <p:cNvPr id="15376" name="Rectangle 1030">
                <a:extLst>
                  <a:ext uri="{FF2B5EF4-FFF2-40B4-BE49-F238E27FC236}">
                    <a16:creationId xmlns:a16="http://schemas.microsoft.com/office/drawing/2014/main" id="{4EA3149C-7A16-5B49-89BA-ECDD124E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3072"/>
                <a:ext cx="96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77" name="Text Box 1031">
                <a:extLst>
                  <a:ext uri="{FF2B5EF4-FFF2-40B4-BE49-F238E27FC236}">
                    <a16:creationId xmlns:a16="http://schemas.microsoft.com/office/drawing/2014/main" id="{44128455-CBA1-E244-A247-E1CE2823AD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3264"/>
                <a:ext cx="187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  <a:cs typeface="Arial" panose="020B0604020202020204" pitchFamily="34" charset="0"/>
                  </a:rPr>
                  <a:t>IF</a:t>
                </a:r>
              </a:p>
            </p:txBody>
          </p:sp>
        </p:grpSp>
        <p:grpSp>
          <p:nvGrpSpPr>
            <p:cNvPr id="15365" name="Group 1032">
              <a:extLst>
                <a:ext uri="{FF2B5EF4-FFF2-40B4-BE49-F238E27FC236}">
                  <a16:creationId xmlns:a16="http://schemas.microsoft.com/office/drawing/2014/main" id="{5E50A693-67C0-7A4F-84D4-94F6B0197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3072"/>
              <a:ext cx="202" cy="576"/>
              <a:chOff x="672" y="3072"/>
              <a:chExt cx="202" cy="576"/>
            </a:xfrm>
          </p:grpSpPr>
          <p:sp>
            <p:nvSpPr>
              <p:cNvPr id="15374" name="Rectangle 1033">
                <a:extLst>
                  <a:ext uri="{FF2B5EF4-FFF2-40B4-BE49-F238E27FC236}">
                    <a16:creationId xmlns:a16="http://schemas.microsoft.com/office/drawing/2014/main" id="{FE6DF75C-FEA6-864D-904B-A36E52753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3072"/>
                <a:ext cx="96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75" name="Text Box 1034">
                <a:extLst>
                  <a:ext uri="{FF2B5EF4-FFF2-40B4-BE49-F238E27FC236}">
                    <a16:creationId xmlns:a16="http://schemas.microsoft.com/office/drawing/2014/main" id="{965B9261-30FA-4545-ADDF-9E36274534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3264"/>
                <a:ext cx="202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  <a:cs typeface="Arial" panose="020B0604020202020204" pitchFamily="34" charset="0"/>
                  </a:rPr>
                  <a:t>ID</a:t>
                </a:r>
              </a:p>
            </p:txBody>
          </p:sp>
        </p:grpSp>
        <p:sp>
          <p:nvSpPr>
            <p:cNvPr id="15366" name="Rectangle 1035">
              <a:extLst>
                <a:ext uri="{FF2B5EF4-FFF2-40B4-BE49-F238E27FC236}">
                  <a16:creationId xmlns:a16="http://schemas.microsoft.com/office/drawing/2014/main" id="{4A92917B-0D7B-F94B-948B-98AE0BDF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3072"/>
              <a:ext cx="96" cy="57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67" name="Text Box 1036">
              <a:extLst>
                <a:ext uri="{FF2B5EF4-FFF2-40B4-BE49-F238E27FC236}">
                  <a16:creationId xmlns:a16="http://schemas.microsoft.com/office/drawing/2014/main" id="{63B6571E-63C4-9246-A905-1D61B36E3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3072"/>
              <a:ext cx="309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EX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MEM</a:t>
              </a:r>
            </a:p>
          </p:txBody>
        </p:sp>
        <p:grpSp>
          <p:nvGrpSpPr>
            <p:cNvPr id="15368" name="Group 1037">
              <a:extLst>
                <a:ext uri="{FF2B5EF4-FFF2-40B4-BE49-F238E27FC236}">
                  <a16:creationId xmlns:a16="http://schemas.microsoft.com/office/drawing/2014/main" id="{BE092491-E724-E848-8C13-A26E909880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3072"/>
              <a:ext cx="250" cy="576"/>
              <a:chOff x="672" y="3072"/>
              <a:chExt cx="250" cy="576"/>
            </a:xfrm>
          </p:grpSpPr>
          <p:sp>
            <p:nvSpPr>
              <p:cNvPr id="15372" name="Rectangle 1038">
                <a:extLst>
                  <a:ext uri="{FF2B5EF4-FFF2-40B4-BE49-F238E27FC236}">
                    <a16:creationId xmlns:a16="http://schemas.microsoft.com/office/drawing/2014/main" id="{D039A309-3DDE-0D4F-8F02-FF14A9240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3072"/>
                <a:ext cx="96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73" name="Text Box 1039">
                <a:extLst>
                  <a:ext uri="{FF2B5EF4-FFF2-40B4-BE49-F238E27FC236}">
                    <a16:creationId xmlns:a16="http://schemas.microsoft.com/office/drawing/2014/main" id="{FA7D908F-D447-CC47-B436-9849B8EB9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2" y="3264"/>
                <a:ext cx="25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  <a:cs typeface="Arial" panose="020B0604020202020204" pitchFamily="34" charset="0"/>
                  </a:rPr>
                  <a:t>WB</a:t>
                </a:r>
              </a:p>
            </p:txBody>
          </p:sp>
        </p:grpSp>
        <p:sp>
          <p:nvSpPr>
            <p:cNvPr id="15369" name="Line 1040">
              <a:extLst>
                <a:ext uri="{FF2B5EF4-FFF2-40B4-BE49-F238E27FC236}">
                  <a16:creationId xmlns:a16="http://schemas.microsoft.com/office/drawing/2014/main" id="{34E157D6-C54C-7346-A98D-776AA9377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3360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Line 1041">
              <a:extLst>
                <a:ext uri="{FF2B5EF4-FFF2-40B4-BE49-F238E27FC236}">
                  <a16:creationId xmlns:a16="http://schemas.microsoft.com/office/drawing/2014/main" id="{CC535321-E07B-7E4D-A62B-3A23E8804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3360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Line 1042">
              <a:extLst>
                <a:ext uri="{FF2B5EF4-FFF2-40B4-BE49-F238E27FC236}">
                  <a16:creationId xmlns:a16="http://schemas.microsoft.com/office/drawing/2014/main" id="{7413C789-6941-B546-A0CF-E37951359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3360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Rectangle 2">
            <a:extLst>
              <a:ext uri="{FF2B5EF4-FFF2-40B4-BE49-F238E27FC236}">
                <a16:creationId xmlns:a16="http://schemas.microsoft.com/office/drawing/2014/main" id="{4FE1E72F-2D21-9746-B9D8-792CB3F227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Pipeline modification</a:t>
            </a:r>
          </a:p>
        </p:txBody>
      </p:sp>
      <p:sp>
        <p:nvSpPr>
          <p:cNvPr id="16386" name="Rectangle 3">
            <a:extLst>
              <a:ext uri="{FF2B5EF4-FFF2-40B4-BE49-F238E27FC236}">
                <a16:creationId xmlns:a16="http://schemas.microsoft.com/office/drawing/2014/main" id="{F94E9E47-1214-3040-8B79-A4E369BD3E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Out-of-order pipeline</a:t>
            </a:r>
          </a:p>
          <a:p>
            <a:pPr lvl="1"/>
            <a:r>
              <a:rPr lang="en-US" altLang="en-US"/>
              <a:t>Two decoupled pipelines:</a:t>
            </a:r>
          </a:p>
          <a:p>
            <a:pPr lvl="2"/>
            <a:r>
              <a:rPr lang="en-US" altLang="en-US"/>
              <a:t>FETCH/DISPATCH pipeline brings instructions into processor in program order: scan instructions in program order – required to determine data dependences</a:t>
            </a:r>
          </a:p>
          <a:p>
            <a:pPr lvl="2"/>
            <a:r>
              <a:rPr lang="en-US" altLang="en-US"/>
              <a:t>ISSUE/EXECUTE pipeline executes instructions based on data dependences and available functional units (FU)</a:t>
            </a:r>
          </a:p>
        </p:txBody>
      </p:sp>
      <p:grpSp>
        <p:nvGrpSpPr>
          <p:cNvPr id="16387" name="Group 53">
            <a:extLst>
              <a:ext uri="{FF2B5EF4-FFF2-40B4-BE49-F238E27FC236}">
                <a16:creationId xmlns:a16="http://schemas.microsoft.com/office/drawing/2014/main" id="{F9BADB21-B535-144B-96E5-9D4AB5348AA0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4038600"/>
            <a:ext cx="2530475" cy="2286000"/>
            <a:chOff x="1968" y="2448"/>
            <a:chExt cx="1594" cy="1440"/>
          </a:xfrm>
        </p:grpSpPr>
        <p:grpSp>
          <p:nvGrpSpPr>
            <p:cNvPr id="16392" name="Group 4">
              <a:extLst>
                <a:ext uri="{FF2B5EF4-FFF2-40B4-BE49-F238E27FC236}">
                  <a16:creationId xmlns:a16="http://schemas.microsoft.com/office/drawing/2014/main" id="{6E644D10-213E-2F4E-A0A3-AA528BCB6A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8" y="2688"/>
              <a:ext cx="1279" cy="1200"/>
              <a:chOff x="2448" y="2736"/>
              <a:chExt cx="1279" cy="1200"/>
            </a:xfrm>
          </p:grpSpPr>
          <p:grpSp>
            <p:nvGrpSpPr>
              <p:cNvPr id="16403" name="Group 5">
                <a:extLst>
                  <a:ext uri="{FF2B5EF4-FFF2-40B4-BE49-F238E27FC236}">
                    <a16:creationId xmlns:a16="http://schemas.microsoft.com/office/drawing/2014/main" id="{221B7EC4-93D7-214C-BE00-2AF5EE1493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8" y="3072"/>
                <a:ext cx="187" cy="576"/>
                <a:chOff x="672" y="3072"/>
                <a:chExt cx="187" cy="576"/>
              </a:xfrm>
            </p:grpSpPr>
            <p:sp>
              <p:nvSpPr>
                <p:cNvPr id="16432" name="Rectangle 6">
                  <a:extLst>
                    <a:ext uri="{FF2B5EF4-FFF2-40B4-BE49-F238E27FC236}">
                      <a16:creationId xmlns:a16="http://schemas.microsoft.com/office/drawing/2014/main" id="{8C1D57D0-CEF6-D745-A63C-E1023AC60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0" y="3072"/>
                  <a:ext cx="96" cy="57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33" name="Text Box 7">
                  <a:extLst>
                    <a:ext uri="{FF2B5EF4-FFF2-40B4-BE49-F238E27FC236}">
                      <a16:creationId xmlns:a16="http://schemas.microsoft.com/office/drawing/2014/main" id="{02C481A0-E880-8E43-9DEC-D4B90BB6D6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2" y="3264"/>
                  <a:ext cx="187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Times New Roman" panose="02020603050405020304" pitchFamily="18" charset="0"/>
                    </a:rPr>
                    <a:t>IF</a:t>
                  </a:r>
                </a:p>
              </p:txBody>
            </p:sp>
          </p:grpSp>
          <p:grpSp>
            <p:nvGrpSpPr>
              <p:cNvPr id="16404" name="Group 8">
                <a:extLst>
                  <a:ext uri="{FF2B5EF4-FFF2-40B4-BE49-F238E27FC236}">
                    <a16:creationId xmlns:a16="http://schemas.microsoft.com/office/drawing/2014/main" id="{70B766CB-109E-4245-8C83-75617E0171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" y="3072"/>
                <a:ext cx="202" cy="576"/>
                <a:chOff x="672" y="3072"/>
                <a:chExt cx="202" cy="576"/>
              </a:xfrm>
            </p:grpSpPr>
            <p:sp>
              <p:nvSpPr>
                <p:cNvPr id="16430" name="Rectangle 9">
                  <a:extLst>
                    <a:ext uri="{FF2B5EF4-FFF2-40B4-BE49-F238E27FC236}">
                      <a16:creationId xmlns:a16="http://schemas.microsoft.com/office/drawing/2014/main" id="{BB6F4A95-291F-2F4E-9E35-FE821385E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0" y="3072"/>
                  <a:ext cx="96" cy="57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31" name="Text Box 10">
                  <a:extLst>
                    <a:ext uri="{FF2B5EF4-FFF2-40B4-BE49-F238E27FC236}">
                      <a16:creationId xmlns:a16="http://schemas.microsoft.com/office/drawing/2014/main" id="{92D00A56-81EB-5346-9412-D0BFFBBC9B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2" y="3264"/>
                  <a:ext cx="202" cy="1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Times New Roman" panose="02020603050405020304" pitchFamily="18" charset="0"/>
                    </a:rPr>
                    <a:t>ID</a:t>
                  </a:r>
                </a:p>
              </p:txBody>
            </p:sp>
          </p:grpSp>
          <p:grpSp>
            <p:nvGrpSpPr>
              <p:cNvPr id="16405" name="Group 11">
                <a:extLst>
                  <a:ext uri="{FF2B5EF4-FFF2-40B4-BE49-F238E27FC236}">
                    <a16:creationId xmlns:a16="http://schemas.microsoft.com/office/drawing/2014/main" id="{DBF59BBD-B982-7E4A-B76F-F2A9B4AB04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64" y="2736"/>
                <a:ext cx="463" cy="336"/>
                <a:chOff x="3504" y="2880"/>
                <a:chExt cx="463" cy="336"/>
              </a:xfrm>
            </p:grpSpPr>
            <p:sp>
              <p:nvSpPr>
                <p:cNvPr id="16423" name="Rectangle 12">
                  <a:extLst>
                    <a:ext uri="{FF2B5EF4-FFF2-40B4-BE49-F238E27FC236}">
                      <a16:creationId xmlns:a16="http://schemas.microsoft.com/office/drawing/2014/main" id="{4B62FCAA-DBBC-3F41-BC2B-65497C14C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4" y="2880"/>
                  <a:ext cx="192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24" name="Line 13">
                  <a:extLst>
                    <a:ext uri="{FF2B5EF4-FFF2-40B4-BE49-F238E27FC236}">
                      <a16:creationId xmlns:a16="http://schemas.microsoft.com/office/drawing/2014/main" id="{F629B9ED-B6A3-E140-AE67-A3E36308B9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2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25" name="Line 14">
                  <a:extLst>
                    <a:ext uri="{FF2B5EF4-FFF2-40B4-BE49-F238E27FC236}">
                      <a16:creationId xmlns:a16="http://schemas.microsoft.com/office/drawing/2014/main" id="{FBDAE947-495D-D54A-9920-601CAE5083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0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26" name="Line 15">
                  <a:extLst>
                    <a:ext uri="{FF2B5EF4-FFF2-40B4-BE49-F238E27FC236}">
                      <a16:creationId xmlns:a16="http://schemas.microsoft.com/office/drawing/2014/main" id="{ACAD0ACA-5CA1-F94E-8646-3CD10C19AE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48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27" name="Rectangle 16">
                  <a:extLst>
                    <a:ext uri="{FF2B5EF4-FFF2-40B4-BE49-F238E27FC236}">
                      <a16:creationId xmlns:a16="http://schemas.microsoft.com/office/drawing/2014/main" id="{03D2EE0A-E1AE-1C4A-8468-1D36BF97D7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2" y="2880"/>
                  <a:ext cx="144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28" name="Text Box 17">
                  <a:extLst>
                    <a:ext uri="{FF2B5EF4-FFF2-40B4-BE49-F238E27FC236}">
                      <a16:creationId xmlns:a16="http://schemas.microsoft.com/office/drawing/2014/main" id="{502EE399-2268-0F4B-9404-AF12767CA59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4" y="2976"/>
                  <a:ext cx="223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Times New Roman" panose="02020603050405020304" pitchFamily="18" charset="0"/>
                    </a:rPr>
                    <a:t>FU</a:t>
                  </a:r>
                </a:p>
              </p:txBody>
            </p:sp>
            <p:sp>
              <p:nvSpPr>
                <p:cNvPr id="16429" name="Line 18">
                  <a:extLst>
                    <a:ext uri="{FF2B5EF4-FFF2-40B4-BE49-F238E27FC236}">
                      <a16:creationId xmlns:a16="http://schemas.microsoft.com/office/drawing/2014/main" id="{EB0ADF84-01D9-CB4D-B2B0-F3D8297504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96" y="3072"/>
                  <a:ext cx="96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triangl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6406" name="Group 19">
                <a:extLst>
                  <a:ext uri="{FF2B5EF4-FFF2-40B4-BE49-F238E27FC236}">
                    <a16:creationId xmlns:a16="http://schemas.microsoft.com/office/drawing/2014/main" id="{CA363491-C7CE-A249-9DC3-BF08F68D34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64" y="3168"/>
                <a:ext cx="463" cy="336"/>
                <a:chOff x="3504" y="2880"/>
                <a:chExt cx="463" cy="336"/>
              </a:xfrm>
            </p:grpSpPr>
            <p:sp>
              <p:nvSpPr>
                <p:cNvPr id="16416" name="Rectangle 20">
                  <a:extLst>
                    <a:ext uri="{FF2B5EF4-FFF2-40B4-BE49-F238E27FC236}">
                      <a16:creationId xmlns:a16="http://schemas.microsoft.com/office/drawing/2014/main" id="{2E1B6DC7-03AB-3B4B-910B-B4AC143C56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4" y="2880"/>
                  <a:ext cx="192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17" name="Line 21">
                  <a:extLst>
                    <a:ext uri="{FF2B5EF4-FFF2-40B4-BE49-F238E27FC236}">
                      <a16:creationId xmlns:a16="http://schemas.microsoft.com/office/drawing/2014/main" id="{4AC70410-6C84-1F42-9ACB-7621CBECCF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2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18" name="Line 22">
                  <a:extLst>
                    <a:ext uri="{FF2B5EF4-FFF2-40B4-BE49-F238E27FC236}">
                      <a16:creationId xmlns:a16="http://schemas.microsoft.com/office/drawing/2014/main" id="{20D2960F-E5DB-4C44-AF13-59E5DBE06C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0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19" name="Line 23">
                  <a:extLst>
                    <a:ext uri="{FF2B5EF4-FFF2-40B4-BE49-F238E27FC236}">
                      <a16:creationId xmlns:a16="http://schemas.microsoft.com/office/drawing/2014/main" id="{3246B7AC-7336-2C4C-8BED-56084E89A5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48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20" name="Rectangle 24">
                  <a:extLst>
                    <a:ext uri="{FF2B5EF4-FFF2-40B4-BE49-F238E27FC236}">
                      <a16:creationId xmlns:a16="http://schemas.microsoft.com/office/drawing/2014/main" id="{57A921F3-7F45-D644-B6B7-8E1BAB6AE0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2" y="2880"/>
                  <a:ext cx="144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21" name="Text Box 25">
                  <a:extLst>
                    <a:ext uri="{FF2B5EF4-FFF2-40B4-BE49-F238E27FC236}">
                      <a16:creationId xmlns:a16="http://schemas.microsoft.com/office/drawing/2014/main" id="{6E99CC61-AE6D-4C4F-BE96-353B4738E9F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4" y="2976"/>
                  <a:ext cx="223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Times New Roman" panose="02020603050405020304" pitchFamily="18" charset="0"/>
                    </a:rPr>
                    <a:t>FU</a:t>
                  </a:r>
                </a:p>
              </p:txBody>
            </p:sp>
            <p:sp>
              <p:nvSpPr>
                <p:cNvPr id="16422" name="Line 26">
                  <a:extLst>
                    <a:ext uri="{FF2B5EF4-FFF2-40B4-BE49-F238E27FC236}">
                      <a16:creationId xmlns:a16="http://schemas.microsoft.com/office/drawing/2014/main" id="{64E72CEA-2C61-9D48-BCB1-9102376AE7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96" y="3072"/>
                  <a:ext cx="96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triangl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6407" name="Group 27">
                <a:extLst>
                  <a:ext uri="{FF2B5EF4-FFF2-40B4-BE49-F238E27FC236}">
                    <a16:creationId xmlns:a16="http://schemas.microsoft.com/office/drawing/2014/main" id="{285E424F-4045-3444-8112-C1DEEAD992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64" y="3600"/>
                <a:ext cx="463" cy="336"/>
                <a:chOff x="3504" y="2880"/>
                <a:chExt cx="463" cy="336"/>
              </a:xfrm>
            </p:grpSpPr>
            <p:sp>
              <p:nvSpPr>
                <p:cNvPr id="16409" name="Rectangle 28">
                  <a:extLst>
                    <a:ext uri="{FF2B5EF4-FFF2-40B4-BE49-F238E27FC236}">
                      <a16:creationId xmlns:a16="http://schemas.microsoft.com/office/drawing/2014/main" id="{FE6C97AB-FB24-9345-BDAA-A15B8E48B1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4" y="2880"/>
                  <a:ext cx="192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10" name="Line 29">
                  <a:extLst>
                    <a:ext uri="{FF2B5EF4-FFF2-40B4-BE49-F238E27FC236}">
                      <a16:creationId xmlns:a16="http://schemas.microsoft.com/office/drawing/2014/main" id="{36B9D5CA-5AF2-1645-AED3-2EF5014AC9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552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11" name="Line 30">
                  <a:extLst>
                    <a:ext uri="{FF2B5EF4-FFF2-40B4-BE49-F238E27FC236}">
                      <a16:creationId xmlns:a16="http://schemas.microsoft.com/office/drawing/2014/main" id="{27B2B416-0327-7D40-9860-B5AA84E0A1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0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12" name="Line 31">
                  <a:extLst>
                    <a:ext uri="{FF2B5EF4-FFF2-40B4-BE49-F238E27FC236}">
                      <a16:creationId xmlns:a16="http://schemas.microsoft.com/office/drawing/2014/main" id="{CFDC9F98-A089-6041-8D97-34E822440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48" y="2880"/>
                  <a:ext cx="0" cy="33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13" name="Rectangle 32">
                  <a:extLst>
                    <a:ext uri="{FF2B5EF4-FFF2-40B4-BE49-F238E27FC236}">
                      <a16:creationId xmlns:a16="http://schemas.microsoft.com/office/drawing/2014/main" id="{750AA654-AE14-F04B-A6B6-38F2E84BCA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2" y="2880"/>
                  <a:ext cx="144" cy="3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:ln>
              </p:spPr>
              <p:txBody>
                <a:bodyPr wrap="none" anchor="ctr"/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0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6414" name="Text Box 33">
                  <a:extLst>
                    <a:ext uri="{FF2B5EF4-FFF2-40B4-BE49-F238E27FC236}">
                      <a16:creationId xmlns:a16="http://schemas.microsoft.com/office/drawing/2014/main" id="{B24A0D94-A48D-D641-A13D-5C6CA3F3DA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44" y="2976"/>
                  <a:ext cx="223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88"/>
                    </a:spcBef>
                    <a:buClr>
                      <a:srgbClr val="FFC000"/>
                    </a:buClr>
                    <a:buSzPct val="100000"/>
                    <a:buFont typeface="Wingdings" pitchFamily="2" charset="2"/>
                    <a:buChar char=""/>
                    <a:defRPr sz="2800">
                      <a:solidFill>
                        <a:srgbClr val="000000"/>
                      </a:solidFill>
                      <a:latin typeface="Garamond" panose="02020404030301010803" pitchFamily="18" charset="0"/>
                      <a:ea typeface="ＭＳ Ｐゴシック" panose="020B0600070205080204" pitchFamily="34" charset="-128"/>
                      <a:cs typeface="HG Mincho Light J" charset="0"/>
                    </a:defRPr>
                  </a:lvl1pPr>
                  <a:lvl2pPr marL="742950" indent="-28575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–"/>
                    <a:defRPr sz="2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2pPr>
                  <a:lvl3pPr marL="1143000" indent="-228600">
                    <a:spcBef>
                      <a:spcPts val="5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buChar char="•"/>
                    <a:defRPr sz="20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3pPr>
                  <a:lvl4pPr marL="16002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Wingdings" pitchFamily="2" charset="2"/>
                    <a:defRPr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4pPr>
                  <a:lvl5pPr marL="2057400" indent="-228600">
                    <a:spcBef>
                      <a:spcPts val="488"/>
                    </a:spcBef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5pPr>
                  <a:lvl6pPr marL="25146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6pPr>
                  <a:lvl7pPr marL="29718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7pPr>
                  <a:lvl8pPr marL="34290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8pPr>
                  <a:lvl9pPr marL="3886200" indent="-228600" eaLnBrk="0" fontAlgn="base" hangingPunct="0">
                    <a:spcBef>
                      <a:spcPts val="488"/>
                    </a:spcBef>
                    <a:spcAft>
                      <a:spcPct val="0"/>
                    </a:spcAft>
                    <a:buClr>
                      <a:srgbClr val="000000"/>
                    </a:buClr>
                    <a:buSzPct val="100000"/>
                    <a:buFont typeface="Times New Roman" panose="02020603050405020304" pitchFamily="18" charset="0"/>
                    <a:defRPr sz="1400">
                      <a:solidFill>
                        <a:srgbClr val="000000"/>
                      </a:solidFill>
                      <a:latin typeface="Garamond" panose="02020404030301010803" pitchFamily="18" charset="0"/>
                      <a:ea typeface="HG Mincho Light J" charset="0"/>
                      <a:cs typeface="HG Mincho Light J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Times New Roman" panose="02020603050405020304" pitchFamily="18" charset="0"/>
                    </a:rPr>
                    <a:t>FU</a:t>
                  </a:r>
                </a:p>
              </p:txBody>
            </p:sp>
            <p:sp>
              <p:nvSpPr>
                <p:cNvPr id="16415" name="Line 34">
                  <a:extLst>
                    <a:ext uri="{FF2B5EF4-FFF2-40B4-BE49-F238E27FC236}">
                      <a16:creationId xmlns:a16="http://schemas.microsoft.com/office/drawing/2014/main" id="{51E45219-006B-E44F-B814-BA45A1C50A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96" y="3072"/>
                  <a:ext cx="96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triangl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408" name="Line 35">
                <a:extLst>
                  <a:ext uri="{FF2B5EF4-FFF2-40B4-BE49-F238E27FC236}">
                    <a16:creationId xmlns:a16="http://schemas.microsoft.com/office/drawing/2014/main" id="{C5DF246B-B20D-234E-BE31-8A2131125E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3360"/>
                <a:ext cx="24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393" name="Line 36">
              <a:extLst>
                <a:ext uri="{FF2B5EF4-FFF2-40B4-BE49-F238E27FC236}">
                  <a16:creationId xmlns:a16="http://schemas.microsoft.com/office/drawing/2014/main" id="{D6E80014-46B3-2947-A8C0-9A135CBC5C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312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Line 37">
              <a:extLst>
                <a:ext uri="{FF2B5EF4-FFF2-40B4-BE49-F238E27FC236}">
                  <a16:creationId xmlns:a16="http://schemas.microsoft.com/office/drawing/2014/main" id="{E29D4387-2236-0141-B93A-C886641208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744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Line 38">
              <a:extLst>
                <a:ext uri="{FF2B5EF4-FFF2-40B4-BE49-F238E27FC236}">
                  <a16:creationId xmlns:a16="http://schemas.microsoft.com/office/drawing/2014/main" id="{AE4B1CF3-069F-8C4E-B4BA-8242E49E0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2880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43">
              <a:extLst>
                <a:ext uri="{FF2B5EF4-FFF2-40B4-BE49-F238E27FC236}">
                  <a16:creationId xmlns:a16="http://schemas.microsoft.com/office/drawing/2014/main" id="{4C82C1CC-7391-3B4C-8E21-842E98FA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48"/>
              <a:ext cx="475" cy="1296"/>
            </a:xfrm>
            <a:custGeom>
              <a:avLst/>
              <a:gdLst>
                <a:gd name="T0" fmla="*/ 475 w 475"/>
                <a:gd name="T1" fmla="*/ 1296 h 1296"/>
                <a:gd name="T2" fmla="*/ 475 w 475"/>
                <a:gd name="T3" fmla="*/ 0 h 1296"/>
                <a:gd name="T4" fmla="*/ 0 w 475"/>
                <a:gd name="T5" fmla="*/ 3 h 1296"/>
                <a:gd name="T6" fmla="*/ 0 w 475"/>
                <a:gd name="T7" fmla="*/ 191 h 12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5" h="1296">
                  <a:moveTo>
                    <a:pt x="475" y="1296"/>
                  </a:moveTo>
                  <a:lnTo>
                    <a:pt x="475" y="0"/>
                  </a:lnTo>
                  <a:lnTo>
                    <a:pt x="0" y="3"/>
                  </a:lnTo>
                  <a:lnTo>
                    <a:pt x="0" y="191"/>
                  </a:ln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46">
              <a:extLst>
                <a:ext uri="{FF2B5EF4-FFF2-40B4-BE49-F238E27FC236}">
                  <a16:creationId xmlns:a16="http://schemas.microsoft.com/office/drawing/2014/main" id="{76BE6BE0-5A0E-874C-AE55-36C718C2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880"/>
              <a:ext cx="336" cy="435"/>
            </a:xfrm>
            <a:custGeom>
              <a:avLst/>
              <a:gdLst>
                <a:gd name="T0" fmla="*/ 0 w 336"/>
                <a:gd name="T1" fmla="*/ 432 h 435"/>
                <a:gd name="T2" fmla="*/ 186 w 336"/>
                <a:gd name="T3" fmla="*/ 435 h 435"/>
                <a:gd name="T4" fmla="*/ 192 w 336"/>
                <a:gd name="T5" fmla="*/ 0 h 435"/>
                <a:gd name="T6" fmla="*/ 336 w 336"/>
                <a:gd name="T7" fmla="*/ 0 h 4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35">
                  <a:moveTo>
                    <a:pt x="0" y="432"/>
                  </a:moveTo>
                  <a:lnTo>
                    <a:pt x="186" y="435"/>
                  </a:lnTo>
                  <a:lnTo>
                    <a:pt x="192" y="0"/>
                  </a:lnTo>
                  <a:lnTo>
                    <a:pt x="336" y="0"/>
                  </a:ln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Line 48">
              <a:extLst>
                <a:ext uri="{FF2B5EF4-FFF2-40B4-BE49-F238E27FC236}">
                  <a16:creationId xmlns:a16="http://schemas.microsoft.com/office/drawing/2014/main" id="{A0557609-F365-404E-9286-424E6EDC9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312"/>
              <a:ext cx="14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49">
              <a:extLst>
                <a:ext uri="{FF2B5EF4-FFF2-40B4-BE49-F238E27FC236}">
                  <a16:creationId xmlns:a16="http://schemas.microsoft.com/office/drawing/2014/main" id="{E245600C-6892-C548-BD4F-79ED1043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312"/>
              <a:ext cx="144" cy="432"/>
            </a:xfrm>
            <a:custGeom>
              <a:avLst/>
              <a:gdLst>
                <a:gd name="T0" fmla="*/ 0 w 144"/>
                <a:gd name="T1" fmla="*/ 0 h 432"/>
                <a:gd name="T2" fmla="*/ 0 w 144"/>
                <a:gd name="T3" fmla="*/ 432 h 432"/>
                <a:gd name="T4" fmla="*/ 144 w 144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0" y="0"/>
                  </a:moveTo>
                  <a:lnTo>
                    <a:pt x="0" y="432"/>
                  </a:lnTo>
                  <a:lnTo>
                    <a:pt x="144" y="432"/>
                  </a:ln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Text Box 50">
              <a:extLst>
                <a:ext uri="{FF2B5EF4-FFF2-40B4-BE49-F238E27FC236}">
                  <a16:creationId xmlns:a16="http://schemas.microsoft.com/office/drawing/2014/main" id="{1EE12ED5-9DBF-2B40-9A65-38D42EBE62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2496"/>
              <a:ext cx="1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IS</a:t>
              </a:r>
            </a:p>
          </p:txBody>
        </p:sp>
        <p:sp>
          <p:nvSpPr>
            <p:cNvPr id="16401" name="Text Box 51">
              <a:extLst>
                <a:ext uri="{FF2B5EF4-FFF2-40B4-BE49-F238E27FC236}">
                  <a16:creationId xmlns:a16="http://schemas.microsoft.com/office/drawing/2014/main" id="{5D8B4E1A-1D6B-2C4D-A5A1-E679BA0D1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4" y="2496"/>
              <a:ext cx="2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EX</a:t>
              </a:r>
            </a:p>
          </p:txBody>
        </p:sp>
        <p:sp>
          <p:nvSpPr>
            <p:cNvPr id="16402" name="Text Box 52">
              <a:extLst>
                <a:ext uri="{FF2B5EF4-FFF2-40B4-BE49-F238E27FC236}">
                  <a16:creationId xmlns:a16="http://schemas.microsoft.com/office/drawing/2014/main" id="{3D0CB596-C853-B147-8C34-EDDB07D60B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2496"/>
              <a:ext cx="25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WB</a:t>
              </a:r>
            </a:p>
          </p:txBody>
        </p:sp>
      </p:grpSp>
      <p:sp>
        <p:nvSpPr>
          <p:cNvPr id="16388" name="AutoShape 54">
            <a:extLst>
              <a:ext uri="{FF2B5EF4-FFF2-40B4-BE49-F238E27FC236}">
                <a16:creationId xmlns:a16="http://schemas.microsoft.com/office/drawing/2014/main" id="{290213A9-0BFA-0A40-9507-553BB1F02298}"/>
              </a:ext>
            </a:extLst>
          </p:cNvPr>
          <p:cNvSpPr>
            <a:spLocks/>
          </p:cNvSpPr>
          <p:nvPr/>
        </p:nvSpPr>
        <p:spPr bwMode="auto">
          <a:xfrm rot="5400000">
            <a:off x="5486400" y="3733800"/>
            <a:ext cx="228600" cy="990600"/>
          </a:xfrm>
          <a:prstGeom prst="leftBrace">
            <a:avLst>
              <a:gd name="adj1" fmla="val 36111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6389" name="AutoShape 55">
            <a:extLst>
              <a:ext uri="{FF2B5EF4-FFF2-40B4-BE49-F238E27FC236}">
                <a16:creationId xmlns:a16="http://schemas.microsoft.com/office/drawing/2014/main" id="{173BC7D1-554C-754F-B728-5BCBEBC79A85}"/>
              </a:ext>
            </a:extLst>
          </p:cNvPr>
          <p:cNvSpPr>
            <a:spLocks/>
          </p:cNvSpPr>
          <p:nvPr/>
        </p:nvSpPr>
        <p:spPr bwMode="auto">
          <a:xfrm rot="5400000">
            <a:off x="6781800" y="3352800"/>
            <a:ext cx="228600" cy="990600"/>
          </a:xfrm>
          <a:prstGeom prst="leftBrace">
            <a:avLst>
              <a:gd name="adj1" fmla="val 36111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6390" name="Text Box 56">
            <a:extLst>
              <a:ext uri="{FF2B5EF4-FFF2-40B4-BE49-F238E27FC236}">
                <a16:creationId xmlns:a16="http://schemas.microsoft.com/office/drawing/2014/main" id="{3B18DF88-E5BE-6145-8C34-24F48EE6F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3886200"/>
            <a:ext cx="9064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fetch/dispatch</a:t>
            </a:r>
          </a:p>
        </p:txBody>
      </p:sp>
      <p:sp>
        <p:nvSpPr>
          <p:cNvPr id="16391" name="Text Box 57">
            <a:extLst>
              <a:ext uri="{FF2B5EF4-FFF2-40B4-BE49-F238E27FC236}">
                <a16:creationId xmlns:a16="http://schemas.microsoft.com/office/drawing/2014/main" id="{609302BA-AE1B-484F-8FCC-6A009B57A5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3581400"/>
            <a:ext cx="8715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issue/execute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2">
            <a:extLst>
              <a:ext uri="{FF2B5EF4-FFF2-40B4-BE49-F238E27FC236}">
                <a16:creationId xmlns:a16="http://schemas.microsoft.com/office/drawing/2014/main" id="{BE54CE04-7BB8-0349-A28D-7B40DADD78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High-level view</a:t>
            </a:r>
          </a:p>
        </p:txBody>
      </p:sp>
      <p:sp>
        <p:nvSpPr>
          <p:cNvPr id="17410" name="Rectangle 3">
            <a:extLst>
              <a:ext uri="{FF2B5EF4-FFF2-40B4-BE49-F238E27FC236}">
                <a16:creationId xmlns:a16="http://schemas.microsoft.com/office/drawing/2014/main" id="{8FAF6BC0-841C-EB48-ACCF-69F6706DFA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Out-of-order pipeline</a:t>
            </a:r>
          </a:p>
          <a:p>
            <a:pPr lvl="1"/>
            <a:r>
              <a:rPr lang="en-US" altLang="en-US"/>
              <a:t>Two decoupled pipelines: fetch/dispatch and issue/execute</a:t>
            </a:r>
          </a:p>
          <a:p>
            <a:pPr lvl="1"/>
            <a:r>
              <a:rPr lang="en-US" altLang="en-US"/>
              <a:t>Pipelines decoupled by buffers</a:t>
            </a:r>
          </a:p>
          <a:p>
            <a:pPr lvl="2"/>
            <a:r>
              <a:rPr lang="en-US" altLang="en-US"/>
              <a:t>Many names: reservation stations, issue queues/buffers, scheduling queues or </a:t>
            </a:r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instruction window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endParaRPr lang="en-US" altLang="en-US"/>
          </a:p>
        </p:txBody>
      </p:sp>
      <p:grpSp>
        <p:nvGrpSpPr>
          <p:cNvPr id="17411" name="Group 4">
            <a:extLst>
              <a:ext uri="{FF2B5EF4-FFF2-40B4-BE49-F238E27FC236}">
                <a16:creationId xmlns:a16="http://schemas.microsoft.com/office/drawing/2014/main" id="{7CC05874-D926-2744-AC19-B1CB3578456F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5486400"/>
            <a:ext cx="1219200" cy="554038"/>
            <a:chOff x="730" y="3504"/>
            <a:chExt cx="768" cy="349"/>
          </a:xfrm>
        </p:grpSpPr>
        <p:sp>
          <p:nvSpPr>
            <p:cNvPr id="17450" name="Rectangle 5">
              <a:extLst>
                <a:ext uri="{FF2B5EF4-FFF2-40B4-BE49-F238E27FC236}">
                  <a16:creationId xmlns:a16="http://schemas.microsoft.com/office/drawing/2014/main" id="{FCB6BD66-372F-8643-9CD5-ABF1CB5D6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" y="3515"/>
              <a:ext cx="768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Times New Roman" panose="02020603050405020304" pitchFamily="18" charset="0"/>
              </a:endParaRPr>
            </a:p>
          </p:txBody>
        </p:sp>
        <p:sp>
          <p:nvSpPr>
            <p:cNvPr id="17451" name="Text Box 6">
              <a:extLst>
                <a:ext uri="{FF2B5EF4-FFF2-40B4-BE49-F238E27FC236}">
                  <a16:creationId xmlns:a16="http://schemas.microsoft.com/office/drawing/2014/main" id="{BED029F6-354B-2C47-841A-AB717EF56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3504"/>
              <a:ext cx="549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Instruction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issue/execute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pipeline</a:t>
              </a:r>
            </a:p>
          </p:txBody>
        </p:sp>
      </p:grpSp>
      <p:grpSp>
        <p:nvGrpSpPr>
          <p:cNvPr id="17412" name="Group 7">
            <a:extLst>
              <a:ext uri="{FF2B5EF4-FFF2-40B4-BE49-F238E27FC236}">
                <a16:creationId xmlns:a16="http://schemas.microsoft.com/office/drawing/2014/main" id="{24BEF99F-89B7-384B-A4DC-3F0D4646791D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733800"/>
            <a:ext cx="1219200" cy="554038"/>
            <a:chOff x="2496" y="2352"/>
            <a:chExt cx="768" cy="349"/>
          </a:xfrm>
        </p:grpSpPr>
        <p:sp>
          <p:nvSpPr>
            <p:cNvPr id="17448" name="Rectangle 8">
              <a:extLst>
                <a:ext uri="{FF2B5EF4-FFF2-40B4-BE49-F238E27FC236}">
                  <a16:creationId xmlns:a16="http://schemas.microsoft.com/office/drawing/2014/main" id="{DE9C032B-836F-9441-8F01-11A3EDC47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52"/>
              <a:ext cx="768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Times New Roman" panose="02020603050405020304" pitchFamily="18" charset="0"/>
              </a:endParaRPr>
            </a:p>
          </p:txBody>
        </p:sp>
        <p:sp>
          <p:nvSpPr>
            <p:cNvPr id="17449" name="Text Box 9">
              <a:extLst>
                <a:ext uri="{FF2B5EF4-FFF2-40B4-BE49-F238E27FC236}">
                  <a16:creationId xmlns:a16="http://schemas.microsoft.com/office/drawing/2014/main" id="{CD327AEB-9F40-E640-82EE-B0F98D6C3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2352"/>
              <a:ext cx="57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Instruction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fetch/dispatch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pipeline</a:t>
              </a:r>
            </a:p>
          </p:txBody>
        </p:sp>
      </p:grpSp>
      <p:grpSp>
        <p:nvGrpSpPr>
          <p:cNvPr id="17413" name="Group 10">
            <a:extLst>
              <a:ext uri="{FF2B5EF4-FFF2-40B4-BE49-F238E27FC236}">
                <a16:creationId xmlns:a16="http://schemas.microsoft.com/office/drawing/2014/main" id="{F5401720-7DDD-704A-A81B-D1612D5637FB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4724400"/>
            <a:ext cx="1371600" cy="381000"/>
            <a:chOff x="672" y="3024"/>
            <a:chExt cx="816" cy="240"/>
          </a:xfrm>
        </p:grpSpPr>
        <p:sp>
          <p:nvSpPr>
            <p:cNvPr id="17431" name="Rectangle 11">
              <a:extLst>
                <a:ext uri="{FF2B5EF4-FFF2-40B4-BE49-F238E27FC236}">
                  <a16:creationId xmlns:a16="http://schemas.microsoft.com/office/drawing/2014/main" id="{1CCC1BF6-E73F-9A46-9F4A-2A474E3E3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3024"/>
              <a:ext cx="816" cy="2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Times New Roman" panose="02020603050405020304" pitchFamily="18" charset="0"/>
              </a:endParaRPr>
            </a:p>
          </p:txBody>
        </p:sp>
        <p:sp>
          <p:nvSpPr>
            <p:cNvPr id="17432" name="Line 12">
              <a:extLst>
                <a:ext uri="{FF2B5EF4-FFF2-40B4-BE49-F238E27FC236}">
                  <a16:creationId xmlns:a16="http://schemas.microsoft.com/office/drawing/2014/main" id="{C23969CC-87A7-5845-97F7-251ACD3B6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Line 13">
              <a:extLst>
                <a:ext uri="{FF2B5EF4-FFF2-40B4-BE49-F238E27FC236}">
                  <a16:creationId xmlns:a16="http://schemas.microsoft.com/office/drawing/2014/main" id="{C3A995F8-EC28-7140-843A-08A43F1D8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Line 14">
              <a:extLst>
                <a:ext uri="{FF2B5EF4-FFF2-40B4-BE49-F238E27FC236}">
                  <a16:creationId xmlns:a16="http://schemas.microsoft.com/office/drawing/2014/main" id="{FE0DC3C1-1B61-1F4F-9535-BF7D1468EC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Line 15">
              <a:extLst>
                <a:ext uri="{FF2B5EF4-FFF2-40B4-BE49-F238E27FC236}">
                  <a16:creationId xmlns:a16="http://schemas.microsoft.com/office/drawing/2014/main" id="{9A70949A-A8BD-AC45-88E5-0AD231CDE6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Line 16">
              <a:extLst>
                <a:ext uri="{FF2B5EF4-FFF2-40B4-BE49-F238E27FC236}">
                  <a16:creationId xmlns:a16="http://schemas.microsoft.com/office/drawing/2014/main" id="{72E93046-9528-EE4C-8072-1346B8E23E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Line 17">
              <a:extLst>
                <a:ext uri="{FF2B5EF4-FFF2-40B4-BE49-F238E27FC236}">
                  <a16:creationId xmlns:a16="http://schemas.microsoft.com/office/drawing/2014/main" id="{EB371109-48FA-4946-8A2A-EA07C0515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Line 18">
              <a:extLst>
                <a:ext uri="{FF2B5EF4-FFF2-40B4-BE49-F238E27FC236}">
                  <a16:creationId xmlns:a16="http://schemas.microsoft.com/office/drawing/2014/main" id="{FC8BCC3B-3100-E14C-B467-015AFA990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Line 19">
              <a:extLst>
                <a:ext uri="{FF2B5EF4-FFF2-40B4-BE49-F238E27FC236}">
                  <a16:creationId xmlns:a16="http://schemas.microsoft.com/office/drawing/2014/main" id="{196241DD-6413-5043-8AE7-A87D491F7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Line 20">
              <a:extLst>
                <a:ext uri="{FF2B5EF4-FFF2-40B4-BE49-F238E27FC236}">
                  <a16:creationId xmlns:a16="http://schemas.microsoft.com/office/drawing/2014/main" id="{9099ECE5-B2BE-1041-87BB-E79118A695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Line 21">
              <a:extLst>
                <a:ext uri="{FF2B5EF4-FFF2-40B4-BE49-F238E27FC236}">
                  <a16:creationId xmlns:a16="http://schemas.microsoft.com/office/drawing/2014/main" id="{DF3345B0-5E24-B546-A94D-58312D55A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Line 22">
              <a:extLst>
                <a:ext uri="{FF2B5EF4-FFF2-40B4-BE49-F238E27FC236}">
                  <a16:creationId xmlns:a16="http://schemas.microsoft.com/office/drawing/2014/main" id="{FC48F1F0-CEFB-8B4A-94B1-89515E05C5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Line 23">
              <a:extLst>
                <a:ext uri="{FF2B5EF4-FFF2-40B4-BE49-F238E27FC236}">
                  <a16:creationId xmlns:a16="http://schemas.microsoft.com/office/drawing/2014/main" id="{A6E6EC74-925E-1540-8B87-627F7AFBA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Line 24">
              <a:extLst>
                <a:ext uri="{FF2B5EF4-FFF2-40B4-BE49-F238E27FC236}">
                  <a16:creationId xmlns:a16="http://schemas.microsoft.com/office/drawing/2014/main" id="{EFE590B8-A4F5-5A41-AD3C-E0E9DFB13C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8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Line 25">
              <a:extLst>
                <a:ext uri="{FF2B5EF4-FFF2-40B4-BE49-F238E27FC236}">
                  <a16:creationId xmlns:a16="http://schemas.microsoft.com/office/drawing/2014/main" id="{5D664A99-1CCE-2949-81E2-227A04B55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0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Line 26">
              <a:extLst>
                <a:ext uri="{FF2B5EF4-FFF2-40B4-BE49-F238E27FC236}">
                  <a16:creationId xmlns:a16="http://schemas.microsoft.com/office/drawing/2014/main" id="{2F094676-C734-DE4B-B823-D157C93D68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Line 27">
              <a:extLst>
                <a:ext uri="{FF2B5EF4-FFF2-40B4-BE49-F238E27FC236}">
                  <a16:creationId xmlns:a16="http://schemas.microsoft.com/office/drawing/2014/main" id="{1D1F00CB-1631-EA47-830C-D6AA4B876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2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4" name="Line 28">
            <a:extLst>
              <a:ext uri="{FF2B5EF4-FFF2-40B4-BE49-F238E27FC236}">
                <a16:creationId xmlns:a16="http://schemas.microsoft.com/office/drawing/2014/main" id="{6AB1E086-52F1-3F47-87D2-57F25860FFC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2672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5" name="Line 29">
            <a:extLst>
              <a:ext uri="{FF2B5EF4-FFF2-40B4-BE49-F238E27FC236}">
                <a16:creationId xmlns:a16="http://schemas.microsoft.com/office/drawing/2014/main" id="{E2560E7A-7C25-F84F-A074-BFE60D4DA4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51054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6" name="Text Box 30">
            <a:extLst>
              <a:ext uri="{FF2B5EF4-FFF2-40B4-BE49-F238E27FC236}">
                <a16:creationId xmlns:a16="http://schemas.microsoft.com/office/drawing/2014/main" id="{B47AE6BD-7F58-B54B-8A96-67D6FE2CA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3581400"/>
            <a:ext cx="4429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fetch</a:t>
            </a:r>
          </a:p>
        </p:txBody>
      </p:sp>
      <p:sp>
        <p:nvSpPr>
          <p:cNvPr id="17417" name="Text Box 31">
            <a:extLst>
              <a:ext uri="{FF2B5EF4-FFF2-40B4-BE49-F238E27FC236}">
                <a16:creationId xmlns:a16="http://schemas.microsoft.com/office/drawing/2014/main" id="{00995C01-6ADA-BD42-9D17-4C32595EF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3810000"/>
            <a:ext cx="627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decode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7418" name="Text Box 32">
            <a:extLst>
              <a:ext uri="{FF2B5EF4-FFF2-40B4-BE49-F238E27FC236}">
                <a16:creationId xmlns:a16="http://schemas.microsoft.com/office/drawing/2014/main" id="{CB547307-01F6-674E-AC3D-B31756D0E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4038600"/>
            <a:ext cx="15700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data dependence checking,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register renaming</a:t>
            </a:r>
          </a:p>
        </p:txBody>
      </p:sp>
      <p:sp>
        <p:nvSpPr>
          <p:cNvPr id="17419" name="Text Box 33">
            <a:extLst>
              <a:ext uri="{FF2B5EF4-FFF2-40B4-BE49-F238E27FC236}">
                <a16:creationId xmlns:a16="http://schemas.microsoft.com/office/drawing/2014/main" id="{BA22D3AF-F09F-4F49-BD64-E40F7F8AF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343400"/>
            <a:ext cx="83343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DISPATCH</a:t>
            </a:r>
          </a:p>
        </p:txBody>
      </p:sp>
      <p:sp>
        <p:nvSpPr>
          <p:cNvPr id="17420" name="Text Box 34">
            <a:extLst>
              <a:ext uri="{FF2B5EF4-FFF2-40B4-BE49-F238E27FC236}">
                <a16:creationId xmlns:a16="http://schemas.microsoft.com/office/drawing/2014/main" id="{53B15B81-BD80-354A-B400-33774D440A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51054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ISSUE</a:t>
            </a:r>
          </a:p>
        </p:txBody>
      </p:sp>
      <p:sp>
        <p:nvSpPr>
          <p:cNvPr id="17421" name="Text Box 35">
            <a:extLst>
              <a:ext uri="{FF2B5EF4-FFF2-40B4-BE49-F238E27FC236}">
                <a16:creationId xmlns:a16="http://schemas.microsoft.com/office/drawing/2014/main" id="{22440AAC-EB63-3E42-84D9-850F6DD5D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4495800"/>
            <a:ext cx="12334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(insert into window)</a:t>
            </a:r>
          </a:p>
        </p:txBody>
      </p:sp>
      <p:sp>
        <p:nvSpPr>
          <p:cNvPr id="17422" name="Text Box 36">
            <a:extLst>
              <a:ext uri="{FF2B5EF4-FFF2-40B4-BE49-F238E27FC236}">
                <a16:creationId xmlns:a16="http://schemas.microsoft.com/office/drawing/2014/main" id="{C271FDA5-9E75-9343-BA5C-038662BF42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257800"/>
            <a:ext cx="1214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(take from window)</a:t>
            </a:r>
          </a:p>
        </p:txBody>
      </p:sp>
      <p:sp>
        <p:nvSpPr>
          <p:cNvPr id="17423" name="Text Box 37">
            <a:extLst>
              <a:ext uri="{FF2B5EF4-FFF2-40B4-BE49-F238E27FC236}">
                <a16:creationId xmlns:a16="http://schemas.microsoft.com/office/drawing/2014/main" id="{47592E3C-BB13-6948-8832-D7BB34703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4800600"/>
            <a:ext cx="7508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WINDOW</a:t>
            </a:r>
          </a:p>
        </p:txBody>
      </p:sp>
      <p:sp>
        <p:nvSpPr>
          <p:cNvPr id="17424" name="Text Box 38">
            <a:extLst>
              <a:ext uri="{FF2B5EF4-FFF2-40B4-BE49-F238E27FC236}">
                <a16:creationId xmlns:a16="http://schemas.microsoft.com/office/drawing/2014/main" id="{F603D469-98EA-4F4C-AB63-5B017F9B5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410200"/>
            <a:ext cx="4413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issue</a:t>
            </a:r>
          </a:p>
        </p:txBody>
      </p:sp>
      <p:sp>
        <p:nvSpPr>
          <p:cNvPr id="17425" name="Text Box 39">
            <a:extLst>
              <a:ext uri="{FF2B5EF4-FFF2-40B4-BE49-F238E27FC236}">
                <a16:creationId xmlns:a16="http://schemas.microsoft.com/office/drawing/2014/main" id="{426127BD-6B25-0B4D-9926-905CA4A96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638800"/>
            <a:ext cx="579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execute</a:t>
            </a:r>
          </a:p>
        </p:txBody>
      </p:sp>
      <p:sp>
        <p:nvSpPr>
          <p:cNvPr id="17426" name="Text Box 40">
            <a:extLst>
              <a:ext uri="{FF2B5EF4-FFF2-40B4-BE49-F238E27FC236}">
                <a16:creationId xmlns:a16="http://schemas.microsoft.com/office/drawing/2014/main" id="{74082875-6161-B142-BC49-1A64D55E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867400"/>
            <a:ext cx="12827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complete (writeback)</a:t>
            </a:r>
          </a:p>
        </p:txBody>
      </p:sp>
      <p:sp>
        <p:nvSpPr>
          <p:cNvPr id="17427" name="AutoShape 41">
            <a:extLst>
              <a:ext uri="{FF2B5EF4-FFF2-40B4-BE49-F238E27FC236}">
                <a16:creationId xmlns:a16="http://schemas.microsoft.com/office/drawing/2014/main" id="{49C935BE-924A-8A47-BED0-764E6B3B6C40}"/>
              </a:ext>
            </a:extLst>
          </p:cNvPr>
          <p:cNvSpPr>
            <a:spLocks/>
          </p:cNvSpPr>
          <p:nvPr/>
        </p:nvSpPr>
        <p:spPr bwMode="auto">
          <a:xfrm>
            <a:off x="2590800" y="3657600"/>
            <a:ext cx="152400" cy="990600"/>
          </a:xfrm>
          <a:prstGeom prst="leftBrace">
            <a:avLst>
              <a:gd name="adj1" fmla="val 54167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7428" name="Text Box 42">
            <a:extLst>
              <a:ext uri="{FF2B5EF4-FFF2-40B4-BE49-F238E27FC236}">
                <a16:creationId xmlns:a16="http://schemas.microsoft.com/office/drawing/2014/main" id="{47672B2E-465A-7447-A561-1F800A66B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038600"/>
            <a:ext cx="6080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In-order</a:t>
            </a:r>
          </a:p>
        </p:txBody>
      </p:sp>
      <p:sp>
        <p:nvSpPr>
          <p:cNvPr id="17429" name="AutoShape 43">
            <a:extLst>
              <a:ext uri="{FF2B5EF4-FFF2-40B4-BE49-F238E27FC236}">
                <a16:creationId xmlns:a16="http://schemas.microsoft.com/office/drawing/2014/main" id="{8C8CA8C0-D805-7E41-9D42-45477F9757C4}"/>
              </a:ext>
            </a:extLst>
          </p:cNvPr>
          <p:cNvSpPr>
            <a:spLocks/>
          </p:cNvSpPr>
          <p:nvPr/>
        </p:nvSpPr>
        <p:spPr bwMode="auto">
          <a:xfrm>
            <a:off x="2590800" y="5029200"/>
            <a:ext cx="152400" cy="990600"/>
          </a:xfrm>
          <a:prstGeom prst="leftBrace">
            <a:avLst>
              <a:gd name="adj1" fmla="val 54167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7430" name="Text Box 44">
            <a:extLst>
              <a:ext uri="{FF2B5EF4-FFF2-40B4-BE49-F238E27FC236}">
                <a16:creationId xmlns:a16="http://schemas.microsoft.com/office/drawing/2014/main" id="{DC5ED126-6F44-F24E-991D-6E4C8C2B8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5410200"/>
            <a:ext cx="8429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Out-of-order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2">
            <a:extLst>
              <a:ext uri="{FF2B5EF4-FFF2-40B4-BE49-F238E27FC236}">
                <a16:creationId xmlns:a16="http://schemas.microsoft.com/office/drawing/2014/main" id="{787EE55C-A80E-6D42-97AB-DE4BF38825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en-US">
                <a:ea typeface="ＭＳ Ｐゴシック" panose="020B0600070205080204" pitchFamily="34" charset="-128"/>
              </a:rPr>
              <a:t>Early dynamically scheduled machines</a:t>
            </a:r>
          </a:p>
        </p:txBody>
      </p:sp>
      <p:sp>
        <p:nvSpPr>
          <p:cNvPr id="18434" name="Rectangle 3">
            <a:extLst>
              <a:ext uri="{FF2B5EF4-FFF2-40B4-BE49-F238E27FC236}">
                <a16:creationId xmlns:a16="http://schemas.microsoft.com/office/drawing/2014/main" id="{9BEDAFB5-33EF-1945-8F4A-AFC7D61ECFD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2400" dirty="0">
                <a:ea typeface="ＭＳ Ｐゴシック" panose="020B0600070205080204" pitchFamily="34" charset="-128"/>
              </a:rPr>
              <a:t>CDC-6600</a:t>
            </a:r>
          </a:p>
          <a:p>
            <a:pPr lvl="1"/>
            <a:r>
              <a:rPr lang="en-US" altLang="en-US" sz="2000" dirty="0"/>
              <a:t>Centralized control: </a:t>
            </a:r>
            <a:r>
              <a:rPr lang="ja-JP" altLang="en-US" sz="2000">
                <a:latin typeface="Arial" panose="020B0604020202020204" pitchFamily="34" charset="0"/>
              </a:rPr>
              <a:t>“</a:t>
            </a:r>
            <a:r>
              <a:rPr lang="en-US" altLang="en-US" sz="2000" dirty="0"/>
              <a:t>CDC scoreboard</a:t>
            </a:r>
            <a:r>
              <a:rPr lang="ja-JP" altLang="en-US" sz="2000">
                <a:latin typeface="Arial" panose="020B0604020202020204" pitchFamily="34" charset="0"/>
              </a:rPr>
              <a:t>”</a:t>
            </a:r>
            <a:endParaRPr lang="en-US" altLang="en-US" sz="2000" dirty="0"/>
          </a:p>
          <a:p>
            <a:pPr lvl="1"/>
            <a:r>
              <a:rPr lang="en-US" altLang="en-US" sz="2000" dirty="0"/>
              <a:t>Many replicated functional units</a:t>
            </a:r>
          </a:p>
          <a:p>
            <a:pPr lvl="1"/>
            <a:r>
              <a:rPr lang="en-US" altLang="en-US" sz="2000" dirty="0"/>
              <a:t>All values pass through the register file</a:t>
            </a:r>
          </a:p>
          <a:p>
            <a:pPr lvl="1"/>
            <a:r>
              <a:rPr lang="en-US" altLang="en-US" sz="2000" dirty="0"/>
              <a:t>Stall on WAR/WAW hazards</a:t>
            </a:r>
          </a:p>
          <a:p>
            <a:r>
              <a:rPr lang="en-US" altLang="en-US" sz="2400" dirty="0">
                <a:solidFill>
                  <a:schemeClr val="bg1">
                    <a:lumMod val="50000"/>
                  </a:schemeClr>
                </a:solidFill>
                <a:ea typeface="ＭＳ Ｐゴシック" panose="020B0600070205080204" pitchFamily="34" charset="-128"/>
              </a:rPr>
              <a:t>Next Module: IBM 360/91 (</a:t>
            </a:r>
            <a:r>
              <a:rPr lang="en-US" altLang="en-US" sz="2400" dirty="0" err="1">
                <a:solidFill>
                  <a:schemeClr val="bg1">
                    <a:lumMod val="50000"/>
                  </a:schemeClr>
                </a:solidFill>
                <a:ea typeface="ＭＳ Ｐゴシック" panose="020B0600070205080204" pitchFamily="34" charset="-128"/>
              </a:rPr>
              <a:t>Tomasulo</a:t>
            </a:r>
            <a:r>
              <a:rPr lang="ja-JP" altLang="en-US" sz="240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lang="en-US" altLang="en-US" sz="2400" dirty="0">
                <a:solidFill>
                  <a:schemeClr val="bg1">
                    <a:lumMod val="50000"/>
                  </a:schemeClr>
                </a:solidFill>
                <a:ea typeface="ＭＳ Ｐゴシック" panose="020B0600070205080204" pitchFamily="34" charset="-128"/>
              </a:rPr>
              <a:t>s algorithm)</a:t>
            </a:r>
          </a:p>
          <a:p>
            <a:pPr lvl="1"/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Distributed control: </a:t>
            </a:r>
            <a:r>
              <a:rPr lang="ja-JP" altLang="en-US" sz="200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</a:rPr>
              <a:t>“</a:t>
            </a:r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reservation stations</a:t>
            </a:r>
            <a:r>
              <a:rPr lang="ja-JP" altLang="en-US" sz="200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</a:rPr>
              <a:t>”</a:t>
            </a:r>
            <a:endParaRPr lang="en-US" altLang="en-US" sz="2000" dirty="0">
              <a:solidFill>
                <a:schemeClr val="bg1">
                  <a:lumMod val="50000"/>
                </a:schemeClr>
              </a:solidFill>
            </a:endParaRPr>
          </a:p>
          <a:p>
            <a:pPr lvl="1"/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Several, fully-pipelined functional units (</a:t>
            </a:r>
            <a:r>
              <a:rPr lang="en-US" altLang="en-US" sz="2000" i="1" dirty="0">
                <a:solidFill>
                  <a:schemeClr val="bg1">
                    <a:lumMod val="50000"/>
                  </a:schemeClr>
                </a:solidFill>
              </a:rPr>
              <a:t>equivalent</a:t>
            </a:r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 to replicating functional units)</a:t>
            </a:r>
          </a:p>
          <a:p>
            <a:pPr lvl="1"/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Values broadcast to waiting instructions and register file in parallel (via the Common Data Bus)</a:t>
            </a:r>
          </a:p>
          <a:p>
            <a:pPr lvl="1"/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Introduced </a:t>
            </a:r>
            <a:r>
              <a:rPr lang="en-US" altLang="en-US" sz="2000" u="sng" dirty="0">
                <a:solidFill>
                  <a:schemeClr val="bg1">
                    <a:lumMod val="50000"/>
                  </a:schemeClr>
                </a:solidFill>
              </a:rPr>
              <a:t>register renaming</a:t>
            </a:r>
            <a:r>
              <a:rPr lang="en-US" altLang="en-US" sz="2000" dirty="0">
                <a:solidFill>
                  <a:schemeClr val="bg1">
                    <a:lumMod val="50000"/>
                  </a:schemeClr>
                </a:solidFill>
              </a:rPr>
              <a:t>: handles WAR/WAW hazards without stalling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Rectangle 2">
            <a:extLst>
              <a:ext uri="{FF2B5EF4-FFF2-40B4-BE49-F238E27FC236}">
                <a16:creationId xmlns:a16="http://schemas.microsoft.com/office/drawing/2014/main" id="{A65DC06A-61E7-B545-9E1E-3F2CF0F383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(DLX version)</a:t>
            </a:r>
          </a:p>
        </p:txBody>
      </p:sp>
      <p:sp>
        <p:nvSpPr>
          <p:cNvPr id="19458" name="Rectangle 3">
            <a:extLst>
              <a:ext uri="{FF2B5EF4-FFF2-40B4-BE49-F238E27FC236}">
                <a16:creationId xmlns:a16="http://schemas.microsoft.com/office/drawing/2014/main" id="{0DB195BE-80D1-C64A-BF48-8E6C69DCEB0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Four stages after fetch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Dispatch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Check for structural and WAW hazards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Structural: stall in dispatch stage if FU busy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WAW: stall in dispatch stage if an outstanding instruction in the scoreboard writes the same destination register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Enter instruction into scoreboard: determine data dependences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Route instruction to a free FU, where it waits until data operands are available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Issue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Wait for operands to become ready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Scoreboard signals when operands ready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Instruction reads registers from the register file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Then issues to FU for execution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Execute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Write result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Check for WAR hazard: stall if an outstanding, </a:t>
            </a:r>
            <a:r>
              <a:rPr lang="en-US" altLang="en-US" sz="1800" i="1"/>
              <a:t>prior</a:t>
            </a:r>
            <a:r>
              <a:rPr lang="en-US" altLang="en-US" sz="1800"/>
              <a:t> instruction in the scoreboard reads the same register being written, and the read has not yet taken place</a:t>
            </a:r>
          </a:p>
          <a:p>
            <a:pPr lvl="2">
              <a:lnSpc>
                <a:spcPct val="80000"/>
              </a:lnSpc>
            </a:pPr>
            <a:endParaRPr lang="en-US" altLang="en-US" sz="1800"/>
          </a:p>
          <a:p>
            <a:pPr>
              <a:lnSpc>
                <a:spcPct val="80000"/>
              </a:lnSpc>
              <a:buFont typeface="ZapfDingbats" pitchFamily="82" charset="2"/>
              <a:buNone/>
            </a:pPr>
            <a:endParaRPr lang="en-US" altLang="en-US" sz="240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2">
            <a:extLst>
              <a:ext uri="{FF2B5EF4-FFF2-40B4-BE49-F238E27FC236}">
                <a16:creationId xmlns:a16="http://schemas.microsoft.com/office/drawing/2014/main" id="{53CF329B-9B19-F74B-9D4E-C591A09C19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Aside: Warning – H&amp;P naming</a:t>
            </a:r>
          </a:p>
        </p:txBody>
      </p:sp>
      <p:sp>
        <p:nvSpPr>
          <p:cNvPr id="20482" name="Rectangle 3">
            <a:extLst>
              <a:ext uri="{FF2B5EF4-FFF2-40B4-BE49-F238E27FC236}">
                <a16:creationId xmlns:a16="http://schemas.microsoft.com/office/drawing/2014/main" id="{EBBB1FCA-60A0-E34B-9948-CE04770EB0F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H&amp;P uses different names than what we will use</a:t>
            </a:r>
          </a:p>
          <a:p>
            <a:pPr lvl="1"/>
            <a:r>
              <a:rPr lang="en-US" altLang="en-US" u="sng"/>
              <a:t>US: dispatch</a:t>
            </a:r>
            <a:r>
              <a:rPr lang="en-US" altLang="en-US"/>
              <a:t>	THEM: issue (ugh!)</a:t>
            </a:r>
          </a:p>
          <a:p>
            <a:pPr lvl="1"/>
            <a:r>
              <a:rPr lang="en-US" altLang="en-US" u="sng"/>
              <a:t>US: issue</a:t>
            </a:r>
            <a:r>
              <a:rPr lang="en-US" altLang="en-US"/>
              <a:t>	THEM:read operands (this </a:t>
            </a:r>
            <a:r>
              <a:rPr lang="en-US" altLang="en-US" i="1"/>
              <a:t>does</a:t>
            </a:r>
            <a:r>
              <a:rPr lang="en-US" altLang="en-US"/>
              <a:t> occur)</a:t>
            </a:r>
          </a:p>
          <a:p>
            <a:pPr lvl="1"/>
            <a:r>
              <a:rPr lang="en-US" altLang="en-US" u="sng"/>
              <a:t>US: execute</a:t>
            </a:r>
            <a:r>
              <a:rPr lang="en-US" altLang="en-US"/>
              <a:t>	THEM: execute</a:t>
            </a:r>
          </a:p>
          <a:p>
            <a:pPr lvl="1"/>
            <a:r>
              <a:rPr lang="en-US" altLang="en-US" u="sng"/>
              <a:t>US: write result</a:t>
            </a:r>
            <a:r>
              <a:rPr lang="en-US" altLang="en-US"/>
              <a:t>	THEM: write result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Rectangle 2">
            <a:extLst>
              <a:ext uri="{FF2B5EF4-FFF2-40B4-BE49-F238E27FC236}">
                <a16:creationId xmlns:a16="http://schemas.microsoft.com/office/drawing/2014/main" id="{EE6FA8B9-AE5C-DD48-BF7B-16554D8C78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(DLX version)</a:t>
            </a:r>
          </a:p>
        </p:txBody>
      </p:sp>
      <p:sp>
        <p:nvSpPr>
          <p:cNvPr id="21506" name="Rectangle 3">
            <a:extLst>
              <a:ext uri="{FF2B5EF4-FFF2-40B4-BE49-F238E27FC236}">
                <a16:creationId xmlns:a16="http://schemas.microsoft.com/office/drawing/2014/main" id="{00725DA2-2811-0E4C-BAF7-635F08595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1676400"/>
            <a:ext cx="990600" cy="3200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REGISTERS</a:t>
            </a:r>
          </a:p>
        </p:txBody>
      </p:sp>
      <p:sp>
        <p:nvSpPr>
          <p:cNvPr id="21507" name="Rectangle 4">
            <a:extLst>
              <a:ext uri="{FF2B5EF4-FFF2-40B4-BE49-F238E27FC236}">
                <a16:creationId xmlns:a16="http://schemas.microsoft.com/office/drawing/2014/main" id="{E877B535-7355-6048-B680-1D45D79E456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962400" y="1828800"/>
            <a:ext cx="990600" cy="228600"/>
          </a:xfrm>
          <a:solidFill>
            <a:schemeClr val="bg1"/>
          </a:solidFill>
          <a:ln w="12700" cap="flat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>
            <a:normAutofit lnSpcReduction="10000"/>
          </a:bodyPr>
          <a:lstStyle/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ea typeface="ＭＳ Ｐゴシック" panose="020B0600070205080204" pitchFamily="34" charset="-128"/>
              </a:rPr>
              <a:t>FP MULT (1)</a:t>
            </a:r>
          </a:p>
        </p:txBody>
      </p:sp>
      <p:sp>
        <p:nvSpPr>
          <p:cNvPr id="21508" name="Rectangle 5">
            <a:extLst>
              <a:ext uri="{FF2B5EF4-FFF2-40B4-BE49-F238E27FC236}">
                <a16:creationId xmlns:a16="http://schemas.microsoft.com/office/drawing/2014/main" id="{86B262F1-C80A-4B41-9072-F492CB341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2057400"/>
            <a:ext cx="9906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lIns="92075" tIns="46038" rIns="92075" bIns="46038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FP MULT (2)</a:t>
            </a:r>
          </a:p>
        </p:txBody>
      </p:sp>
      <p:sp>
        <p:nvSpPr>
          <p:cNvPr id="21509" name="Rectangle 6">
            <a:extLst>
              <a:ext uri="{FF2B5EF4-FFF2-40B4-BE49-F238E27FC236}">
                <a16:creationId xmlns:a16="http://schemas.microsoft.com/office/drawing/2014/main" id="{C553AC91-DF53-2A4F-BF10-D8BA99194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2743200"/>
            <a:ext cx="9906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lIns="92075" tIns="46038" rIns="92075" bIns="46038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FP DIV</a:t>
            </a:r>
          </a:p>
        </p:txBody>
      </p:sp>
      <p:sp>
        <p:nvSpPr>
          <p:cNvPr id="21510" name="Rectangle 7">
            <a:extLst>
              <a:ext uri="{FF2B5EF4-FFF2-40B4-BE49-F238E27FC236}">
                <a16:creationId xmlns:a16="http://schemas.microsoft.com/office/drawing/2014/main" id="{89068228-1F45-3749-AF28-19F522D83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429000"/>
            <a:ext cx="9906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lIns="92075" tIns="46038" rIns="92075" bIns="46038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FP ADD</a:t>
            </a:r>
          </a:p>
        </p:txBody>
      </p:sp>
      <p:sp>
        <p:nvSpPr>
          <p:cNvPr id="21511" name="Rectangle 8">
            <a:extLst>
              <a:ext uri="{FF2B5EF4-FFF2-40B4-BE49-F238E27FC236}">
                <a16:creationId xmlns:a16="http://schemas.microsoft.com/office/drawing/2014/main" id="{0DFC3A82-B320-CE44-A410-B7FC39ABF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114800"/>
            <a:ext cx="990600" cy="533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lIns="92075" tIns="46038" rIns="92075" bIns="46038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Integer Unit (integer DLX pipeline)</a:t>
            </a:r>
          </a:p>
        </p:txBody>
      </p:sp>
      <p:sp>
        <p:nvSpPr>
          <p:cNvPr id="21512" name="Line 9">
            <a:extLst>
              <a:ext uri="{FF2B5EF4-FFF2-40B4-BE49-F238E27FC236}">
                <a16:creationId xmlns:a16="http://schemas.microsoft.com/office/drawing/2014/main" id="{FADBAC36-282E-2D44-BC94-8DCA8C61B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42672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3" name="Line 10">
            <a:extLst>
              <a:ext uri="{FF2B5EF4-FFF2-40B4-BE49-F238E27FC236}">
                <a16:creationId xmlns:a16="http://schemas.microsoft.com/office/drawing/2014/main" id="{4A6A5F76-E0CF-0740-880E-561C65A97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44196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4" name="Freeform 11">
            <a:extLst>
              <a:ext uri="{FF2B5EF4-FFF2-40B4-BE49-F238E27FC236}">
                <a16:creationId xmlns:a16="http://schemas.microsoft.com/office/drawing/2014/main" id="{7AC2CE0D-3357-CE41-AD4A-9B2B7C8E5C29}"/>
              </a:ext>
            </a:extLst>
          </p:cNvPr>
          <p:cNvSpPr>
            <a:spLocks/>
          </p:cNvSpPr>
          <p:nvPr/>
        </p:nvSpPr>
        <p:spPr bwMode="auto">
          <a:xfrm>
            <a:off x="2438400" y="4419600"/>
            <a:ext cx="3127375" cy="381000"/>
          </a:xfrm>
          <a:custGeom>
            <a:avLst/>
            <a:gdLst>
              <a:gd name="T0" fmla="*/ 2147483646 w 1970"/>
              <a:gd name="T1" fmla="*/ 0 h 240"/>
              <a:gd name="T2" fmla="*/ 2147483646 w 1970"/>
              <a:gd name="T3" fmla="*/ 2147483646 h 240"/>
              <a:gd name="T4" fmla="*/ 2147483646 w 1970"/>
              <a:gd name="T5" fmla="*/ 2147483646 h 240"/>
              <a:gd name="T6" fmla="*/ 0 w 197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70" h="240">
                <a:moveTo>
                  <a:pt x="1584" y="0"/>
                </a:moveTo>
                <a:lnTo>
                  <a:pt x="1970" y="1"/>
                </a:lnTo>
                <a:lnTo>
                  <a:pt x="1968" y="240"/>
                </a:lnTo>
                <a:lnTo>
                  <a:pt x="0" y="240"/>
                </a:lnTo>
              </a:path>
            </a:pathLst>
          </a:custGeom>
          <a:noFill/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5" name="Line 12">
            <a:extLst>
              <a:ext uri="{FF2B5EF4-FFF2-40B4-BE49-F238E27FC236}">
                <a16:creationId xmlns:a16="http://schemas.microsoft.com/office/drawing/2014/main" id="{A24A3CF6-7A79-9647-A286-FE806CFFB9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35052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6" name="Line 13">
            <a:extLst>
              <a:ext uri="{FF2B5EF4-FFF2-40B4-BE49-F238E27FC236}">
                <a16:creationId xmlns:a16="http://schemas.microsoft.com/office/drawing/2014/main" id="{803941D1-0D6C-E045-9688-506BFAB2E85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36576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7" name="Freeform 14">
            <a:extLst>
              <a:ext uri="{FF2B5EF4-FFF2-40B4-BE49-F238E27FC236}">
                <a16:creationId xmlns:a16="http://schemas.microsoft.com/office/drawing/2014/main" id="{35808ABE-64E3-4B48-963C-6A7C1DEF5432}"/>
              </a:ext>
            </a:extLst>
          </p:cNvPr>
          <p:cNvSpPr>
            <a:spLocks/>
          </p:cNvSpPr>
          <p:nvPr/>
        </p:nvSpPr>
        <p:spPr bwMode="auto">
          <a:xfrm>
            <a:off x="2438400" y="3578225"/>
            <a:ext cx="3121025" cy="307975"/>
          </a:xfrm>
          <a:custGeom>
            <a:avLst/>
            <a:gdLst>
              <a:gd name="T0" fmla="*/ 2147483646 w 1966"/>
              <a:gd name="T1" fmla="*/ 2147483646 h 194"/>
              <a:gd name="T2" fmla="*/ 2147483646 w 1966"/>
              <a:gd name="T3" fmla="*/ 0 h 194"/>
              <a:gd name="T4" fmla="*/ 2147483646 w 1966"/>
              <a:gd name="T5" fmla="*/ 2147483646 h 194"/>
              <a:gd name="T6" fmla="*/ 0 w 1966"/>
              <a:gd name="T7" fmla="*/ 2147483646 h 19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66" h="194">
                <a:moveTo>
                  <a:pt x="1582" y="2"/>
                </a:moveTo>
                <a:lnTo>
                  <a:pt x="1965" y="0"/>
                </a:lnTo>
                <a:lnTo>
                  <a:pt x="1966" y="194"/>
                </a:lnTo>
                <a:lnTo>
                  <a:pt x="0" y="194"/>
                </a:lnTo>
              </a:path>
            </a:pathLst>
          </a:custGeom>
          <a:noFill/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8" name="Freeform 15">
            <a:extLst>
              <a:ext uri="{FF2B5EF4-FFF2-40B4-BE49-F238E27FC236}">
                <a16:creationId xmlns:a16="http://schemas.microsoft.com/office/drawing/2014/main" id="{4FAA7781-AC08-9449-AB4C-4F621040BA77}"/>
              </a:ext>
            </a:extLst>
          </p:cNvPr>
          <p:cNvSpPr>
            <a:spLocks/>
          </p:cNvSpPr>
          <p:nvPr/>
        </p:nvSpPr>
        <p:spPr bwMode="auto">
          <a:xfrm>
            <a:off x="2438400" y="2898775"/>
            <a:ext cx="3121025" cy="304800"/>
          </a:xfrm>
          <a:custGeom>
            <a:avLst/>
            <a:gdLst>
              <a:gd name="T0" fmla="*/ 2147483646 w 1966"/>
              <a:gd name="T1" fmla="*/ 0 h 192"/>
              <a:gd name="T2" fmla="*/ 2147483646 w 1966"/>
              <a:gd name="T3" fmla="*/ 2147483646 h 192"/>
              <a:gd name="T4" fmla="*/ 2147483646 w 1966"/>
              <a:gd name="T5" fmla="*/ 2147483646 h 192"/>
              <a:gd name="T6" fmla="*/ 0 w 1966"/>
              <a:gd name="T7" fmla="*/ 2147483646 h 1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66" h="192">
                <a:moveTo>
                  <a:pt x="1582" y="0"/>
                </a:moveTo>
                <a:lnTo>
                  <a:pt x="1965" y="3"/>
                </a:lnTo>
                <a:lnTo>
                  <a:pt x="1966" y="192"/>
                </a:lnTo>
                <a:lnTo>
                  <a:pt x="0" y="192"/>
                </a:lnTo>
              </a:path>
            </a:pathLst>
          </a:custGeom>
          <a:noFill/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9" name="Line 16">
            <a:extLst>
              <a:ext uri="{FF2B5EF4-FFF2-40B4-BE49-F238E27FC236}">
                <a16:creationId xmlns:a16="http://schemas.microsoft.com/office/drawing/2014/main" id="{B2E66FE1-A1B7-054A-AAD0-AF93C1E3F5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29718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0" name="Line 17">
            <a:extLst>
              <a:ext uri="{FF2B5EF4-FFF2-40B4-BE49-F238E27FC236}">
                <a16:creationId xmlns:a16="http://schemas.microsoft.com/office/drawing/2014/main" id="{BE0BC356-CA53-0A44-BA34-7577863192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28194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1" name="Line 18">
            <a:extLst>
              <a:ext uri="{FF2B5EF4-FFF2-40B4-BE49-F238E27FC236}">
                <a16:creationId xmlns:a16="http://schemas.microsoft.com/office/drawing/2014/main" id="{008F86D6-63FA-0944-9F0A-3D2326561C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33800" y="19050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2" name="Line 19">
            <a:extLst>
              <a:ext uri="{FF2B5EF4-FFF2-40B4-BE49-F238E27FC236}">
                <a16:creationId xmlns:a16="http://schemas.microsoft.com/office/drawing/2014/main" id="{288B8BDC-8708-B343-AD8D-8B2D9D0E2E7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19812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3" name="Line 20">
            <a:extLst>
              <a:ext uri="{FF2B5EF4-FFF2-40B4-BE49-F238E27FC236}">
                <a16:creationId xmlns:a16="http://schemas.microsoft.com/office/drawing/2014/main" id="{15263206-70EC-F74C-9BCD-8810932353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198120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4" name="Line 21">
            <a:extLst>
              <a:ext uri="{FF2B5EF4-FFF2-40B4-BE49-F238E27FC236}">
                <a16:creationId xmlns:a16="http://schemas.microsoft.com/office/drawing/2014/main" id="{F7F01307-E185-9F4D-B702-2EAD867C801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22098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5" name="Line 22">
            <a:extLst>
              <a:ext uri="{FF2B5EF4-FFF2-40B4-BE49-F238E27FC236}">
                <a16:creationId xmlns:a16="http://schemas.microsoft.com/office/drawing/2014/main" id="{C10E0ABC-B7AE-C54D-B91B-85435716E8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1905000"/>
            <a:ext cx="152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6" name="Line 23">
            <a:extLst>
              <a:ext uri="{FF2B5EF4-FFF2-40B4-BE49-F238E27FC236}">
                <a16:creationId xmlns:a16="http://schemas.microsoft.com/office/drawing/2014/main" id="{C8DE62CC-AD33-654F-85F3-F30047CD46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2133600"/>
            <a:ext cx="228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7" name="Line 24">
            <a:extLst>
              <a:ext uri="{FF2B5EF4-FFF2-40B4-BE49-F238E27FC236}">
                <a16:creationId xmlns:a16="http://schemas.microsoft.com/office/drawing/2014/main" id="{BB3B8968-BA08-5D49-B928-6B7F0909A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8400" y="2438400"/>
            <a:ext cx="3124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8" name="Line 25">
            <a:extLst>
              <a:ext uri="{FF2B5EF4-FFF2-40B4-BE49-F238E27FC236}">
                <a16:creationId xmlns:a16="http://schemas.microsoft.com/office/drawing/2014/main" id="{C884F523-5D9E-E24B-A701-95BD8B0122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1981200"/>
            <a:ext cx="1524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9" name="Line 26">
            <a:extLst>
              <a:ext uri="{FF2B5EF4-FFF2-40B4-BE49-F238E27FC236}">
                <a16:creationId xmlns:a16="http://schemas.microsoft.com/office/drawing/2014/main" id="{D36F4147-645D-F142-AE59-C59D38431E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53000" y="2209800"/>
            <a:ext cx="1524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0" name="Line 27">
            <a:extLst>
              <a:ext uri="{FF2B5EF4-FFF2-40B4-BE49-F238E27FC236}">
                <a16:creationId xmlns:a16="http://schemas.microsoft.com/office/drawing/2014/main" id="{BF98A23B-E0E8-F342-A3C9-AC55D2C3C50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19812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1" name="Line 28">
            <a:extLst>
              <a:ext uri="{FF2B5EF4-FFF2-40B4-BE49-F238E27FC236}">
                <a16:creationId xmlns:a16="http://schemas.microsoft.com/office/drawing/2014/main" id="{9BB00313-21E9-3D41-AB97-6B1DD4287DB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20574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2" name="Line 29">
            <a:extLst>
              <a:ext uri="{FF2B5EF4-FFF2-40B4-BE49-F238E27FC236}">
                <a16:creationId xmlns:a16="http://schemas.microsoft.com/office/drawing/2014/main" id="{17B9CC7D-D3EE-934A-9B87-7945B2C0D35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2600" y="20574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3" name="Rectangle 30">
            <a:extLst>
              <a:ext uri="{FF2B5EF4-FFF2-40B4-BE49-F238E27FC236}">
                <a16:creationId xmlns:a16="http://schemas.microsoft.com/office/drawing/2014/main" id="{70F96B69-D334-1F4F-BC6A-67E7F65EC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257800"/>
            <a:ext cx="1752600" cy="609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SCOREBOARD</a:t>
            </a:r>
          </a:p>
        </p:txBody>
      </p:sp>
      <p:sp>
        <p:nvSpPr>
          <p:cNvPr id="21534" name="Line 31">
            <a:extLst>
              <a:ext uri="{FF2B5EF4-FFF2-40B4-BE49-F238E27FC236}">
                <a16:creationId xmlns:a16="http://schemas.microsoft.com/office/drawing/2014/main" id="{9DBE6723-4C22-A34E-A41B-BAF5FDEB0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4876800"/>
            <a:ext cx="0" cy="6858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5" name="Line 32">
            <a:extLst>
              <a:ext uri="{FF2B5EF4-FFF2-40B4-BE49-F238E27FC236}">
                <a16:creationId xmlns:a16="http://schemas.microsoft.com/office/drawing/2014/main" id="{2DD2A10B-3E0C-0E4A-8857-CC93B7681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5562600"/>
            <a:ext cx="8382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6" name="Line 33">
            <a:extLst>
              <a:ext uri="{FF2B5EF4-FFF2-40B4-BE49-F238E27FC236}">
                <a16:creationId xmlns:a16="http://schemas.microsoft.com/office/drawing/2014/main" id="{9F7F716B-E3B9-2B4E-A7B5-12F6E8D20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5562600"/>
            <a:ext cx="2286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7" name="Line 34">
            <a:extLst>
              <a:ext uri="{FF2B5EF4-FFF2-40B4-BE49-F238E27FC236}">
                <a16:creationId xmlns:a16="http://schemas.microsoft.com/office/drawing/2014/main" id="{719E150E-3D25-2046-A59A-1BB3FC4824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4648200"/>
            <a:ext cx="0" cy="9144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8" name="Line 35">
            <a:extLst>
              <a:ext uri="{FF2B5EF4-FFF2-40B4-BE49-F238E27FC236}">
                <a16:creationId xmlns:a16="http://schemas.microsoft.com/office/drawing/2014/main" id="{CC16D967-DA90-1B44-9438-D781835681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37338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9" name="Line 36">
            <a:extLst>
              <a:ext uri="{FF2B5EF4-FFF2-40B4-BE49-F238E27FC236}">
                <a16:creationId xmlns:a16="http://schemas.microsoft.com/office/drawing/2014/main" id="{E92EEAE2-7564-4F4A-952B-2200C5241C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3048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0" name="Line 37">
            <a:extLst>
              <a:ext uri="{FF2B5EF4-FFF2-40B4-BE49-F238E27FC236}">
                <a16:creationId xmlns:a16="http://schemas.microsoft.com/office/drawing/2014/main" id="{9E90C8AA-96BB-C141-BA26-AC4A60867F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22860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1" name="Text Box 38">
            <a:extLst>
              <a:ext uri="{FF2B5EF4-FFF2-40B4-BE49-F238E27FC236}">
                <a16:creationId xmlns:a16="http://schemas.microsoft.com/office/drawing/2014/main" id="{916ACF36-DF2F-DA4D-918C-465C375722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486400"/>
            <a:ext cx="8763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control/status</a:t>
            </a:r>
          </a:p>
        </p:txBody>
      </p:sp>
      <p:sp>
        <p:nvSpPr>
          <p:cNvPr id="21542" name="Text Box 39">
            <a:extLst>
              <a:ext uri="{FF2B5EF4-FFF2-40B4-BE49-F238E27FC236}">
                <a16:creationId xmlns:a16="http://schemas.microsoft.com/office/drawing/2014/main" id="{C1ACFA37-9E1A-2B4D-B17B-5ABD0B6B2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5562600"/>
            <a:ext cx="8763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control/status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2">
            <a:extLst>
              <a:ext uri="{FF2B5EF4-FFF2-40B4-BE49-F238E27FC236}">
                <a16:creationId xmlns:a16="http://schemas.microsoft.com/office/drawing/2014/main" id="{8C70557B-26EC-154C-8894-5BA6465A03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Scoreboard</a:t>
            </a:r>
          </a:p>
        </p:txBody>
      </p:sp>
      <p:sp>
        <p:nvSpPr>
          <p:cNvPr id="22530" name="Rectangle 3">
            <a:extLst>
              <a:ext uri="{FF2B5EF4-FFF2-40B4-BE49-F238E27FC236}">
                <a16:creationId xmlns:a16="http://schemas.microsoft.com/office/drawing/2014/main" id="{75DB73DD-67F1-F441-8039-1643145E998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457200" indent="-457200"/>
            <a:r>
              <a:rPr lang="en-US" altLang="en-US">
                <a:ea typeface="ＭＳ Ｐゴシック" panose="020B0600070205080204" pitchFamily="34" charset="-128"/>
              </a:rPr>
              <a:t>Three data structures</a:t>
            </a:r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/>
              <a:t>Instruction Status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Which stage is the instruction in</a:t>
            </a:r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/>
              <a:t>Functional Unit Status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Busy	- FU is busy executing another instr.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Op	- what instr. is the FU busy with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F</a:t>
            </a:r>
            <a:r>
              <a:rPr lang="en-US" altLang="en-US" baseline="-25000"/>
              <a:t>i	</a:t>
            </a:r>
            <a:r>
              <a:rPr lang="en-US" altLang="en-US"/>
              <a:t>	- destination register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F</a:t>
            </a:r>
            <a:r>
              <a:rPr lang="en-US" altLang="en-US" baseline="-25000"/>
              <a:t>j</a:t>
            </a:r>
            <a:r>
              <a:rPr lang="en-US" altLang="en-US"/>
              <a:t>, F</a:t>
            </a:r>
            <a:r>
              <a:rPr lang="en-US" altLang="en-US" baseline="-25000"/>
              <a:t>k</a:t>
            </a:r>
            <a:r>
              <a:rPr lang="en-US" altLang="en-US"/>
              <a:t>	- source registers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Q</a:t>
            </a:r>
            <a:r>
              <a:rPr lang="en-US" altLang="en-US" baseline="-25000"/>
              <a:t>j</a:t>
            </a:r>
            <a:r>
              <a:rPr lang="en-US" altLang="en-US"/>
              <a:t>, Q</a:t>
            </a:r>
            <a:r>
              <a:rPr lang="en-US" altLang="en-US" baseline="-25000"/>
              <a:t>k</a:t>
            </a:r>
            <a:r>
              <a:rPr lang="en-US" altLang="en-US"/>
              <a:t>	- func. units producing source regs</a:t>
            </a:r>
            <a:endParaRPr lang="en-US" altLang="en-US" baseline="-25000"/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R</a:t>
            </a:r>
            <a:r>
              <a:rPr lang="en-US" altLang="en-US" baseline="-25000"/>
              <a:t>j</a:t>
            </a:r>
            <a:r>
              <a:rPr lang="en-US" altLang="en-US"/>
              <a:t>, R</a:t>
            </a:r>
            <a:r>
              <a:rPr lang="en-US" altLang="en-US" baseline="-25000"/>
              <a:t>k</a:t>
            </a:r>
            <a:r>
              <a:rPr lang="en-US" altLang="en-US"/>
              <a:t>	- flags indicating src regs are ready</a:t>
            </a:r>
            <a:endParaRPr lang="en-US" altLang="en-US" baseline="-25000"/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/>
              <a:t>Register Result Status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/>
              <a:t>Which FU is going to write each register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Rectangle 2">
            <a:extLst>
              <a:ext uri="{FF2B5EF4-FFF2-40B4-BE49-F238E27FC236}">
                <a16:creationId xmlns:a16="http://schemas.microsoft.com/office/drawing/2014/main" id="{FEDDC05A-3EE0-4241-A8BD-30BDA7C503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Running example</a:t>
            </a:r>
          </a:p>
        </p:txBody>
      </p:sp>
      <p:sp>
        <p:nvSpPr>
          <p:cNvPr id="23554" name="Rectangle 3">
            <a:extLst>
              <a:ext uri="{FF2B5EF4-FFF2-40B4-BE49-F238E27FC236}">
                <a16:creationId xmlns:a16="http://schemas.microsoft.com/office/drawing/2014/main" id="{E0912839-560C-314A-8B94-904D1CD136E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Example used for CDC and Tomasulo</a:t>
            </a:r>
          </a:p>
          <a:p>
            <a:pPr lvl="1"/>
            <a:endParaRPr lang="en-US" altLang="en-US"/>
          </a:p>
        </p:txBody>
      </p:sp>
      <p:sp>
        <p:nvSpPr>
          <p:cNvPr id="23555" name="Text Box 4">
            <a:extLst>
              <a:ext uri="{FF2B5EF4-FFF2-40B4-BE49-F238E27FC236}">
                <a16:creationId xmlns:a16="http://schemas.microsoft.com/office/drawing/2014/main" id="{1D1A689D-CA5C-FF42-B2BB-4E7352DE89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209800"/>
            <a:ext cx="1524000" cy="138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F6 , F8, F2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700671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9540146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22118280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9178059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420971527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826883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434617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12561049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488061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8310716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718137"/>
              </p:ext>
            </p:extLst>
          </p:nvPr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183993497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7641375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43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913086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960344"/>
              </p:ext>
            </p:extLst>
          </p:nvPr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118346391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1607302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4345766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693042"/>
              </p:ext>
            </p:extLst>
          </p:nvPr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multi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368931345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335783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Wingdings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338723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SUBD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163073"/>
              </p:ext>
            </p:extLst>
          </p:nvPr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multi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243644068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8084813"/>
              </p:ext>
            </p:extLst>
          </p:nvPr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346714"/>
              </p:ext>
            </p:extLst>
          </p:nvPr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SUBD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322376"/>
              </p:ext>
            </p:extLst>
          </p:nvPr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multi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divide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136902516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Rectangle 2">
            <a:extLst>
              <a:ext uri="{FF2B5EF4-FFF2-40B4-BE49-F238E27FC236}">
                <a16:creationId xmlns:a16="http://schemas.microsoft.com/office/drawing/2014/main" id="{77F66734-6A0B-E04B-9579-AE1D41118C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Remaining bottlenecks</a:t>
            </a:r>
          </a:p>
        </p:txBody>
      </p:sp>
      <p:sp>
        <p:nvSpPr>
          <p:cNvPr id="28674" name="Rectangle 3">
            <a:extLst>
              <a:ext uri="{FF2B5EF4-FFF2-40B4-BE49-F238E27FC236}">
                <a16:creationId xmlns:a16="http://schemas.microsoft.com/office/drawing/2014/main" id="{C182C293-0049-0349-8174-BA71C7CC1E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000" dirty="0">
                <a:ea typeface="ＭＳ Ｐゴシック" panose="020B0600070205080204" pitchFamily="34" charset="-128"/>
              </a:rPr>
              <a:t>CDC-6600 does good job of dynamic scheduling around RAW hazards</a:t>
            </a:r>
          </a:p>
          <a:p>
            <a:pPr>
              <a:lnSpc>
                <a:spcPct val="80000"/>
              </a:lnSpc>
            </a:pPr>
            <a:r>
              <a:rPr lang="en-US" altLang="en-US" sz="2000" dirty="0">
                <a:ea typeface="ＭＳ Ｐゴシック" panose="020B0600070205080204" pitchFamily="34" charset="-128"/>
              </a:rPr>
              <a:t>Remaining performance limitations</a:t>
            </a:r>
          </a:p>
          <a:p>
            <a:pPr lvl="1">
              <a:lnSpc>
                <a:spcPct val="80000"/>
              </a:lnSpc>
            </a:pPr>
            <a:r>
              <a:rPr lang="en-US" altLang="en-US" sz="1600" dirty="0"/>
              <a:t>Amount of instruction-level parallelism (ILP) in the program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Are there sufficient data-independent operations?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Needs large window to look farther ahead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Requires branch prediction to support large window</a:t>
            </a:r>
          </a:p>
          <a:p>
            <a:pPr lvl="1">
              <a:lnSpc>
                <a:spcPct val="80000"/>
              </a:lnSpc>
            </a:pPr>
            <a:r>
              <a:rPr lang="en-US" altLang="en-US" sz="1600" dirty="0"/>
              <a:t>Number of scoreboard entries (window size)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Dictates how far processor can look ahead</a:t>
            </a:r>
          </a:p>
          <a:p>
            <a:pPr lvl="1">
              <a:lnSpc>
                <a:spcPct val="80000"/>
              </a:lnSpc>
            </a:pPr>
            <a:r>
              <a:rPr lang="en-US" altLang="en-US" sz="1600" dirty="0"/>
              <a:t>Number and type of functional units, register ports, etc.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Structural hazards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Lengthy binding of FU to Instruction</a:t>
            </a:r>
          </a:p>
          <a:p>
            <a:pPr lvl="1">
              <a:lnSpc>
                <a:spcPct val="80000"/>
              </a:lnSpc>
            </a:pPr>
            <a:r>
              <a:rPr lang="en-US" altLang="en-US" sz="1600" dirty="0"/>
              <a:t>Anti- and output dependences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Dynamic scheduling exposes more WAW+WAR hazards because </a:t>
            </a:r>
            <a:r>
              <a:rPr lang="en-US" altLang="en-US" sz="1600" u="sng" dirty="0"/>
              <a:t>early (OOO) writes</a:t>
            </a:r>
            <a:r>
              <a:rPr lang="en-US" altLang="en-US" sz="1600" dirty="0"/>
              <a:t> are possible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WAR made worse in CDC due to </a:t>
            </a:r>
            <a:r>
              <a:rPr lang="en-US" altLang="en-US" sz="1600" u="sng" dirty="0"/>
              <a:t>late reads</a:t>
            </a:r>
            <a:r>
              <a:rPr lang="en-US" altLang="en-US" sz="1600" dirty="0"/>
              <a:t> (read operands when finally issuing – even when operands were ready some time ago)</a:t>
            </a:r>
          </a:p>
          <a:p>
            <a:pPr lvl="2">
              <a:lnSpc>
                <a:spcPct val="80000"/>
              </a:lnSpc>
            </a:pPr>
            <a:r>
              <a:rPr lang="en-US" altLang="en-US" sz="1600" dirty="0"/>
              <a:t>WAW handled like a structural hazard in dispatch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2">
            <a:extLst>
              <a:ext uri="{FF2B5EF4-FFF2-40B4-BE49-F238E27FC236}">
                <a16:creationId xmlns:a16="http://schemas.microsoft.com/office/drawing/2014/main" id="{5A206BAE-BD1E-934F-A2B1-9282229AF8A8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457200" y="2133600"/>
            <a:ext cx="8458200" cy="1470025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panose="020B0600070205080204" pitchFamily="34" charset="-128"/>
              </a:rPr>
              <a:t>Module 6.2: </a:t>
            </a:r>
            <a:r>
              <a:rPr lang="en-US" altLang="en-US" dirty="0" err="1">
                <a:ea typeface="ＭＳ Ｐゴシック" panose="020B0600070205080204" pitchFamily="34" charset="-128"/>
              </a:rPr>
              <a:t>OoO</a:t>
            </a:r>
            <a:r>
              <a:rPr lang="en-US" altLang="en-US" dirty="0">
                <a:ea typeface="ＭＳ Ｐゴシック" panose="020B0600070205080204" pitchFamily="34" charset="-128"/>
              </a:rPr>
              <a:t> execution (</a:t>
            </a:r>
            <a:r>
              <a:rPr lang="en-US" altLang="en-US" dirty="0" err="1">
                <a:ea typeface="ＭＳ Ｐゴシック" panose="020B0600070205080204" pitchFamily="34" charset="-128"/>
              </a:rPr>
              <a:t>Tomasulo’s</a:t>
            </a:r>
            <a:r>
              <a:rPr lang="en-US" altLang="en-US" dirty="0">
                <a:ea typeface="ＭＳ Ｐゴシック" panose="020B0600070205080204" pitchFamily="34" charset="-128"/>
              </a:rPr>
              <a:t> algorithm)</a:t>
            </a:r>
          </a:p>
        </p:txBody>
      </p:sp>
    </p:spTree>
    <p:extLst>
      <p:ext uri="{BB962C8B-B14F-4D97-AF65-F5344CB8AC3E}">
        <p14:creationId xmlns:p14="http://schemas.microsoft.com/office/powerpoint/2010/main" val="1244358136"/>
      </p:ext>
    </p:extLst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RECAP: 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SUBD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multi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divide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314065210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3586DC61-85A9-C944-AC01-F0064CC4A4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30722" name="Content Placeholder 2">
            <a:extLst>
              <a:ext uri="{FF2B5EF4-FFF2-40B4-BE49-F238E27FC236}">
                <a16:creationId xmlns:a16="http://schemas.microsoft.com/office/drawing/2014/main" id="{7C692BBF-80A7-4240-84F1-62F0B00F540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the foundation of out-of-order scheduling: Tomasulo algorithm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Key aspects of Tomasulo and differences vs. CDC-6600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Pipeline stages and structures in Tomasulo (operation queues, reservation stations, common data bus)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Register renaming as a key technique to remove WAR/WAW dependences and hazards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Step by step illustration of Tomasulo’s algorithm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Rectangle 2">
            <a:extLst>
              <a:ext uri="{FF2B5EF4-FFF2-40B4-BE49-F238E27FC236}">
                <a16:creationId xmlns:a16="http://schemas.microsoft.com/office/drawing/2014/main" id="{6C0E6E4E-DB50-1E47-9670-2946EA02CF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Tomasulo</a:t>
            </a:r>
            <a:r>
              <a:rPr lang="ja-JP" altLang="en-US"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lang="en-US" altLang="en-US">
                <a:ea typeface="ＭＳ Ｐゴシック" panose="020B0600070205080204" pitchFamily="34" charset="-128"/>
              </a:rPr>
              <a:t>s Algorithm</a:t>
            </a:r>
          </a:p>
        </p:txBody>
      </p:sp>
      <p:sp>
        <p:nvSpPr>
          <p:cNvPr id="31746" name="Rectangle 3">
            <a:extLst>
              <a:ext uri="{FF2B5EF4-FFF2-40B4-BE49-F238E27FC236}">
                <a16:creationId xmlns:a16="http://schemas.microsoft.com/office/drawing/2014/main" id="{5E711758-A599-CC49-8B8C-4CB5D3BD8F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Born of necessity</a:t>
            </a:r>
          </a:p>
          <a:p>
            <a:pPr lvl="1"/>
            <a:r>
              <a:rPr lang="en-US" altLang="en-US" dirty="0"/>
              <a:t>Used in IBM 360/91 floating-point unit</a:t>
            </a:r>
          </a:p>
          <a:p>
            <a:pPr lvl="1"/>
            <a:r>
              <a:rPr lang="en-US" altLang="en-US" dirty="0"/>
              <a:t>Many long-latency operations</a:t>
            </a:r>
          </a:p>
          <a:p>
            <a:pPr lvl="2"/>
            <a:r>
              <a:rPr lang="en-US" altLang="en-US" dirty="0"/>
              <a:t>Need dynamic scheduling: mitigate long stalls</a:t>
            </a:r>
          </a:p>
          <a:p>
            <a:pPr lvl="1"/>
            <a:r>
              <a:rPr lang="en-US" altLang="en-US" dirty="0"/>
              <a:t>ISA specified only 4 floating-point registers</a:t>
            </a:r>
          </a:p>
          <a:p>
            <a:pPr lvl="2"/>
            <a:r>
              <a:rPr lang="en-US" altLang="en-US" dirty="0"/>
              <a:t>Need </a:t>
            </a:r>
            <a:r>
              <a:rPr lang="en-US" altLang="en-US" i="1" dirty="0"/>
              <a:t>register renaming</a:t>
            </a:r>
            <a:r>
              <a:rPr lang="en-US" altLang="en-US" dirty="0"/>
              <a:t>: with only 4 registers, WAW/WAR hazards pop up quickly</a:t>
            </a:r>
          </a:p>
          <a:p>
            <a:pPr lvl="2"/>
            <a:r>
              <a:rPr lang="en-US" altLang="en-US" dirty="0"/>
              <a:t>Especially in floating-point code: loops by definition cause repeated writes to same registers</a:t>
            </a:r>
          </a:p>
          <a:p>
            <a:pPr lvl="2"/>
            <a:r>
              <a:rPr lang="en-US" altLang="en-US" dirty="0"/>
              <a:t>Renaming: recognize and give unique names to different dynamic </a:t>
            </a:r>
            <a:r>
              <a:rPr lang="en-US" altLang="en-US" u="sng" dirty="0"/>
              <a:t>instances</a:t>
            </a:r>
            <a:r>
              <a:rPr lang="en-US" altLang="en-US" dirty="0"/>
              <a:t> of the same register specifier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2">
            <a:extLst>
              <a:ext uri="{FF2B5EF4-FFF2-40B4-BE49-F238E27FC236}">
                <a16:creationId xmlns:a16="http://schemas.microsoft.com/office/drawing/2014/main" id="{F2C32B26-366C-AF4F-BA6C-CEA09ABCBF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Key aspects of Tomasulo</a:t>
            </a:r>
            <a:r>
              <a:rPr lang="ja-JP" altLang="en-US"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lang="en-US" altLang="en-US">
                <a:ea typeface="ＭＳ Ｐゴシック" panose="020B0600070205080204" pitchFamily="34" charset="-128"/>
              </a:rPr>
              <a:t>s Alg.</a:t>
            </a:r>
          </a:p>
        </p:txBody>
      </p:sp>
      <p:sp>
        <p:nvSpPr>
          <p:cNvPr id="32770" name="Rectangle 3">
            <a:extLst>
              <a:ext uri="{FF2B5EF4-FFF2-40B4-BE49-F238E27FC236}">
                <a16:creationId xmlns:a16="http://schemas.microsoft.com/office/drawing/2014/main" id="{53398249-980B-1D44-9FC2-892D763BD67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sz="2000">
                <a:ea typeface="ＭＳ Ｐゴシック" panose="020B0600070205080204" pitchFamily="34" charset="-128"/>
              </a:rPr>
              <a:t>Read register operands at dispatch stage</a:t>
            </a:r>
          </a:p>
          <a:p>
            <a:pPr marL="914400" lvl="1" indent="-285750"/>
            <a:r>
              <a:rPr lang="en-US" altLang="en-US" sz="1600"/>
              <a:t>If operands are available, the data is buffered along with the instruction in </a:t>
            </a:r>
            <a:r>
              <a:rPr lang="ja-JP" altLang="en-US" sz="1600">
                <a:latin typeface="Arial" panose="020B0604020202020204" pitchFamily="34" charset="0"/>
              </a:rPr>
              <a:t>“</a:t>
            </a:r>
            <a:r>
              <a:rPr lang="en-US" altLang="en-US" sz="1600"/>
              <a:t>reservation stations</a:t>
            </a:r>
            <a:r>
              <a:rPr lang="ja-JP" altLang="en-US" sz="1600">
                <a:latin typeface="Arial" panose="020B0604020202020204" pitchFamily="34" charset="0"/>
              </a:rPr>
              <a:t>”</a:t>
            </a:r>
            <a:endParaRPr lang="en-US" altLang="en-US" sz="1600"/>
          </a:p>
          <a:p>
            <a:pPr marL="914400" lvl="1" indent="-285750"/>
            <a:r>
              <a:rPr lang="en-US" altLang="en-US" sz="1600"/>
              <a:t>CDC: only buffers the instruction, </a:t>
            </a:r>
            <a:r>
              <a:rPr lang="en-US" altLang="en-US" sz="1600" i="1"/>
              <a:t>all</a:t>
            </a:r>
            <a:r>
              <a:rPr lang="en-US" altLang="en-US" sz="1600"/>
              <a:t> operands are read from register file when </a:t>
            </a:r>
            <a:r>
              <a:rPr lang="en-US" altLang="en-US" sz="1600" i="1"/>
              <a:t>all</a:t>
            </a:r>
            <a:r>
              <a:rPr lang="en-US" altLang="en-US" sz="1600"/>
              <a:t> operands are ready (operands read at issue stage)</a:t>
            </a:r>
          </a:p>
          <a:p>
            <a:pPr marL="914400" lvl="1" indent="-285750"/>
            <a:r>
              <a:rPr lang="en-US" altLang="en-US" sz="1600"/>
              <a:t>CDC – late reads / Tomasulo – early reads: early reads help WAR condition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Unavailable registers are renamed at dispatch stage</a:t>
            </a:r>
          </a:p>
          <a:p>
            <a:pPr marL="914400" lvl="1" indent="-285750"/>
            <a:r>
              <a:rPr lang="en-US" altLang="en-US" sz="1600"/>
              <a:t>Waiting instructions replace register specifiers with a </a:t>
            </a:r>
            <a:r>
              <a:rPr lang="ja-JP" altLang="en-US" sz="1600">
                <a:latin typeface="Arial" panose="020B0604020202020204" pitchFamily="34" charset="0"/>
              </a:rPr>
              <a:t>“</a:t>
            </a:r>
            <a:r>
              <a:rPr lang="en-US" altLang="en-US" sz="1600"/>
              <a:t>tag</a:t>
            </a:r>
            <a:r>
              <a:rPr lang="ja-JP" altLang="en-US" sz="1600">
                <a:latin typeface="Arial" panose="020B0604020202020204" pitchFamily="34" charset="0"/>
              </a:rPr>
              <a:t>”</a:t>
            </a:r>
            <a:r>
              <a:rPr lang="en-US" altLang="en-US" sz="1600"/>
              <a:t> indicating the producer instruction</a:t>
            </a:r>
          </a:p>
          <a:p>
            <a:pPr marL="914400" lvl="1" indent="-285750"/>
            <a:r>
              <a:rPr lang="en-US" altLang="en-US" sz="1600"/>
              <a:t>Register specifiers are used only once, at dispatch!</a:t>
            </a:r>
          </a:p>
          <a:p>
            <a:pPr marL="914400" lvl="1" indent="-285750"/>
            <a:r>
              <a:rPr lang="en-US" altLang="en-US" sz="1600"/>
              <a:t>Renaming eliminates WAR/WAW hazards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Successive writes to a register</a:t>
            </a:r>
          </a:p>
          <a:p>
            <a:pPr marL="914400" lvl="1" indent="-285750"/>
            <a:r>
              <a:rPr lang="en-US" altLang="en-US" sz="1600"/>
              <a:t>Only last one is actually used to update register: helps WAW condition</a:t>
            </a:r>
          </a:p>
          <a:p>
            <a:pPr marL="914400" lvl="1" indent="-285750"/>
            <a:r>
              <a:rPr lang="en-US" altLang="en-US" sz="1600"/>
              <a:t>CDC: stall in dispatch until WAW hazard goes away</a:t>
            </a:r>
          </a:p>
          <a:p>
            <a:pPr marL="914400" lvl="1" indent="-285750"/>
            <a:endParaRPr lang="en-US" altLang="en-US" sz="16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Rectangle 2">
            <a:extLst>
              <a:ext uri="{FF2B5EF4-FFF2-40B4-BE49-F238E27FC236}">
                <a16:creationId xmlns:a16="http://schemas.microsoft.com/office/drawing/2014/main" id="{D120AD58-3F76-E14B-98EE-38D8005D29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Other differences with CDC</a:t>
            </a:r>
          </a:p>
        </p:txBody>
      </p:sp>
      <p:sp>
        <p:nvSpPr>
          <p:cNvPr id="33794" name="Rectangle 3">
            <a:extLst>
              <a:ext uri="{FF2B5EF4-FFF2-40B4-BE49-F238E27FC236}">
                <a16:creationId xmlns:a16="http://schemas.microsoft.com/office/drawing/2014/main" id="{0CFAFECD-432B-FC47-AFF7-98F5B7BA0C8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Distributed control</a:t>
            </a:r>
          </a:p>
          <a:p>
            <a:pPr lvl="1"/>
            <a:r>
              <a:rPr lang="en-US" altLang="en-US"/>
              <a:t>Reservation stations (versus scoreboard)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Results broadcast to both register file and functional units</a:t>
            </a:r>
          </a:p>
          <a:p>
            <a:pPr lvl="1"/>
            <a:r>
              <a:rPr lang="en-US" altLang="en-US"/>
              <a:t>Result bus called the </a:t>
            </a:r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Common Data Bus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r>
              <a:rPr lang="en-US" altLang="en-US"/>
              <a:t> (CDB)</a:t>
            </a:r>
          </a:p>
          <a:p>
            <a:pPr lvl="1"/>
            <a:r>
              <a:rPr lang="en-US" altLang="en-US"/>
              <a:t>Don</a:t>
            </a:r>
            <a:r>
              <a:rPr lang="ja-JP" altLang="en-US">
                <a:latin typeface="Arial" panose="020B0604020202020204" pitchFamily="34" charset="0"/>
              </a:rPr>
              <a:t>’</a:t>
            </a:r>
            <a:r>
              <a:rPr lang="en-US" altLang="en-US"/>
              <a:t>t have to wait for value to go through register file (i.e., use bypasses)</a:t>
            </a:r>
          </a:p>
          <a:p>
            <a:pPr lvl="1"/>
            <a:r>
              <a:rPr lang="en-US" altLang="en-US"/>
              <a:t>Functional units don</a:t>
            </a:r>
            <a:r>
              <a:rPr lang="ja-JP" altLang="en-US">
                <a:latin typeface="Arial" panose="020B0604020202020204" pitchFamily="34" charset="0"/>
              </a:rPr>
              <a:t>’</a:t>
            </a:r>
            <a:r>
              <a:rPr lang="en-US" altLang="en-US"/>
              <a:t>t contend for register file ports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2">
            <a:extLst>
              <a:ext uri="{FF2B5EF4-FFF2-40B4-BE49-F238E27FC236}">
                <a16:creationId xmlns:a16="http://schemas.microsoft.com/office/drawing/2014/main" id="{E84022F5-F095-A74A-A1B8-35C533BD82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360/91 FP unit (DLX version)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04042A48-A22C-BB45-9362-9EDFC58896EF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127125"/>
            <a:ext cx="7391400" cy="4908550"/>
            <a:chOff x="528" y="710"/>
            <a:chExt cx="4656" cy="3092"/>
          </a:xfrm>
        </p:grpSpPr>
        <p:grpSp>
          <p:nvGrpSpPr>
            <p:cNvPr id="34819" name="Group 4">
              <a:extLst>
                <a:ext uri="{FF2B5EF4-FFF2-40B4-BE49-F238E27FC236}">
                  <a16:creationId xmlns:a16="http://schemas.microsoft.com/office/drawing/2014/main" id="{74CCC24E-D0A0-7442-96F9-D256C21D90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34908" name="Rectangle 5">
                <a:extLst>
                  <a:ext uri="{FF2B5EF4-FFF2-40B4-BE49-F238E27FC236}">
                    <a16:creationId xmlns:a16="http://schemas.microsoft.com/office/drawing/2014/main" id="{6C774E71-BA27-D64B-A647-EA3ACAB68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909" name="Line 6">
                <a:extLst>
                  <a:ext uri="{FF2B5EF4-FFF2-40B4-BE49-F238E27FC236}">
                    <a16:creationId xmlns:a16="http://schemas.microsoft.com/office/drawing/2014/main" id="{DEE2EC44-5425-7441-8563-72EB1E3AD1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Line 7">
                <a:extLst>
                  <a:ext uri="{FF2B5EF4-FFF2-40B4-BE49-F238E27FC236}">
                    <a16:creationId xmlns:a16="http://schemas.microsoft.com/office/drawing/2014/main" id="{FD5AECB8-406B-A84F-9E4F-41B9A1325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Line 8">
                <a:extLst>
                  <a:ext uri="{FF2B5EF4-FFF2-40B4-BE49-F238E27FC236}">
                    <a16:creationId xmlns:a16="http://schemas.microsoft.com/office/drawing/2014/main" id="{7D4BE12E-4ACD-384E-A0A3-B7A9B4F59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Line 9">
                <a:extLst>
                  <a:ext uri="{FF2B5EF4-FFF2-40B4-BE49-F238E27FC236}">
                    <a16:creationId xmlns:a16="http://schemas.microsoft.com/office/drawing/2014/main" id="{1C539782-D1EC-D144-9C8B-90C4C7A8A9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Line 10">
                <a:extLst>
                  <a:ext uri="{FF2B5EF4-FFF2-40B4-BE49-F238E27FC236}">
                    <a16:creationId xmlns:a16="http://schemas.microsoft.com/office/drawing/2014/main" id="{15438EB3-4BA0-B74A-9A23-8118738B66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0" name="Group 11">
              <a:extLst>
                <a:ext uri="{FF2B5EF4-FFF2-40B4-BE49-F238E27FC236}">
                  <a16:creationId xmlns:a16="http://schemas.microsoft.com/office/drawing/2014/main" id="{DB2344FB-C596-1A48-8B3E-1D90328194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34902" name="Rectangle 12">
                <a:extLst>
                  <a:ext uri="{FF2B5EF4-FFF2-40B4-BE49-F238E27FC236}">
                    <a16:creationId xmlns:a16="http://schemas.microsoft.com/office/drawing/2014/main" id="{71A1D95F-62A9-AF43-8FA2-20D8A443E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903" name="Line 13">
                <a:extLst>
                  <a:ext uri="{FF2B5EF4-FFF2-40B4-BE49-F238E27FC236}">
                    <a16:creationId xmlns:a16="http://schemas.microsoft.com/office/drawing/2014/main" id="{D1E44ADF-AB1B-2340-BCE9-BEA9AF1AB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Line 14">
                <a:extLst>
                  <a:ext uri="{FF2B5EF4-FFF2-40B4-BE49-F238E27FC236}">
                    <a16:creationId xmlns:a16="http://schemas.microsoft.com/office/drawing/2014/main" id="{84E782A0-CA63-2A40-A27B-F5D786DDD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Line 15">
                <a:extLst>
                  <a:ext uri="{FF2B5EF4-FFF2-40B4-BE49-F238E27FC236}">
                    <a16:creationId xmlns:a16="http://schemas.microsoft.com/office/drawing/2014/main" id="{A1F4C9E5-A6F4-9C42-86A3-052A9885F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Line 16">
                <a:extLst>
                  <a:ext uri="{FF2B5EF4-FFF2-40B4-BE49-F238E27FC236}">
                    <a16:creationId xmlns:a16="http://schemas.microsoft.com/office/drawing/2014/main" id="{FE4E32C2-72B6-3C4C-B80C-25C3B3F4B5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Line 17">
                <a:extLst>
                  <a:ext uri="{FF2B5EF4-FFF2-40B4-BE49-F238E27FC236}">
                    <a16:creationId xmlns:a16="http://schemas.microsoft.com/office/drawing/2014/main" id="{C2483AA5-342B-A849-8098-A5C5B7ACA0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1" name="Group 18">
              <a:extLst>
                <a:ext uri="{FF2B5EF4-FFF2-40B4-BE49-F238E27FC236}">
                  <a16:creationId xmlns:a16="http://schemas.microsoft.com/office/drawing/2014/main" id="{ED485DAD-8826-0F43-B5A8-80E8D7457F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34898" name="Rectangle 19">
                <a:extLst>
                  <a:ext uri="{FF2B5EF4-FFF2-40B4-BE49-F238E27FC236}">
                    <a16:creationId xmlns:a16="http://schemas.microsoft.com/office/drawing/2014/main" id="{5007CA46-9C86-C440-B0CE-A014B0FD0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899" name="Line 20">
                <a:extLst>
                  <a:ext uri="{FF2B5EF4-FFF2-40B4-BE49-F238E27FC236}">
                    <a16:creationId xmlns:a16="http://schemas.microsoft.com/office/drawing/2014/main" id="{96F383C1-2D0A-8D47-87D6-423CE1D348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Line 21">
                <a:extLst>
                  <a:ext uri="{FF2B5EF4-FFF2-40B4-BE49-F238E27FC236}">
                    <a16:creationId xmlns:a16="http://schemas.microsoft.com/office/drawing/2014/main" id="{F39B5C40-DD37-0148-932E-84E64E6B7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Line 22">
                <a:extLst>
                  <a:ext uri="{FF2B5EF4-FFF2-40B4-BE49-F238E27FC236}">
                    <a16:creationId xmlns:a16="http://schemas.microsoft.com/office/drawing/2014/main" id="{CFF40EC7-8A2B-CB4A-B16E-C86C6818D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23">
              <a:extLst>
                <a:ext uri="{FF2B5EF4-FFF2-40B4-BE49-F238E27FC236}">
                  <a16:creationId xmlns:a16="http://schemas.microsoft.com/office/drawing/2014/main" id="{E6FBB254-E184-D946-BF9D-FE296B197C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34895" name="Rectangle 24">
                <a:extLst>
                  <a:ext uri="{FF2B5EF4-FFF2-40B4-BE49-F238E27FC236}">
                    <a16:creationId xmlns:a16="http://schemas.microsoft.com/office/drawing/2014/main" id="{EAFBB253-C71E-7841-91E8-5DD064415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896" name="Line 25">
                <a:extLst>
                  <a:ext uri="{FF2B5EF4-FFF2-40B4-BE49-F238E27FC236}">
                    <a16:creationId xmlns:a16="http://schemas.microsoft.com/office/drawing/2014/main" id="{8F24D93D-C888-D044-B169-048D9C5DB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Line 26">
                <a:extLst>
                  <a:ext uri="{FF2B5EF4-FFF2-40B4-BE49-F238E27FC236}">
                    <a16:creationId xmlns:a16="http://schemas.microsoft.com/office/drawing/2014/main" id="{A0F37684-5C1E-A048-98B0-06EA7CCB0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3" name="Group 27">
              <a:extLst>
                <a:ext uri="{FF2B5EF4-FFF2-40B4-BE49-F238E27FC236}">
                  <a16:creationId xmlns:a16="http://schemas.microsoft.com/office/drawing/2014/main" id="{932DEA23-BB7E-C941-AD8A-8E8F34547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34890" name="Rectangle 28">
                <a:extLst>
                  <a:ext uri="{FF2B5EF4-FFF2-40B4-BE49-F238E27FC236}">
                    <a16:creationId xmlns:a16="http://schemas.microsoft.com/office/drawing/2014/main" id="{80D7BD28-D95D-DB4D-9A7C-687A005A9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891" name="Line 29">
                <a:extLst>
                  <a:ext uri="{FF2B5EF4-FFF2-40B4-BE49-F238E27FC236}">
                    <a16:creationId xmlns:a16="http://schemas.microsoft.com/office/drawing/2014/main" id="{4F0DBAE3-6C0D-2444-85AC-28C429FC7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Line 30">
                <a:extLst>
                  <a:ext uri="{FF2B5EF4-FFF2-40B4-BE49-F238E27FC236}">
                    <a16:creationId xmlns:a16="http://schemas.microsoft.com/office/drawing/2014/main" id="{752AD263-8693-DF47-955D-B53C52838F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Line 31">
                <a:extLst>
                  <a:ext uri="{FF2B5EF4-FFF2-40B4-BE49-F238E27FC236}">
                    <a16:creationId xmlns:a16="http://schemas.microsoft.com/office/drawing/2014/main" id="{F9C8947A-103A-7C48-95AB-439990495C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Line 32">
                <a:extLst>
                  <a:ext uri="{FF2B5EF4-FFF2-40B4-BE49-F238E27FC236}">
                    <a16:creationId xmlns:a16="http://schemas.microsoft.com/office/drawing/2014/main" id="{BE3DE5D0-063D-C74D-8FBE-5177639957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4" name="Group 33">
              <a:extLst>
                <a:ext uri="{FF2B5EF4-FFF2-40B4-BE49-F238E27FC236}">
                  <a16:creationId xmlns:a16="http://schemas.microsoft.com/office/drawing/2014/main" id="{FB7E28A5-ECB1-C943-9828-B45B259831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34886" name="Rectangle 34">
                <a:extLst>
                  <a:ext uri="{FF2B5EF4-FFF2-40B4-BE49-F238E27FC236}">
                    <a16:creationId xmlns:a16="http://schemas.microsoft.com/office/drawing/2014/main" id="{25375B6D-DE05-F144-8C7B-583141F9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887" name="Line 35">
                <a:extLst>
                  <a:ext uri="{FF2B5EF4-FFF2-40B4-BE49-F238E27FC236}">
                    <a16:creationId xmlns:a16="http://schemas.microsoft.com/office/drawing/2014/main" id="{F2AA4EBF-0949-904E-9BB2-69BB9CEE7D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Line 36">
                <a:extLst>
                  <a:ext uri="{FF2B5EF4-FFF2-40B4-BE49-F238E27FC236}">
                    <a16:creationId xmlns:a16="http://schemas.microsoft.com/office/drawing/2014/main" id="{2C54AE9D-5B7D-2B40-8769-4513B40BCF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Line 37">
                <a:extLst>
                  <a:ext uri="{FF2B5EF4-FFF2-40B4-BE49-F238E27FC236}">
                    <a16:creationId xmlns:a16="http://schemas.microsoft.com/office/drawing/2014/main" id="{8E698F81-28EA-7E48-ABBF-7D71E699DE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5" name="Line 38">
              <a:extLst>
                <a:ext uri="{FF2B5EF4-FFF2-40B4-BE49-F238E27FC236}">
                  <a16:creationId xmlns:a16="http://schemas.microsoft.com/office/drawing/2014/main" id="{2B85082E-86E4-3E45-9279-03717381FC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Line 39">
              <a:extLst>
                <a:ext uri="{FF2B5EF4-FFF2-40B4-BE49-F238E27FC236}">
                  <a16:creationId xmlns:a16="http://schemas.microsoft.com/office/drawing/2014/main" id="{F3992412-8724-8B45-8EDF-BE3499161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Line 40">
              <a:extLst>
                <a:ext uri="{FF2B5EF4-FFF2-40B4-BE49-F238E27FC236}">
                  <a16:creationId xmlns:a16="http://schemas.microsoft.com/office/drawing/2014/main" id="{5381C449-CC83-0746-B7F1-721FC878F4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Line 41">
              <a:extLst>
                <a:ext uri="{FF2B5EF4-FFF2-40B4-BE49-F238E27FC236}">
                  <a16:creationId xmlns:a16="http://schemas.microsoft.com/office/drawing/2014/main" id="{D434036E-67FA-204B-833B-474839EB20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Line 42">
              <a:extLst>
                <a:ext uri="{FF2B5EF4-FFF2-40B4-BE49-F238E27FC236}">
                  <a16:creationId xmlns:a16="http://schemas.microsoft.com/office/drawing/2014/main" id="{B420BB95-0B8A-244F-AAA3-92F72B920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Rectangle 43">
              <a:extLst>
                <a:ext uri="{FF2B5EF4-FFF2-40B4-BE49-F238E27FC236}">
                  <a16:creationId xmlns:a16="http://schemas.microsoft.com/office/drawing/2014/main" id="{081C3553-059A-C74A-AC02-CB968F607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Times New Roman" panose="02020603050405020304" pitchFamily="18" charset="0"/>
              </a:endParaRPr>
            </a:p>
          </p:txBody>
        </p:sp>
        <p:sp>
          <p:nvSpPr>
            <p:cNvPr id="34831" name="Rectangle 44">
              <a:extLst>
                <a:ext uri="{FF2B5EF4-FFF2-40B4-BE49-F238E27FC236}">
                  <a16:creationId xmlns:a16="http://schemas.microsoft.com/office/drawing/2014/main" id="{98ABF776-0045-294A-B946-69A533C89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Times New Roman" panose="02020603050405020304" pitchFamily="18" charset="0"/>
              </a:endParaRPr>
            </a:p>
          </p:txBody>
        </p:sp>
        <p:sp>
          <p:nvSpPr>
            <p:cNvPr id="34832" name="Line 45">
              <a:extLst>
                <a:ext uri="{FF2B5EF4-FFF2-40B4-BE49-F238E27FC236}">
                  <a16:creationId xmlns:a16="http://schemas.microsoft.com/office/drawing/2014/main" id="{326F775C-37AC-6A44-9324-0EBB65C43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Line 46">
              <a:extLst>
                <a:ext uri="{FF2B5EF4-FFF2-40B4-BE49-F238E27FC236}">
                  <a16:creationId xmlns:a16="http://schemas.microsoft.com/office/drawing/2014/main" id="{8EA1F15F-950A-5C4C-B28C-8058E775C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Line 47">
              <a:extLst>
                <a:ext uri="{FF2B5EF4-FFF2-40B4-BE49-F238E27FC236}">
                  <a16:creationId xmlns:a16="http://schemas.microsoft.com/office/drawing/2014/main" id="{9865640F-EB9E-BA4E-8035-EF36149181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Line 48">
              <a:extLst>
                <a:ext uri="{FF2B5EF4-FFF2-40B4-BE49-F238E27FC236}">
                  <a16:creationId xmlns:a16="http://schemas.microsoft.com/office/drawing/2014/main" id="{9FE3CC65-3D20-3341-AB10-9A93F3CCB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Line 49">
              <a:extLst>
                <a:ext uri="{FF2B5EF4-FFF2-40B4-BE49-F238E27FC236}">
                  <a16:creationId xmlns:a16="http://schemas.microsoft.com/office/drawing/2014/main" id="{9AE2FB57-CFD2-E04C-BCD5-2879B2E25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Line 50">
              <a:extLst>
                <a:ext uri="{FF2B5EF4-FFF2-40B4-BE49-F238E27FC236}">
                  <a16:creationId xmlns:a16="http://schemas.microsoft.com/office/drawing/2014/main" id="{83833D95-4BCD-8A47-95B0-F1732344D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Line 51">
              <a:extLst>
                <a:ext uri="{FF2B5EF4-FFF2-40B4-BE49-F238E27FC236}">
                  <a16:creationId xmlns:a16="http://schemas.microsoft.com/office/drawing/2014/main" id="{91E07242-A470-C547-BE2E-C33D67484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Line 52">
              <a:extLst>
                <a:ext uri="{FF2B5EF4-FFF2-40B4-BE49-F238E27FC236}">
                  <a16:creationId xmlns:a16="http://schemas.microsoft.com/office/drawing/2014/main" id="{448882C7-00B8-A34B-AEBA-98F71DD9C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Line 53">
              <a:extLst>
                <a:ext uri="{FF2B5EF4-FFF2-40B4-BE49-F238E27FC236}">
                  <a16:creationId xmlns:a16="http://schemas.microsoft.com/office/drawing/2014/main" id="{289A9DDF-4AEB-D043-A680-B1A96CC82E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Line 54">
              <a:extLst>
                <a:ext uri="{FF2B5EF4-FFF2-40B4-BE49-F238E27FC236}">
                  <a16:creationId xmlns:a16="http://schemas.microsoft.com/office/drawing/2014/main" id="{C2D6D82E-0C4D-FF4C-8298-55D43D368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Line 55">
              <a:extLst>
                <a:ext uri="{FF2B5EF4-FFF2-40B4-BE49-F238E27FC236}">
                  <a16:creationId xmlns:a16="http://schemas.microsoft.com/office/drawing/2014/main" id="{13B9AFE0-018C-6E4E-A07E-0B224AA0C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Line 56">
              <a:extLst>
                <a:ext uri="{FF2B5EF4-FFF2-40B4-BE49-F238E27FC236}">
                  <a16:creationId xmlns:a16="http://schemas.microsoft.com/office/drawing/2014/main" id="{FF0884E0-647A-714C-80D1-624F89A99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Line 57">
              <a:extLst>
                <a:ext uri="{FF2B5EF4-FFF2-40B4-BE49-F238E27FC236}">
                  <a16:creationId xmlns:a16="http://schemas.microsoft.com/office/drawing/2014/main" id="{8E88AB3B-E3A1-FB41-82CD-91B773E8B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Line 58">
              <a:extLst>
                <a:ext uri="{FF2B5EF4-FFF2-40B4-BE49-F238E27FC236}">
                  <a16:creationId xmlns:a16="http://schemas.microsoft.com/office/drawing/2014/main" id="{889BEF06-2AE9-F542-99D2-7D8A8A536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Line 59">
              <a:extLst>
                <a:ext uri="{FF2B5EF4-FFF2-40B4-BE49-F238E27FC236}">
                  <a16:creationId xmlns:a16="http://schemas.microsoft.com/office/drawing/2014/main" id="{7369F0D4-DC03-7A47-ACF0-F226D1AAF1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Line 60">
              <a:extLst>
                <a:ext uri="{FF2B5EF4-FFF2-40B4-BE49-F238E27FC236}">
                  <a16:creationId xmlns:a16="http://schemas.microsoft.com/office/drawing/2014/main" id="{1A19AB67-444E-204D-A1BF-446021510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Line 61">
              <a:extLst>
                <a:ext uri="{FF2B5EF4-FFF2-40B4-BE49-F238E27FC236}">
                  <a16:creationId xmlns:a16="http://schemas.microsoft.com/office/drawing/2014/main" id="{224413F5-FF87-3948-8DF3-A4BDF033D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Line 62">
              <a:extLst>
                <a:ext uri="{FF2B5EF4-FFF2-40B4-BE49-F238E27FC236}">
                  <a16:creationId xmlns:a16="http://schemas.microsoft.com/office/drawing/2014/main" id="{0D539E48-673A-8643-932C-D151D3036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Line 63">
              <a:extLst>
                <a:ext uri="{FF2B5EF4-FFF2-40B4-BE49-F238E27FC236}">
                  <a16:creationId xmlns:a16="http://schemas.microsoft.com/office/drawing/2014/main" id="{A12C5093-FCC6-0447-AAA7-7C823861F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Line 64">
              <a:extLst>
                <a:ext uri="{FF2B5EF4-FFF2-40B4-BE49-F238E27FC236}">
                  <a16:creationId xmlns:a16="http://schemas.microsoft.com/office/drawing/2014/main" id="{86F0865C-2B17-C142-8FCC-5924D9880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65">
              <a:extLst>
                <a:ext uri="{FF2B5EF4-FFF2-40B4-BE49-F238E27FC236}">
                  <a16:creationId xmlns:a16="http://schemas.microsoft.com/office/drawing/2014/main" id="{B21BCD01-98D1-1D43-9D0D-D76D8C426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Line 66">
              <a:extLst>
                <a:ext uri="{FF2B5EF4-FFF2-40B4-BE49-F238E27FC236}">
                  <a16:creationId xmlns:a16="http://schemas.microsoft.com/office/drawing/2014/main" id="{EE82A2DE-E8DC-1D43-877B-9416DBBA9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Line 67">
              <a:extLst>
                <a:ext uri="{FF2B5EF4-FFF2-40B4-BE49-F238E27FC236}">
                  <a16:creationId xmlns:a16="http://schemas.microsoft.com/office/drawing/2014/main" id="{B9C984DC-9D1B-324A-8131-F076267E2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Line 68">
              <a:extLst>
                <a:ext uri="{FF2B5EF4-FFF2-40B4-BE49-F238E27FC236}">
                  <a16:creationId xmlns:a16="http://schemas.microsoft.com/office/drawing/2014/main" id="{DC06506E-53CA-B649-B344-51156E4D0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Line 69">
              <a:extLst>
                <a:ext uri="{FF2B5EF4-FFF2-40B4-BE49-F238E27FC236}">
                  <a16:creationId xmlns:a16="http://schemas.microsoft.com/office/drawing/2014/main" id="{614AB15E-948A-7D45-A061-21B3920FF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Line 70">
              <a:extLst>
                <a:ext uri="{FF2B5EF4-FFF2-40B4-BE49-F238E27FC236}">
                  <a16:creationId xmlns:a16="http://schemas.microsoft.com/office/drawing/2014/main" id="{19DF4F69-7B7C-D545-9331-4A7243DF1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Line 71">
              <a:extLst>
                <a:ext uri="{FF2B5EF4-FFF2-40B4-BE49-F238E27FC236}">
                  <a16:creationId xmlns:a16="http://schemas.microsoft.com/office/drawing/2014/main" id="{5CA7CA0A-8F48-DE42-997E-3FFD5C46F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Line 72">
              <a:extLst>
                <a:ext uri="{FF2B5EF4-FFF2-40B4-BE49-F238E27FC236}">
                  <a16:creationId xmlns:a16="http://schemas.microsoft.com/office/drawing/2014/main" id="{E3837B09-C154-3247-A292-27D2BB627E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Text Box 73">
              <a:extLst>
                <a:ext uri="{FF2B5EF4-FFF2-40B4-BE49-F238E27FC236}">
                  <a16:creationId xmlns:a16="http://schemas.microsoft.com/office/drawing/2014/main" id="{2E494D7A-D7D1-B84C-984E-CF1A0B2D00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49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To memory</a:t>
              </a:r>
            </a:p>
          </p:txBody>
        </p:sp>
        <p:sp>
          <p:nvSpPr>
            <p:cNvPr id="34861" name="Text Box 74">
              <a:extLst>
                <a:ext uri="{FF2B5EF4-FFF2-40B4-BE49-F238E27FC236}">
                  <a16:creationId xmlns:a16="http://schemas.microsoft.com/office/drawing/2014/main" id="{88CB2A85-97F8-9142-BBBB-15BD7193E6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58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From memory</a:t>
              </a:r>
            </a:p>
          </p:txBody>
        </p:sp>
        <p:sp>
          <p:nvSpPr>
            <p:cNvPr id="34862" name="Line 75">
              <a:extLst>
                <a:ext uri="{FF2B5EF4-FFF2-40B4-BE49-F238E27FC236}">
                  <a16:creationId xmlns:a16="http://schemas.microsoft.com/office/drawing/2014/main" id="{8CD26345-57EA-C747-A521-FBA2317D5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Text Box 76">
              <a:extLst>
                <a:ext uri="{FF2B5EF4-FFF2-40B4-BE49-F238E27FC236}">
                  <a16:creationId xmlns:a16="http://schemas.microsoft.com/office/drawing/2014/main" id="{DF469FA1-67EC-C548-94A4-C7E31188D4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BUSES</a:t>
              </a:r>
            </a:p>
          </p:txBody>
        </p:sp>
        <p:sp>
          <p:nvSpPr>
            <p:cNvPr id="34864" name="Text Box 77">
              <a:extLst>
                <a:ext uri="{FF2B5EF4-FFF2-40B4-BE49-F238E27FC236}">
                  <a16:creationId xmlns:a16="http://schemas.microsoft.com/office/drawing/2014/main" id="{8FDF83B8-BC92-0C4A-AE82-C6BA5E8077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6" y="2211"/>
              <a:ext cx="7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OPERATION BUS</a:t>
              </a:r>
            </a:p>
          </p:txBody>
        </p:sp>
        <p:sp>
          <p:nvSpPr>
            <p:cNvPr id="34865" name="Text Box 78">
              <a:extLst>
                <a:ext uri="{FF2B5EF4-FFF2-40B4-BE49-F238E27FC236}">
                  <a16:creationId xmlns:a16="http://schemas.microsoft.com/office/drawing/2014/main" id="{243EE2F7-11E1-0B49-AF71-0B4513D27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STATIONS</a:t>
              </a:r>
            </a:p>
          </p:txBody>
        </p:sp>
        <p:sp>
          <p:nvSpPr>
            <p:cNvPr id="34866" name="Text Box 79">
              <a:extLst>
                <a:ext uri="{FF2B5EF4-FFF2-40B4-BE49-F238E27FC236}">
                  <a16:creationId xmlns:a16="http://schemas.microsoft.com/office/drawing/2014/main" id="{5ABA8197-7A96-7543-8679-40C791818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3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FP adders</a:t>
              </a:r>
            </a:p>
          </p:txBody>
        </p:sp>
        <p:sp>
          <p:nvSpPr>
            <p:cNvPr id="34867" name="Text Box 80">
              <a:extLst>
                <a:ext uri="{FF2B5EF4-FFF2-40B4-BE49-F238E27FC236}">
                  <a16:creationId xmlns:a16="http://schemas.microsoft.com/office/drawing/2014/main" id="{6E1E0889-1188-D64A-9535-CD9B4F091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57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FP multipliers</a:t>
              </a:r>
            </a:p>
          </p:txBody>
        </p:sp>
        <p:sp>
          <p:nvSpPr>
            <p:cNvPr id="34868" name="Text Box 81">
              <a:extLst>
                <a:ext uri="{FF2B5EF4-FFF2-40B4-BE49-F238E27FC236}">
                  <a16:creationId xmlns:a16="http://schemas.microsoft.com/office/drawing/2014/main" id="{5372B744-6D44-D54B-826D-2C6FDE504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6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BUFFERS</a:t>
              </a:r>
            </a:p>
          </p:txBody>
        </p:sp>
        <p:sp>
          <p:nvSpPr>
            <p:cNvPr id="34869" name="Text Box 82">
              <a:extLst>
                <a:ext uri="{FF2B5EF4-FFF2-40B4-BE49-F238E27FC236}">
                  <a16:creationId xmlns:a16="http://schemas.microsoft.com/office/drawing/2014/main" id="{F717F752-4593-554C-8240-20FCF8ECE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3" y="2675"/>
              <a:ext cx="46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BUFFERS</a:t>
              </a:r>
            </a:p>
          </p:txBody>
        </p:sp>
        <p:sp>
          <p:nvSpPr>
            <p:cNvPr id="34870" name="Text Box 83">
              <a:extLst>
                <a:ext uri="{FF2B5EF4-FFF2-40B4-BE49-F238E27FC236}">
                  <a16:creationId xmlns:a16="http://schemas.microsoft.com/office/drawing/2014/main" id="{62FA8F86-3ED5-7A49-B125-434E5D599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710"/>
              <a:ext cx="591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QUEUE</a:t>
              </a:r>
            </a:p>
          </p:txBody>
        </p:sp>
        <p:sp>
          <p:nvSpPr>
            <p:cNvPr id="34871" name="Line 84">
              <a:extLst>
                <a:ext uri="{FF2B5EF4-FFF2-40B4-BE49-F238E27FC236}">
                  <a16:creationId xmlns:a16="http://schemas.microsoft.com/office/drawing/2014/main" id="{C9A4E49A-3944-1245-864A-28CC1B5A1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Text Box 85">
              <a:extLst>
                <a:ext uri="{FF2B5EF4-FFF2-40B4-BE49-F238E27FC236}">
                  <a16:creationId xmlns:a16="http://schemas.microsoft.com/office/drawing/2014/main" id="{EA2179C7-9413-2247-8AF9-14DC4F878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2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From IF unit</a:t>
              </a:r>
            </a:p>
          </p:txBody>
        </p:sp>
        <p:sp>
          <p:nvSpPr>
            <p:cNvPr id="34873" name="Text Box 86">
              <a:extLst>
                <a:ext uri="{FF2B5EF4-FFF2-40B4-BE49-F238E27FC236}">
                  <a16:creationId xmlns:a16="http://schemas.microsoft.com/office/drawing/2014/main" id="{A793C73E-FF67-0D48-BA45-572A265866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4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REGISTERS</a:t>
              </a:r>
            </a:p>
          </p:txBody>
        </p:sp>
        <p:sp>
          <p:nvSpPr>
            <p:cNvPr id="34874" name="Text Box 87">
              <a:extLst>
                <a:ext uri="{FF2B5EF4-FFF2-40B4-BE49-F238E27FC236}">
                  <a16:creationId xmlns:a16="http://schemas.microsoft.com/office/drawing/2014/main" id="{B7BA1E2A-C524-0B40-BDE5-A3F05B6A6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875" name="Text Box 88">
              <a:extLst>
                <a:ext uri="{FF2B5EF4-FFF2-40B4-BE49-F238E27FC236}">
                  <a16:creationId xmlns:a16="http://schemas.microsoft.com/office/drawing/2014/main" id="{A61C928E-1F4C-FE47-9B47-B465F1C80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4876" name="Text Box 89">
              <a:extLst>
                <a:ext uri="{FF2B5EF4-FFF2-40B4-BE49-F238E27FC236}">
                  <a16:creationId xmlns:a16="http://schemas.microsoft.com/office/drawing/2014/main" id="{793A92A0-E44C-834B-91EE-9177676C2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34877" name="Text Box 90">
              <a:extLst>
                <a:ext uri="{FF2B5EF4-FFF2-40B4-BE49-F238E27FC236}">
                  <a16:creationId xmlns:a16="http://schemas.microsoft.com/office/drawing/2014/main" id="{55071617-6F61-EF47-8BFC-93BD03D5F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34878" name="Text Box 91">
              <a:extLst>
                <a:ext uri="{FF2B5EF4-FFF2-40B4-BE49-F238E27FC236}">
                  <a16:creationId xmlns:a16="http://schemas.microsoft.com/office/drawing/2014/main" id="{46CEE623-9968-694B-B9BA-2B8533716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34879" name="Text Box 92">
              <a:extLst>
                <a:ext uri="{FF2B5EF4-FFF2-40B4-BE49-F238E27FC236}">
                  <a16:creationId xmlns:a16="http://schemas.microsoft.com/office/drawing/2014/main" id="{24B4BDEF-F434-B44B-8CC0-A33A5F6D8A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34880" name="Text Box 93">
              <a:extLst>
                <a:ext uri="{FF2B5EF4-FFF2-40B4-BE49-F238E27FC236}">
                  <a16:creationId xmlns:a16="http://schemas.microsoft.com/office/drawing/2014/main" id="{183E2A06-D532-5448-958B-F678999C7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881" name="Text Box 94">
              <a:extLst>
                <a:ext uri="{FF2B5EF4-FFF2-40B4-BE49-F238E27FC236}">
                  <a16:creationId xmlns:a16="http://schemas.microsoft.com/office/drawing/2014/main" id="{3AB4060F-B7EB-AF4C-BF65-9211F4A0AF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882" name="Text Box 95">
              <a:extLst>
                <a:ext uri="{FF2B5EF4-FFF2-40B4-BE49-F238E27FC236}">
                  <a16:creationId xmlns:a16="http://schemas.microsoft.com/office/drawing/2014/main" id="{8669F872-25C5-AD49-B370-08B81E931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4883" name="Text Box 96">
              <a:extLst>
                <a:ext uri="{FF2B5EF4-FFF2-40B4-BE49-F238E27FC236}">
                  <a16:creationId xmlns:a16="http://schemas.microsoft.com/office/drawing/2014/main" id="{FF43FA89-82C6-B242-855C-D87E6C327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4884" name="Text Box 97">
              <a:extLst>
                <a:ext uri="{FF2B5EF4-FFF2-40B4-BE49-F238E27FC236}">
                  <a16:creationId xmlns:a16="http://schemas.microsoft.com/office/drawing/2014/main" id="{74D222B5-FF78-FC43-9329-FEBB2B54F6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34885" name="Text Box 98">
              <a:extLst>
                <a:ext uri="{FF2B5EF4-FFF2-40B4-BE49-F238E27FC236}">
                  <a16:creationId xmlns:a16="http://schemas.microsoft.com/office/drawing/2014/main" id="{F692E907-7104-4C4C-B40E-9869A8F6E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7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COMMON DATA BUS (CDB)</a:t>
              </a: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Rectangle 2">
            <a:extLst>
              <a:ext uri="{FF2B5EF4-FFF2-40B4-BE49-F238E27FC236}">
                <a16:creationId xmlns:a16="http://schemas.microsoft.com/office/drawing/2014/main" id="{E7B9CD08-A61A-524A-8CFF-E5F1D5BF0D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Tomasulo</a:t>
            </a:r>
            <a:r>
              <a:rPr lang="ja-JP" altLang="en-US"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lang="en-US" altLang="en-US">
                <a:ea typeface="ＭＳ Ｐゴシック" panose="020B0600070205080204" pitchFamily="34" charset="-128"/>
              </a:rPr>
              <a:t>s Alg. (DLX version)</a:t>
            </a:r>
          </a:p>
        </p:txBody>
      </p:sp>
      <p:sp>
        <p:nvSpPr>
          <p:cNvPr id="35842" name="Rectangle 3">
            <a:extLst>
              <a:ext uri="{FF2B5EF4-FFF2-40B4-BE49-F238E27FC236}">
                <a16:creationId xmlns:a16="http://schemas.microsoft.com/office/drawing/2014/main" id="{A803F7B1-5951-4241-8D1D-3EAAF98BE7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Four stages after fetch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Dispatch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Check for structural hazard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Stall in dispatch stage if no free reservation station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Read register file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Read data operands if available</a:t>
            </a:r>
          </a:p>
          <a:p>
            <a:pPr lvl="3">
              <a:lnSpc>
                <a:spcPct val="80000"/>
              </a:lnSpc>
            </a:pPr>
            <a:r>
              <a:rPr lang="en-US" altLang="en-US" sz="1400"/>
              <a:t>Read </a:t>
            </a:r>
            <a:r>
              <a:rPr lang="ja-JP" altLang="en-US" sz="1400">
                <a:latin typeface="Arial" panose="020B0604020202020204" pitchFamily="34" charset="0"/>
              </a:rPr>
              <a:t>“</a:t>
            </a:r>
            <a:r>
              <a:rPr lang="en-US" altLang="en-US" sz="1400"/>
              <a:t>tag</a:t>
            </a:r>
            <a:r>
              <a:rPr lang="ja-JP" altLang="en-US" sz="1400">
                <a:latin typeface="Arial" panose="020B0604020202020204" pitchFamily="34" charset="0"/>
              </a:rPr>
              <a:t>”</a:t>
            </a:r>
            <a:r>
              <a:rPr lang="en-US" altLang="en-US" sz="1400"/>
              <a:t> if data operand unavailable: a tag is the reservation station number of the producer instruction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Route instruction plus data or tags to reservation station, where it waits until all operands are available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Issue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Wait until operands become available on the CDB (match CDB tag against operand tags)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Grab operands from CDB and issue to FU (if free)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Execute</a:t>
            </a:r>
          </a:p>
          <a:p>
            <a:pPr lvl="1">
              <a:lnSpc>
                <a:spcPct val="80000"/>
              </a:lnSpc>
            </a:pPr>
            <a:r>
              <a:rPr lang="en-US" altLang="en-US" sz="1800"/>
              <a:t>Write result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Broadcast result + tag to all reservation stations, store buffers, and register file via the CDB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Only write register file if the CDB tag matches the tag in the register file</a:t>
            </a:r>
          </a:p>
          <a:p>
            <a:pPr>
              <a:lnSpc>
                <a:spcPct val="80000"/>
              </a:lnSpc>
            </a:pPr>
            <a:endParaRPr lang="en-US" altLang="en-US" sz="240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Rectangle 2">
            <a:extLst>
              <a:ext uri="{FF2B5EF4-FFF2-40B4-BE49-F238E27FC236}">
                <a16:creationId xmlns:a16="http://schemas.microsoft.com/office/drawing/2014/main" id="{A44540E5-5507-5E44-AD3D-82CEFF1FB6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Four stages (cont…)</a:t>
            </a:r>
          </a:p>
        </p:txBody>
      </p:sp>
      <p:sp>
        <p:nvSpPr>
          <p:cNvPr id="37890" name="Rectangle 3">
            <a:extLst>
              <a:ext uri="{FF2B5EF4-FFF2-40B4-BE49-F238E27FC236}">
                <a16:creationId xmlns:a16="http://schemas.microsoft.com/office/drawing/2014/main" id="{EF84746E-34EE-7543-BD7D-73BA880628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Notice:</a:t>
            </a:r>
          </a:p>
          <a:p>
            <a:pPr lvl="1"/>
            <a:r>
              <a:rPr lang="en-US" altLang="en-US"/>
              <a:t>Same four stages as CDC, but read register file at dispatch stage and replace register specifiers with tags</a:t>
            </a:r>
          </a:p>
          <a:p>
            <a:pPr lvl="1"/>
            <a:r>
              <a:rPr lang="en-US" altLang="en-US"/>
              <a:t>No WAW / WAR checks (using tags eliminates these)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Again, H&amp;P uses different names than what we will use</a:t>
            </a:r>
          </a:p>
          <a:p>
            <a:pPr lvl="1"/>
            <a:r>
              <a:rPr lang="en-US" altLang="en-US"/>
              <a:t>Worse, H&amp;P specifies only three stages for Tomasulo</a:t>
            </a:r>
          </a:p>
          <a:p>
            <a:pPr lvl="1"/>
            <a:r>
              <a:rPr lang="en-US" altLang="en-US"/>
              <a:t>But </a:t>
            </a:r>
            <a:r>
              <a:rPr lang="en-US" altLang="en-US" i="1"/>
              <a:t>any</a:t>
            </a:r>
            <a:r>
              <a:rPr lang="en-US" altLang="en-US"/>
              <a:t> dynamic scheduling inherently has dispatch, issue, execute, write result…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2">
            <a:extLst>
              <a:ext uri="{FF2B5EF4-FFF2-40B4-BE49-F238E27FC236}">
                <a16:creationId xmlns:a16="http://schemas.microsoft.com/office/drawing/2014/main" id="{B12EA0CE-3AB3-0343-9538-FC16511085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Register renaming</a:t>
            </a:r>
          </a:p>
        </p:txBody>
      </p:sp>
      <p:sp>
        <p:nvSpPr>
          <p:cNvPr id="294915" name="Rectangle 3">
            <a:extLst>
              <a:ext uri="{FF2B5EF4-FFF2-40B4-BE49-F238E27FC236}">
                <a16:creationId xmlns:a16="http://schemas.microsoft.com/office/drawing/2014/main" id="{DF8B8494-9A9B-8643-8677-A95584EEF47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30017" y="1219200"/>
            <a:ext cx="8229600" cy="4876800"/>
          </a:xfrm>
        </p:spPr>
        <p:txBody>
          <a:bodyPr/>
          <a:lstStyle/>
          <a:p>
            <a:pPr>
              <a:defRPr/>
            </a:pPr>
            <a:r>
              <a:rPr lang="en-US" dirty="0"/>
              <a:t>Consider simple example with register reuse</a:t>
            </a:r>
          </a:p>
          <a:p>
            <a:pPr>
              <a:defRPr/>
            </a:pPr>
            <a:endParaRPr lang="en-US" dirty="0"/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Dataflow graph with both true </a:t>
            </a:r>
            <a:r>
              <a:rPr lang="en-US" i="1" dirty="0"/>
              <a:t>and</a:t>
            </a:r>
            <a:r>
              <a:rPr lang="en-US" dirty="0"/>
              <a:t> false dependences</a:t>
            </a:r>
          </a:p>
          <a:p>
            <a:pPr>
              <a:defRPr/>
            </a:pPr>
            <a:endParaRPr lang="en-US" dirty="0"/>
          </a:p>
          <a:p>
            <a:pPr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All instructions execute serially</a:t>
            </a:r>
          </a:p>
          <a:p>
            <a:pPr lvl="1">
              <a:defRPr/>
            </a:pPr>
            <a:r>
              <a:rPr lang="en-US" dirty="0"/>
              <a:t>Due to reuse of F0 by the loads</a:t>
            </a:r>
          </a:p>
          <a:p>
            <a:pPr lvl="1">
              <a:defRPr/>
            </a:pPr>
            <a:r>
              <a:rPr lang="en-US" dirty="0"/>
              <a:t>But those are 2 distinct </a:t>
            </a:r>
            <a:r>
              <a:rPr lang="en-US" i="1" dirty="0"/>
              <a:t>instances</a:t>
            </a:r>
            <a:r>
              <a:rPr lang="en-US" dirty="0"/>
              <a:t> of F0</a:t>
            </a:r>
          </a:p>
          <a:p>
            <a:pPr lvl="1">
              <a:defRPr/>
            </a:pPr>
            <a:r>
              <a:rPr lang="en-US" dirty="0"/>
              <a:t>Use different names for 2 instances of F0</a:t>
            </a:r>
          </a:p>
        </p:txBody>
      </p:sp>
      <p:sp>
        <p:nvSpPr>
          <p:cNvPr id="38915" name="Text Box 4">
            <a:extLst>
              <a:ext uri="{FF2B5EF4-FFF2-40B4-BE49-F238E27FC236}">
                <a16:creationId xmlns:a16="http://schemas.microsoft.com/office/drawing/2014/main" id="{1351F992-DE70-D244-A03C-84FC59ABD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1660525"/>
            <a:ext cx="15240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F0,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F0,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F0,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F0, F6</a:t>
            </a:r>
          </a:p>
        </p:txBody>
      </p:sp>
      <p:grpSp>
        <p:nvGrpSpPr>
          <p:cNvPr id="38916" name="Group 5">
            <a:extLst>
              <a:ext uri="{FF2B5EF4-FFF2-40B4-BE49-F238E27FC236}">
                <a16:creationId xmlns:a16="http://schemas.microsoft.com/office/drawing/2014/main" id="{95900D4A-BCBB-2F47-A1CF-797DE52D170D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429000"/>
            <a:ext cx="4008438" cy="2514600"/>
            <a:chOff x="2688" y="2208"/>
            <a:chExt cx="2525" cy="1584"/>
          </a:xfrm>
        </p:grpSpPr>
        <p:sp>
          <p:nvSpPr>
            <p:cNvPr id="38917" name="Line 6">
              <a:extLst>
                <a:ext uri="{FF2B5EF4-FFF2-40B4-BE49-F238E27FC236}">
                  <a16:creationId xmlns:a16="http://schemas.microsoft.com/office/drawing/2014/main" id="{8E1E7887-F69F-A540-A146-2A010F38A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496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18" name="Group 7">
              <a:extLst>
                <a:ext uri="{FF2B5EF4-FFF2-40B4-BE49-F238E27FC236}">
                  <a16:creationId xmlns:a16="http://schemas.microsoft.com/office/drawing/2014/main" id="{0E83FDDC-CB5E-6541-A45C-B2DF5B05EB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6" y="2208"/>
              <a:ext cx="293" cy="288"/>
              <a:chOff x="3024" y="2496"/>
              <a:chExt cx="293" cy="288"/>
            </a:xfrm>
          </p:grpSpPr>
          <p:sp>
            <p:nvSpPr>
              <p:cNvPr id="38935" name="Oval 8">
                <a:extLst>
                  <a:ext uri="{FF2B5EF4-FFF2-40B4-BE49-F238E27FC236}">
                    <a16:creationId xmlns:a16="http://schemas.microsoft.com/office/drawing/2014/main" id="{5A0188E5-0A22-9B44-9B2E-B5436CC36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6" name="Text Box 9">
                <a:extLst>
                  <a:ext uri="{FF2B5EF4-FFF2-40B4-BE49-F238E27FC236}">
                    <a16:creationId xmlns:a16="http://schemas.microsoft.com/office/drawing/2014/main" id="{F22B9603-C7C9-034C-AC38-105AEAD228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LD (1)</a:t>
                </a:r>
              </a:p>
            </p:txBody>
          </p:sp>
        </p:grpSp>
        <p:grpSp>
          <p:nvGrpSpPr>
            <p:cNvPr id="38919" name="Group 10">
              <a:extLst>
                <a:ext uri="{FF2B5EF4-FFF2-40B4-BE49-F238E27FC236}">
                  <a16:creationId xmlns:a16="http://schemas.microsoft.com/office/drawing/2014/main" id="{E48118FD-0A1A-844D-AEA7-F77A3C1539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2640"/>
              <a:ext cx="393" cy="288"/>
              <a:chOff x="1670" y="3600"/>
              <a:chExt cx="393" cy="288"/>
            </a:xfrm>
          </p:grpSpPr>
          <p:sp>
            <p:nvSpPr>
              <p:cNvPr id="38933" name="Oval 11">
                <a:extLst>
                  <a:ext uri="{FF2B5EF4-FFF2-40B4-BE49-F238E27FC236}">
                    <a16:creationId xmlns:a16="http://schemas.microsoft.com/office/drawing/2014/main" id="{B7EB9675-F486-584F-9732-23FA631A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4" name="Text Box 12">
                <a:extLst>
                  <a:ext uri="{FF2B5EF4-FFF2-40B4-BE49-F238E27FC236}">
                    <a16:creationId xmlns:a16="http://schemas.microsoft.com/office/drawing/2014/main" id="{8BD5AB9D-02B5-DD4B-BA0F-1E8FD4A8BA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ADDD (1)</a:t>
                </a:r>
              </a:p>
            </p:txBody>
          </p:sp>
        </p:grpSp>
        <p:sp>
          <p:nvSpPr>
            <p:cNvPr id="38920" name="Line 13">
              <a:extLst>
                <a:ext uri="{FF2B5EF4-FFF2-40B4-BE49-F238E27FC236}">
                  <a16:creationId xmlns:a16="http://schemas.microsoft.com/office/drawing/2014/main" id="{C36371CF-B405-2E44-A0FF-508D70612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360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21" name="Group 14">
              <a:extLst>
                <a:ext uri="{FF2B5EF4-FFF2-40B4-BE49-F238E27FC236}">
                  <a16:creationId xmlns:a16="http://schemas.microsoft.com/office/drawing/2014/main" id="{863854A8-97BA-3242-99AB-ECB9B4333A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6" y="3072"/>
              <a:ext cx="293" cy="288"/>
              <a:chOff x="3024" y="2496"/>
              <a:chExt cx="293" cy="288"/>
            </a:xfrm>
          </p:grpSpPr>
          <p:sp>
            <p:nvSpPr>
              <p:cNvPr id="38931" name="Oval 15">
                <a:extLst>
                  <a:ext uri="{FF2B5EF4-FFF2-40B4-BE49-F238E27FC236}">
                    <a16:creationId xmlns:a16="http://schemas.microsoft.com/office/drawing/2014/main" id="{A21E7B6B-97DB-CA41-B8AA-ECA21ED3A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2" name="Text Box 16">
                <a:extLst>
                  <a:ext uri="{FF2B5EF4-FFF2-40B4-BE49-F238E27FC236}">
                    <a16:creationId xmlns:a16="http://schemas.microsoft.com/office/drawing/2014/main" id="{83685622-0DAF-624A-8A19-6D30BB6B3F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LD (2)</a:t>
                </a:r>
              </a:p>
            </p:txBody>
          </p:sp>
        </p:grpSp>
        <p:grpSp>
          <p:nvGrpSpPr>
            <p:cNvPr id="38922" name="Group 17">
              <a:extLst>
                <a:ext uri="{FF2B5EF4-FFF2-40B4-BE49-F238E27FC236}">
                  <a16:creationId xmlns:a16="http://schemas.microsoft.com/office/drawing/2014/main" id="{59F6AD19-E0DF-694E-8D3D-383B538584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3504"/>
              <a:ext cx="393" cy="288"/>
              <a:chOff x="1670" y="3600"/>
              <a:chExt cx="393" cy="288"/>
            </a:xfrm>
          </p:grpSpPr>
          <p:sp>
            <p:nvSpPr>
              <p:cNvPr id="38929" name="Oval 18">
                <a:extLst>
                  <a:ext uri="{FF2B5EF4-FFF2-40B4-BE49-F238E27FC236}">
                    <a16:creationId xmlns:a16="http://schemas.microsoft.com/office/drawing/2014/main" id="{DD529EB8-7D43-0741-A97E-6825BA70C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0" name="Text Box 19">
                <a:extLst>
                  <a:ext uri="{FF2B5EF4-FFF2-40B4-BE49-F238E27FC236}">
                    <a16:creationId xmlns:a16="http://schemas.microsoft.com/office/drawing/2014/main" id="{9815051A-A6E9-C546-9E5C-8F0C0079CA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ADDD (2)</a:t>
                </a:r>
              </a:p>
            </p:txBody>
          </p:sp>
        </p:grpSp>
        <p:sp>
          <p:nvSpPr>
            <p:cNvPr id="38923" name="Line 20">
              <a:extLst>
                <a:ext uri="{FF2B5EF4-FFF2-40B4-BE49-F238E27FC236}">
                  <a16:creationId xmlns:a16="http://schemas.microsoft.com/office/drawing/2014/main" id="{7AA77FAD-58A6-4C49-B52A-674C3E523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928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Text Box 21">
              <a:extLst>
                <a:ext uri="{FF2B5EF4-FFF2-40B4-BE49-F238E27FC236}">
                  <a16:creationId xmlns:a16="http://schemas.microsoft.com/office/drawing/2014/main" id="{EC83829D-5913-7843-93B1-F691528577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8" y="2485"/>
              <a:ext cx="108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F0)</a:t>
              </a:r>
            </a:p>
          </p:txBody>
        </p:sp>
        <p:sp>
          <p:nvSpPr>
            <p:cNvPr id="38925" name="Text Box 22">
              <a:extLst>
                <a:ext uri="{FF2B5EF4-FFF2-40B4-BE49-F238E27FC236}">
                  <a16:creationId xmlns:a16="http://schemas.microsoft.com/office/drawing/2014/main" id="{B9985584-0CC5-F841-B861-DEAE60ECD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3360"/>
              <a:ext cx="108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F0)</a:t>
              </a:r>
            </a:p>
          </p:txBody>
        </p:sp>
        <p:sp>
          <p:nvSpPr>
            <p:cNvPr id="38926" name="Text Box 23">
              <a:extLst>
                <a:ext uri="{FF2B5EF4-FFF2-40B4-BE49-F238E27FC236}">
                  <a16:creationId xmlns:a16="http://schemas.microsoft.com/office/drawing/2014/main" id="{77EBB8D1-0AE7-804A-8698-BEAA22929E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2928"/>
              <a:ext cx="1082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Anti-dependence (WAR / F0)</a:t>
              </a:r>
            </a:p>
          </p:txBody>
        </p:sp>
        <p:sp>
          <p:nvSpPr>
            <p:cNvPr id="38927" name="Freeform 24">
              <a:extLst>
                <a:ext uri="{FF2B5EF4-FFF2-40B4-BE49-F238E27FC236}">
                  <a16:creationId xmlns:a16="http://schemas.microsoft.com/office/drawing/2014/main" id="{D6739E26-4B50-5243-8879-BE60A33B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448"/>
              <a:ext cx="192" cy="672"/>
            </a:xfrm>
            <a:custGeom>
              <a:avLst/>
              <a:gdLst>
                <a:gd name="T0" fmla="*/ 192 w 192"/>
                <a:gd name="T1" fmla="*/ 0 h 672"/>
                <a:gd name="T2" fmla="*/ 0 w 192"/>
                <a:gd name="T3" fmla="*/ 384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192" y="0"/>
                  </a:moveTo>
                  <a:cubicBezTo>
                    <a:pt x="96" y="136"/>
                    <a:pt x="0" y="272"/>
                    <a:pt x="0" y="384"/>
                  </a:cubicBezTo>
                  <a:cubicBezTo>
                    <a:pt x="0" y="496"/>
                    <a:pt x="96" y="584"/>
                    <a:pt x="192" y="672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dash"/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Text Box 25">
              <a:extLst>
                <a:ext uri="{FF2B5EF4-FFF2-40B4-BE49-F238E27FC236}">
                  <a16:creationId xmlns:a16="http://schemas.microsoft.com/office/drawing/2014/main" id="{ABF1A2A7-0F69-BD4E-A76B-2CA4F6755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2688"/>
              <a:ext cx="11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Output dependence (WAW / F0)</a:t>
              </a: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Rectangle 2">
            <a:extLst>
              <a:ext uri="{FF2B5EF4-FFF2-40B4-BE49-F238E27FC236}">
                <a16:creationId xmlns:a16="http://schemas.microsoft.com/office/drawing/2014/main" id="{8397E450-ABD4-6343-8384-91C0398943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Register renaming</a:t>
            </a:r>
          </a:p>
        </p:txBody>
      </p:sp>
      <p:sp>
        <p:nvSpPr>
          <p:cNvPr id="295939" name="Rectangle 3">
            <a:extLst>
              <a:ext uri="{FF2B5EF4-FFF2-40B4-BE49-F238E27FC236}">
                <a16:creationId xmlns:a16="http://schemas.microsoft.com/office/drawing/2014/main" id="{85B79EB6-1F27-7B4D-9972-50343BAAD39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57200" y="1455737"/>
            <a:ext cx="8229600" cy="4876800"/>
          </a:xfrm>
        </p:spPr>
        <p:txBody>
          <a:bodyPr/>
          <a:lstStyle/>
          <a:p>
            <a:pPr>
              <a:defRPr/>
            </a:pPr>
            <a:r>
              <a:rPr lang="en-US" dirty="0"/>
              <a:t>Same program segment with F0 renamed</a:t>
            </a:r>
          </a:p>
          <a:p>
            <a:pPr lvl="1">
              <a:defRPr/>
            </a:pPr>
            <a:r>
              <a:rPr lang="en-US" dirty="0" err="1"/>
              <a:t>Tomasulo</a:t>
            </a:r>
            <a:r>
              <a:rPr lang="en-US" dirty="0"/>
              <a:t> </a:t>
            </a:r>
            <a:r>
              <a:rPr lang="en-US" dirty="0" err="1"/>
              <a:t>Alg</a:t>
            </a:r>
            <a:r>
              <a:rPr lang="en-US" dirty="0"/>
              <a:t>: use reservation station number (tag) of producer instruction (e.g. load buffer 1 = </a:t>
            </a:r>
            <a:r>
              <a:rPr lang="en-US" u="sng" dirty="0"/>
              <a:t>load1</a:t>
            </a:r>
            <a:r>
              <a:rPr lang="en-US" dirty="0"/>
              <a:t>)</a:t>
            </a:r>
          </a:p>
          <a:p>
            <a:pPr lvl="2">
              <a:defRPr/>
            </a:pPr>
            <a:r>
              <a:rPr lang="en-US" dirty="0"/>
              <a:t>This guarantees unique names for unique values</a:t>
            </a:r>
          </a:p>
          <a:p>
            <a:pPr lvl="2">
              <a:defRPr/>
            </a:pPr>
            <a:endParaRPr lang="en-US" dirty="0"/>
          </a:p>
          <a:p>
            <a:pPr lvl="1">
              <a:defRPr/>
            </a:pPr>
            <a:endParaRPr lang="en-US" dirty="0"/>
          </a:p>
          <a:p>
            <a:pPr marL="457200" lvl="1" indent="0">
              <a:buFont typeface="Times New Roman" panose="02020603050405020304" pitchFamily="18" charset="0"/>
              <a:buNone/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Dataflow graph with only true dependences</a:t>
            </a:r>
          </a:p>
          <a:p>
            <a:pPr lvl="1">
              <a:defRPr/>
            </a:pPr>
            <a:r>
              <a:rPr lang="en-US" dirty="0"/>
              <a:t>Renaming removes output and anti-dependences</a:t>
            </a:r>
          </a:p>
          <a:p>
            <a:pPr lvl="1">
              <a:defRPr/>
            </a:pPr>
            <a:r>
              <a:rPr lang="en-US" dirty="0"/>
              <a:t>Parallelism is exposed</a:t>
            </a:r>
          </a:p>
        </p:txBody>
      </p:sp>
      <p:sp>
        <p:nvSpPr>
          <p:cNvPr id="39939" name="Text Box 4">
            <a:extLst>
              <a:ext uri="{FF2B5EF4-FFF2-40B4-BE49-F238E27FC236}">
                <a16:creationId xmlns:a16="http://schemas.microsoft.com/office/drawing/2014/main" id="{87BC82C6-D4E7-074F-B504-8E4E3D22E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9298" y="2963862"/>
            <a:ext cx="20574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F6</a:t>
            </a:r>
          </a:p>
        </p:txBody>
      </p:sp>
      <p:grpSp>
        <p:nvGrpSpPr>
          <p:cNvPr id="39940" name="Group 5">
            <a:extLst>
              <a:ext uri="{FF2B5EF4-FFF2-40B4-BE49-F238E27FC236}">
                <a16:creationId xmlns:a16="http://schemas.microsoft.com/office/drawing/2014/main" id="{54771233-ACCD-C24B-A573-001221B1E68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5257800"/>
            <a:ext cx="2238375" cy="1143000"/>
            <a:chOff x="4032" y="2160"/>
            <a:chExt cx="1410" cy="720"/>
          </a:xfrm>
        </p:grpSpPr>
        <p:sp>
          <p:nvSpPr>
            <p:cNvPr id="39950" name="Line 6">
              <a:extLst>
                <a:ext uri="{FF2B5EF4-FFF2-40B4-BE49-F238E27FC236}">
                  <a16:creationId xmlns:a16="http://schemas.microsoft.com/office/drawing/2014/main" id="{30D5FB88-6E5B-7249-8D33-B1CA0A0FC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2448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51" name="Group 7">
              <a:extLst>
                <a:ext uri="{FF2B5EF4-FFF2-40B4-BE49-F238E27FC236}">
                  <a16:creationId xmlns:a16="http://schemas.microsoft.com/office/drawing/2014/main" id="{AC85D0D6-6137-C241-86FA-56605C90DA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0" y="2160"/>
              <a:ext cx="297" cy="288"/>
              <a:chOff x="3024" y="2496"/>
              <a:chExt cx="297" cy="288"/>
            </a:xfrm>
          </p:grpSpPr>
          <p:sp>
            <p:nvSpPr>
              <p:cNvPr id="39956" name="Oval 8">
                <a:extLst>
                  <a:ext uri="{FF2B5EF4-FFF2-40B4-BE49-F238E27FC236}">
                    <a16:creationId xmlns:a16="http://schemas.microsoft.com/office/drawing/2014/main" id="{2CC4DDED-6D8B-014C-AA60-A0A9899ED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57" name="Text Box 9">
                <a:extLst>
                  <a:ext uri="{FF2B5EF4-FFF2-40B4-BE49-F238E27FC236}">
                    <a16:creationId xmlns:a16="http://schemas.microsoft.com/office/drawing/2014/main" id="{BB5A58BD-1E4B-594A-B260-CDFFA746FF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7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LD (1)</a:t>
                </a:r>
              </a:p>
            </p:txBody>
          </p:sp>
        </p:grpSp>
        <p:grpSp>
          <p:nvGrpSpPr>
            <p:cNvPr id="39952" name="Group 10">
              <a:extLst>
                <a:ext uri="{FF2B5EF4-FFF2-40B4-BE49-F238E27FC236}">
                  <a16:creationId xmlns:a16="http://schemas.microsoft.com/office/drawing/2014/main" id="{9AC3C150-C4D1-1A4B-8E99-2FC407CCDC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" y="2592"/>
              <a:ext cx="396" cy="288"/>
              <a:chOff x="1670" y="3600"/>
              <a:chExt cx="396" cy="288"/>
            </a:xfrm>
          </p:grpSpPr>
          <p:sp>
            <p:nvSpPr>
              <p:cNvPr id="39954" name="Oval 11">
                <a:extLst>
                  <a:ext uri="{FF2B5EF4-FFF2-40B4-BE49-F238E27FC236}">
                    <a16:creationId xmlns:a16="http://schemas.microsoft.com/office/drawing/2014/main" id="{90A3F00C-D009-F04B-9E7B-3D69CE3AD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55" name="Text Box 12">
                <a:extLst>
                  <a:ext uri="{FF2B5EF4-FFF2-40B4-BE49-F238E27FC236}">
                    <a16:creationId xmlns:a16="http://schemas.microsoft.com/office/drawing/2014/main" id="{F8D111C8-07A6-BB4F-9B9A-33E284F3C3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6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ADDD (1)</a:t>
                </a:r>
              </a:p>
            </p:txBody>
          </p:sp>
        </p:grpSp>
        <p:sp>
          <p:nvSpPr>
            <p:cNvPr id="39953" name="Text Box 13">
              <a:extLst>
                <a:ext uri="{FF2B5EF4-FFF2-40B4-BE49-F238E27FC236}">
                  <a16:creationId xmlns:a16="http://schemas.microsoft.com/office/drawing/2014/main" id="{E04394AB-92E5-AF4E-B0BD-ECAEFE756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2" y="2437"/>
              <a:ext cx="118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</a:t>
              </a:r>
              <a:r>
                <a:rPr lang="en-US" altLang="en-US" sz="1000" u="sng">
                  <a:latin typeface="Times New Roman" panose="02020603050405020304" pitchFamily="18" charset="0"/>
                </a:rPr>
                <a:t>load1</a:t>
              </a:r>
              <a:r>
                <a:rPr lang="en-US" altLang="en-US" sz="1000">
                  <a:latin typeface="Times New Roman" panose="02020603050405020304" pitchFamily="18" charset="0"/>
                </a:rPr>
                <a:t>)</a:t>
              </a:r>
            </a:p>
          </p:txBody>
        </p:sp>
      </p:grpSp>
      <p:grpSp>
        <p:nvGrpSpPr>
          <p:cNvPr id="39941" name="Group 14">
            <a:extLst>
              <a:ext uri="{FF2B5EF4-FFF2-40B4-BE49-F238E27FC236}">
                <a16:creationId xmlns:a16="http://schemas.microsoft.com/office/drawing/2014/main" id="{8577E79A-B135-5A49-87B7-C38E6774A858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5257800"/>
            <a:ext cx="2254250" cy="1143000"/>
            <a:chOff x="4032" y="3024"/>
            <a:chExt cx="1420" cy="720"/>
          </a:xfrm>
        </p:grpSpPr>
        <p:sp>
          <p:nvSpPr>
            <p:cNvPr id="39942" name="Line 15">
              <a:extLst>
                <a:ext uri="{FF2B5EF4-FFF2-40B4-BE49-F238E27FC236}">
                  <a16:creationId xmlns:a16="http://schemas.microsoft.com/office/drawing/2014/main" id="{7B2DBD99-C1A7-7E43-932C-17F710321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312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43" name="Group 16">
              <a:extLst>
                <a:ext uri="{FF2B5EF4-FFF2-40B4-BE49-F238E27FC236}">
                  <a16:creationId xmlns:a16="http://schemas.microsoft.com/office/drawing/2014/main" id="{5E024C2A-4DC2-9142-9120-333DC09DA5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0" y="3024"/>
              <a:ext cx="296" cy="288"/>
              <a:chOff x="3024" y="2496"/>
              <a:chExt cx="296" cy="288"/>
            </a:xfrm>
          </p:grpSpPr>
          <p:sp>
            <p:nvSpPr>
              <p:cNvPr id="39948" name="Oval 17">
                <a:extLst>
                  <a:ext uri="{FF2B5EF4-FFF2-40B4-BE49-F238E27FC236}">
                    <a16:creationId xmlns:a16="http://schemas.microsoft.com/office/drawing/2014/main" id="{BF97AE6E-CBA5-6D4B-913C-2257AD0C4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Courier" pitchFamily="2" charset="0"/>
                </a:endParaRPr>
              </a:p>
            </p:txBody>
          </p:sp>
          <p:sp>
            <p:nvSpPr>
              <p:cNvPr id="39949" name="Text Box 18">
                <a:extLst>
                  <a:ext uri="{FF2B5EF4-FFF2-40B4-BE49-F238E27FC236}">
                    <a16:creationId xmlns:a16="http://schemas.microsoft.com/office/drawing/2014/main" id="{725BC6F3-5AA1-8349-85D2-297C4554A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6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Arial" panose="020B0604020202020204" pitchFamily="34" charset="0"/>
                    <a:cs typeface="Arial" panose="020B0604020202020204" pitchFamily="34" charset="0"/>
                  </a:rPr>
                  <a:t>LD (2)</a:t>
                </a:r>
              </a:p>
            </p:txBody>
          </p:sp>
        </p:grpSp>
        <p:grpSp>
          <p:nvGrpSpPr>
            <p:cNvPr id="39944" name="Group 19">
              <a:extLst>
                <a:ext uri="{FF2B5EF4-FFF2-40B4-BE49-F238E27FC236}">
                  <a16:creationId xmlns:a16="http://schemas.microsoft.com/office/drawing/2014/main" id="{B655035F-1DB4-8941-ACFE-F2929236F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" y="3456"/>
              <a:ext cx="396" cy="288"/>
              <a:chOff x="1670" y="3600"/>
              <a:chExt cx="396" cy="288"/>
            </a:xfrm>
          </p:grpSpPr>
          <p:sp>
            <p:nvSpPr>
              <p:cNvPr id="39946" name="Oval 20">
                <a:extLst>
                  <a:ext uri="{FF2B5EF4-FFF2-40B4-BE49-F238E27FC236}">
                    <a16:creationId xmlns:a16="http://schemas.microsoft.com/office/drawing/2014/main" id="{1E413830-F13F-9648-89FD-ABC08D98C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Courier" pitchFamily="2" charset="0"/>
                </a:endParaRPr>
              </a:p>
            </p:txBody>
          </p:sp>
          <p:sp>
            <p:nvSpPr>
              <p:cNvPr id="39947" name="Text Box 21">
                <a:extLst>
                  <a:ext uri="{FF2B5EF4-FFF2-40B4-BE49-F238E27FC236}">
                    <a16:creationId xmlns:a16="http://schemas.microsoft.com/office/drawing/2014/main" id="{98A6B199-F965-A340-83CC-ECE74EE10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6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Arial" panose="020B0604020202020204" pitchFamily="34" charset="0"/>
                    <a:cs typeface="Arial" panose="020B0604020202020204" pitchFamily="34" charset="0"/>
                  </a:rPr>
                  <a:t>ADDD (2)</a:t>
                </a:r>
              </a:p>
            </p:txBody>
          </p:sp>
        </p:grpSp>
        <p:sp>
          <p:nvSpPr>
            <p:cNvPr id="39945" name="Text Box 22">
              <a:extLst>
                <a:ext uri="{FF2B5EF4-FFF2-40B4-BE49-F238E27FC236}">
                  <a16:creationId xmlns:a16="http://schemas.microsoft.com/office/drawing/2014/main" id="{3463D68F-8950-A84B-97E8-98ED38403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312"/>
              <a:ext cx="118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</a:t>
              </a:r>
              <a:r>
                <a:rPr lang="en-US" altLang="en-US" sz="1000" u="sng">
                  <a:latin typeface="Times New Roman" panose="02020603050405020304" pitchFamily="18" charset="0"/>
                </a:rPr>
                <a:t>load2</a:t>
              </a:r>
              <a:r>
                <a:rPr lang="en-US" altLang="en-US" sz="1000">
                  <a:latin typeface="Times New Roman" panose="02020603050405020304" pitchFamily="18" charset="0"/>
                </a:rPr>
                <a:t>)</a:t>
              </a:r>
            </a:p>
          </p:txBody>
        </p:sp>
      </p:grpSp>
      <p:grpSp>
        <p:nvGrpSpPr>
          <p:cNvPr id="23" name="Group 5">
            <a:extLst>
              <a:ext uri="{FF2B5EF4-FFF2-40B4-BE49-F238E27FC236}">
                <a16:creationId xmlns:a16="http://schemas.microsoft.com/office/drawing/2014/main" id="{4656FCAD-78E5-D61B-7E58-F79AC794DFEB}"/>
              </a:ext>
            </a:extLst>
          </p:cNvPr>
          <p:cNvGrpSpPr>
            <a:grpSpLocks/>
          </p:cNvGrpSpPr>
          <p:nvPr/>
        </p:nvGrpSpPr>
        <p:grpSpPr bwMode="auto">
          <a:xfrm>
            <a:off x="5135562" y="2819400"/>
            <a:ext cx="3703638" cy="2297906"/>
            <a:chOff x="2688" y="2208"/>
            <a:chExt cx="2525" cy="1584"/>
          </a:xfrm>
        </p:grpSpPr>
        <p:sp>
          <p:nvSpPr>
            <p:cNvPr id="24" name="Line 6">
              <a:extLst>
                <a:ext uri="{FF2B5EF4-FFF2-40B4-BE49-F238E27FC236}">
                  <a16:creationId xmlns:a16="http://schemas.microsoft.com/office/drawing/2014/main" id="{1911EA22-C27C-56E4-12BD-DAEE15DDF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496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" name="Group 7">
              <a:extLst>
                <a:ext uri="{FF2B5EF4-FFF2-40B4-BE49-F238E27FC236}">
                  <a16:creationId xmlns:a16="http://schemas.microsoft.com/office/drawing/2014/main" id="{D17BE8FB-63F3-AF82-4ACF-8D35B8D541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6" y="2208"/>
              <a:ext cx="293" cy="288"/>
              <a:chOff x="3024" y="2496"/>
              <a:chExt cx="293" cy="288"/>
            </a:xfrm>
          </p:grpSpPr>
          <p:sp>
            <p:nvSpPr>
              <p:cNvPr id="42" name="Oval 8">
                <a:extLst>
                  <a:ext uri="{FF2B5EF4-FFF2-40B4-BE49-F238E27FC236}">
                    <a16:creationId xmlns:a16="http://schemas.microsoft.com/office/drawing/2014/main" id="{460EBCA2-63AD-5502-B556-A8B6B49CB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Text Box 9">
                <a:extLst>
                  <a:ext uri="{FF2B5EF4-FFF2-40B4-BE49-F238E27FC236}">
                    <a16:creationId xmlns:a16="http://schemas.microsoft.com/office/drawing/2014/main" id="{13D6FFC4-3C82-C607-FB9E-396BD454F1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LD (1)</a:t>
                </a:r>
              </a:p>
            </p:txBody>
          </p:sp>
        </p:grpSp>
        <p:grpSp>
          <p:nvGrpSpPr>
            <p:cNvPr id="26" name="Group 10">
              <a:extLst>
                <a:ext uri="{FF2B5EF4-FFF2-40B4-BE49-F238E27FC236}">
                  <a16:creationId xmlns:a16="http://schemas.microsoft.com/office/drawing/2014/main" id="{B2D5BE3A-2B57-9DCB-BB93-49DBBDD9B0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2640"/>
              <a:ext cx="393" cy="288"/>
              <a:chOff x="1670" y="3600"/>
              <a:chExt cx="393" cy="288"/>
            </a:xfrm>
          </p:grpSpPr>
          <p:sp>
            <p:nvSpPr>
              <p:cNvPr id="40" name="Oval 11">
                <a:extLst>
                  <a:ext uri="{FF2B5EF4-FFF2-40B4-BE49-F238E27FC236}">
                    <a16:creationId xmlns:a16="http://schemas.microsoft.com/office/drawing/2014/main" id="{C4151830-7E2F-E388-7962-62897414E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Text Box 12">
                <a:extLst>
                  <a:ext uri="{FF2B5EF4-FFF2-40B4-BE49-F238E27FC236}">
                    <a16:creationId xmlns:a16="http://schemas.microsoft.com/office/drawing/2014/main" id="{7AD7F341-58C5-81A5-69DE-B21C0437E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ADDD (1)</a:t>
                </a:r>
              </a:p>
            </p:txBody>
          </p:sp>
        </p:grp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4DCFED08-4FE9-CC4F-0979-44AF781DE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360"/>
              <a:ext cx="0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" name="Group 14">
              <a:extLst>
                <a:ext uri="{FF2B5EF4-FFF2-40B4-BE49-F238E27FC236}">
                  <a16:creationId xmlns:a16="http://schemas.microsoft.com/office/drawing/2014/main" id="{5704F427-CC5D-4BA3-688D-A18F651E81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6" y="3072"/>
              <a:ext cx="293" cy="288"/>
              <a:chOff x="3024" y="2496"/>
              <a:chExt cx="293" cy="288"/>
            </a:xfrm>
          </p:grpSpPr>
          <p:sp>
            <p:nvSpPr>
              <p:cNvPr id="38" name="Oval 15">
                <a:extLst>
                  <a:ext uri="{FF2B5EF4-FFF2-40B4-BE49-F238E27FC236}">
                    <a16:creationId xmlns:a16="http://schemas.microsoft.com/office/drawing/2014/main" id="{622C4814-B564-57BF-0133-630F64050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496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Text Box 16">
                <a:extLst>
                  <a:ext uri="{FF2B5EF4-FFF2-40B4-BE49-F238E27FC236}">
                    <a16:creationId xmlns:a16="http://schemas.microsoft.com/office/drawing/2014/main" id="{0EDB3EA9-DA8F-6B6F-4D5E-751580F93A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4" y="2592"/>
                <a:ext cx="2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LD (2)</a:t>
                </a:r>
              </a:p>
            </p:txBody>
          </p:sp>
        </p:grpSp>
        <p:grpSp>
          <p:nvGrpSpPr>
            <p:cNvPr id="29" name="Group 17">
              <a:extLst>
                <a:ext uri="{FF2B5EF4-FFF2-40B4-BE49-F238E27FC236}">
                  <a16:creationId xmlns:a16="http://schemas.microsoft.com/office/drawing/2014/main" id="{315FF7E8-35F6-68B8-051D-AFDDCED21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3504"/>
              <a:ext cx="393" cy="288"/>
              <a:chOff x="1670" y="3600"/>
              <a:chExt cx="393" cy="288"/>
            </a:xfrm>
          </p:grpSpPr>
          <p:sp>
            <p:nvSpPr>
              <p:cNvPr id="36" name="Oval 18">
                <a:extLst>
                  <a:ext uri="{FF2B5EF4-FFF2-40B4-BE49-F238E27FC236}">
                    <a16:creationId xmlns:a16="http://schemas.microsoft.com/office/drawing/2014/main" id="{645FC570-32ED-D44F-A1D2-BE461ABBE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3600"/>
                <a:ext cx="288" cy="28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Text Box 19">
                <a:extLst>
                  <a:ext uri="{FF2B5EF4-FFF2-40B4-BE49-F238E27FC236}">
                    <a16:creationId xmlns:a16="http://schemas.microsoft.com/office/drawing/2014/main" id="{F6E174E3-AC59-F21B-3FFD-BABEC420D0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70" y="3653"/>
                <a:ext cx="39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800">
                    <a:latin typeface="Times New Roman" panose="02020603050405020304" pitchFamily="18" charset="0"/>
                  </a:rPr>
                  <a:t>ADDD (2)</a:t>
                </a:r>
              </a:p>
            </p:txBody>
          </p:sp>
        </p:grpSp>
        <p:sp>
          <p:nvSpPr>
            <p:cNvPr id="30" name="Line 20">
              <a:extLst>
                <a:ext uri="{FF2B5EF4-FFF2-40B4-BE49-F238E27FC236}">
                  <a16:creationId xmlns:a16="http://schemas.microsoft.com/office/drawing/2014/main" id="{A9F83CD1-380C-50BE-70C2-DB81E6D2D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2928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Text Box 21">
              <a:extLst>
                <a:ext uri="{FF2B5EF4-FFF2-40B4-BE49-F238E27FC236}">
                  <a16:creationId xmlns:a16="http://schemas.microsoft.com/office/drawing/2014/main" id="{66606415-203F-5022-3BFC-3C496F5577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8" y="2485"/>
              <a:ext cx="108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F0)</a:t>
              </a:r>
            </a:p>
          </p:txBody>
        </p:sp>
        <p:sp>
          <p:nvSpPr>
            <p:cNvPr id="32" name="Text Box 22">
              <a:extLst>
                <a:ext uri="{FF2B5EF4-FFF2-40B4-BE49-F238E27FC236}">
                  <a16:creationId xmlns:a16="http://schemas.microsoft.com/office/drawing/2014/main" id="{879ACD60-5D51-EE28-83F1-A479184F26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3360"/>
              <a:ext cx="108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True dependence (RAW / F0)</a:t>
              </a:r>
            </a:p>
          </p:txBody>
        </p:sp>
        <p:sp>
          <p:nvSpPr>
            <p:cNvPr id="33" name="Text Box 23">
              <a:extLst>
                <a:ext uri="{FF2B5EF4-FFF2-40B4-BE49-F238E27FC236}">
                  <a16:creationId xmlns:a16="http://schemas.microsoft.com/office/drawing/2014/main" id="{2ABC9D4F-CEEA-B5F1-9DEB-746DFEE0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2928"/>
              <a:ext cx="1082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Anti-dependence (WAR / F0)</a:t>
              </a:r>
            </a:p>
          </p:txBody>
        </p:sp>
        <p:sp>
          <p:nvSpPr>
            <p:cNvPr id="34" name="Freeform 24">
              <a:extLst>
                <a:ext uri="{FF2B5EF4-FFF2-40B4-BE49-F238E27FC236}">
                  <a16:creationId xmlns:a16="http://schemas.microsoft.com/office/drawing/2014/main" id="{E3E1144F-A989-8719-5EF1-9A673260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448"/>
              <a:ext cx="192" cy="672"/>
            </a:xfrm>
            <a:custGeom>
              <a:avLst/>
              <a:gdLst>
                <a:gd name="T0" fmla="*/ 192 w 192"/>
                <a:gd name="T1" fmla="*/ 0 h 672"/>
                <a:gd name="T2" fmla="*/ 0 w 192"/>
                <a:gd name="T3" fmla="*/ 384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672">
                  <a:moveTo>
                    <a:pt x="192" y="0"/>
                  </a:moveTo>
                  <a:cubicBezTo>
                    <a:pt x="96" y="136"/>
                    <a:pt x="0" y="272"/>
                    <a:pt x="0" y="384"/>
                  </a:cubicBezTo>
                  <a:cubicBezTo>
                    <a:pt x="0" y="496"/>
                    <a:pt x="96" y="584"/>
                    <a:pt x="192" y="672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dash"/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Text Box 25">
              <a:extLst>
                <a:ext uri="{FF2B5EF4-FFF2-40B4-BE49-F238E27FC236}">
                  <a16:creationId xmlns:a16="http://schemas.microsoft.com/office/drawing/2014/main" id="{041B610E-AB84-FC80-BD86-F9B34A6E0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2688"/>
              <a:ext cx="11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Output dependence (WAW / F0)</a:t>
              </a:r>
            </a:p>
          </p:txBody>
        </p:sp>
      </p:grpSp>
      <p:sp>
        <p:nvSpPr>
          <p:cNvPr id="45" name="Bent-Up Arrow 44">
            <a:extLst>
              <a:ext uri="{FF2B5EF4-FFF2-40B4-BE49-F238E27FC236}">
                <a16:creationId xmlns:a16="http://schemas.microsoft.com/office/drawing/2014/main" id="{6CB5B8DD-D19D-FDBF-4A06-04C03737DC50}"/>
              </a:ext>
            </a:extLst>
          </p:cNvPr>
          <p:cNvSpPr/>
          <p:nvPr/>
        </p:nvSpPr>
        <p:spPr>
          <a:xfrm rot="16027901" flipH="1">
            <a:off x="7779298" y="5156234"/>
            <a:ext cx="640252" cy="580231"/>
          </a:xfrm>
          <a:prstGeom prst="bentUp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Rectangle 2">
            <a:extLst>
              <a:ext uri="{FF2B5EF4-FFF2-40B4-BE49-F238E27FC236}">
                <a16:creationId xmlns:a16="http://schemas.microsoft.com/office/drawing/2014/main" id="{D7F8CEE4-D02A-5849-8FD2-B161B78999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200">
                <a:ea typeface="ＭＳ Ｐゴシック" panose="020B0600070205080204" pitchFamily="34" charset="-128"/>
              </a:rPr>
              <a:t>How (Tomasulo) renaming works (1)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9ABBF8B0-C687-D24A-B6CC-384EE8240B30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198562"/>
            <a:ext cx="7391400" cy="4838700"/>
            <a:chOff x="528" y="755"/>
            <a:chExt cx="4656" cy="3048"/>
          </a:xfrm>
        </p:grpSpPr>
        <p:grpSp>
          <p:nvGrpSpPr>
            <p:cNvPr id="40972" name="Group 4">
              <a:extLst>
                <a:ext uri="{FF2B5EF4-FFF2-40B4-BE49-F238E27FC236}">
                  <a16:creationId xmlns:a16="http://schemas.microsoft.com/office/drawing/2014/main" id="{6AC60696-40EB-EB42-A77F-01FCC448E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1061" name="Rectangle 5">
                <a:extLst>
                  <a:ext uri="{FF2B5EF4-FFF2-40B4-BE49-F238E27FC236}">
                    <a16:creationId xmlns:a16="http://schemas.microsoft.com/office/drawing/2014/main" id="{1F628F69-AB58-1548-BF58-8C714146C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62" name="Line 6">
                <a:extLst>
                  <a:ext uri="{FF2B5EF4-FFF2-40B4-BE49-F238E27FC236}">
                    <a16:creationId xmlns:a16="http://schemas.microsoft.com/office/drawing/2014/main" id="{12F75F96-7BA2-3E44-B025-C8552DFA6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Line 7">
                <a:extLst>
                  <a:ext uri="{FF2B5EF4-FFF2-40B4-BE49-F238E27FC236}">
                    <a16:creationId xmlns:a16="http://schemas.microsoft.com/office/drawing/2014/main" id="{452C39A8-F548-284A-94F2-565FC2088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4" name="Line 8">
                <a:extLst>
                  <a:ext uri="{FF2B5EF4-FFF2-40B4-BE49-F238E27FC236}">
                    <a16:creationId xmlns:a16="http://schemas.microsoft.com/office/drawing/2014/main" id="{D37DC1C2-DF53-DD4B-92B9-2A2E7E757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Line 9">
                <a:extLst>
                  <a:ext uri="{FF2B5EF4-FFF2-40B4-BE49-F238E27FC236}">
                    <a16:creationId xmlns:a16="http://schemas.microsoft.com/office/drawing/2014/main" id="{8A07D9F2-33F2-1944-8827-45722740D1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Line 10">
                <a:extLst>
                  <a:ext uri="{FF2B5EF4-FFF2-40B4-BE49-F238E27FC236}">
                    <a16:creationId xmlns:a16="http://schemas.microsoft.com/office/drawing/2014/main" id="{C27F1C72-EF78-6446-92B1-CB3B2E673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3" name="Group 11">
              <a:extLst>
                <a:ext uri="{FF2B5EF4-FFF2-40B4-BE49-F238E27FC236}">
                  <a16:creationId xmlns:a16="http://schemas.microsoft.com/office/drawing/2014/main" id="{675001B4-2211-504B-BD98-8AF1CC638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1055" name="Rectangle 12">
                <a:extLst>
                  <a:ext uri="{FF2B5EF4-FFF2-40B4-BE49-F238E27FC236}">
                    <a16:creationId xmlns:a16="http://schemas.microsoft.com/office/drawing/2014/main" id="{0C872DA2-6E58-2C42-B0E1-5B5D1CFD4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56" name="Line 13">
                <a:extLst>
                  <a:ext uri="{FF2B5EF4-FFF2-40B4-BE49-F238E27FC236}">
                    <a16:creationId xmlns:a16="http://schemas.microsoft.com/office/drawing/2014/main" id="{1B4B9EBB-8093-F34A-BD31-B5FB03787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7" name="Line 14">
                <a:extLst>
                  <a:ext uri="{FF2B5EF4-FFF2-40B4-BE49-F238E27FC236}">
                    <a16:creationId xmlns:a16="http://schemas.microsoft.com/office/drawing/2014/main" id="{58563EDE-269D-9F43-96E5-6F0CE4EE80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8" name="Line 15">
                <a:extLst>
                  <a:ext uri="{FF2B5EF4-FFF2-40B4-BE49-F238E27FC236}">
                    <a16:creationId xmlns:a16="http://schemas.microsoft.com/office/drawing/2014/main" id="{81C7939B-65A8-BE42-A566-8CA37ACCF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9" name="Line 16">
                <a:extLst>
                  <a:ext uri="{FF2B5EF4-FFF2-40B4-BE49-F238E27FC236}">
                    <a16:creationId xmlns:a16="http://schemas.microsoft.com/office/drawing/2014/main" id="{30CBC620-460D-3A42-B35B-0877B0447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Line 17">
                <a:extLst>
                  <a:ext uri="{FF2B5EF4-FFF2-40B4-BE49-F238E27FC236}">
                    <a16:creationId xmlns:a16="http://schemas.microsoft.com/office/drawing/2014/main" id="{0F0AA110-D82A-5843-ACA2-3569F4978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4" name="Group 18">
              <a:extLst>
                <a:ext uri="{FF2B5EF4-FFF2-40B4-BE49-F238E27FC236}">
                  <a16:creationId xmlns:a16="http://schemas.microsoft.com/office/drawing/2014/main" id="{FACAF644-9604-7549-9161-EDCD64DF47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1051" name="Rectangle 19">
                <a:extLst>
                  <a:ext uri="{FF2B5EF4-FFF2-40B4-BE49-F238E27FC236}">
                    <a16:creationId xmlns:a16="http://schemas.microsoft.com/office/drawing/2014/main" id="{62828A6D-63E3-FB46-BBB6-59D26F60D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52" name="Line 20">
                <a:extLst>
                  <a:ext uri="{FF2B5EF4-FFF2-40B4-BE49-F238E27FC236}">
                    <a16:creationId xmlns:a16="http://schemas.microsoft.com/office/drawing/2014/main" id="{040D80B2-E95B-3845-BB9C-92E54240B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3" name="Line 21">
                <a:extLst>
                  <a:ext uri="{FF2B5EF4-FFF2-40B4-BE49-F238E27FC236}">
                    <a16:creationId xmlns:a16="http://schemas.microsoft.com/office/drawing/2014/main" id="{DF0B49F2-C62E-264E-91E8-52D60C37C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4" name="Line 22">
                <a:extLst>
                  <a:ext uri="{FF2B5EF4-FFF2-40B4-BE49-F238E27FC236}">
                    <a16:creationId xmlns:a16="http://schemas.microsoft.com/office/drawing/2014/main" id="{3C09CC15-C1CE-3348-AEDA-C41AC0540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5" name="Group 23">
              <a:extLst>
                <a:ext uri="{FF2B5EF4-FFF2-40B4-BE49-F238E27FC236}">
                  <a16:creationId xmlns:a16="http://schemas.microsoft.com/office/drawing/2014/main" id="{7A73793D-7BEB-E749-B1E4-9A39473D6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1048" name="Rectangle 24">
                <a:extLst>
                  <a:ext uri="{FF2B5EF4-FFF2-40B4-BE49-F238E27FC236}">
                    <a16:creationId xmlns:a16="http://schemas.microsoft.com/office/drawing/2014/main" id="{32709A08-3516-2C44-A803-C7CA5E773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49" name="Line 25">
                <a:extLst>
                  <a:ext uri="{FF2B5EF4-FFF2-40B4-BE49-F238E27FC236}">
                    <a16:creationId xmlns:a16="http://schemas.microsoft.com/office/drawing/2014/main" id="{399E8869-CED7-8341-BA81-AE39230F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0" name="Line 26">
                <a:extLst>
                  <a:ext uri="{FF2B5EF4-FFF2-40B4-BE49-F238E27FC236}">
                    <a16:creationId xmlns:a16="http://schemas.microsoft.com/office/drawing/2014/main" id="{84713794-2343-3F47-8BB6-BA51D83D6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6" name="Group 27">
              <a:extLst>
                <a:ext uri="{FF2B5EF4-FFF2-40B4-BE49-F238E27FC236}">
                  <a16:creationId xmlns:a16="http://schemas.microsoft.com/office/drawing/2014/main" id="{5A7E38F1-41A2-2A46-96DF-5C629AC53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1043" name="Rectangle 28">
                <a:extLst>
                  <a:ext uri="{FF2B5EF4-FFF2-40B4-BE49-F238E27FC236}">
                    <a16:creationId xmlns:a16="http://schemas.microsoft.com/office/drawing/2014/main" id="{15ADB3CE-CF23-6642-9EB3-0FC3B35D4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44" name="Line 29">
                <a:extLst>
                  <a:ext uri="{FF2B5EF4-FFF2-40B4-BE49-F238E27FC236}">
                    <a16:creationId xmlns:a16="http://schemas.microsoft.com/office/drawing/2014/main" id="{61F861EB-0C87-1D4E-9023-830C490A61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5" name="Line 30">
                <a:extLst>
                  <a:ext uri="{FF2B5EF4-FFF2-40B4-BE49-F238E27FC236}">
                    <a16:creationId xmlns:a16="http://schemas.microsoft.com/office/drawing/2014/main" id="{6F97F525-C4CA-A84E-A4E2-7A0E9F431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6" name="Line 31">
                <a:extLst>
                  <a:ext uri="{FF2B5EF4-FFF2-40B4-BE49-F238E27FC236}">
                    <a16:creationId xmlns:a16="http://schemas.microsoft.com/office/drawing/2014/main" id="{1A644614-80F5-4442-9EA4-492EFCE44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7" name="Line 32">
                <a:extLst>
                  <a:ext uri="{FF2B5EF4-FFF2-40B4-BE49-F238E27FC236}">
                    <a16:creationId xmlns:a16="http://schemas.microsoft.com/office/drawing/2014/main" id="{6B2DCD8D-8E5B-6B48-8781-28765839D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7" name="Group 33">
              <a:extLst>
                <a:ext uri="{FF2B5EF4-FFF2-40B4-BE49-F238E27FC236}">
                  <a16:creationId xmlns:a16="http://schemas.microsoft.com/office/drawing/2014/main" id="{6D682E3A-E1BE-6449-9E22-93DB91207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1039" name="Rectangle 34">
                <a:extLst>
                  <a:ext uri="{FF2B5EF4-FFF2-40B4-BE49-F238E27FC236}">
                    <a16:creationId xmlns:a16="http://schemas.microsoft.com/office/drawing/2014/main" id="{4F231038-B614-3B40-88F1-F35B044CA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40" name="Line 35">
                <a:extLst>
                  <a:ext uri="{FF2B5EF4-FFF2-40B4-BE49-F238E27FC236}">
                    <a16:creationId xmlns:a16="http://schemas.microsoft.com/office/drawing/2014/main" id="{F6467827-776D-0047-9BB6-552C6CFCDB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1" name="Line 36">
                <a:extLst>
                  <a:ext uri="{FF2B5EF4-FFF2-40B4-BE49-F238E27FC236}">
                    <a16:creationId xmlns:a16="http://schemas.microsoft.com/office/drawing/2014/main" id="{5393DDF5-6B3D-5C4F-998B-EC846C9F8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2" name="Line 37">
                <a:extLst>
                  <a:ext uri="{FF2B5EF4-FFF2-40B4-BE49-F238E27FC236}">
                    <a16:creationId xmlns:a16="http://schemas.microsoft.com/office/drawing/2014/main" id="{D52B766E-CAAD-A24D-A982-80DC9A6A06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78" name="Line 38">
              <a:extLst>
                <a:ext uri="{FF2B5EF4-FFF2-40B4-BE49-F238E27FC236}">
                  <a16:creationId xmlns:a16="http://schemas.microsoft.com/office/drawing/2014/main" id="{FBFAD61B-28AC-474A-A001-EE9BAE0CF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Line 39">
              <a:extLst>
                <a:ext uri="{FF2B5EF4-FFF2-40B4-BE49-F238E27FC236}">
                  <a16:creationId xmlns:a16="http://schemas.microsoft.com/office/drawing/2014/main" id="{9FA912A0-72C2-5D4A-81B2-792F6A899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Line 40">
              <a:extLst>
                <a:ext uri="{FF2B5EF4-FFF2-40B4-BE49-F238E27FC236}">
                  <a16:creationId xmlns:a16="http://schemas.microsoft.com/office/drawing/2014/main" id="{76F76D55-E300-544D-AA3C-6024AA2F2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Line 41">
              <a:extLst>
                <a:ext uri="{FF2B5EF4-FFF2-40B4-BE49-F238E27FC236}">
                  <a16:creationId xmlns:a16="http://schemas.microsoft.com/office/drawing/2014/main" id="{4DEC21D1-A554-104C-97C8-75E077EB2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Line 42">
              <a:extLst>
                <a:ext uri="{FF2B5EF4-FFF2-40B4-BE49-F238E27FC236}">
                  <a16:creationId xmlns:a16="http://schemas.microsoft.com/office/drawing/2014/main" id="{A960EBA9-7EE6-844C-A6DB-1FCD44038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Rectangle 43">
              <a:extLst>
                <a:ext uri="{FF2B5EF4-FFF2-40B4-BE49-F238E27FC236}">
                  <a16:creationId xmlns:a16="http://schemas.microsoft.com/office/drawing/2014/main" id="{0C9191C9-0285-6C4E-965B-33D9C1CBA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984" name="Rectangle 44">
              <a:extLst>
                <a:ext uri="{FF2B5EF4-FFF2-40B4-BE49-F238E27FC236}">
                  <a16:creationId xmlns:a16="http://schemas.microsoft.com/office/drawing/2014/main" id="{D8CB7616-E104-7448-9D3C-8533C7B45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985" name="Line 45">
              <a:extLst>
                <a:ext uri="{FF2B5EF4-FFF2-40B4-BE49-F238E27FC236}">
                  <a16:creationId xmlns:a16="http://schemas.microsoft.com/office/drawing/2014/main" id="{972B27BD-32E1-2043-B061-78562EDE87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Line 46">
              <a:extLst>
                <a:ext uri="{FF2B5EF4-FFF2-40B4-BE49-F238E27FC236}">
                  <a16:creationId xmlns:a16="http://schemas.microsoft.com/office/drawing/2014/main" id="{B72B41CB-B911-634D-BFA0-E67E1AA67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Line 47">
              <a:extLst>
                <a:ext uri="{FF2B5EF4-FFF2-40B4-BE49-F238E27FC236}">
                  <a16:creationId xmlns:a16="http://schemas.microsoft.com/office/drawing/2014/main" id="{9E3DD911-BDEF-A14D-852D-6E121E66CB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Line 48">
              <a:extLst>
                <a:ext uri="{FF2B5EF4-FFF2-40B4-BE49-F238E27FC236}">
                  <a16:creationId xmlns:a16="http://schemas.microsoft.com/office/drawing/2014/main" id="{C3ACF46F-0D53-B845-A0E9-F46314CBD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Line 49">
              <a:extLst>
                <a:ext uri="{FF2B5EF4-FFF2-40B4-BE49-F238E27FC236}">
                  <a16:creationId xmlns:a16="http://schemas.microsoft.com/office/drawing/2014/main" id="{5A038545-9422-9B45-95F1-862895CF4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Line 50">
              <a:extLst>
                <a:ext uri="{FF2B5EF4-FFF2-40B4-BE49-F238E27FC236}">
                  <a16:creationId xmlns:a16="http://schemas.microsoft.com/office/drawing/2014/main" id="{4B24DEFD-F9A0-FC46-B1C3-67860D4038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Line 51">
              <a:extLst>
                <a:ext uri="{FF2B5EF4-FFF2-40B4-BE49-F238E27FC236}">
                  <a16:creationId xmlns:a16="http://schemas.microsoft.com/office/drawing/2014/main" id="{C033A3DA-59F7-7140-B9B0-4B1A09D5E7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Line 52">
              <a:extLst>
                <a:ext uri="{FF2B5EF4-FFF2-40B4-BE49-F238E27FC236}">
                  <a16:creationId xmlns:a16="http://schemas.microsoft.com/office/drawing/2014/main" id="{18931A0E-DFB0-694C-87F6-0B1EFF044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Line 53">
              <a:extLst>
                <a:ext uri="{FF2B5EF4-FFF2-40B4-BE49-F238E27FC236}">
                  <a16:creationId xmlns:a16="http://schemas.microsoft.com/office/drawing/2014/main" id="{894A9ADF-BDE8-1E43-B14C-21F55DE082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Line 54">
              <a:extLst>
                <a:ext uri="{FF2B5EF4-FFF2-40B4-BE49-F238E27FC236}">
                  <a16:creationId xmlns:a16="http://schemas.microsoft.com/office/drawing/2014/main" id="{BE729E25-FA23-6049-BA20-A6F24962D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Line 55">
              <a:extLst>
                <a:ext uri="{FF2B5EF4-FFF2-40B4-BE49-F238E27FC236}">
                  <a16:creationId xmlns:a16="http://schemas.microsoft.com/office/drawing/2014/main" id="{9228AA3C-70BC-1A49-8FE9-FE543619B6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Line 56">
              <a:extLst>
                <a:ext uri="{FF2B5EF4-FFF2-40B4-BE49-F238E27FC236}">
                  <a16:creationId xmlns:a16="http://schemas.microsoft.com/office/drawing/2014/main" id="{42B21C04-7172-894A-B32E-A438CD64A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Line 57">
              <a:extLst>
                <a:ext uri="{FF2B5EF4-FFF2-40B4-BE49-F238E27FC236}">
                  <a16:creationId xmlns:a16="http://schemas.microsoft.com/office/drawing/2014/main" id="{89C4C298-4FAE-F249-AFFF-055D58FF1C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Line 58">
              <a:extLst>
                <a:ext uri="{FF2B5EF4-FFF2-40B4-BE49-F238E27FC236}">
                  <a16:creationId xmlns:a16="http://schemas.microsoft.com/office/drawing/2014/main" id="{6B4A1B10-0C93-164E-BFB9-56FABEFF1D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Line 59">
              <a:extLst>
                <a:ext uri="{FF2B5EF4-FFF2-40B4-BE49-F238E27FC236}">
                  <a16:creationId xmlns:a16="http://schemas.microsoft.com/office/drawing/2014/main" id="{75EB44B8-A56C-F644-A79D-005189A7AE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Line 60">
              <a:extLst>
                <a:ext uri="{FF2B5EF4-FFF2-40B4-BE49-F238E27FC236}">
                  <a16:creationId xmlns:a16="http://schemas.microsoft.com/office/drawing/2014/main" id="{66AB015B-EA25-844D-8DCE-D76DFE1CB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Line 61">
              <a:extLst>
                <a:ext uri="{FF2B5EF4-FFF2-40B4-BE49-F238E27FC236}">
                  <a16:creationId xmlns:a16="http://schemas.microsoft.com/office/drawing/2014/main" id="{C807861B-341F-F445-9CCC-B7E1708BE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Line 62">
              <a:extLst>
                <a:ext uri="{FF2B5EF4-FFF2-40B4-BE49-F238E27FC236}">
                  <a16:creationId xmlns:a16="http://schemas.microsoft.com/office/drawing/2014/main" id="{ABD7534A-AD43-A447-880A-FDD8A728F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Line 63">
              <a:extLst>
                <a:ext uri="{FF2B5EF4-FFF2-40B4-BE49-F238E27FC236}">
                  <a16:creationId xmlns:a16="http://schemas.microsoft.com/office/drawing/2014/main" id="{B31E1CC6-C46D-9948-8F71-78A740ED9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Line 64">
              <a:extLst>
                <a:ext uri="{FF2B5EF4-FFF2-40B4-BE49-F238E27FC236}">
                  <a16:creationId xmlns:a16="http://schemas.microsoft.com/office/drawing/2014/main" id="{3F04C91E-B82A-7142-B3FD-DC7EFE034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65">
              <a:extLst>
                <a:ext uri="{FF2B5EF4-FFF2-40B4-BE49-F238E27FC236}">
                  <a16:creationId xmlns:a16="http://schemas.microsoft.com/office/drawing/2014/main" id="{D75987B8-6A86-204B-84A2-C02D6883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Line 66">
              <a:extLst>
                <a:ext uri="{FF2B5EF4-FFF2-40B4-BE49-F238E27FC236}">
                  <a16:creationId xmlns:a16="http://schemas.microsoft.com/office/drawing/2014/main" id="{041C67EC-6174-F747-A1DC-793D942E3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Line 67">
              <a:extLst>
                <a:ext uri="{FF2B5EF4-FFF2-40B4-BE49-F238E27FC236}">
                  <a16:creationId xmlns:a16="http://schemas.microsoft.com/office/drawing/2014/main" id="{CDBA5F19-8147-6A47-9B22-7498F987B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Line 68">
              <a:extLst>
                <a:ext uri="{FF2B5EF4-FFF2-40B4-BE49-F238E27FC236}">
                  <a16:creationId xmlns:a16="http://schemas.microsoft.com/office/drawing/2014/main" id="{BE8CF592-5576-164D-AA69-C4BF1C526C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Line 69">
              <a:extLst>
                <a:ext uri="{FF2B5EF4-FFF2-40B4-BE49-F238E27FC236}">
                  <a16:creationId xmlns:a16="http://schemas.microsoft.com/office/drawing/2014/main" id="{3A15A9FE-485E-AE4B-8C08-7C21E7C23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Line 70">
              <a:extLst>
                <a:ext uri="{FF2B5EF4-FFF2-40B4-BE49-F238E27FC236}">
                  <a16:creationId xmlns:a16="http://schemas.microsoft.com/office/drawing/2014/main" id="{6BED930A-DF65-9B4E-B6A7-15504D73F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Line 71">
              <a:extLst>
                <a:ext uri="{FF2B5EF4-FFF2-40B4-BE49-F238E27FC236}">
                  <a16:creationId xmlns:a16="http://schemas.microsoft.com/office/drawing/2014/main" id="{1728D580-9FBE-2E43-9870-F587AB090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Line 72">
              <a:extLst>
                <a:ext uri="{FF2B5EF4-FFF2-40B4-BE49-F238E27FC236}">
                  <a16:creationId xmlns:a16="http://schemas.microsoft.com/office/drawing/2014/main" id="{C67E5F75-416D-8E43-815F-0356B9042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Text Box 73">
              <a:extLst>
                <a:ext uri="{FF2B5EF4-FFF2-40B4-BE49-F238E27FC236}">
                  <a16:creationId xmlns:a16="http://schemas.microsoft.com/office/drawing/2014/main" id="{EA23BA44-061C-6F4E-9F09-97548BC06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1014" name="Text Box 74">
              <a:extLst>
                <a:ext uri="{FF2B5EF4-FFF2-40B4-BE49-F238E27FC236}">
                  <a16:creationId xmlns:a16="http://schemas.microsoft.com/office/drawing/2014/main" id="{0F6ADB06-0BD4-C54E-A6E6-E86E3B4E1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1015" name="Line 75">
              <a:extLst>
                <a:ext uri="{FF2B5EF4-FFF2-40B4-BE49-F238E27FC236}">
                  <a16:creationId xmlns:a16="http://schemas.microsoft.com/office/drawing/2014/main" id="{FF5FB988-77EA-C643-A64D-6F90738611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Text Box 76">
              <a:extLst>
                <a:ext uri="{FF2B5EF4-FFF2-40B4-BE49-F238E27FC236}">
                  <a16:creationId xmlns:a16="http://schemas.microsoft.com/office/drawing/2014/main" id="{3C89263C-71A1-9B41-AEAD-18F255BCA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1017" name="Text Box 77">
              <a:extLst>
                <a:ext uri="{FF2B5EF4-FFF2-40B4-BE49-F238E27FC236}">
                  <a16:creationId xmlns:a16="http://schemas.microsoft.com/office/drawing/2014/main" id="{A48B199B-615D-A548-B96C-C83D08A5D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1018" name="Text Box 78">
              <a:extLst>
                <a:ext uri="{FF2B5EF4-FFF2-40B4-BE49-F238E27FC236}">
                  <a16:creationId xmlns:a16="http://schemas.microsoft.com/office/drawing/2014/main" id="{651645E0-8E51-BD4D-A386-2EB397DA8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1019" name="Text Box 79">
              <a:extLst>
                <a:ext uri="{FF2B5EF4-FFF2-40B4-BE49-F238E27FC236}">
                  <a16:creationId xmlns:a16="http://schemas.microsoft.com/office/drawing/2014/main" id="{9C3A360D-92CC-2B45-A129-0B819D24A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1020" name="Text Box 80">
              <a:extLst>
                <a:ext uri="{FF2B5EF4-FFF2-40B4-BE49-F238E27FC236}">
                  <a16:creationId xmlns:a16="http://schemas.microsoft.com/office/drawing/2014/main" id="{3D82C74B-338E-CA49-8DAE-6E1F68330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1021" name="Text Box 81">
              <a:extLst>
                <a:ext uri="{FF2B5EF4-FFF2-40B4-BE49-F238E27FC236}">
                  <a16:creationId xmlns:a16="http://schemas.microsoft.com/office/drawing/2014/main" id="{BA176534-4219-3C44-A6A6-C15D2AEF5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1022" name="Text Box 82">
              <a:extLst>
                <a:ext uri="{FF2B5EF4-FFF2-40B4-BE49-F238E27FC236}">
                  <a16:creationId xmlns:a16="http://schemas.microsoft.com/office/drawing/2014/main" id="{BCA78414-D798-FE4B-8B10-278CD6C4E6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1023" name="Text Box 83">
              <a:extLst>
                <a:ext uri="{FF2B5EF4-FFF2-40B4-BE49-F238E27FC236}">
                  <a16:creationId xmlns:a16="http://schemas.microsoft.com/office/drawing/2014/main" id="{D59E2C7A-F459-7B4E-8EF2-D6364E8B7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" y="755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1024" name="Line 84">
              <a:extLst>
                <a:ext uri="{FF2B5EF4-FFF2-40B4-BE49-F238E27FC236}">
                  <a16:creationId xmlns:a16="http://schemas.microsoft.com/office/drawing/2014/main" id="{AC8C2C99-2C68-044C-A9D7-7762249D8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Text Box 85">
              <a:extLst>
                <a:ext uri="{FF2B5EF4-FFF2-40B4-BE49-F238E27FC236}">
                  <a16:creationId xmlns:a16="http://schemas.microsoft.com/office/drawing/2014/main" id="{13EF9FDE-14D7-E54E-8CAF-DD96EC349D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1026" name="Text Box 86">
              <a:extLst>
                <a:ext uri="{FF2B5EF4-FFF2-40B4-BE49-F238E27FC236}">
                  <a16:creationId xmlns:a16="http://schemas.microsoft.com/office/drawing/2014/main" id="{7A8D443E-D35D-664B-A65D-3FF6C0AD7F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1027" name="Text Box 87">
              <a:extLst>
                <a:ext uri="{FF2B5EF4-FFF2-40B4-BE49-F238E27FC236}">
                  <a16:creationId xmlns:a16="http://schemas.microsoft.com/office/drawing/2014/main" id="{2B32C04E-A127-CD48-89CB-3AA2A4517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1028" name="Text Box 88">
              <a:extLst>
                <a:ext uri="{FF2B5EF4-FFF2-40B4-BE49-F238E27FC236}">
                  <a16:creationId xmlns:a16="http://schemas.microsoft.com/office/drawing/2014/main" id="{5191035D-588A-4C4E-9F97-1A36AFF66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1029" name="Text Box 89">
              <a:extLst>
                <a:ext uri="{FF2B5EF4-FFF2-40B4-BE49-F238E27FC236}">
                  <a16:creationId xmlns:a16="http://schemas.microsoft.com/office/drawing/2014/main" id="{BE2AF861-515F-594E-9259-DF3E7AB3B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1030" name="Text Box 90">
              <a:extLst>
                <a:ext uri="{FF2B5EF4-FFF2-40B4-BE49-F238E27FC236}">
                  <a16:creationId xmlns:a16="http://schemas.microsoft.com/office/drawing/2014/main" id="{F7E36742-EF7C-6846-B3F5-9A6375961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1031" name="Text Box 91">
              <a:extLst>
                <a:ext uri="{FF2B5EF4-FFF2-40B4-BE49-F238E27FC236}">
                  <a16:creationId xmlns:a16="http://schemas.microsoft.com/office/drawing/2014/main" id="{DC6862BD-8452-B145-9251-EB09D3C83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1032" name="Text Box 92">
              <a:extLst>
                <a:ext uri="{FF2B5EF4-FFF2-40B4-BE49-F238E27FC236}">
                  <a16:creationId xmlns:a16="http://schemas.microsoft.com/office/drawing/2014/main" id="{D445E9DB-EC4B-3B4D-B093-C53969971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1033" name="Text Box 93">
              <a:extLst>
                <a:ext uri="{FF2B5EF4-FFF2-40B4-BE49-F238E27FC236}">
                  <a16:creationId xmlns:a16="http://schemas.microsoft.com/office/drawing/2014/main" id="{C262EFE7-91D0-1B49-A5D7-FDB829B91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1034" name="Text Box 94">
              <a:extLst>
                <a:ext uri="{FF2B5EF4-FFF2-40B4-BE49-F238E27FC236}">
                  <a16:creationId xmlns:a16="http://schemas.microsoft.com/office/drawing/2014/main" id="{B742513A-0898-6F4D-9E7F-BF797F48D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1035" name="Text Box 95">
              <a:extLst>
                <a:ext uri="{FF2B5EF4-FFF2-40B4-BE49-F238E27FC236}">
                  <a16:creationId xmlns:a16="http://schemas.microsoft.com/office/drawing/2014/main" id="{A063AA65-7FFB-374E-A7A4-E81E47AD9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1036" name="Text Box 96">
              <a:extLst>
                <a:ext uri="{FF2B5EF4-FFF2-40B4-BE49-F238E27FC236}">
                  <a16:creationId xmlns:a16="http://schemas.microsoft.com/office/drawing/2014/main" id="{AA2E2B16-388F-A648-8BF8-6028C61D4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1037" name="Text Box 97">
              <a:extLst>
                <a:ext uri="{FF2B5EF4-FFF2-40B4-BE49-F238E27FC236}">
                  <a16:creationId xmlns:a16="http://schemas.microsoft.com/office/drawing/2014/main" id="{DB09DA72-D2F2-0B42-87D5-C45B7B49D9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1038" name="Text Box 98">
              <a:extLst>
                <a:ext uri="{FF2B5EF4-FFF2-40B4-BE49-F238E27FC236}">
                  <a16:creationId xmlns:a16="http://schemas.microsoft.com/office/drawing/2014/main" id="{C3E8C141-7A48-8747-80B1-128F7C5ECC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0963" name="Rectangle 99">
            <a:extLst>
              <a:ext uri="{FF2B5EF4-FFF2-40B4-BE49-F238E27FC236}">
                <a16:creationId xmlns:a16="http://schemas.microsoft.com/office/drawing/2014/main" id="{AF50DF98-604B-E14D-820E-5876DE2AC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776538"/>
            <a:ext cx="854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LD    F0 &lt;-</a:t>
            </a:r>
          </a:p>
        </p:txBody>
      </p:sp>
      <p:sp>
        <p:nvSpPr>
          <p:cNvPr id="40964" name="Rectangle 100">
            <a:extLst>
              <a:ext uri="{FF2B5EF4-FFF2-40B4-BE49-F238E27FC236}">
                <a16:creationId xmlns:a16="http://schemas.microsoft.com/office/drawing/2014/main" id="{6D2B4721-7C2F-FA40-9F81-32245B13F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547938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0965" name="Rectangle 101">
            <a:extLst>
              <a:ext uri="{FF2B5EF4-FFF2-40B4-BE49-F238E27FC236}">
                <a16:creationId xmlns:a16="http://schemas.microsoft.com/office/drawing/2014/main" id="{265C22CD-B2FE-7E45-8AE9-29CED9212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286000"/>
            <a:ext cx="854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LD    F0 &lt;-</a:t>
            </a:r>
          </a:p>
        </p:txBody>
      </p:sp>
      <p:sp>
        <p:nvSpPr>
          <p:cNvPr id="40966" name="Rectangle 102">
            <a:extLst>
              <a:ext uri="{FF2B5EF4-FFF2-40B4-BE49-F238E27FC236}">
                <a16:creationId xmlns:a16="http://schemas.microsoft.com/office/drawing/2014/main" id="{88C25CB7-41A6-0845-8DFF-601790355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090738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0967" name="Text Box 103">
            <a:extLst>
              <a:ext uri="{FF2B5EF4-FFF2-40B4-BE49-F238E27FC236}">
                <a16:creationId xmlns:a16="http://schemas.microsoft.com/office/drawing/2014/main" id="{7B6F65D8-CDF3-3743-B26A-79A9F875C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7432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0968" name="Text Box 104">
            <a:extLst>
              <a:ext uri="{FF2B5EF4-FFF2-40B4-BE49-F238E27FC236}">
                <a16:creationId xmlns:a16="http://schemas.microsoft.com/office/drawing/2014/main" id="{76A818ED-B253-AF40-95F5-E12AEB912E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5146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0969" name="Text Box 105">
            <a:extLst>
              <a:ext uri="{FF2B5EF4-FFF2-40B4-BE49-F238E27FC236}">
                <a16:creationId xmlns:a16="http://schemas.microsoft.com/office/drawing/2014/main" id="{E9210819-76C1-7642-A7B3-1BEDBFABD8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2860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  <p:sp>
        <p:nvSpPr>
          <p:cNvPr id="40970" name="Text Box 106">
            <a:extLst>
              <a:ext uri="{FF2B5EF4-FFF2-40B4-BE49-F238E27FC236}">
                <a16:creationId xmlns:a16="http://schemas.microsoft.com/office/drawing/2014/main" id="{11CC2A33-438B-D848-AB3A-5F53E5F7D8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574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0971" name="Text Box 107">
            <a:extLst>
              <a:ext uri="{FF2B5EF4-FFF2-40B4-BE49-F238E27FC236}">
                <a16:creationId xmlns:a16="http://schemas.microsoft.com/office/drawing/2014/main" id="{8FAAFC4C-3FF1-2943-968E-DAFAFC3AC6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923F6F9B-221E-A8C4-805A-620FFB9F6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06" y="871304"/>
            <a:ext cx="20574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F6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Rectangle 2">
            <a:extLst>
              <a:ext uri="{FF2B5EF4-FFF2-40B4-BE49-F238E27FC236}">
                <a16:creationId xmlns:a16="http://schemas.microsoft.com/office/drawing/2014/main" id="{6FC47857-735E-104D-BF50-39FB42701BE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(2)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FDE1AC5B-74CC-F842-82D1-B212DD750CBA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1997" name="Group 4">
              <a:extLst>
                <a:ext uri="{FF2B5EF4-FFF2-40B4-BE49-F238E27FC236}">
                  <a16:creationId xmlns:a16="http://schemas.microsoft.com/office/drawing/2014/main" id="{1C7CA2E1-87FD-6A4D-895C-CC7404ABEF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2086" name="Rectangle 5">
                <a:extLst>
                  <a:ext uri="{FF2B5EF4-FFF2-40B4-BE49-F238E27FC236}">
                    <a16:creationId xmlns:a16="http://schemas.microsoft.com/office/drawing/2014/main" id="{55BCCC6E-AA3A-764D-BEED-1842C7F3F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87" name="Line 6">
                <a:extLst>
                  <a:ext uri="{FF2B5EF4-FFF2-40B4-BE49-F238E27FC236}">
                    <a16:creationId xmlns:a16="http://schemas.microsoft.com/office/drawing/2014/main" id="{08564D92-DFDA-1043-80A7-5BC1593EFD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Line 7">
                <a:extLst>
                  <a:ext uri="{FF2B5EF4-FFF2-40B4-BE49-F238E27FC236}">
                    <a16:creationId xmlns:a16="http://schemas.microsoft.com/office/drawing/2014/main" id="{94560C44-C89F-6D48-BF65-F624AF71F4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Line 8">
                <a:extLst>
                  <a:ext uri="{FF2B5EF4-FFF2-40B4-BE49-F238E27FC236}">
                    <a16:creationId xmlns:a16="http://schemas.microsoft.com/office/drawing/2014/main" id="{DF18D2BB-4716-8C46-9FE8-45172AB5A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Line 9">
                <a:extLst>
                  <a:ext uri="{FF2B5EF4-FFF2-40B4-BE49-F238E27FC236}">
                    <a16:creationId xmlns:a16="http://schemas.microsoft.com/office/drawing/2014/main" id="{854763B7-10DF-B444-882B-A27700050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Line 10">
                <a:extLst>
                  <a:ext uri="{FF2B5EF4-FFF2-40B4-BE49-F238E27FC236}">
                    <a16:creationId xmlns:a16="http://schemas.microsoft.com/office/drawing/2014/main" id="{DFEC08CC-1663-424B-B33C-BCFB01ECB0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998" name="Group 11">
              <a:extLst>
                <a:ext uri="{FF2B5EF4-FFF2-40B4-BE49-F238E27FC236}">
                  <a16:creationId xmlns:a16="http://schemas.microsoft.com/office/drawing/2014/main" id="{1500123A-F5C7-2C43-977B-671484B334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2080" name="Rectangle 12">
                <a:extLst>
                  <a:ext uri="{FF2B5EF4-FFF2-40B4-BE49-F238E27FC236}">
                    <a16:creationId xmlns:a16="http://schemas.microsoft.com/office/drawing/2014/main" id="{B17C7521-E6F4-E54B-B38B-1DD9A9F94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81" name="Line 13">
                <a:extLst>
                  <a:ext uri="{FF2B5EF4-FFF2-40B4-BE49-F238E27FC236}">
                    <a16:creationId xmlns:a16="http://schemas.microsoft.com/office/drawing/2014/main" id="{96831A4F-C4D3-A340-9E03-C9A53B5A0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Line 14">
                <a:extLst>
                  <a:ext uri="{FF2B5EF4-FFF2-40B4-BE49-F238E27FC236}">
                    <a16:creationId xmlns:a16="http://schemas.microsoft.com/office/drawing/2014/main" id="{31DD6866-71E6-224F-B599-EF994DC19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Line 15">
                <a:extLst>
                  <a:ext uri="{FF2B5EF4-FFF2-40B4-BE49-F238E27FC236}">
                    <a16:creationId xmlns:a16="http://schemas.microsoft.com/office/drawing/2014/main" id="{30C2E06B-94D7-6F49-AE93-E8C8FF52B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Line 16">
                <a:extLst>
                  <a:ext uri="{FF2B5EF4-FFF2-40B4-BE49-F238E27FC236}">
                    <a16:creationId xmlns:a16="http://schemas.microsoft.com/office/drawing/2014/main" id="{4DD02D53-AA34-6D44-A44B-6CAF4B845D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Line 17">
                <a:extLst>
                  <a:ext uri="{FF2B5EF4-FFF2-40B4-BE49-F238E27FC236}">
                    <a16:creationId xmlns:a16="http://schemas.microsoft.com/office/drawing/2014/main" id="{98AE3EA2-ED6F-5E41-BD5B-340A8E7AC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999" name="Group 18">
              <a:extLst>
                <a:ext uri="{FF2B5EF4-FFF2-40B4-BE49-F238E27FC236}">
                  <a16:creationId xmlns:a16="http://schemas.microsoft.com/office/drawing/2014/main" id="{17105E73-7201-7246-AA3E-008835ABE7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2076" name="Rectangle 19">
                <a:extLst>
                  <a:ext uri="{FF2B5EF4-FFF2-40B4-BE49-F238E27FC236}">
                    <a16:creationId xmlns:a16="http://schemas.microsoft.com/office/drawing/2014/main" id="{C7D5780B-BE3A-8F4F-B975-0B136147C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77" name="Line 20">
                <a:extLst>
                  <a:ext uri="{FF2B5EF4-FFF2-40B4-BE49-F238E27FC236}">
                    <a16:creationId xmlns:a16="http://schemas.microsoft.com/office/drawing/2014/main" id="{AFA91BBB-F6B4-BD41-873D-E6559A3CC7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Line 21">
                <a:extLst>
                  <a:ext uri="{FF2B5EF4-FFF2-40B4-BE49-F238E27FC236}">
                    <a16:creationId xmlns:a16="http://schemas.microsoft.com/office/drawing/2014/main" id="{781F28B6-D94E-0F4B-B19B-A00E2142D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Line 22">
                <a:extLst>
                  <a:ext uri="{FF2B5EF4-FFF2-40B4-BE49-F238E27FC236}">
                    <a16:creationId xmlns:a16="http://schemas.microsoft.com/office/drawing/2014/main" id="{722513AF-D613-7840-90AB-831A52B966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00" name="Group 23">
              <a:extLst>
                <a:ext uri="{FF2B5EF4-FFF2-40B4-BE49-F238E27FC236}">
                  <a16:creationId xmlns:a16="http://schemas.microsoft.com/office/drawing/2014/main" id="{E944808E-604B-344B-848D-20B90ADC8F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2073" name="Rectangle 24">
                <a:extLst>
                  <a:ext uri="{FF2B5EF4-FFF2-40B4-BE49-F238E27FC236}">
                    <a16:creationId xmlns:a16="http://schemas.microsoft.com/office/drawing/2014/main" id="{916D8EC9-9584-904A-BEC4-ADD2F9F94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74" name="Line 25">
                <a:extLst>
                  <a:ext uri="{FF2B5EF4-FFF2-40B4-BE49-F238E27FC236}">
                    <a16:creationId xmlns:a16="http://schemas.microsoft.com/office/drawing/2014/main" id="{C1B33CE0-64DA-F541-9B40-3BA2341236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Line 26">
                <a:extLst>
                  <a:ext uri="{FF2B5EF4-FFF2-40B4-BE49-F238E27FC236}">
                    <a16:creationId xmlns:a16="http://schemas.microsoft.com/office/drawing/2014/main" id="{86D9531D-05DE-E744-90D3-200477BCB0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01" name="Group 27">
              <a:extLst>
                <a:ext uri="{FF2B5EF4-FFF2-40B4-BE49-F238E27FC236}">
                  <a16:creationId xmlns:a16="http://schemas.microsoft.com/office/drawing/2014/main" id="{55053363-A2FE-AE4C-A868-56516BE7A3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2068" name="Rectangle 28">
                <a:extLst>
                  <a:ext uri="{FF2B5EF4-FFF2-40B4-BE49-F238E27FC236}">
                    <a16:creationId xmlns:a16="http://schemas.microsoft.com/office/drawing/2014/main" id="{1E5D5CC7-357B-014D-867A-081296D2D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69" name="Line 29">
                <a:extLst>
                  <a:ext uri="{FF2B5EF4-FFF2-40B4-BE49-F238E27FC236}">
                    <a16:creationId xmlns:a16="http://schemas.microsoft.com/office/drawing/2014/main" id="{5FEEA685-2281-0147-9B9E-1959399DA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Line 30">
                <a:extLst>
                  <a:ext uri="{FF2B5EF4-FFF2-40B4-BE49-F238E27FC236}">
                    <a16:creationId xmlns:a16="http://schemas.microsoft.com/office/drawing/2014/main" id="{9CD4B469-55E8-1E4D-A7A0-E9B737FF1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Line 31">
                <a:extLst>
                  <a:ext uri="{FF2B5EF4-FFF2-40B4-BE49-F238E27FC236}">
                    <a16:creationId xmlns:a16="http://schemas.microsoft.com/office/drawing/2014/main" id="{714D8321-992D-9944-8777-D3ADC528E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Line 32">
                <a:extLst>
                  <a:ext uri="{FF2B5EF4-FFF2-40B4-BE49-F238E27FC236}">
                    <a16:creationId xmlns:a16="http://schemas.microsoft.com/office/drawing/2014/main" id="{336D4B68-88DB-824F-875A-861B4B978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02" name="Group 33">
              <a:extLst>
                <a:ext uri="{FF2B5EF4-FFF2-40B4-BE49-F238E27FC236}">
                  <a16:creationId xmlns:a16="http://schemas.microsoft.com/office/drawing/2014/main" id="{8555016A-773E-A647-AF12-9FD9C2F0BD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2064" name="Rectangle 34">
                <a:extLst>
                  <a:ext uri="{FF2B5EF4-FFF2-40B4-BE49-F238E27FC236}">
                    <a16:creationId xmlns:a16="http://schemas.microsoft.com/office/drawing/2014/main" id="{D7081A22-15EB-BF4D-B033-35A60EE94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65" name="Line 35">
                <a:extLst>
                  <a:ext uri="{FF2B5EF4-FFF2-40B4-BE49-F238E27FC236}">
                    <a16:creationId xmlns:a16="http://schemas.microsoft.com/office/drawing/2014/main" id="{6EB82D58-A24F-DF48-A10B-E6B7A1D6AC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Line 36">
                <a:extLst>
                  <a:ext uri="{FF2B5EF4-FFF2-40B4-BE49-F238E27FC236}">
                    <a16:creationId xmlns:a16="http://schemas.microsoft.com/office/drawing/2014/main" id="{B2B26F77-B5EE-754A-8FC6-C70A33FA8B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Line 37">
                <a:extLst>
                  <a:ext uri="{FF2B5EF4-FFF2-40B4-BE49-F238E27FC236}">
                    <a16:creationId xmlns:a16="http://schemas.microsoft.com/office/drawing/2014/main" id="{17DC67EE-C2CE-7848-880A-11F1C370BB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003" name="Line 38">
              <a:extLst>
                <a:ext uri="{FF2B5EF4-FFF2-40B4-BE49-F238E27FC236}">
                  <a16:creationId xmlns:a16="http://schemas.microsoft.com/office/drawing/2014/main" id="{9CDD2473-DFDA-B24A-A13E-7D67C261BD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Line 39">
              <a:extLst>
                <a:ext uri="{FF2B5EF4-FFF2-40B4-BE49-F238E27FC236}">
                  <a16:creationId xmlns:a16="http://schemas.microsoft.com/office/drawing/2014/main" id="{30409261-9B10-1540-B960-16E1535CB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Line 40">
              <a:extLst>
                <a:ext uri="{FF2B5EF4-FFF2-40B4-BE49-F238E27FC236}">
                  <a16:creationId xmlns:a16="http://schemas.microsoft.com/office/drawing/2014/main" id="{C2B56F65-4977-7C4D-B8DB-2FC03FA30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Line 41">
              <a:extLst>
                <a:ext uri="{FF2B5EF4-FFF2-40B4-BE49-F238E27FC236}">
                  <a16:creationId xmlns:a16="http://schemas.microsoft.com/office/drawing/2014/main" id="{158910E0-E687-C04B-AFBB-6B40FC812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Line 42">
              <a:extLst>
                <a:ext uri="{FF2B5EF4-FFF2-40B4-BE49-F238E27FC236}">
                  <a16:creationId xmlns:a16="http://schemas.microsoft.com/office/drawing/2014/main" id="{869C05E8-70C4-804F-951B-B5EF568DF4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Rectangle 43">
              <a:extLst>
                <a:ext uri="{FF2B5EF4-FFF2-40B4-BE49-F238E27FC236}">
                  <a16:creationId xmlns:a16="http://schemas.microsoft.com/office/drawing/2014/main" id="{413E6DC9-39B3-0846-9244-744A31FB2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009" name="Rectangle 44">
              <a:extLst>
                <a:ext uri="{FF2B5EF4-FFF2-40B4-BE49-F238E27FC236}">
                  <a16:creationId xmlns:a16="http://schemas.microsoft.com/office/drawing/2014/main" id="{7D458499-1C8D-1E46-8FA3-13A6729F6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010" name="Line 45">
              <a:extLst>
                <a:ext uri="{FF2B5EF4-FFF2-40B4-BE49-F238E27FC236}">
                  <a16:creationId xmlns:a16="http://schemas.microsoft.com/office/drawing/2014/main" id="{A0741377-AC8E-F441-B05F-FD04AA1B6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46">
              <a:extLst>
                <a:ext uri="{FF2B5EF4-FFF2-40B4-BE49-F238E27FC236}">
                  <a16:creationId xmlns:a16="http://schemas.microsoft.com/office/drawing/2014/main" id="{45CFE280-02FB-DA40-A9D7-EE270A96B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47">
              <a:extLst>
                <a:ext uri="{FF2B5EF4-FFF2-40B4-BE49-F238E27FC236}">
                  <a16:creationId xmlns:a16="http://schemas.microsoft.com/office/drawing/2014/main" id="{3D3D0FDC-3206-A54C-9E2F-183B33733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Line 48">
              <a:extLst>
                <a:ext uri="{FF2B5EF4-FFF2-40B4-BE49-F238E27FC236}">
                  <a16:creationId xmlns:a16="http://schemas.microsoft.com/office/drawing/2014/main" id="{3AD1B3FE-D198-1A41-A281-0261570EA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Line 49">
              <a:extLst>
                <a:ext uri="{FF2B5EF4-FFF2-40B4-BE49-F238E27FC236}">
                  <a16:creationId xmlns:a16="http://schemas.microsoft.com/office/drawing/2014/main" id="{C33F5F5A-26C5-F34A-B0F4-33CCC2FFA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Line 50">
              <a:extLst>
                <a:ext uri="{FF2B5EF4-FFF2-40B4-BE49-F238E27FC236}">
                  <a16:creationId xmlns:a16="http://schemas.microsoft.com/office/drawing/2014/main" id="{954810E9-C33B-A747-83D6-04F1C5CAAF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Line 51">
              <a:extLst>
                <a:ext uri="{FF2B5EF4-FFF2-40B4-BE49-F238E27FC236}">
                  <a16:creationId xmlns:a16="http://schemas.microsoft.com/office/drawing/2014/main" id="{B1112E02-73B3-1E44-A5C7-B4FF7A91D8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Line 52">
              <a:extLst>
                <a:ext uri="{FF2B5EF4-FFF2-40B4-BE49-F238E27FC236}">
                  <a16:creationId xmlns:a16="http://schemas.microsoft.com/office/drawing/2014/main" id="{4C83A3E9-8DDE-1848-85C6-3A0B3508C6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Line 53">
              <a:extLst>
                <a:ext uri="{FF2B5EF4-FFF2-40B4-BE49-F238E27FC236}">
                  <a16:creationId xmlns:a16="http://schemas.microsoft.com/office/drawing/2014/main" id="{A6281C29-1328-5E4A-BF84-213500D27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Line 54">
              <a:extLst>
                <a:ext uri="{FF2B5EF4-FFF2-40B4-BE49-F238E27FC236}">
                  <a16:creationId xmlns:a16="http://schemas.microsoft.com/office/drawing/2014/main" id="{C6BDEC02-823D-3F4E-8204-FA6C1D3BA5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Line 55">
              <a:extLst>
                <a:ext uri="{FF2B5EF4-FFF2-40B4-BE49-F238E27FC236}">
                  <a16:creationId xmlns:a16="http://schemas.microsoft.com/office/drawing/2014/main" id="{A96CD17F-CB60-5D4C-B0C2-891C0AFE8E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Line 56">
              <a:extLst>
                <a:ext uri="{FF2B5EF4-FFF2-40B4-BE49-F238E27FC236}">
                  <a16:creationId xmlns:a16="http://schemas.microsoft.com/office/drawing/2014/main" id="{0E5C53C0-442E-1049-869B-A3B70478E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Line 57">
              <a:extLst>
                <a:ext uri="{FF2B5EF4-FFF2-40B4-BE49-F238E27FC236}">
                  <a16:creationId xmlns:a16="http://schemas.microsoft.com/office/drawing/2014/main" id="{80BE348E-1795-B847-9DBC-BFC77292B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Line 58">
              <a:extLst>
                <a:ext uri="{FF2B5EF4-FFF2-40B4-BE49-F238E27FC236}">
                  <a16:creationId xmlns:a16="http://schemas.microsoft.com/office/drawing/2014/main" id="{A5F7FE67-2882-6E49-BCE3-0BB68C6B91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Line 59">
              <a:extLst>
                <a:ext uri="{FF2B5EF4-FFF2-40B4-BE49-F238E27FC236}">
                  <a16:creationId xmlns:a16="http://schemas.microsoft.com/office/drawing/2014/main" id="{2DE28169-BFA8-B343-A493-3C20D1D74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Line 60">
              <a:extLst>
                <a:ext uri="{FF2B5EF4-FFF2-40B4-BE49-F238E27FC236}">
                  <a16:creationId xmlns:a16="http://schemas.microsoft.com/office/drawing/2014/main" id="{081707AA-76F6-DD46-8E09-B9FF97525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Line 61">
              <a:extLst>
                <a:ext uri="{FF2B5EF4-FFF2-40B4-BE49-F238E27FC236}">
                  <a16:creationId xmlns:a16="http://schemas.microsoft.com/office/drawing/2014/main" id="{7D56CCC5-57C4-B945-BDC7-ED8A6467B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Line 62">
              <a:extLst>
                <a:ext uri="{FF2B5EF4-FFF2-40B4-BE49-F238E27FC236}">
                  <a16:creationId xmlns:a16="http://schemas.microsoft.com/office/drawing/2014/main" id="{E4171B61-3AD9-4141-81F1-A2EE70C9BD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Line 63">
              <a:extLst>
                <a:ext uri="{FF2B5EF4-FFF2-40B4-BE49-F238E27FC236}">
                  <a16:creationId xmlns:a16="http://schemas.microsoft.com/office/drawing/2014/main" id="{91D31930-0B17-354A-A7D1-FE6B24800E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Line 64">
              <a:extLst>
                <a:ext uri="{FF2B5EF4-FFF2-40B4-BE49-F238E27FC236}">
                  <a16:creationId xmlns:a16="http://schemas.microsoft.com/office/drawing/2014/main" id="{62A95319-0E9C-8847-9006-A49BB096B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5">
              <a:extLst>
                <a:ext uri="{FF2B5EF4-FFF2-40B4-BE49-F238E27FC236}">
                  <a16:creationId xmlns:a16="http://schemas.microsoft.com/office/drawing/2014/main" id="{7197F59A-AAF4-0E4D-A0E5-19BDFD17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Line 66">
              <a:extLst>
                <a:ext uri="{FF2B5EF4-FFF2-40B4-BE49-F238E27FC236}">
                  <a16:creationId xmlns:a16="http://schemas.microsoft.com/office/drawing/2014/main" id="{7E32920A-2C53-D644-B787-E1E7F9436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Line 67">
              <a:extLst>
                <a:ext uri="{FF2B5EF4-FFF2-40B4-BE49-F238E27FC236}">
                  <a16:creationId xmlns:a16="http://schemas.microsoft.com/office/drawing/2014/main" id="{5017AAD8-7341-7D4A-A09A-4B13AA9AA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Line 68">
              <a:extLst>
                <a:ext uri="{FF2B5EF4-FFF2-40B4-BE49-F238E27FC236}">
                  <a16:creationId xmlns:a16="http://schemas.microsoft.com/office/drawing/2014/main" id="{62A190AE-626B-BC43-91F8-332152144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Line 69">
              <a:extLst>
                <a:ext uri="{FF2B5EF4-FFF2-40B4-BE49-F238E27FC236}">
                  <a16:creationId xmlns:a16="http://schemas.microsoft.com/office/drawing/2014/main" id="{D7819F26-B3B2-FE4E-92CB-70E4A0366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Line 70">
              <a:extLst>
                <a:ext uri="{FF2B5EF4-FFF2-40B4-BE49-F238E27FC236}">
                  <a16:creationId xmlns:a16="http://schemas.microsoft.com/office/drawing/2014/main" id="{3A90887C-7777-5441-B415-E20C217DF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Line 71">
              <a:extLst>
                <a:ext uri="{FF2B5EF4-FFF2-40B4-BE49-F238E27FC236}">
                  <a16:creationId xmlns:a16="http://schemas.microsoft.com/office/drawing/2014/main" id="{ECC6086C-C698-CD4D-A0F9-E7B44621C5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Line 72">
              <a:extLst>
                <a:ext uri="{FF2B5EF4-FFF2-40B4-BE49-F238E27FC236}">
                  <a16:creationId xmlns:a16="http://schemas.microsoft.com/office/drawing/2014/main" id="{4E8B5027-AA26-444E-B630-A3D9B19C0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Text Box 73">
              <a:extLst>
                <a:ext uri="{FF2B5EF4-FFF2-40B4-BE49-F238E27FC236}">
                  <a16:creationId xmlns:a16="http://schemas.microsoft.com/office/drawing/2014/main" id="{0AEC2557-5A0F-6148-BC08-828787FB0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2039" name="Text Box 74">
              <a:extLst>
                <a:ext uri="{FF2B5EF4-FFF2-40B4-BE49-F238E27FC236}">
                  <a16:creationId xmlns:a16="http://schemas.microsoft.com/office/drawing/2014/main" id="{527C01A5-CCBE-4345-B9B8-6CB119B38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2040" name="Line 75">
              <a:extLst>
                <a:ext uri="{FF2B5EF4-FFF2-40B4-BE49-F238E27FC236}">
                  <a16:creationId xmlns:a16="http://schemas.microsoft.com/office/drawing/2014/main" id="{A32BAFBF-9CF3-FA42-A08D-9277A47195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Text Box 76">
              <a:extLst>
                <a:ext uri="{FF2B5EF4-FFF2-40B4-BE49-F238E27FC236}">
                  <a16:creationId xmlns:a16="http://schemas.microsoft.com/office/drawing/2014/main" id="{61D941A3-685F-204B-A9E8-02658BB35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2042" name="Text Box 77">
              <a:extLst>
                <a:ext uri="{FF2B5EF4-FFF2-40B4-BE49-F238E27FC236}">
                  <a16:creationId xmlns:a16="http://schemas.microsoft.com/office/drawing/2014/main" id="{7DF9A904-3636-9845-BD68-0D6B8E5B0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2043" name="Text Box 78">
              <a:extLst>
                <a:ext uri="{FF2B5EF4-FFF2-40B4-BE49-F238E27FC236}">
                  <a16:creationId xmlns:a16="http://schemas.microsoft.com/office/drawing/2014/main" id="{BB597DB6-B5DB-9446-9810-C0DA8F01D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2044" name="Text Box 79">
              <a:extLst>
                <a:ext uri="{FF2B5EF4-FFF2-40B4-BE49-F238E27FC236}">
                  <a16:creationId xmlns:a16="http://schemas.microsoft.com/office/drawing/2014/main" id="{CCA2EE41-05D6-E84F-B137-939D59EDE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2045" name="Text Box 80">
              <a:extLst>
                <a:ext uri="{FF2B5EF4-FFF2-40B4-BE49-F238E27FC236}">
                  <a16:creationId xmlns:a16="http://schemas.microsoft.com/office/drawing/2014/main" id="{24EB1A7F-D74E-414F-BCEE-56F43E1C3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2046" name="Text Box 81">
              <a:extLst>
                <a:ext uri="{FF2B5EF4-FFF2-40B4-BE49-F238E27FC236}">
                  <a16:creationId xmlns:a16="http://schemas.microsoft.com/office/drawing/2014/main" id="{22B18DB7-4FDB-164F-97E5-279959220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2047" name="Text Box 82">
              <a:extLst>
                <a:ext uri="{FF2B5EF4-FFF2-40B4-BE49-F238E27FC236}">
                  <a16:creationId xmlns:a16="http://schemas.microsoft.com/office/drawing/2014/main" id="{D058DE99-8F60-6A48-BF17-7E817203F8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2048" name="Text Box 83">
              <a:extLst>
                <a:ext uri="{FF2B5EF4-FFF2-40B4-BE49-F238E27FC236}">
                  <a16:creationId xmlns:a16="http://schemas.microsoft.com/office/drawing/2014/main" id="{C0E38CDC-3D04-7340-AD02-FEBDEA036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2049" name="Line 84">
              <a:extLst>
                <a:ext uri="{FF2B5EF4-FFF2-40B4-BE49-F238E27FC236}">
                  <a16:creationId xmlns:a16="http://schemas.microsoft.com/office/drawing/2014/main" id="{A150F133-4E6F-CA4F-B44D-92CF218C2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Text Box 85">
              <a:extLst>
                <a:ext uri="{FF2B5EF4-FFF2-40B4-BE49-F238E27FC236}">
                  <a16:creationId xmlns:a16="http://schemas.microsoft.com/office/drawing/2014/main" id="{7F2E71CF-4D69-004A-9970-7464FDD26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2051" name="Text Box 86">
              <a:extLst>
                <a:ext uri="{FF2B5EF4-FFF2-40B4-BE49-F238E27FC236}">
                  <a16:creationId xmlns:a16="http://schemas.microsoft.com/office/drawing/2014/main" id="{608368BD-FE25-AE4D-844A-140CD838B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2052" name="Text Box 87">
              <a:extLst>
                <a:ext uri="{FF2B5EF4-FFF2-40B4-BE49-F238E27FC236}">
                  <a16:creationId xmlns:a16="http://schemas.microsoft.com/office/drawing/2014/main" id="{B8434EE1-5B69-4B43-AAED-0A42C2773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2053" name="Text Box 88">
              <a:extLst>
                <a:ext uri="{FF2B5EF4-FFF2-40B4-BE49-F238E27FC236}">
                  <a16:creationId xmlns:a16="http://schemas.microsoft.com/office/drawing/2014/main" id="{8B9EA78C-1F07-2041-87F6-99F955EE9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2054" name="Text Box 89">
              <a:extLst>
                <a:ext uri="{FF2B5EF4-FFF2-40B4-BE49-F238E27FC236}">
                  <a16:creationId xmlns:a16="http://schemas.microsoft.com/office/drawing/2014/main" id="{1D1D7775-3FA3-BB49-AA74-3BEAB9AA6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2055" name="Text Box 90">
              <a:extLst>
                <a:ext uri="{FF2B5EF4-FFF2-40B4-BE49-F238E27FC236}">
                  <a16:creationId xmlns:a16="http://schemas.microsoft.com/office/drawing/2014/main" id="{DA1B6DE0-0FA5-4143-8AAE-B994D60D5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2056" name="Text Box 91">
              <a:extLst>
                <a:ext uri="{FF2B5EF4-FFF2-40B4-BE49-F238E27FC236}">
                  <a16:creationId xmlns:a16="http://schemas.microsoft.com/office/drawing/2014/main" id="{A2EA2861-BB4B-A345-BC1F-B4354395C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2057" name="Text Box 92">
              <a:extLst>
                <a:ext uri="{FF2B5EF4-FFF2-40B4-BE49-F238E27FC236}">
                  <a16:creationId xmlns:a16="http://schemas.microsoft.com/office/drawing/2014/main" id="{9028026B-C886-F346-B35E-8E6B6A0DCF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2058" name="Text Box 93">
              <a:extLst>
                <a:ext uri="{FF2B5EF4-FFF2-40B4-BE49-F238E27FC236}">
                  <a16:creationId xmlns:a16="http://schemas.microsoft.com/office/drawing/2014/main" id="{1F122D17-32E4-D242-A171-1AA71D22F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2059" name="Text Box 94">
              <a:extLst>
                <a:ext uri="{FF2B5EF4-FFF2-40B4-BE49-F238E27FC236}">
                  <a16:creationId xmlns:a16="http://schemas.microsoft.com/office/drawing/2014/main" id="{69B92813-BFB5-BA45-BD60-A8F27C5D3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2060" name="Text Box 95">
              <a:extLst>
                <a:ext uri="{FF2B5EF4-FFF2-40B4-BE49-F238E27FC236}">
                  <a16:creationId xmlns:a16="http://schemas.microsoft.com/office/drawing/2014/main" id="{4B218F81-6B36-E14D-9D8C-755AAB1281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2061" name="Text Box 96">
              <a:extLst>
                <a:ext uri="{FF2B5EF4-FFF2-40B4-BE49-F238E27FC236}">
                  <a16:creationId xmlns:a16="http://schemas.microsoft.com/office/drawing/2014/main" id="{71C16CB1-D2E2-8A4D-8CEA-F50733201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2062" name="Text Box 97">
              <a:extLst>
                <a:ext uri="{FF2B5EF4-FFF2-40B4-BE49-F238E27FC236}">
                  <a16:creationId xmlns:a16="http://schemas.microsoft.com/office/drawing/2014/main" id="{C8A432D2-7DCE-754E-8FFB-8FFEDD11C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2063" name="Text Box 98">
              <a:extLst>
                <a:ext uri="{FF2B5EF4-FFF2-40B4-BE49-F238E27FC236}">
                  <a16:creationId xmlns:a16="http://schemas.microsoft.com/office/drawing/2014/main" id="{E3DC79F5-914A-204B-A35A-2F7BB9B81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1987" name="Rectangle 99">
            <a:extLst>
              <a:ext uri="{FF2B5EF4-FFF2-40B4-BE49-F238E27FC236}">
                <a16:creationId xmlns:a16="http://schemas.microsoft.com/office/drawing/2014/main" id="{380B6F06-3482-4745-94EC-6F3A2BBC8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733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1988" name="Rectangle 100">
            <a:extLst>
              <a:ext uri="{FF2B5EF4-FFF2-40B4-BE49-F238E27FC236}">
                <a16:creationId xmlns:a16="http://schemas.microsoft.com/office/drawing/2014/main" id="{42013A6F-008D-6945-B125-0CF689AE8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743200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1989" name="Rectangle 101">
            <a:extLst>
              <a:ext uri="{FF2B5EF4-FFF2-40B4-BE49-F238E27FC236}">
                <a16:creationId xmlns:a16="http://schemas.microsoft.com/office/drawing/2014/main" id="{7D471407-5F5E-E94C-9262-37EE46153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514600"/>
            <a:ext cx="854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LD    F0 &lt;-</a:t>
            </a:r>
          </a:p>
        </p:txBody>
      </p:sp>
      <p:sp>
        <p:nvSpPr>
          <p:cNvPr id="41990" name="Rectangle 102">
            <a:extLst>
              <a:ext uri="{FF2B5EF4-FFF2-40B4-BE49-F238E27FC236}">
                <a16:creationId xmlns:a16="http://schemas.microsoft.com/office/drawing/2014/main" id="{48589944-5269-A841-AD8D-ED8615F3F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286000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1991" name="Text Box 103">
            <a:extLst>
              <a:ext uri="{FF2B5EF4-FFF2-40B4-BE49-F238E27FC236}">
                <a16:creationId xmlns:a16="http://schemas.microsoft.com/office/drawing/2014/main" id="{EA6618A5-B1DA-D54C-A647-B61717C55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7338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1992" name="Text Box 104">
            <a:extLst>
              <a:ext uri="{FF2B5EF4-FFF2-40B4-BE49-F238E27FC236}">
                <a16:creationId xmlns:a16="http://schemas.microsoft.com/office/drawing/2014/main" id="{DF4D2C4D-A16C-A349-89FE-40A590053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709863"/>
            <a:ext cx="269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1993" name="Text Box 105">
            <a:extLst>
              <a:ext uri="{FF2B5EF4-FFF2-40B4-BE49-F238E27FC236}">
                <a16:creationId xmlns:a16="http://schemas.microsoft.com/office/drawing/2014/main" id="{5852965A-5B5A-8643-8273-4D58D1DEF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5146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  <p:sp>
        <p:nvSpPr>
          <p:cNvPr id="41994" name="Text Box 106">
            <a:extLst>
              <a:ext uri="{FF2B5EF4-FFF2-40B4-BE49-F238E27FC236}">
                <a16:creationId xmlns:a16="http://schemas.microsoft.com/office/drawing/2014/main" id="{3BB05237-7F7F-4740-BDB3-A35763806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2860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1995" name="Text Box 107">
            <a:extLst>
              <a:ext uri="{FF2B5EF4-FFF2-40B4-BE49-F238E27FC236}">
                <a16:creationId xmlns:a16="http://schemas.microsoft.com/office/drawing/2014/main" id="{57C5DDD2-756E-0943-B473-53D9760BD4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1996" name="Rectangle 108">
            <a:extLst>
              <a:ext uri="{FF2B5EF4-FFF2-40B4-BE49-F238E27FC236}">
                <a16:creationId xmlns:a16="http://schemas.microsoft.com/office/drawing/2014/main" id="{08ADB32E-2B27-3040-9F73-CD33FBE60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981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934D54BA-A52E-FD8F-2809-B7259FA44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06" y="871304"/>
            <a:ext cx="20574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F6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Rectangle 2">
            <a:extLst>
              <a:ext uri="{FF2B5EF4-FFF2-40B4-BE49-F238E27FC236}">
                <a16:creationId xmlns:a16="http://schemas.microsoft.com/office/drawing/2014/main" id="{065B1C44-1135-4C4A-A14C-63C1A4F6DF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(3)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6C9C3F73-A5EF-EE4D-BDAF-22261087FB41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3022" name="Group 4">
              <a:extLst>
                <a:ext uri="{FF2B5EF4-FFF2-40B4-BE49-F238E27FC236}">
                  <a16:creationId xmlns:a16="http://schemas.microsoft.com/office/drawing/2014/main" id="{7E629EB2-99F7-E24D-8EBC-71D4788A5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3111" name="Rectangle 5">
                <a:extLst>
                  <a:ext uri="{FF2B5EF4-FFF2-40B4-BE49-F238E27FC236}">
                    <a16:creationId xmlns:a16="http://schemas.microsoft.com/office/drawing/2014/main" id="{BAFBEEC5-BBAF-344D-AE90-0899A4989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112" name="Line 6">
                <a:extLst>
                  <a:ext uri="{FF2B5EF4-FFF2-40B4-BE49-F238E27FC236}">
                    <a16:creationId xmlns:a16="http://schemas.microsoft.com/office/drawing/2014/main" id="{F7363112-CEE8-1C47-9425-236B230EF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Line 7">
                <a:extLst>
                  <a:ext uri="{FF2B5EF4-FFF2-40B4-BE49-F238E27FC236}">
                    <a16:creationId xmlns:a16="http://schemas.microsoft.com/office/drawing/2014/main" id="{39B68E6C-61F4-384A-A41E-DA71897A1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Line 8">
                <a:extLst>
                  <a:ext uri="{FF2B5EF4-FFF2-40B4-BE49-F238E27FC236}">
                    <a16:creationId xmlns:a16="http://schemas.microsoft.com/office/drawing/2014/main" id="{A1578159-0563-5B46-B2B2-9B01FDD90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Line 9">
                <a:extLst>
                  <a:ext uri="{FF2B5EF4-FFF2-40B4-BE49-F238E27FC236}">
                    <a16:creationId xmlns:a16="http://schemas.microsoft.com/office/drawing/2014/main" id="{70E83088-AD50-664B-97E6-FE2168451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Line 10">
                <a:extLst>
                  <a:ext uri="{FF2B5EF4-FFF2-40B4-BE49-F238E27FC236}">
                    <a16:creationId xmlns:a16="http://schemas.microsoft.com/office/drawing/2014/main" id="{A5A3697A-B76D-D840-85AA-C5CD39441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3" name="Group 11">
              <a:extLst>
                <a:ext uri="{FF2B5EF4-FFF2-40B4-BE49-F238E27FC236}">
                  <a16:creationId xmlns:a16="http://schemas.microsoft.com/office/drawing/2014/main" id="{44A3BC49-C1F8-2144-BA3F-E68FACC78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3105" name="Rectangle 12">
                <a:extLst>
                  <a:ext uri="{FF2B5EF4-FFF2-40B4-BE49-F238E27FC236}">
                    <a16:creationId xmlns:a16="http://schemas.microsoft.com/office/drawing/2014/main" id="{F2F18B9F-986D-2649-B5EA-17BC2CDC1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106" name="Line 13">
                <a:extLst>
                  <a:ext uri="{FF2B5EF4-FFF2-40B4-BE49-F238E27FC236}">
                    <a16:creationId xmlns:a16="http://schemas.microsoft.com/office/drawing/2014/main" id="{965CB3F3-E409-614A-A6A2-D36AF7AEC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Line 14">
                <a:extLst>
                  <a:ext uri="{FF2B5EF4-FFF2-40B4-BE49-F238E27FC236}">
                    <a16:creationId xmlns:a16="http://schemas.microsoft.com/office/drawing/2014/main" id="{0732AA5D-1081-FB46-B869-873E4AF4F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Line 15">
                <a:extLst>
                  <a:ext uri="{FF2B5EF4-FFF2-40B4-BE49-F238E27FC236}">
                    <a16:creationId xmlns:a16="http://schemas.microsoft.com/office/drawing/2014/main" id="{158CF3BF-B451-C242-A73E-F069A7F72B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Line 16">
                <a:extLst>
                  <a:ext uri="{FF2B5EF4-FFF2-40B4-BE49-F238E27FC236}">
                    <a16:creationId xmlns:a16="http://schemas.microsoft.com/office/drawing/2014/main" id="{EE9B51C3-0F46-8748-BF85-994E0601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Line 17">
                <a:extLst>
                  <a:ext uri="{FF2B5EF4-FFF2-40B4-BE49-F238E27FC236}">
                    <a16:creationId xmlns:a16="http://schemas.microsoft.com/office/drawing/2014/main" id="{0AFD475F-D3F2-524F-BBEC-1821966488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4" name="Group 18">
              <a:extLst>
                <a:ext uri="{FF2B5EF4-FFF2-40B4-BE49-F238E27FC236}">
                  <a16:creationId xmlns:a16="http://schemas.microsoft.com/office/drawing/2014/main" id="{E8A7EE32-984C-2B4D-806A-EB70D9E624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3101" name="Rectangle 19">
                <a:extLst>
                  <a:ext uri="{FF2B5EF4-FFF2-40B4-BE49-F238E27FC236}">
                    <a16:creationId xmlns:a16="http://schemas.microsoft.com/office/drawing/2014/main" id="{31FBE054-9E5F-4648-BCEA-141FD41D8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102" name="Line 20">
                <a:extLst>
                  <a:ext uri="{FF2B5EF4-FFF2-40B4-BE49-F238E27FC236}">
                    <a16:creationId xmlns:a16="http://schemas.microsoft.com/office/drawing/2014/main" id="{BFDEEB20-3A9D-304C-A544-2DA2F75ABB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103" name="Line 21">
                <a:extLst>
                  <a:ext uri="{FF2B5EF4-FFF2-40B4-BE49-F238E27FC236}">
                    <a16:creationId xmlns:a16="http://schemas.microsoft.com/office/drawing/2014/main" id="{2ACBBDB4-3832-4047-951E-C6D808ACE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Line 22">
                <a:extLst>
                  <a:ext uri="{FF2B5EF4-FFF2-40B4-BE49-F238E27FC236}">
                    <a16:creationId xmlns:a16="http://schemas.microsoft.com/office/drawing/2014/main" id="{C9EB3587-125E-3546-8D31-ED5097B5C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5" name="Group 23">
              <a:extLst>
                <a:ext uri="{FF2B5EF4-FFF2-40B4-BE49-F238E27FC236}">
                  <a16:creationId xmlns:a16="http://schemas.microsoft.com/office/drawing/2014/main" id="{4405A905-A37E-B448-A950-BC347245FA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3098" name="Rectangle 24">
                <a:extLst>
                  <a:ext uri="{FF2B5EF4-FFF2-40B4-BE49-F238E27FC236}">
                    <a16:creationId xmlns:a16="http://schemas.microsoft.com/office/drawing/2014/main" id="{CF5468D7-FCBB-214B-B33F-667802F2C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099" name="Line 25">
                <a:extLst>
                  <a:ext uri="{FF2B5EF4-FFF2-40B4-BE49-F238E27FC236}">
                    <a16:creationId xmlns:a16="http://schemas.microsoft.com/office/drawing/2014/main" id="{15705725-A01C-6D42-AD87-0F246F4DD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Line 26">
                <a:extLst>
                  <a:ext uri="{FF2B5EF4-FFF2-40B4-BE49-F238E27FC236}">
                    <a16:creationId xmlns:a16="http://schemas.microsoft.com/office/drawing/2014/main" id="{44BDCAE3-2E67-8C47-81E0-D1DEB8089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6" name="Group 27">
              <a:extLst>
                <a:ext uri="{FF2B5EF4-FFF2-40B4-BE49-F238E27FC236}">
                  <a16:creationId xmlns:a16="http://schemas.microsoft.com/office/drawing/2014/main" id="{342AA7C7-1D33-0F4B-8B95-1D83A3877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3093" name="Rectangle 28">
                <a:extLst>
                  <a:ext uri="{FF2B5EF4-FFF2-40B4-BE49-F238E27FC236}">
                    <a16:creationId xmlns:a16="http://schemas.microsoft.com/office/drawing/2014/main" id="{C294E0DC-5CF4-C545-941B-B4F4D5F72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094" name="Line 29">
                <a:extLst>
                  <a:ext uri="{FF2B5EF4-FFF2-40B4-BE49-F238E27FC236}">
                    <a16:creationId xmlns:a16="http://schemas.microsoft.com/office/drawing/2014/main" id="{2841F4C7-452B-964A-AD3B-425E677217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Line 30">
                <a:extLst>
                  <a:ext uri="{FF2B5EF4-FFF2-40B4-BE49-F238E27FC236}">
                    <a16:creationId xmlns:a16="http://schemas.microsoft.com/office/drawing/2014/main" id="{45E2CE57-591E-534D-A1A9-799EEE39A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Line 31">
                <a:extLst>
                  <a:ext uri="{FF2B5EF4-FFF2-40B4-BE49-F238E27FC236}">
                    <a16:creationId xmlns:a16="http://schemas.microsoft.com/office/drawing/2014/main" id="{0309770C-C8E6-9040-9BE1-A9C8AB6395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Line 32">
                <a:extLst>
                  <a:ext uri="{FF2B5EF4-FFF2-40B4-BE49-F238E27FC236}">
                    <a16:creationId xmlns:a16="http://schemas.microsoft.com/office/drawing/2014/main" id="{F0197C04-E6F5-314A-A3F1-D378DE0E5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7" name="Group 33">
              <a:extLst>
                <a:ext uri="{FF2B5EF4-FFF2-40B4-BE49-F238E27FC236}">
                  <a16:creationId xmlns:a16="http://schemas.microsoft.com/office/drawing/2014/main" id="{86E06B2F-30D1-6544-A25C-C71E88B6F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3089" name="Rectangle 34">
                <a:extLst>
                  <a:ext uri="{FF2B5EF4-FFF2-40B4-BE49-F238E27FC236}">
                    <a16:creationId xmlns:a16="http://schemas.microsoft.com/office/drawing/2014/main" id="{01063E2E-8E91-6240-8021-7A72C4813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090" name="Line 35">
                <a:extLst>
                  <a:ext uri="{FF2B5EF4-FFF2-40B4-BE49-F238E27FC236}">
                    <a16:creationId xmlns:a16="http://schemas.microsoft.com/office/drawing/2014/main" id="{C4EADECF-4B37-504A-95B2-7809650E7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Line 36">
                <a:extLst>
                  <a:ext uri="{FF2B5EF4-FFF2-40B4-BE49-F238E27FC236}">
                    <a16:creationId xmlns:a16="http://schemas.microsoft.com/office/drawing/2014/main" id="{BD5AAC0F-A7DA-0F4C-9045-D35204BA6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Line 37">
                <a:extLst>
                  <a:ext uri="{FF2B5EF4-FFF2-40B4-BE49-F238E27FC236}">
                    <a16:creationId xmlns:a16="http://schemas.microsoft.com/office/drawing/2014/main" id="{DDBC980A-F32C-5D4A-AD1F-A3F29B185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28" name="Line 38">
              <a:extLst>
                <a:ext uri="{FF2B5EF4-FFF2-40B4-BE49-F238E27FC236}">
                  <a16:creationId xmlns:a16="http://schemas.microsoft.com/office/drawing/2014/main" id="{0596EBA8-38B6-B247-AD11-77059415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Line 39">
              <a:extLst>
                <a:ext uri="{FF2B5EF4-FFF2-40B4-BE49-F238E27FC236}">
                  <a16:creationId xmlns:a16="http://schemas.microsoft.com/office/drawing/2014/main" id="{CA966DEF-965A-824C-A295-98C01FB196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Line 40">
              <a:extLst>
                <a:ext uri="{FF2B5EF4-FFF2-40B4-BE49-F238E27FC236}">
                  <a16:creationId xmlns:a16="http://schemas.microsoft.com/office/drawing/2014/main" id="{BF263166-2283-F841-9646-48E64DA8E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41">
              <a:extLst>
                <a:ext uri="{FF2B5EF4-FFF2-40B4-BE49-F238E27FC236}">
                  <a16:creationId xmlns:a16="http://schemas.microsoft.com/office/drawing/2014/main" id="{2FA8EF8B-FA2D-134F-BE5C-E74D0420D8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Line 42">
              <a:extLst>
                <a:ext uri="{FF2B5EF4-FFF2-40B4-BE49-F238E27FC236}">
                  <a16:creationId xmlns:a16="http://schemas.microsoft.com/office/drawing/2014/main" id="{090F6F6C-36C2-6146-BAFB-BCA70B1F9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Rectangle 43">
              <a:extLst>
                <a:ext uri="{FF2B5EF4-FFF2-40B4-BE49-F238E27FC236}">
                  <a16:creationId xmlns:a16="http://schemas.microsoft.com/office/drawing/2014/main" id="{30098F23-EB81-5E41-B872-94814B22E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034" name="Rectangle 44">
              <a:extLst>
                <a:ext uri="{FF2B5EF4-FFF2-40B4-BE49-F238E27FC236}">
                  <a16:creationId xmlns:a16="http://schemas.microsoft.com/office/drawing/2014/main" id="{DE697C7F-1656-3E4F-81E4-B88C92D0C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035" name="Line 45">
              <a:extLst>
                <a:ext uri="{FF2B5EF4-FFF2-40B4-BE49-F238E27FC236}">
                  <a16:creationId xmlns:a16="http://schemas.microsoft.com/office/drawing/2014/main" id="{5B43D3BC-EAC6-BB45-87AE-D1E097031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Line 46">
              <a:extLst>
                <a:ext uri="{FF2B5EF4-FFF2-40B4-BE49-F238E27FC236}">
                  <a16:creationId xmlns:a16="http://schemas.microsoft.com/office/drawing/2014/main" id="{5F7788EC-7509-A648-8042-ABD1C2001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Line 47">
              <a:extLst>
                <a:ext uri="{FF2B5EF4-FFF2-40B4-BE49-F238E27FC236}">
                  <a16:creationId xmlns:a16="http://schemas.microsoft.com/office/drawing/2014/main" id="{A65EE0AC-6C65-6B43-A2B3-BBE6228B2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Line 48">
              <a:extLst>
                <a:ext uri="{FF2B5EF4-FFF2-40B4-BE49-F238E27FC236}">
                  <a16:creationId xmlns:a16="http://schemas.microsoft.com/office/drawing/2014/main" id="{33EADDDF-0D52-F140-BBFB-D2CBBDCC8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Line 49">
              <a:extLst>
                <a:ext uri="{FF2B5EF4-FFF2-40B4-BE49-F238E27FC236}">
                  <a16:creationId xmlns:a16="http://schemas.microsoft.com/office/drawing/2014/main" id="{A47BEACD-BB6E-0342-BB29-A66BB1E43C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Line 50">
              <a:extLst>
                <a:ext uri="{FF2B5EF4-FFF2-40B4-BE49-F238E27FC236}">
                  <a16:creationId xmlns:a16="http://schemas.microsoft.com/office/drawing/2014/main" id="{D101D834-79CC-A74C-9B90-1CD4ABECB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Line 51">
              <a:extLst>
                <a:ext uri="{FF2B5EF4-FFF2-40B4-BE49-F238E27FC236}">
                  <a16:creationId xmlns:a16="http://schemas.microsoft.com/office/drawing/2014/main" id="{51B96FA0-EB28-6145-9F27-242FEC38C0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Line 52">
              <a:extLst>
                <a:ext uri="{FF2B5EF4-FFF2-40B4-BE49-F238E27FC236}">
                  <a16:creationId xmlns:a16="http://schemas.microsoft.com/office/drawing/2014/main" id="{2BE1FE75-99FF-EE4A-9C0E-1065D6C42A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53">
              <a:extLst>
                <a:ext uri="{FF2B5EF4-FFF2-40B4-BE49-F238E27FC236}">
                  <a16:creationId xmlns:a16="http://schemas.microsoft.com/office/drawing/2014/main" id="{3802D1E4-E606-8349-867A-2441470C5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54">
              <a:extLst>
                <a:ext uri="{FF2B5EF4-FFF2-40B4-BE49-F238E27FC236}">
                  <a16:creationId xmlns:a16="http://schemas.microsoft.com/office/drawing/2014/main" id="{ADDEF9A2-9ACF-684B-AD58-76C51E043F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Line 55">
              <a:extLst>
                <a:ext uri="{FF2B5EF4-FFF2-40B4-BE49-F238E27FC236}">
                  <a16:creationId xmlns:a16="http://schemas.microsoft.com/office/drawing/2014/main" id="{83EEC2C6-1381-D64B-B561-9093A0CA2C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Line 56">
              <a:extLst>
                <a:ext uri="{FF2B5EF4-FFF2-40B4-BE49-F238E27FC236}">
                  <a16:creationId xmlns:a16="http://schemas.microsoft.com/office/drawing/2014/main" id="{4E585B74-20F3-7342-B2A9-41A9C54E5D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Line 57">
              <a:extLst>
                <a:ext uri="{FF2B5EF4-FFF2-40B4-BE49-F238E27FC236}">
                  <a16:creationId xmlns:a16="http://schemas.microsoft.com/office/drawing/2014/main" id="{EFA255EA-3F01-4140-AEC4-D84DF95FF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Line 58">
              <a:extLst>
                <a:ext uri="{FF2B5EF4-FFF2-40B4-BE49-F238E27FC236}">
                  <a16:creationId xmlns:a16="http://schemas.microsoft.com/office/drawing/2014/main" id="{BE7B7DF9-40F3-D84B-80EF-815C59142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Line 59">
              <a:extLst>
                <a:ext uri="{FF2B5EF4-FFF2-40B4-BE49-F238E27FC236}">
                  <a16:creationId xmlns:a16="http://schemas.microsoft.com/office/drawing/2014/main" id="{53B5C18E-E56B-B442-91A9-F5B0AB48A1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Line 60">
              <a:extLst>
                <a:ext uri="{FF2B5EF4-FFF2-40B4-BE49-F238E27FC236}">
                  <a16:creationId xmlns:a16="http://schemas.microsoft.com/office/drawing/2014/main" id="{F88A39BB-D613-AF40-943C-4349BA628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Line 61">
              <a:extLst>
                <a:ext uri="{FF2B5EF4-FFF2-40B4-BE49-F238E27FC236}">
                  <a16:creationId xmlns:a16="http://schemas.microsoft.com/office/drawing/2014/main" id="{BF7A0E31-AA0F-6646-A7AF-CB1742D52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62">
              <a:extLst>
                <a:ext uri="{FF2B5EF4-FFF2-40B4-BE49-F238E27FC236}">
                  <a16:creationId xmlns:a16="http://schemas.microsoft.com/office/drawing/2014/main" id="{36F63C14-B943-F045-B1C7-53A2BBAF8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Line 63">
              <a:extLst>
                <a:ext uri="{FF2B5EF4-FFF2-40B4-BE49-F238E27FC236}">
                  <a16:creationId xmlns:a16="http://schemas.microsoft.com/office/drawing/2014/main" id="{E625D29C-6193-3E4C-87D4-70952E15E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Line 64">
              <a:extLst>
                <a:ext uri="{FF2B5EF4-FFF2-40B4-BE49-F238E27FC236}">
                  <a16:creationId xmlns:a16="http://schemas.microsoft.com/office/drawing/2014/main" id="{5FC8446B-5B75-0D41-9BC4-FAA44B5DF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5">
              <a:extLst>
                <a:ext uri="{FF2B5EF4-FFF2-40B4-BE49-F238E27FC236}">
                  <a16:creationId xmlns:a16="http://schemas.microsoft.com/office/drawing/2014/main" id="{43F1E77D-C458-9049-92A6-388174CB5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Line 66">
              <a:extLst>
                <a:ext uri="{FF2B5EF4-FFF2-40B4-BE49-F238E27FC236}">
                  <a16:creationId xmlns:a16="http://schemas.microsoft.com/office/drawing/2014/main" id="{C2115B10-C8F6-A743-81D5-D20F8B095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Line 67">
              <a:extLst>
                <a:ext uri="{FF2B5EF4-FFF2-40B4-BE49-F238E27FC236}">
                  <a16:creationId xmlns:a16="http://schemas.microsoft.com/office/drawing/2014/main" id="{4E551DE9-B143-8F45-B5D1-7300DE4F6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Line 68">
              <a:extLst>
                <a:ext uri="{FF2B5EF4-FFF2-40B4-BE49-F238E27FC236}">
                  <a16:creationId xmlns:a16="http://schemas.microsoft.com/office/drawing/2014/main" id="{D6310DBC-4357-3A44-8285-1D175AAB4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Line 69">
              <a:extLst>
                <a:ext uri="{FF2B5EF4-FFF2-40B4-BE49-F238E27FC236}">
                  <a16:creationId xmlns:a16="http://schemas.microsoft.com/office/drawing/2014/main" id="{2695B4FB-C558-A841-B855-08E799A88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Line 70">
              <a:extLst>
                <a:ext uri="{FF2B5EF4-FFF2-40B4-BE49-F238E27FC236}">
                  <a16:creationId xmlns:a16="http://schemas.microsoft.com/office/drawing/2014/main" id="{DAE66C3B-4226-3643-B977-64C23EC17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Line 71">
              <a:extLst>
                <a:ext uri="{FF2B5EF4-FFF2-40B4-BE49-F238E27FC236}">
                  <a16:creationId xmlns:a16="http://schemas.microsoft.com/office/drawing/2014/main" id="{5E9DB339-94EE-2B4C-AB3B-2740096436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Line 72">
              <a:extLst>
                <a:ext uri="{FF2B5EF4-FFF2-40B4-BE49-F238E27FC236}">
                  <a16:creationId xmlns:a16="http://schemas.microsoft.com/office/drawing/2014/main" id="{8566B14F-FC02-934F-8A74-1BFA9CE86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Text Box 73">
              <a:extLst>
                <a:ext uri="{FF2B5EF4-FFF2-40B4-BE49-F238E27FC236}">
                  <a16:creationId xmlns:a16="http://schemas.microsoft.com/office/drawing/2014/main" id="{066A5EA5-8220-4B45-AA76-09D55BC04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3064" name="Text Box 74">
              <a:extLst>
                <a:ext uri="{FF2B5EF4-FFF2-40B4-BE49-F238E27FC236}">
                  <a16:creationId xmlns:a16="http://schemas.microsoft.com/office/drawing/2014/main" id="{5BDEF82D-2DA5-304F-8659-4C5F2E218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3065" name="Line 75">
              <a:extLst>
                <a:ext uri="{FF2B5EF4-FFF2-40B4-BE49-F238E27FC236}">
                  <a16:creationId xmlns:a16="http://schemas.microsoft.com/office/drawing/2014/main" id="{86EB7A6A-3519-2441-87B0-7FADB4925D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Text Box 76">
              <a:extLst>
                <a:ext uri="{FF2B5EF4-FFF2-40B4-BE49-F238E27FC236}">
                  <a16:creationId xmlns:a16="http://schemas.microsoft.com/office/drawing/2014/main" id="{73C2881B-61A4-D344-B302-7750AF8F6D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3067" name="Text Box 77">
              <a:extLst>
                <a:ext uri="{FF2B5EF4-FFF2-40B4-BE49-F238E27FC236}">
                  <a16:creationId xmlns:a16="http://schemas.microsoft.com/office/drawing/2014/main" id="{16D68247-EE5C-2B46-80B9-7FCDEFCCA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3068" name="Text Box 78">
              <a:extLst>
                <a:ext uri="{FF2B5EF4-FFF2-40B4-BE49-F238E27FC236}">
                  <a16:creationId xmlns:a16="http://schemas.microsoft.com/office/drawing/2014/main" id="{89280895-7879-A145-8D89-5785AFD19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3069" name="Text Box 79">
              <a:extLst>
                <a:ext uri="{FF2B5EF4-FFF2-40B4-BE49-F238E27FC236}">
                  <a16:creationId xmlns:a16="http://schemas.microsoft.com/office/drawing/2014/main" id="{8671132C-356C-0940-A997-0D8790AFF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3070" name="Text Box 80">
              <a:extLst>
                <a:ext uri="{FF2B5EF4-FFF2-40B4-BE49-F238E27FC236}">
                  <a16:creationId xmlns:a16="http://schemas.microsoft.com/office/drawing/2014/main" id="{2309804C-B479-3948-B386-79D93CDAB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3071" name="Text Box 81">
              <a:extLst>
                <a:ext uri="{FF2B5EF4-FFF2-40B4-BE49-F238E27FC236}">
                  <a16:creationId xmlns:a16="http://schemas.microsoft.com/office/drawing/2014/main" id="{EEFA52F2-91CE-BD4B-829C-86D916EAD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3072" name="Text Box 82">
              <a:extLst>
                <a:ext uri="{FF2B5EF4-FFF2-40B4-BE49-F238E27FC236}">
                  <a16:creationId xmlns:a16="http://schemas.microsoft.com/office/drawing/2014/main" id="{236C84F7-27E6-3A45-943D-AAFE6DF13D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3073" name="Text Box 83">
              <a:extLst>
                <a:ext uri="{FF2B5EF4-FFF2-40B4-BE49-F238E27FC236}">
                  <a16:creationId xmlns:a16="http://schemas.microsoft.com/office/drawing/2014/main" id="{AEF59C0C-6FEC-9342-837E-EE9DED9244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3074" name="Line 84">
              <a:extLst>
                <a:ext uri="{FF2B5EF4-FFF2-40B4-BE49-F238E27FC236}">
                  <a16:creationId xmlns:a16="http://schemas.microsoft.com/office/drawing/2014/main" id="{B53BFDF0-261D-CD41-9BDF-6FCD7CEBB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Text Box 85">
              <a:extLst>
                <a:ext uri="{FF2B5EF4-FFF2-40B4-BE49-F238E27FC236}">
                  <a16:creationId xmlns:a16="http://schemas.microsoft.com/office/drawing/2014/main" id="{88907F40-5C6F-7741-9970-9B3CB9EE5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3076" name="Text Box 86">
              <a:extLst>
                <a:ext uri="{FF2B5EF4-FFF2-40B4-BE49-F238E27FC236}">
                  <a16:creationId xmlns:a16="http://schemas.microsoft.com/office/drawing/2014/main" id="{16631C1D-3E1D-714A-B5C4-28E1D683F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3077" name="Text Box 87">
              <a:extLst>
                <a:ext uri="{FF2B5EF4-FFF2-40B4-BE49-F238E27FC236}">
                  <a16:creationId xmlns:a16="http://schemas.microsoft.com/office/drawing/2014/main" id="{0D4E26B6-2F3C-8A46-A18F-F51C324E7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3078" name="Text Box 88">
              <a:extLst>
                <a:ext uri="{FF2B5EF4-FFF2-40B4-BE49-F238E27FC236}">
                  <a16:creationId xmlns:a16="http://schemas.microsoft.com/office/drawing/2014/main" id="{707CAE30-0D0D-B142-9A20-433A78F45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3079" name="Text Box 89">
              <a:extLst>
                <a:ext uri="{FF2B5EF4-FFF2-40B4-BE49-F238E27FC236}">
                  <a16:creationId xmlns:a16="http://schemas.microsoft.com/office/drawing/2014/main" id="{EBB18923-B99F-9241-8205-08466B2D16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3080" name="Text Box 90">
              <a:extLst>
                <a:ext uri="{FF2B5EF4-FFF2-40B4-BE49-F238E27FC236}">
                  <a16:creationId xmlns:a16="http://schemas.microsoft.com/office/drawing/2014/main" id="{706B6EB7-6D58-B74B-AC50-5B068E10D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3081" name="Text Box 91">
              <a:extLst>
                <a:ext uri="{FF2B5EF4-FFF2-40B4-BE49-F238E27FC236}">
                  <a16:creationId xmlns:a16="http://schemas.microsoft.com/office/drawing/2014/main" id="{6B8B16F3-613B-2244-BFF7-4902D18267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3082" name="Text Box 92">
              <a:extLst>
                <a:ext uri="{FF2B5EF4-FFF2-40B4-BE49-F238E27FC236}">
                  <a16:creationId xmlns:a16="http://schemas.microsoft.com/office/drawing/2014/main" id="{57874A98-3E70-8E44-99FB-F14F259C1F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3083" name="Text Box 93">
              <a:extLst>
                <a:ext uri="{FF2B5EF4-FFF2-40B4-BE49-F238E27FC236}">
                  <a16:creationId xmlns:a16="http://schemas.microsoft.com/office/drawing/2014/main" id="{3577E49B-877C-E344-AB67-4E143929EF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3084" name="Text Box 94">
              <a:extLst>
                <a:ext uri="{FF2B5EF4-FFF2-40B4-BE49-F238E27FC236}">
                  <a16:creationId xmlns:a16="http://schemas.microsoft.com/office/drawing/2014/main" id="{A74BAE9A-962B-494E-8E40-B02FE1171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3085" name="Text Box 95">
              <a:extLst>
                <a:ext uri="{FF2B5EF4-FFF2-40B4-BE49-F238E27FC236}">
                  <a16:creationId xmlns:a16="http://schemas.microsoft.com/office/drawing/2014/main" id="{F522180A-682A-644E-9AE0-C66C8CB92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3086" name="Text Box 96">
              <a:extLst>
                <a:ext uri="{FF2B5EF4-FFF2-40B4-BE49-F238E27FC236}">
                  <a16:creationId xmlns:a16="http://schemas.microsoft.com/office/drawing/2014/main" id="{F1562963-2BC7-B54D-AA8C-F96537426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3087" name="Text Box 97">
              <a:extLst>
                <a:ext uri="{FF2B5EF4-FFF2-40B4-BE49-F238E27FC236}">
                  <a16:creationId xmlns:a16="http://schemas.microsoft.com/office/drawing/2014/main" id="{7C9E4E9A-6A3E-534E-B232-FDF9B6DCEE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3088" name="Text Box 98">
              <a:extLst>
                <a:ext uri="{FF2B5EF4-FFF2-40B4-BE49-F238E27FC236}">
                  <a16:creationId xmlns:a16="http://schemas.microsoft.com/office/drawing/2014/main" id="{A98112B9-B434-5F4A-8AA5-8384C6307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3011" name="Rectangle 99">
            <a:extLst>
              <a:ext uri="{FF2B5EF4-FFF2-40B4-BE49-F238E27FC236}">
                <a16:creationId xmlns:a16="http://schemas.microsoft.com/office/drawing/2014/main" id="{686694D2-F6F3-9E48-B1C5-A7A3EB4DD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733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3012" name="Rectangle 100">
            <a:extLst>
              <a:ext uri="{FF2B5EF4-FFF2-40B4-BE49-F238E27FC236}">
                <a16:creationId xmlns:a16="http://schemas.microsoft.com/office/drawing/2014/main" id="{87F69CAC-BC5C-D143-BB95-84A15E93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743200"/>
            <a:ext cx="854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LD    F0 &lt;-</a:t>
            </a:r>
          </a:p>
        </p:txBody>
      </p:sp>
      <p:sp>
        <p:nvSpPr>
          <p:cNvPr id="43013" name="Rectangle 101">
            <a:extLst>
              <a:ext uri="{FF2B5EF4-FFF2-40B4-BE49-F238E27FC236}">
                <a16:creationId xmlns:a16="http://schemas.microsoft.com/office/drawing/2014/main" id="{C4A42432-5655-FE47-BB62-2FF977B98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514600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3014" name="Text Box 102">
            <a:extLst>
              <a:ext uri="{FF2B5EF4-FFF2-40B4-BE49-F238E27FC236}">
                <a16:creationId xmlns:a16="http://schemas.microsoft.com/office/drawing/2014/main" id="{FBC09357-1DF8-8943-AB69-CD71BC95B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7338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3015" name="Text Box 103">
            <a:extLst>
              <a:ext uri="{FF2B5EF4-FFF2-40B4-BE49-F238E27FC236}">
                <a16:creationId xmlns:a16="http://schemas.microsoft.com/office/drawing/2014/main" id="{AC84B0B7-13C6-A64D-82F5-9E7893C67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7244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3016" name="Text Box 104">
            <a:extLst>
              <a:ext uri="{FF2B5EF4-FFF2-40B4-BE49-F238E27FC236}">
                <a16:creationId xmlns:a16="http://schemas.microsoft.com/office/drawing/2014/main" id="{6362F15E-02C7-EC4F-ACC0-3EC902921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743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  <p:sp>
        <p:nvSpPr>
          <p:cNvPr id="43017" name="Text Box 105">
            <a:extLst>
              <a:ext uri="{FF2B5EF4-FFF2-40B4-BE49-F238E27FC236}">
                <a16:creationId xmlns:a16="http://schemas.microsoft.com/office/drawing/2014/main" id="{DC9097B3-07D5-7447-9E43-2D5AAC4D8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5146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3018" name="Text Box 106">
            <a:extLst>
              <a:ext uri="{FF2B5EF4-FFF2-40B4-BE49-F238E27FC236}">
                <a16:creationId xmlns:a16="http://schemas.microsoft.com/office/drawing/2014/main" id="{57B0BA2B-CD9D-F64F-A64D-4C26474C9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3019" name="Rectangle 107">
            <a:extLst>
              <a:ext uri="{FF2B5EF4-FFF2-40B4-BE49-F238E27FC236}">
                <a16:creationId xmlns:a16="http://schemas.microsoft.com/office/drawing/2014/main" id="{765C3B70-852F-674A-8C4D-CD001C6A7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981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3020" name="Rectangle 108">
            <a:extLst>
              <a:ext uri="{FF2B5EF4-FFF2-40B4-BE49-F238E27FC236}">
                <a16:creationId xmlns:a16="http://schemas.microsoft.com/office/drawing/2014/main" id="{04B5930A-B698-674F-8556-A544AACAB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7244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3021" name="Text Box 109">
            <a:extLst>
              <a:ext uri="{FF2B5EF4-FFF2-40B4-BE49-F238E27FC236}">
                <a16:creationId xmlns:a16="http://schemas.microsoft.com/office/drawing/2014/main" id="{233CD973-1C12-EC4D-9273-143667734C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7244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B075FEBA-57E1-9827-2220-BC8994776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06" y="871304"/>
            <a:ext cx="20574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F6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2">
            <a:extLst>
              <a:ext uri="{FF2B5EF4-FFF2-40B4-BE49-F238E27FC236}">
                <a16:creationId xmlns:a16="http://schemas.microsoft.com/office/drawing/2014/main" id="{50ACB502-E9BF-F84D-BC1F-6500244171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(4)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E50B921D-AE29-A94E-A3CA-75AD79A0E871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4046" name="Group 4">
              <a:extLst>
                <a:ext uri="{FF2B5EF4-FFF2-40B4-BE49-F238E27FC236}">
                  <a16:creationId xmlns:a16="http://schemas.microsoft.com/office/drawing/2014/main" id="{C3E2B3F5-4A49-5745-8870-C9D307D35E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4135" name="Rectangle 5">
                <a:extLst>
                  <a:ext uri="{FF2B5EF4-FFF2-40B4-BE49-F238E27FC236}">
                    <a16:creationId xmlns:a16="http://schemas.microsoft.com/office/drawing/2014/main" id="{A3A95C7D-9D23-444D-AA2B-466AA8FBE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36" name="Line 6">
                <a:extLst>
                  <a:ext uri="{FF2B5EF4-FFF2-40B4-BE49-F238E27FC236}">
                    <a16:creationId xmlns:a16="http://schemas.microsoft.com/office/drawing/2014/main" id="{E1FDB9C9-8732-D94D-8179-D5445F8AA6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Line 7">
                <a:extLst>
                  <a:ext uri="{FF2B5EF4-FFF2-40B4-BE49-F238E27FC236}">
                    <a16:creationId xmlns:a16="http://schemas.microsoft.com/office/drawing/2014/main" id="{50D72511-1B16-B845-A095-B7E358584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Line 8">
                <a:extLst>
                  <a:ext uri="{FF2B5EF4-FFF2-40B4-BE49-F238E27FC236}">
                    <a16:creationId xmlns:a16="http://schemas.microsoft.com/office/drawing/2014/main" id="{3C70CE0A-4D89-BB43-AB8C-6E1973E93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Line 9">
                <a:extLst>
                  <a:ext uri="{FF2B5EF4-FFF2-40B4-BE49-F238E27FC236}">
                    <a16:creationId xmlns:a16="http://schemas.microsoft.com/office/drawing/2014/main" id="{92D76F5E-5A4F-C346-A81B-D4036531B9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Line 10">
                <a:extLst>
                  <a:ext uri="{FF2B5EF4-FFF2-40B4-BE49-F238E27FC236}">
                    <a16:creationId xmlns:a16="http://schemas.microsoft.com/office/drawing/2014/main" id="{8A39A4FD-A5EB-814A-B7BF-E474B17D3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47" name="Group 11">
              <a:extLst>
                <a:ext uri="{FF2B5EF4-FFF2-40B4-BE49-F238E27FC236}">
                  <a16:creationId xmlns:a16="http://schemas.microsoft.com/office/drawing/2014/main" id="{BD7F55B5-1E08-9B4A-AFE2-897AC63501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4129" name="Rectangle 12">
                <a:extLst>
                  <a:ext uri="{FF2B5EF4-FFF2-40B4-BE49-F238E27FC236}">
                    <a16:creationId xmlns:a16="http://schemas.microsoft.com/office/drawing/2014/main" id="{3AB35F96-7A44-E341-AAF1-F07261C39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30" name="Line 13">
                <a:extLst>
                  <a:ext uri="{FF2B5EF4-FFF2-40B4-BE49-F238E27FC236}">
                    <a16:creationId xmlns:a16="http://schemas.microsoft.com/office/drawing/2014/main" id="{95CA7031-7D6A-C941-973B-082F30348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Line 14">
                <a:extLst>
                  <a:ext uri="{FF2B5EF4-FFF2-40B4-BE49-F238E27FC236}">
                    <a16:creationId xmlns:a16="http://schemas.microsoft.com/office/drawing/2014/main" id="{5A8B2D99-CA6A-2448-B376-D6696BA167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Line 15">
                <a:extLst>
                  <a:ext uri="{FF2B5EF4-FFF2-40B4-BE49-F238E27FC236}">
                    <a16:creationId xmlns:a16="http://schemas.microsoft.com/office/drawing/2014/main" id="{2A54B80B-4287-9443-99C1-D7171BBE9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Line 16">
                <a:extLst>
                  <a:ext uri="{FF2B5EF4-FFF2-40B4-BE49-F238E27FC236}">
                    <a16:creationId xmlns:a16="http://schemas.microsoft.com/office/drawing/2014/main" id="{AB57401F-6D5B-4845-87AD-3D9A36ED5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Line 17">
                <a:extLst>
                  <a:ext uri="{FF2B5EF4-FFF2-40B4-BE49-F238E27FC236}">
                    <a16:creationId xmlns:a16="http://schemas.microsoft.com/office/drawing/2014/main" id="{E96FFAF2-8228-A74D-BB0E-893BA4CB6D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48" name="Group 18">
              <a:extLst>
                <a:ext uri="{FF2B5EF4-FFF2-40B4-BE49-F238E27FC236}">
                  <a16:creationId xmlns:a16="http://schemas.microsoft.com/office/drawing/2014/main" id="{FBDA409F-2CBB-4C42-907C-D6136BDC5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4125" name="Rectangle 19">
                <a:extLst>
                  <a:ext uri="{FF2B5EF4-FFF2-40B4-BE49-F238E27FC236}">
                    <a16:creationId xmlns:a16="http://schemas.microsoft.com/office/drawing/2014/main" id="{41DB9B4F-D7C0-9F42-A010-8A2B127D2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26" name="Line 20">
                <a:extLst>
                  <a:ext uri="{FF2B5EF4-FFF2-40B4-BE49-F238E27FC236}">
                    <a16:creationId xmlns:a16="http://schemas.microsoft.com/office/drawing/2014/main" id="{A2A7E2FE-8F68-9F49-A868-DCE31DB96E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Line 21">
                <a:extLst>
                  <a:ext uri="{FF2B5EF4-FFF2-40B4-BE49-F238E27FC236}">
                    <a16:creationId xmlns:a16="http://schemas.microsoft.com/office/drawing/2014/main" id="{75AF6AEA-604D-A845-9B2C-26E536027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Line 22">
                <a:extLst>
                  <a:ext uri="{FF2B5EF4-FFF2-40B4-BE49-F238E27FC236}">
                    <a16:creationId xmlns:a16="http://schemas.microsoft.com/office/drawing/2014/main" id="{297F066E-D08B-7C4B-B596-212C081A4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49" name="Group 23">
              <a:extLst>
                <a:ext uri="{FF2B5EF4-FFF2-40B4-BE49-F238E27FC236}">
                  <a16:creationId xmlns:a16="http://schemas.microsoft.com/office/drawing/2014/main" id="{47FA7885-7E26-124D-8B17-C1E1A8DFD8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4122" name="Rectangle 24">
                <a:extLst>
                  <a:ext uri="{FF2B5EF4-FFF2-40B4-BE49-F238E27FC236}">
                    <a16:creationId xmlns:a16="http://schemas.microsoft.com/office/drawing/2014/main" id="{009C32A4-579E-C94E-BF0E-53112788F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23" name="Line 25">
                <a:extLst>
                  <a:ext uri="{FF2B5EF4-FFF2-40B4-BE49-F238E27FC236}">
                    <a16:creationId xmlns:a16="http://schemas.microsoft.com/office/drawing/2014/main" id="{ED18AEED-0D50-4E4B-9EFE-F950BE651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Line 26">
                <a:extLst>
                  <a:ext uri="{FF2B5EF4-FFF2-40B4-BE49-F238E27FC236}">
                    <a16:creationId xmlns:a16="http://schemas.microsoft.com/office/drawing/2014/main" id="{33C2B259-3339-A247-9C75-24D0040297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50" name="Group 27">
              <a:extLst>
                <a:ext uri="{FF2B5EF4-FFF2-40B4-BE49-F238E27FC236}">
                  <a16:creationId xmlns:a16="http://schemas.microsoft.com/office/drawing/2014/main" id="{42014F1D-89F2-6C4A-9AF9-7EDAC7ACB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4117" name="Rectangle 28">
                <a:extLst>
                  <a:ext uri="{FF2B5EF4-FFF2-40B4-BE49-F238E27FC236}">
                    <a16:creationId xmlns:a16="http://schemas.microsoft.com/office/drawing/2014/main" id="{47DD6C12-1244-0343-ADB0-5C13EA6CC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18" name="Line 29">
                <a:extLst>
                  <a:ext uri="{FF2B5EF4-FFF2-40B4-BE49-F238E27FC236}">
                    <a16:creationId xmlns:a16="http://schemas.microsoft.com/office/drawing/2014/main" id="{D4A17BFC-8350-B64F-88EC-06E25BA55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Line 30">
                <a:extLst>
                  <a:ext uri="{FF2B5EF4-FFF2-40B4-BE49-F238E27FC236}">
                    <a16:creationId xmlns:a16="http://schemas.microsoft.com/office/drawing/2014/main" id="{4648D31C-B2F8-D641-A4A5-05E1714573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Line 31">
                <a:extLst>
                  <a:ext uri="{FF2B5EF4-FFF2-40B4-BE49-F238E27FC236}">
                    <a16:creationId xmlns:a16="http://schemas.microsoft.com/office/drawing/2014/main" id="{A298483A-F673-BC42-BDCE-3673910C5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Line 32">
                <a:extLst>
                  <a:ext uri="{FF2B5EF4-FFF2-40B4-BE49-F238E27FC236}">
                    <a16:creationId xmlns:a16="http://schemas.microsoft.com/office/drawing/2014/main" id="{31DB0C49-7A1D-7F4F-9F2C-D9E83355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51" name="Group 33">
              <a:extLst>
                <a:ext uri="{FF2B5EF4-FFF2-40B4-BE49-F238E27FC236}">
                  <a16:creationId xmlns:a16="http://schemas.microsoft.com/office/drawing/2014/main" id="{C52285DC-B528-5A43-B423-2AC6D5286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4113" name="Rectangle 34">
                <a:extLst>
                  <a:ext uri="{FF2B5EF4-FFF2-40B4-BE49-F238E27FC236}">
                    <a16:creationId xmlns:a16="http://schemas.microsoft.com/office/drawing/2014/main" id="{6077EEF3-69E0-2A4C-B2E0-7130CEE40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14" name="Line 35">
                <a:extLst>
                  <a:ext uri="{FF2B5EF4-FFF2-40B4-BE49-F238E27FC236}">
                    <a16:creationId xmlns:a16="http://schemas.microsoft.com/office/drawing/2014/main" id="{E992C5A6-AEA5-4742-A82E-581425BA01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5" name="Line 36">
                <a:extLst>
                  <a:ext uri="{FF2B5EF4-FFF2-40B4-BE49-F238E27FC236}">
                    <a16:creationId xmlns:a16="http://schemas.microsoft.com/office/drawing/2014/main" id="{0E868F74-190D-954C-BBC6-23F6379DDC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6" name="Line 37">
                <a:extLst>
                  <a:ext uri="{FF2B5EF4-FFF2-40B4-BE49-F238E27FC236}">
                    <a16:creationId xmlns:a16="http://schemas.microsoft.com/office/drawing/2014/main" id="{D93EF036-7A06-0C41-B3D0-EC0558E345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52" name="Line 38">
              <a:extLst>
                <a:ext uri="{FF2B5EF4-FFF2-40B4-BE49-F238E27FC236}">
                  <a16:creationId xmlns:a16="http://schemas.microsoft.com/office/drawing/2014/main" id="{FCCDD255-3063-B34E-8D4C-0A82FE4FC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39">
              <a:extLst>
                <a:ext uri="{FF2B5EF4-FFF2-40B4-BE49-F238E27FC236}">
                  <a16:creationId xmlns:a16="http://schemas.microsoft.com/office/drawing/2014/main" id="{4B8D30A5-97E5-214C-92E1-E8D314F4C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Line 40">
              <a:extLst>
                <a:ext uri="{FF2B5EF4-FFF2-40B4-BE49-F238E27FC236}">
                  <a16:creationId xmlns:a16="http://schemas.microsoft.com/office/drawing/2014/main" id="{5C5397E5-AC69-E841-9DD7-6D8AA08CD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Line 41">
              <a:extLst>
                <a:ext uri="{FF2B5EF4-FFF2-40B4-BE49-F238E27FC236}">
                  <a16:creationId xmlns:a16="http://schemas.microsoft.com/office/drawing/2014/main" id="{5CE6F3BF-A83D-E941-B765-FEFC1190C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Line 42">
              <a:extLst>
                <a:ext uri="{FF2B5EF4-FFF2-40B4-BE49-F238E27FC236}">
                  <a16:creationId xmlns:a16="http://schemas.microsoft.com/office/drawing/2014/main" id="{13876206-F875-D740-B871-7FD6151FF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Rectangle 43">
              <a:extLst>
                <a:ext uri="{FF2B5EF4-FFF2-40B4-BE49-F238E27FC236}">
                  <a16:creationId xmlns:a16="http://schemas.microsoft.com/office/drawing/2014/main" id="{AE101C2E-A26A-F54B-A077-E2D457A6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058" name="Rectangle 44">
              <a:extLst>
                <a:ext uri="{FF2B5EF4-FFF2-40B4-BE49-F238E27FC236}">
                  <a16:creationId xmlns:a16="http://schemas.microsoft.com/office/drawing/2014/main" id="{F67F1686-F1CA-5346-9C05-BAC587B5C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059" name="Line 45">
              <a:extLst>
                <a:ext uri="{FF2B5EF4-FFF2-40B4-BE49-F238E27FC236}">
                  <a16:creationId xmlns:a16="http://schemas.microsoft.com/office/drawing/2014/main" id="{2ACA32F1-6FF0-5A44-A2A1-AB5A42977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46">
              <a:extLst>
                <a:ext uri="{FF2B5EF4-FFF2-40B4-BE49-F238E27FC236}">
                  <a16:creationId xmlns:a16="http://schemas.microsoft.com/office/drawing/2014/main" id="{0352956B-109E-094D-A2FE-3782F11A50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47">
              <a:extLst>
                <a:ext uri="{FF2B5EF4-FFF2-40B4-BE49-F238E27FC236}">
                  <a16:creationId xmlns:a16="http://schemas.microsoft.com/office/drawing/2014/main" id="{9E647DC0-2E43-494D-8DFA-73AB0F0D8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48">
              <a:extLst>
                <a:ext uri="{FF2B5EF4-FFF2-40B4-BE49-F238E27FC236}">
                  <a16:creationId xmlns:a16="http://schemas.microsoft.com/office/drawing/2014/main" id="{B3C96A33-04DC-EC45-917A-E2E1A7BAA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49">
              <a:extLst>
                <a:ext uri="{FF2B5EF4-FFF2-40B4-BE49-F238E27FC236}">
                  <a16:creationId xmlns:a16="http://schemas.microsoft.com/office/drawing/2014/main" id="{045924AD-2B0B-4946-B267-11C6ED9CB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50">
              <a:extLst>
                <a:ext uri="{FF2B5EF4-FFF2-40B4-BE49-F238E27FC236}">
                  <a16:creationId xmlns:a16="http://schemas.microsoft.com/office/drawing/2014/main" id="{6CBBBE2D-4E0D-8E42-A80D-766A94ED8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51">
              <a:extLst>
                <a:ext uri="{FF2B5EF4-FFF2-40B4-BE49-F238E27FC236}">
                  <a16:creationId xmlns:a16="http://schemas.microsoft.com/office/drawing/2014/main" id="{56F09C81-040B-6B44-9C6C-4F0524195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52">
              <a:extLst>
                <a:ext uri="{FF2B5EF4-FFF2-40B4-BE49-F238E27FC236}">
                  <a16:creationId xmlns:a16="http://schemas.microsoft.com/office/drawing/2014/main" id="{77CEB7C3-6605-9D42-94D6-F93814682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53">
              <a:extLst>
                <a:ext uri="{FF2B5EF4-FFF2-40B4-BE49-F238E27FC236}">
                  <a16:creationId xmlns:a16="http://schemas.microsoft.com/office/drawing/2014/main" id="{2255671B-624B-904F-8F7C-44047797FD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54">
              <a:extLst>
                <a:ext uri="{FF2B5EF4-FFF2-40B4-BE49-F238E27FC236}">
                  <a16:creationId xmlns:a16="http://schemas.microsoft.com/office/drawing/2014/main" id="{32A76B9D-8388-1A44-B5CF-84670BC48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55">
              <a:extLst>
                <a:ext uri="{FF2B5EF4-FFF2-40B4-BE49-F238E27FC236}">
                  <a16:creationId xmlns:a16="http://schemas.microsoft.com/office/drawing/2014/main" id="{C01BCD95-4111-3640-975D-0770D26A6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56">
              <a:extLst>
                <a:ext uri="{FF2B5EF4-FFF2-40B4-BE49-F238E27FC236}">
                  <a16:creationId xmlns:a16="http://schemas.microsoft.com/office/drawing/2014/main" id="{404E40CC-96F3-6E44-B51B-39A5B7739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57">
              <a:extLst>
                <a:ext uri="{FF2B5EF4-FFF2-40B4-BE49-F238E27FC236}">
                  <a16:creationId xmlns:a16="http://schemas.microsoft.com/office/drawing/2014/main" id="{79E1861A-E660-2C45-9ADB-5472AB0D6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58">
              <a:extLst>
                <a:ext uri="{FF2B5EF4-FFF2-40B4-BE49-F238E27FC236}">
                  <a16:creationId xmlns:a16="http://schemas.microsoft.com/office/drawing/2014/main" id="{A5902FF4-68EC-0F40-B3CE-C1417B6C9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59">
              <a:extLst>
                <a:ext uri="{FF2B5EF4-FFF2-40B4-BE49-F238E27FC236}">
                  <a16:creationId xmlns:a16="http://schemas.microsoft.com/office/drawing/2014/main" id="{58A0253B-0C49-274B-BB7F-756AA7BE6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60">
              <a:extLst>
                <a:ext uri="{FF2B5EF4-FFF2-40B4-BE49-F238E27FC236}">
                  <a16:creationId xmlns:a16="http://schemas.microsoft.com/office/drawing/2014/main" id="{1DFD3FF7-9ABA-8B46-B9B5-08FAC3E47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Line 61">
              <a:extLst>
                <a:ext uri="{FF2B5EF4-FFF2-40B4-BE49-F238E27FC236}">
                  <a16:creationId xmlns:a16="http://schemas.microsoft.com/office/drawing/2014/main" id="{5DC72A1E-A173-8044-9710-0833EBA4AE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Line 62">
              <a:extLst>
                <a:ext uri="{FF2B5EF4-FFF2-40B4-BE49-F238E27FC236}">
                  <a16:creationId xmlns:a16="http://schemas.microsoft.com/office/drawing/2014/main" id="{7D60A566-8E30-D849-BF30-33F8968AE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Line 63">
              <a:extLst>
                <a:ext uri="{FF2B5EF4-FFF2-40B4-BE49-F238E27FC236}">
                  <a16:creationId xmlns:a16="http://schemas.microsoft.com/office/drawing/2014/main" id="{E7EF68A1-B0F3-3647-B53D-0C35E4AD4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Line 64">
              <a:extLst>
                <a:ext uri="{FF2B5EF4-FFF2-40B4-BE49-F238E27FC236}">
                  <a16:creationId xmlns:a16="http://schemas.microsoft.com/office/drawing/2014/main" id="{D05725F7-87A3-2941-A313-2AE0CFA38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65">
              <a:extLst>
                <a:ext uri="{FF2B5EF4-FFF2-40B4-BE49-F238E27FC236}">
                  <a16:creationId xmlns:a16="http://schemas.microsoft.com/office/drawing/2014/main" id="{66BB6543-0F72-AC4B-8046-FEBFF8C2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Line 66">
              <a:extLst>
                <a:ext uri="{FF2B5EF4-FFF2-40B4-BE49-F238E27FC236}">
                  <a16:creationId xmlns:a16="http://schemas.microsoft.com/office/drawing/2014/main" id="{7E81C683-EFED-B143-9B2E-3E5E0F61F5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Line 67">
              <a:extLst>
                <a:ext uri="{FF2B5EF4-FFF2-40B4-BE49-F238E27FC236}">
                  <a16:creationId xmlns:a16="http://schemas.microsoft.com/office/drawing/2014/main" id="{29D27DC2-C943-C64F-A192-80E59C941F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Line 68">
              <a:extLst>
                <a:ext uri="{FF2B5EF4-FFF2-40B4-BE49-F238E27FC236}">
                  <a16:creationId xmlns:a16="http://schemas.microsoft.com/office/drawing/2014/main" id="{236E9E1B-B365-194F-A610-02D186C988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Line 69">
              <a:extLst>
                <a:ext uri="{FF2B5EF4-FFF2-40B4-BE49-F238E27FC236}">
                  <a16:creationId xmlns:a16="http://schemas.microsoft.com/office/drawing/2014/main" id="{8A3A167F-28FD-6D4D-83BC-DA0C05716D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Line 70">
              <a:extLst>
                <a:ext uri="{FF2B5EF4-FFF2-40B4-BE49-F238E27FC236}">
                  <a16:creationId xmlns:a16="http://schemas.microsoft.com/office/drawing/2014/main" id="{9807DBE9-0818-9B44-9D1E-AC399BAE3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Line 71">
              <a:extLst>
                <a:ext uri="{FF2B5EF4-FFF2-40B4-BE49-F238E27FC236}">
                  <a16:creationId xmlns:a16="http://schemas.microsoft.com/office/drawing/2014/main" id="{FF0D14BC-5D60-9F48-9654-DFFD554F5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Line 72">
              <a:extLst>
                <a:ext uri="{FF2B5EF4-FFF2-40B4-BE49-F238E27FC236}">
                  <a16:creationId xmlns:a16="http://schemas.microsoft.com/office/drawing/2014/main" id="{3A3BE347-E315-0045-BEFF-61F0EFEFF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Text Box 73">
              <a:extLst>
                <a:ext uri="{FF2B5EF4-FFF2-40B4-BE49-F238E27FC236}">
                  <a16:creationId xmlns:a16="http://schemas.microsoft.com/office/drawing/2014/main" id="{04391470-D53D-0748-A2C9-44D32835E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4088" name="Text Box 74">
              <a:extLst>
                <a:ext uri="{FF2B5EF4-FFF2-40B4-BE49-F238E27FC236}">
                  <a16:creationId xmlns:a16="http://schemas.microsoft.com/office/drawing/2014/main" id="{0A482EC7-0CD8-0B4B-B70D-4D6B827B1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4089" name="Line 75">
              <a:extLst>
                <a:ext uri="{FF2B5EF4-FFF2-40B4-BE49-F238E27FC236}">
                  <a16:creationId xmlns:a16="http://schemas.microsoft.com/office/drawing/2014/main" id="{6E13A6EE-94B3-FB47-A9DF-438F8C50D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Text Box 76">
              <a:extLst>
                <a:ext uri="{FF2B5EF4-FFF2-40B4-BE49-F238E27FC236}">
                  <a16:creationId xmlns:a16="http://schemas.microsoft.com/office/drawing/2014/main" id="{D56B7A44-3752-8444-923A-B3099E397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4091" name="Text Box 77">
              <a:extLst>
                <a:ext uri="{FF2B5EF4-FFF2-40B4-BE49-F238E27FC236}">
                  <a16:creationId xmlns:a16="http://schemas.microsoft.com/office/drawing/2014/main" id="{EE690F72-A19B-E245-BBF0-FAF40D1C9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4092" name="Text Box 78">
              <a:extLst>
                <a:ext uri="{FF2B5EF4-FFF2-40B4-BE49-F238E27FC236}">
                  <a16:creationId xmlns:a16="http://schemas.microsoft.com/office/drawing/2014/main" id="{36C9B6C4-0642-B747-BAD4-600DF1533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4093" name="Text Box 79">
              <a:extLst>
                <a:ext uri="{FF2B5EF4-FFF2-40B4-BE49-F238E27FC236}">
                  <a16:creationId xmlns:a16="http://schemas.microsoft.com/office/drawing/2014/main" id="{BFF2A988-ADDA-AF4F-8523-639892699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4094" name="Text Box 80">
              <a:extLst>
                <a:ext uri="{FF2B5EF4-FFF2-40B4-BE49-F238E27FC236}">
                  <a16:creationId xmlns:a16="http://schemas.microsoft.com/office/drawing/2014/main" id="{F839BAB8-4CDE-0742-BC4D-B2D8B7288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4095" name="Text Box 81">
              <a:extLst>
                <a:ext uri="{FF2B5EF4-FFF2-40B4-BE49-F238E27FC236}">
                  <a16:creationId xmlns:a16="http://schemas.microsoft.com/office/drawing/2014/main" id="{68A31F3A-84E6-1342-B4E6-EAFFA1B226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4096" name="Text Box 82">
              <a:extLst>
                <a:ext uri="{FF2B5EF4-FFF2-40B4-BE49-F238E27FC236}">
                  <a16:creationId xmlns:a16="http://schemas.microsoft.com/office/drawing/2014/main" id="{22A74B57-BC4B-DE48-A46B-84E5084392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4097" name="Text Box 83">
              <a:extLst>
                <a:ext uri="{FF2B5EF4-FFF2-40B4-BE49-F238E27FC236}">
                  <a16:creationId xmlns:a16="http://schemas.microsoft.com/office/drawing/2014/main" id="{A713F566-1DC5-8048-990A-8A59029CD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4098" name="Line 84">
              <a:extLst>
                <a:ext uri="{FF2B5EF4-FFF2-40B4-BE49-F238E27FC236}">
                  <a16:creationId xmlns:a16="http://schemas.microsoft.com/office/drawing/2014/main" id="{FDF23056-5A49-8444-B017-49A0080F0D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Text Box 85">
              <a:extLst>
                <a:ext uri="{FF2B5EF4-FFF2-40B4-BE49-F238E27FC236}">
                  <a16:creationId xmlns:a16="http://schemas.microsoft.com/office/drawing/2014/main" id="{1B969EA8-589E-2147-A88A-C2B4D7DA1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4100" name="Text Box 86">
              <a:extLst>
                <a:ext uri="{FF2B5EF4-FFF2-40B4-BE49-F238E27FC236}">
                  <a16:creationId xmlns:a16="http://schemas.microsoft.com/office/drawing/2014/main" id="{3ED63037-1249-BB4C-AB5A-0D5B5203E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4101" name="Text Box 87">
              <a:extLst>
                <a:ext uri="{FF2B5EF4-FFF2-40B4-BE49-F238E27FC236}">
                  <a16:creationId xmlns:a16="http://schemas.microsoft.com/office/drawing/2014/main" id="{1262C900-E4DA-3149-ADFE-A157FD270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4102" name="Text Box 88">
              <a:extLst>
                <a:ext uri="{FF2B5EF4-FFF2-40B4-BE49-F238E27FC236}">
                  <a16:creationId xmlns:a16="http://schemas.microsoft.com/office/drawing/2014/main" id="{0A5C60C4-CA93-DF49-A671-0B54B064D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4103" name="Text Box 89">
              <a:extLst>
                <a:ext uri="{FF2B5EF4-FFF2-40B4-BE49-F238E27FC236}">
                  <a16:creationId xmlns:a16="http://schemas.microsoft.com/office/drawing/2014/main" id="{D116F0FC-B9C8-2943-9AEE-CDACC109F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4104" name="Text Box 90">
              <a:extLst>
                <a:ext uri="{FF2B5EF4-FFF2-40B4-BE49-F238E27FC236}">
                  <a16:creationId xmlns:a16="http://schemas.microsoft.com/office/drawing/2014/main" id="{BC4E9F9A-2ABB-9F4F-A554-313E3E144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4105" name="Text Box 91">
              <a:extLst>
                <a:ext uri="{FF2B5EF4-FFF2-40B4-BE49-F238E27FC236}">
                  <a16:creationId xmlns:a16="http://schemas.microsoft.com/office/drawing/2014/main" id="{DD62AAB8-3A35-624A-A123-461705D0D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4106" name="Text Box 92">
              <a:extLst>
                <a:ext uri="{FF2B5EF4-FFF2-40B4-BE49-F238E27FC236}">
                  <a16:creationId xmlns:a16="http://schemas.microsoft.com/office/drawing/2014/main" id="{E166F44E-5DE5-634B-A878-F19DA9FEF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4107" name="Text Box 93">
              <a:extLst>
                <a:ext uri="{FF2B5EF4-FFF2-40B4-BE49-F238E27FC236}">
                  <a16:creationId xmlns:a16="http://schemas.microsoft.com/office/drawing/2014/main" id="{D9307DC9-D01C-E448-AF23-36B0398C7D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4108" name="Text Box 94">
              <a:extLst>
                <a:ext uri="{FF2B5EF4-FFF2-40B4-BE49-F238E27FC236}">
                  <a16:creationId xmlns:a16="http://schemas.microsoft.com/office/drawing/2014/main" id="{90B68D28-8ABB-6444-B2D4-83CB61A32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4109" name="Text Box 95">
              <a:extLst>
                <a:ext uri="{FF2B5EF4-FFF2-40B4-BE49-F238E27FC236}">
                  <a16:creationId xmlns:a16="http://schemas.microsoft.com/office/drawing/2014/main" id="{1C0F0810-2B62-4F45-9BFD-5B908AB940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4110" name="Text Box 96">
              <a:extLst>
                <a:ext uri="{FF2B5EF4-FFF2-40B4-BE49-F238E27FC236}">
                  <a16:creationId xmlns:a16="http://schemas.microsoft.com/office/drawing/2014/main" id="{D9911185-4D28-8349-8A33-1762F6182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4111" name="Text Box 97">
              <a:extLst>
                <a:ext uri="{FF2B5EF4-FFF2-40B4-BE49-F238E27FC236}">
                  <a16:creationId xmlns:a16="http://schemas.microsoft.com/office/drawing/2014/main" id="{A5A2B46E-9D61-F643-BC41-F22CBA4261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4112" name="Text Box 98">
              <a:extLst>
                <a:ext uri="{FF2B5EF4-FFF2-40B4-BE49-F238E27FC236}">
                  <a16:creationId xmlns:a16="http://schemas.microsoft.com/office/drawing/2014/main" id="{629EC73D-3312-D649-ABF6-A67A83DE4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4035" name="Rectangle 99">
            <a:extLst>
              <a:ext uri="{FF2B5EF4-FFF2-40B4-BE49-F238E27FC236}">
                <a16:creationId xmlns:a16="http://schemas.microsoft.com/office/drawing/2014/main" id="{CB2E2F95-ED98-DB48-BF4D-35830D2E2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3733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4036" name="Rectangle 100">
            <a:extLst>
              <a:ext uri="{FF2B5EF4-FFF2-40B4-BE49-F238E27FC236}">
                <a16:creationId xmlns:a16="http://schemas.microsoft.com/office/drawing/2014/main" id="{81654B9B-2948-2845-B37A-5EAD4AB46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743200"/>
            <a:ext cx="1038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" pitchFamily="2" charset="0"/>
                <a:cs typeface="Arial" panose="020B0604020202020204" pitchFamily="34" charset="0"/>
              </a:rPr>
              <a:t>ADDD     &lt;- F0</a:t>
            </a:r>
          </a:p>
        </p:txBody>
      </p:sp>
      <p:sp>
        <p:nvSpPr>
          <p:cNvPr id="44037" name="Text Box 101">
            <a:extLst>
              <a:ext uri="{FF2B5EF4-FFF2-40B4-BE49-F238E27FC236}">
                <a16:creationId xmlns:a16="http://schemas.microsoft.com/office/drawing/2014/main" id="{EA4546B4-316E-8041-A68C-A72FF33DF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7338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4038" name="Text Box 102">
            <a:extLst>
              <a:ext uri="{FF2B5EF4-FFF2-40B4-BE49-F238E27FC236}">
                <a16:creationId xmlns:a16="http://schemas.microsoft.com/office/drawing/2014/main" id="{A681B5E3-73CC-6B4E-B7FA-519B31F3B0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7244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4039" name="Text Box 103">
            <a:extLst>
              <a:ext uri="{FF2B5EF4-FFF2-40B4-BE49-F238E27FC236}">
                <a16:creationId xmlns:a16="http://schemas.microsoft.com/office/drawing/2014/main" id="{04436BF9-C57C-5E45-82A0-8F1557B84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505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  <p:sp>
        <p:nvSpPr>
          <p:cNvPr id="44040" name="Text Box 104">
            <a:extLst>
              <a:ext uri="{FF2B5EF4-FFF2-40B4-BE49-F238E27FC236}">
                <a16:creationId xmlns:a16="http://schemas.microsoft.com/office/drawing/2014/main" id="{8318BEEB-04A9-AD42-B17F-34B1F4F36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743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4041" name="Text Box 105">
            <a:extLst>
              <a:ext uri="{FF2B5EF4-FFF2-40B4-BE49-F238E27FC236}">
                <a16:creationId xmlns:a16="http://schemas.microsoft.com/office/drawing/2014/main" id="{C653A265-064C-6748-B327-AFAAA724C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4042" name="Rectangle 106">
            <a:extLst>
              <a:ext uri="{FF2B5EF4-FFF2-40B4-BE49-F238E27FC236}">
                <a16:creationId xmlns:a16="http://schemas.microsoft.com/office/drawing/2014/main" id="{8D88CF6A-0BBE-EF4D-A971-29A2E31E8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981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44043" name="Rectangle 107">
            <a:extLst>
              <a:ext uri="{FF2B5EF4-FFF2-40B4-BE49-F238E27FC236}">
                <a16:creationId xmlns:a16="http://schemas.microsoft.com/office/drawing/2014/main" id="{1A0291A4-7AB1-3347-894A-4AE876AE8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7244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4044" name="Text Box 108">
            <a:extLst>
              <a:ext uri="{FF2B5EF4-FFF2-40B4-BE49-F238E27FC236}">
                <a16:creationId xmlns:a16="http://schemas.microsoft.com/office/drawing/2014/main" id="{E6EE9A9D-02BB-5842-99DF-114A3A830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7244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44045" name="Rectangle 109">
            <a:extLst>
              <a:ext uri="{FF2B5EF4-FFF2-40B4-BE49-F238E27FC236}">
                <a16:creationId xmlns:a16="http://schemas.microsoft.com/office/drawing/2014/main" id="{0969A64A-ABC7-A64E-B812-E2A290F65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3505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2" name="Text Box 4">
            <a:extLst>
              <a:ext uri="{FF2B5EF4-FFF2-40B4-BE49-F238E27FC236}">
                <a16:creationId xmlns:a16="http://schemas.microsoft.com/office/drawing/2014/main" id="{279FFB37-078E-7992-81F8-52999C9DA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06" y="871304"/>
            <a:ext cx="20574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F4, </a:t>
            </a:r>
            <a:r>
              <a:rPr lang="en-US" altLang="en-US" sz="1000" u="sng" dirty="0">
                <a:latin typeface="Courier" pitchFamily="2" charset="0"/>
              </a:rPr>
              <a:t>load1</a:t>
            </a:r>
            <a:r>
              <a:rPr lang="en-US" altLang="en-US" sz="1000" dirty="0">
                <a:latin typeface="Courier" pitchFamily="2" charset="0"/>
              </a:rPr>
              <a:t>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LD   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 dirty="0">
                <a:latin typeface="Courier" pitchFamily="2" charset="0"/>
              </a:rPr>
              <a:t>ADDD  F8, </a:t>
            </a:r>
            <a:r>
              <a:rPr lang="en-US" altLang="en-US" sz="1000" u="sng" dirty="0">
                <a:latin typeface="Courier" pitchFamily="2" charset="0"/>
              </a:rPr>
              <a:t>load2</a:t>
            </a:r>
            <a:r>
              <a:rPr lang="en-US" altLang="en-US" sz="1000" dirty="0">
                <a:latin typeface="Courier" pitchFamily="2" charset="0"/>
              </a:rPr>
              <a:t>, F6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Rectangle 2">
            <a:extLst>
              <a:ext uri="{FF2B5EF4-FFF2-40B4-BE49-F238E27FC236}">
                <a16:creationId xmlns:a16="http://schemas.microsoft.com/office/drawing/2014/main" id="{7AE733F0-AA49-DF4E-86AC-30422FBF5C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(5)</a:t>
            </a:r>
          </a:p>
        </p:txBody>
      </p:sp>
      <p:grpSp>
        <p:nvGrpSpPr>
          <p:cNvPr id="45058" name="Group 3">
            <a:extLst>
              <a:ext uri="{FF2B5EF4-FFF2-40B4-BE49-F238E27FC236}">
                <a16:creationId xmlns:a16="http://schemas.microsoft.com/office/drawing/2014/main" id="{00B8E9A1-0C0F-F942-B179-6ECB8A0F2B82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5071" name="Group 4">
              <a:extLst>
                <a:ext uri="{FF2B5EF4-FFF2-40B4-BE49-F238E27FC236}">
                  <a16:creationId xmlns:a16="http://schemas.microsoft.com/office/drawing/2014/main" id="{05604BB0-D405-5740-BD91-1247C45A74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5160" name="Rectangle 5">
                <a:extLst>
                  <a:ext uri="{FF2B5EF4-FFF2-40B4-BE49-F238E27FC236}">
                    <a16:creationId xmlns:a16="http://schemas.microsoft.com/office/drawing/2014/main" id="{F617A93E-0037-5B4D-BC9B-C6CF206D7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61" name="Line 6">
                <a:extLst>
                  <a:ext uri="{FF2B5EF4-FFF2-40B4-BE49-F238E27FC236}">
                    <a16:creationId xmlns:a16="http://schemas.microsoft.com/office/drawing/2014/main" id="{62B4619C-7E30-244E-BB75-2744C3FA4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Line 7">
                <a:extLst>
                  <a:ext uri="{FF2B5EF4-FFF2-40B4-BE49-F238E27FC236}">
                    <a16:creationId xmlns:a16="http://schemas.microsoft.com/office/drawing/2014/main" id="{A2080396-56C5-1045-9AC1-4E63D536B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3" name="Line 8">
                <a:extLst>
                  <a:ext uri="{FF2B5EF4-FFF2-40B4-BE49-F238E27FC236}">
                    <a16:creationId xmlns:a16="http://schemas.microsoft.com/office/drawing/2014/main" id="{C516DCD9-F2A5-4C48-AD7F-85F7BF45D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4" name="Line 9">
                <a:extLst>
                  <a:ext uri="{FF2B5EF4-FFF2-40B4-BE49-F238E27FC236}">
                    <a16:creationId xmlns:a16="http://schemas.microsoft.com/office/drawing/2014/main" id="{8F082EDC-631E-9346-8148-44072F6A9E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5" name="Line 10">
                <a:extLst>
                  <a:ext uri="{FF2B5EF4-FFF2-40B4-BE49-F238E27FC236}">
                    <a16:creationId xmlns:a16="http://schemas.microsoft.com/office/drawing/2014/main" id="{385364E5-2B0B-6C41-8BC9-999E2468EF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72" name="Group 11">
              <a:extLst>
                <a:ext uri="{FF2B5EF4-FFF2-40B4-BE49-F238E27FC236}">
                  <a16:creationId xmlns:a16="http://schemas.microsoft.com/office/drawing/2014/main" id="{90E2E51B-134A-0945-823E-D29160C4A9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5154" name="Rectangle 12">
                <a:extLst>
                  <a:ext uri="{FF2B5EF4-FFF2-40B4-BE49-F238E27FC236}">
                    <a16:creationId xmlns:a16="http://schemas.microsoft.com/office/drawing/2014/main" id="{0757DA38-A1E2-C644-81A5-428432F78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55" name="Line 13">
                <a:extLst>
                  <a:ext uri="{FF2B5EF4-FFF2-40B4-BE49-F238E27FC236}">
                    <a16:creationId xmlns:a16="http://schemas.microsoft.com/office/drawing/2014/main" id="{2A4AFF47-0ECC-3945-A01F-6164B0B301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6" name="Line 14">
                <a:extLst>
                  <a:ext uri="{FF2B5EF4-FFF2-40B4-BE49-F238E27FC236}">
                    <a16:creationId xmlns:a16="http://schemas.microsoft.com/office/drawing/2014/main" id="{9E603C6C-8ED4-5243-8289-89A208498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7" name="Line 15">
                <a:extLst>
                  <a:ext uri="{FF2B5EF4-FFF2-40B4-BE49-F238E27FC236}">
                    <a16:creationId xmlns:a16="http://schemas.microsoft.com/office/drawing/2014/main" id="{B608E6E3-CFD3-DB40-B101-0E663C4A4A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Line 16">
                <a:extLst>
                  <a:ext uri="{FF2B5EF4-FFF2-40B4-BE49-F238E27FC236}">
                    <a16:creationId xmlns:a16="http://schemas.microsoft.com/office/drawing/2014/main" id="{D4C68CCF-A113-5144-90AA-1EDB3C63C9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9" name="Line 17">
                <a:extLst>
                  <a:ext uri="{FF2B5EF4-FFF2-40B4-BE49-F238E27FC236}">
                    <a16:creationId xmlns:a16="http://schemas.microsoft.com/office/drawing/2014/main" id="{4FD497BD-0AA3-AC4C-9127-B2FDADAB4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73" name="Group 18">
              <a:extLst>
                <a:ext uri="{FF2B5EF4-FFF2-40B4-BE49-F238E27FC236}">
                  <a16:creationId xmlns:a16="http://schemas.microsoft.com/office/drawing/2014/main" id="{D37929C6-BBC9-EB48-A8EB-7A2CE3929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5150" name="Rectangle 19">
                <a:extLst>
                  <a:ext uri="{FF2B5EF4-FFF2-40B4-BE49-F238E27FC236}">
                    <a16:creationId xmlns:a16="http://schemas.microsoft.com/office/drawing/2014/main" id="{0E4966B5-3371-FE4A-9A14-C02BD9E5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51" name="Line 20">
                <a:extLst>
                  <a:ext uri="{FF2B5EF4-FFF2-40B4-BE49-F238E27FC236}">
                    <a16:creationId xmlns:a16="http://schemas.microsoft.com/office/drawing/2014/main" id="{1E962BF9-D77F-8D40-A09E-1FB81BB52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2" name="Line 21">
                <a:extLst>
                  <a:ext uri="{FF2B5EF4-FFF2-40B4-BE49-F238E27FC236}">
                    <a16:creationId xmlns:a16="http://schemas.microsoft.com/office/drawing/2014/main" id="{76E31A7E-7D6C-9241-8740-70DCFD4A5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3" name="Line 22">
                <a:extLst>
                  <a:ext uri="{FF2B5EF4-FFF2-40B4-BE49-F238E27FC236}">
                    <a16:creationId xmlns:a16="http://schemas.microsoft.com/office/drawing/2014/main" id="{328C4108-758E-8541-96FE-D8F1EA1B4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74" name="Group 23">
              <a:extLst>
                <a:ext uri="{FF2B5EF4-FFF2-40B4-BE49-F238E27FC236}">
                  <a16:creationId xmlns:a16="http://schemas.microsoft.com/office/drawing/2014/main" id="{9F858FC3-4EA2-FF4A-9EA2-EE7E8045B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5147" name="Rectangle 24">
                <a:extLst>
                  <a:ext uri="{FF2B5EF4-FFF2-40B4-BE49-F238E27FC236}">
                    <a16:creationId xmlns:a16="http://schemas.microsoft.com/office/drawing/2014/main" id="{AAAEC218-779F-2A44-B001-59B822F14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48" name="Line 25">
                <a:extLst>
                  <a:ext uri="{FF2B5EF4-FFF2-40B4-BE49-F238E27FC236}">
                    <a16:creationId xmlns:a16="http://schemas.microsoft.com/office/drawing/2014/main" id="{BC111362-2EAB-7648-8483-C45D0C289D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9" name="Line 26">
                <a:extLst>
                  <a:ext uri="{FF2B5EF4-FFF2-40B4-BE49-F238E27FC236}">
                    <a16:creationId xmlns:a16="http://schemas.microsoft.com/office/drawing/2014/main" id="{698BFE64-958F-9D41-BD3D-C042DD863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75" name="Group 27">
              <a:extLst>
                <a:ext uri="{FF2B5EF4-FFF2-40B4-BE49-F238E27FC236}">
                  <a16:creationId xmlns:a16="http://schemas.microsoft.com/office/drawing/2014/main" id="{6C5A0303-9EAC-0C41-89BD-9EBF17DC29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5142" name="Rectangle 28">
                <a:extLst>
                  <a:ext uri="{FF2B5EF4-FFF2-40B4-BE49-F238E27FC236}">
                    <a16:creationId xmlns:a16="http://schemas.microsoft.com/office/drawing/2014/main" id="{BC9A0A0A-89CD-0A42-96F6-5E55A0F8C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43" name="Line 29">
                <a:extLst>
                  <a:ext uri="{FF2B5EF4-FFF2-40B4-BE49-F238E27FC236}">
                    <a16:creationId xmlns:a16="http://schemas.microsoft.com/office/drawing/2014/main" id="{85065015-7F4C-CB4C-8AAF-28023BD7B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4" name="Line 30">
                <a:extLst>
                  <a:ext uri="{FF2B5EF4-FFF2-40B4-BE49-F238E27FC236}">
                    <a16:creationId xmlns:a16="http://schemas.microsoft.com/office/drawing/2014/main" id="{FD2C71EB-9E65-864A-9EA8-1C30A3270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5" name="Line 31">
                <a:extLst>
                  <a:ext uri="{FF2B5EF4-FFF2-40B4-BE49-F238E27FC236}">
                    <a16:creationId xmlns:a16="http://schemas.microsoft.com/office/drawing/2014/main" id="{D1D8319E-63B1-5543-A430-31B25266E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Line 32">
                <a:extLst>
                  <a:ext uri="{FF2B5EF4-FFF2-40B4-BE49-F238E27FC236}">
                    <a16:creationId xmlns:a16="http://schemas.microsoft.com/office/drawing/2014/main" id="{D997D5F3-A11F-7F41-BC9E-2E734D04FF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76" name="Group 33">
              <a:extLst>
                <a:ext uri="{FF2B5EF4-FFF2-40B4-BE49-F238E27FC236}">
                  <a16:creationId xmlns:a16="http://schemas.microsoft.com/office/drawing/2014/main" id="{356D73A7-3038-AE4F-B7B6-83E6757680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5138" name="Rectangle 34">
                <a:extLst>
                  <a:ext uri="{FF2B5EF4-FFF2-40B4-BE49-F238E27FC236}">
                    <a16:creationId xmlns:a16="http://schemas.microsoft.com/office/drawing/2014/main" id="{02FA5F7C-D8F2-0846-9DA4-42D81FBF1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39" name="Line 35">
                <a:extLst>
                  <a:ext uri="{FF2B5EF4-FFF2-40B4-BE49-F238E27FC236}">
                    <a16:creationId xmlns:a16="http://schemas.microsoft.com/office/drawing/2014/main" id="{121F0F5C-6A10-934E-956A-7C33E28AC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0" name="Line 36">
                <a:extLst>
                  <a:ext uri="{FF2B5EF4-FFF2-40B4-BE49-F238E27FC236}">
                    <a16:creationId xmlns:a16="http://schemas.microsoft.com/office/drawing/2014/main" id="{CB035701-5558-3444-A97D-34E4FA780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1" name="Line 37">
                <a:extLst>
                  <a:ext uri="{FF2B5EF4-FFF2-40B4-BE49-F238E27FC236}">
                    <a16:creationId xmlns:a16="http://schemas.microsoft.com/office/drawing/2014/main" id="{E5F47E36-788F-C541-B454-10127937E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77" name="Line 38">
              <a:extLst>
                <a:ext uri="{FF2B5EF4-FFF2-40B4-BE49-F238E27FC236}">
                  <a16:creationId xmlns:a16="http://schemas.microsoft.com/office/drawing/2014/main" id="{1E99162A-E7FD-954A-8961-A55FF3F82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Line 39">
              <a:extLst>
                <a:ext uri="{FF2B5EF4-FFF2-40B4-BE49-F238E27FC236}">
                  <a16:creationId xmlns:a16="http://schemas.microsoft.com/office/drawing/2014/main" id="{7CB5E826-FA24-2E48-9E82-4E21BBF61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Line 40">
              <a:extLst>
                <a:ext uri="{FF2B5EF4-FFF2-40B4-BE49-F238E27FC236}">
                  <a16:creationId xmlns:a16="http://schemas.microsoft.com/office/drawing/2014/main" id="{9E3D4A97-9F5D-424A-92B0-3837E7FD58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Line 41">
              <a:extLst>
                <a:ext uri="{FF2B5EF4-FFF2-40B4-BE49-F238E27FC236}">
                  <a16:creationId xmlns:a16="http://schemas.microsoft.com/office/drawing/2014/main" id="{0758E545-38F4-A741-AD94-F49DB4B39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Line 42">
              <a:extLst>
                <a:ext uri="{FF2B5EF4-FFF2-40B4-BE49-F238E27FC236}">
                  <a16:creationId xmlns:a16="http://schemas.microsoft.com/office/drawing/2014/main" id="{C1F9F08B-1D00-DD4A-857F-952469B6F4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Rectangle 43">
              <a:extLst>
                <a:ext uri="{FF2B5EF4-FFF2-40B4-BE49-F238E27FC236}">
                  <a16:creationId xmlns:a16="http://schemas.microsoft.com/office/drawing/2014/main" id="{4D1D7032-D360-C74F-88E5-65CADF8FF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083" name="Rectangle 44">
              <a:extLst>
                <a:ext uri="{FF2B5EF4-FFF2-40B4-BE49-F238E27FC236}">
                  <a16:creationId xmlns:a16="http://schemas.microsoft.com/office/drawing/2014/main" id="{6A656B13-E6D0-4546-9B2A-D2DFBC0CF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084" name="Line 45">
              <a:extLst>
                <a:ext uri="{FF2B5EF4-FFF2-40B4-BE49-F238E27FC236}">
                  <a16:creationId xmlns:a16="http://schemas.microsoft.com/office/drawing/2014/main" id="{F56CCDDB-5BCD-3142-896E-BF1A0DE70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Line 46">
              <a:extLst>
                <a:ext uri="{FF2B5EF4-FFF2-40B4-BE49-F238E27FC236}">
                  <a16:creationId xmlns:a16="http://schemas.microsoft.com/office/drawing/2014/main" id="{C85C0BB4-9C36-6D43-B009-49F076C58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Line 47">
              <a:extLst>
                <a:ext uri="{FF2B5EF4-FFF2-40B4-BE49-F238E27FC236}">
                  <a16:creationId xmlns:a16="http://schemas.microsoft.com/office/drawing/2014/main" id="{AEA2F770-7AF0-2C4F-B3FE-2905069A7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Line 48">
              <a:extLst>
                <a:ext uri="{FF2B5EF4-FFF2-40B4-BE49-F238E27FC236}">
                  <a16:creationId xmlns:a16="http://schemas.microsoft.com/office/drawing/2014/main" id="{885806E3-5162-6341-92AB-0BA86FE928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Line 49">
              <a:extLst>
                <a:ext uri="{FF2B5EF4-FFF2-40B4-BE49-F238E27FC236}">
                  <a16:creationId xmlns:a16="http://schemas.microsoft.com/office/drawing/2014/main" id="{D9170B3C-E10D-144D-BE23-7C74CA4D7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Line 50">
              <a:extLst>
                <a:ext uri="{FF2B5EF4-FFF2-40B4-BE49-F238E27FC236}">
                  <a16:creationId xmlns:a16="http://schemas.microsoft.com/office/drawing/2014/main" id="{89DA8F57-A1F1-3340-B0DB-FD0B9FDD4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Line 51">
              <a:extLst>
                <a:ext uri="{FF2B5EF4-FFF2-40B4-BE49-F238E27FC236}">
                  <a16:creationId xmlns:a16="http://schemas.microsoft.com/office/drawing/2014/main" id="{7E3C372B-B509-4945-BDE5-58AF9EAB2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Line 52">
              <a:extLst>
                <a:ext uri="{FF2B5EF4-FFF2-40B4-BE49-F238E27FC236}">
                  <a16:creationId xmlns:a16="http://schemas.microsoft.com/office/drawing/2014/main" id="{42E3EA42-BDA0-474B-81FB-CB95FFD684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Line 53">
              <a:extLst>
                <a:ext uri="{FF2B5EF4-FFF2-40B4-BE49-F238E27FC236}">
                  <a16:creationId xmlns:a16="http://schemas.microsoft.com/office/drawing/2014/main" id="{86F7AF06-753E-724F-8E8A-3635509C21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Line 54">
              <a:extLst>
                <a:ext uri="{FF2B5EF4-FFF2-40B4-BE49-F238E27FC236}">
                  <a16:creationId xmlns:a16="http://schemas.microsoft.com/office/drawing/2014/main" id="{ACC6B497-2F6A-914D-8DB9-25984D3D8B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Line 55">
              <a:extLst>
                <a:ext uri="{FF2B5EF4-FFF2-40B4-BE49-F238E27FC236}">
                  <a16:creationId xmlns:a16="http://schemas.microsoft.com/office/drawing/2014/main" id="{1B51D0D0-B370-3142-BC14-4B0DD6E8EC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Line 56">
              <a:extLst>
                <a:ext uri="{FF2B5EF4-FFF2-40B4-BE49-F238E27FC236}">
                  <a16:creationId xmlns:a16="http://schemas.microsoft.com/office/drawing/2014/main" id="{C5142A3E-527E-EE47-B604-3AE411A51F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Line 57">
              <a:extLst>
                <a:ext uri="{FF2B5EF4-FFF2-40B4-BE49-F238E27FC236}">
                  <a16:creationId xmlns:a16="http://schemas.microsoft.com/office/drawing/2014/main" id="{85C0B2C5-B0EB-524A-A6D0-8F62BB91CE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Line 58">
              <a:extLst>
                <a:ext uri="{FF2B5EF4-FFF2-40B4-BE49-F238E27FC236}">
                  <a16:creationId xmlns:a16="http://schemas.microsoft.com/office/drawing/2014/main" id="{3472D066-E16D-5240-B3CF-5D946B9A40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Line 59">
              <a:extLst>
                <a:ext uri="{FF2B5EF4-FFF2-40B4-BE49-F238E27FC236}">
                  <a16:creationId xmlns:a16="http://schemas.microsoft.com/office/drawing/2014/main" id="{489C5064-53FA-1444-9C14-899233C9BB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Line 60">
              <a:extLst>
                <a:ext uri="{FF2B5EF4-FFF2-40B4-BE49-F238E27FC236}">
                  <a16:creationId xmlns:a16="http://schemas.microsoft.com/office/drawing/2014/main" id="{BEAEB371-20C1-9249-B8F4-C0BEE002E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Line 61">
              <a:extLst>
                <a:ext uri="{FF2B5EF4-FFF2-40B4-BE49-F238E27FC236}">
                  <a16:creationId xmlns:a16="http://schemas.microsoft.com/office/drawing/2014/main" id="{0263D429-F390-234B-9961-8694527DE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Line 62">
              <a:extLst>
                <a:ext uri="{FF2B5EF4-FFF2-40B4-BE49-F238E27FC236}">
                  <a16:creationId xmlns:a16="http://schemas.microsoft.com/office/drawing/2014/main" id="{608BD6CF-9795-CF42-A8E3-7E315108E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Line 63">
              <a:extLst>
                <a:ext uri="{FF2B5EF4-FFF2-40B4-BE49-F238E27FC236}">
                  <a16:creationId xmlns:a16="http://schemas.microsoft.com/office/drawing/2014/main" id="{04F3AF2C-A958-FC44-946D-74023142F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Line 64">
              <a:extLst>
                <a:ext uri="{FF2B5EF4-FFF2-40B4-BE49-F238E27FC236}">
                  <a16:creationId xmlns:a16="http://schemas.microsoft.com/office/drawing/2014/main" id="{92BED047-35F2-1347-B13F-6EBCDBF9A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65">
              <a:extLst>
                <a:ext uri="{FF2B5EF4-FFF2-40B4-BE49-F238E27FC236}">
                  <a16:creationId xmlns:a16="http://schemas.microsoft.com/office/drawing/2014/main" id="{4889E4CB-5555-9646-A383-67D7B9E76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Line 66">
              <a:extLst>
                <a:ext uri="{FF2B5EF4-FFF2-40B4-BE49-F238E27FC236}">
                  <a16:creationId xmlns:a16="http://schemas.microsoft.com/office/drawing/2014/main" id="{B3BBA716-39D5-0140-AEA6-10CD6D1E6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Line 67">
              <a:extLst>
                <a:ext uri="{FF2B5EF4-FFF2-40B4-BE49-F238E27FC236}">
                  <a16:creationId xmlns:a16="http://schemas.microsoft.com/office/drawing/2014/main" id="{A54F3B30-430F-244A-9403-EAA22BCE8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Line 68">
              <a:extLst>
                <a:ext uri="{FF2B5EF4-FFF2-40B4-BE49-F238E27FC236}">
                  <a16:creationId xmlns:a16="http://schemas.microsoft.com/office/drawing/2014/main" id="{45D8F7D9-10A4-D349-B66B-7A7DD83F62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Line 69">
              <a:extLst>
                <a:ext uri="{FF2B5EF4-FFF2-40B4-BE49-F238E27FC236}">
                  <a16:creationId xmlns:a16="http://schemas.microsoft.com/office/drawing/2014/main" id="{4549F900-424C-864C-B9A1-627798AD6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Line 70">
              <a:extLst>
                <a:ext uri="{FF2B5EF4-FFF2-40B4-BE49-F238E27FC236}">
                  <a16:creationId xmlns:a16="http://schemas.microsoft.com/office/drawing/2014/main" id="{FCF2CD01-9FE2-F444-BBAF-AE3207608F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Line 71">
              <a:extLst>
                <a:ext uri="{FF2B5EF4-FFF2-40B4-BE49-F238E27FC236}">
                  <a16:creationId xmlns:a16="http://schemas.microsoft.com/office/drawing/2014/main" id="{BDD6D346-6650-A64E-82F3-4E617B087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Line 72">
              <a:extLst>
                <a:ext uri="{FF2B5EF4-FFF2-40B4-BE49-F238E27FC236}">
                  <a16:creationId xmlns:a16="http://schemas.microsoft.com/office/drawing/2014/main" id="{3AD79236-2AD8-FA47-85CF-B5CE23F5B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Text Box 73">
              <a:extLst>
                <a:ext uri="{FF2B5EF4-FFF2-40B4-BE49-F238E27FC236}">
                  <a16:creationId xmlns:a16="http://schemas.microsoft.com/office/drawing/2014/main" id="{30EBC694-75D8-6647-A383-856EACEE3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5113" name="Text Box 74">
              <a:extLst>
                <a:ext uri="{FF2B5EF4-FFF2-40B4-BE49-F238E27FC236}">
                  <a16:creationId xmlns:a16="http://schemas.microsoft.com/office/drawing/2014/main" id="{6C65EE10-D2C9-4B47-AC2B-1ECFBEA4F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5114" name="Line 75">
              <a:extLst>
                <a:ext uri="{FF2B5EF4-FFF2-40B4-BE49-F238E27FC236}">
                  <a16:creationId xmlns:a16="http://schemas.microsoft.com/office/drawing/2014/main" id="{48DEEAB6-0BA3-CD4E-ABCA-FABA101FF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Text Box 76">
              <a:extLst>
                <a:ext uri="{FF2B5EF4-FFF2-40B4-BE49-F238E27FC236}">
                  <a16:creationId xmlns:a16="http://schemas.microsoft.com/office/drawing/2014/main" id="{7E7A495F-EEF6-2649-A7DE-2127DCA78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5116" name="Text Box 77">
              <a:extLst>
                <a:ext uri="{FF2B5EF4-FFF2-40B4-BE49-F238E27FC236}">
                  <a16:creationId xmlns:a16="http://schemas.microsoft.com/office/drawing/2014/main" id="{2387BA29-66D7-E446-B55A-17957744C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5117" name="Text Box 78">
              <a:extLst>
                <a:ext uri="{FF2B5EF4-FFF2-40B4-BE49-F238E27FC236}">
                  <a16:creationId xmlns:a16="http://schemas.microsoft.com/office/drawing/2014/main" id="{7AB8278E-9ED3-684F-97BE-76F00EA56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5118" name="Text Box 79">
              <a:extLst>
                <a:ext uri="{FF2B5EF4-FFF2-40B4-BE49-F238E27FC236}">
                  <a16:creationId xmlns:a16="http://schemas.microsoft.com/office/drawing/2014/main" id="{55AB3611-4F0D-494C-869F-46162BCF7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5119" name="Text Box 80">
              <a:extLst>
                <a:ext uri="{FF2B5EF4-FFF2-40B4-BE49-F238E27FC236}">
                  <a16:creationId xmlns:a16="http://schemas.microsoft.com/office/drawing/2014/main" id="{C143BA95-09EA-2A4A-996D-4482D964D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5120" name="Text Box 81">
              <a:extLst>
                <a:ext uri="{FF2B5EF4-FFF2-40B4-BE49-F238E27FC236}">
                  <a16:creationId xmlns:a16="http://schemas.microsoft.com/office/drawing/2014/main" id="{EDB1ED51-F48F-A649-8F45-9048819C4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5121" name="Text Box 82">
              <a:extLst>
                <a:ext uri="{FF2B5EF4-FFF2-40B4-BE49-F238E27FC236}">
                  <a16:creationId xmlns:a16="http://schemas.microsoft.com/office/drawing/2014/main" id="{B1F61EC6-4A05-6B41-8F6B-382C90567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5122" name="Text Box 83">
              <a:extLst>
                <a:ext uri="{FF2B5EF4-FFF2-40B4-BE49-F238E27FC236}">
                  <a16:creationId xmlns:a16="http://schemas.microsoft.com/office/drawing/2014/main" id="{29C012CA-402C-594D-B215-E4493EA8B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5123" name="Line 84">
              <a:extLst>
                <a:ext uri="{FF2B5EF4-FFF2-40B4-BE49-F238E27FC236}">
                  <a16:creationId xmlns:a16="http://schemas.microsoft.com/office/drawing/2014/main" id="{AB575380-9683-2847-8CF9-7214DF0DC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Text Box 85">
              <a:extLst>
                <a:ext uri="{FF2B5EF4-FFF2-40B4-BE49-F238E27FC236}">
                  <a16:creationId xmlns:a16="http://schemas.microsoft.com/office/drawing/2014/main" id="{CCC0ED42-0381-F841-9E1E-C09E4F1C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5125" name="Text Box 86">
              <a:extLst>
                <a:ext uri="{FF2B5EF4-FFF2-40B4-BE49-F238E27FC236}">
                  <a16:creationId xmlns:a16="http://schemas.microsoft.com/office/drawing/2014/main" id="{4AD1CA5B-FFA3-B143-8BC0-F0A21B2CA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5126" name="Text Box 87">
              <a:extLst>
                <a:ext uri="{FF2B5EF4-FFF2-40B4-BE49-F238E27FC236}">
                  <a16:creationId xmlns:a16="http://schemas.microsoft.com/office/drawing/2014/main" id="{65FA871C-5CA8-664A-B1D8-C8BD9FD84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5127" name="Text Box 88">
              <a:extLst>
                <a:ext uri="{FF2B5EF4-FFF2-40B4-BE49-F238E27FC236}">
                  <a16:creationId xmlns:a16="http://schemas.microsoft.com/office/drawing/2014/main" id="{62FDF0E3-3913-094E-B8F2-05E333A14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5128" name="Text Box 89">
              <a:extLst>
                <a:ext uri="{FF2B5EF4-FFF2-40B4-BE49-F238E27FC236}">
                  <a16:creationId xmlns:a16="http://schemas.microsoft.com/office/drawing/2014/main" id="{2810A5FC-E061-E84C-BFAB-5C182D59A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5129" name="Text Box 90">
              <a:extLst>
                <a:ext uri="{FF2B5EF4-FFF2-40B4-BE49-F238E27FC236}">
                  <a16:creationId xmlns:a16="http://schemas.microsoft.com/office/drawing/2014/main" id="{79D0A5B3-88AA-424E-AA03-95A5D03A1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5130" name="Text Box 91">
              <a:extLst>
                <a:ext uri="{FF2B5EF4-FFF2-40B4-BE49-F238E27FC236}">
                  <a16:creationId xmlns:a16="http://schemas.microsoft.com/office/drawing/2014/main" id="{6BFE5814-8803-154E-A9C5-0F485376E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5131" name="Text Box 92">
              <a:extLst>
                <a:ext uri="{FF2B5EF4-FFF2-40B4-BE49-F238E27FC236}">
                  <a16:creationId xmlns:a16="http://schemas.microsoft.com/office/drawing/2014/main" id="{D1D6C3CE-A705-7647-B921-F9F8574A8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5132" name="Text Box 93">
              <a:extLst>
                <a:ext uri="{FF2B5EF4-FFF2-40B4-BE49-F238E27FC236}">
                  <a16:creationId xmlns:a16="http://schemas.microsoft.com/office/drawing/2014/main" id="{D38EA1E1-FA80-3C4D-A2D4-01327CD7C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5133" name="Text Box 94">
              <a:extLst>
                <a:ext uri="{FF2B5EF4-FFF2-40B4-BE49-F238E27FC236}">
                  <a16:creationId xmlns:a16="http://schemas.microsoft.com/office/drawing/2014/main" id="{31F9BAF8-6195-654B-B8C6-28A93FAD0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5134" name="Text Box 95">
              <a:extLst>
                <a:ext uri="{FF2B5EF4-FFF2-40B4-BE49-F238E27FC236}">
                  <a16:creationId xmlns:a16="http://schemas.microsoft.com/office/drawing/2014/main" id="{862525D2-8009-C446-A26A-206ABBC5BA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5135" name="Text Box 96">
              <a:extLst>
                <a:ext uri="{FF2B5EF4-FFF2-40B4-BE49-F238E27FC236}">
                  <a16:creationId xmlns:a16="http://schemas.microsoft.com/office/drawing/2014/main" id="{CEFF1BD1-3A56-2340-8119-D303E7F59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5136" name="Text Box 97">
              <a:extLst>
                <a:ext uri="{FF2B5EF4-FFF2-40B4-BE49-F238E27FC236}">
                  <a16:creationId xmlns:a16="http://schemas.microsoft.com/office/drawing/2014/main" id="{C0B09471-0962-A344-87EB-B3205E479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5137" name="Text Box 98">
              <a:extLst>
                <a:ext uri="{FF2B5EF4-FFF2-40B4-BE49-F238E27FC236}">
                  <a16:creationId xmlns:a16="http://schemas.microsoft.com/office/drawing/2014/main" id="{52D03996-28AC-3B41-8C6C-586AF80FE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5059" name="Rectangle 99">
            <a:extLst>
              <a:ext uri="{FF2B5EF4-FFF2-40B4-BE49-F238E27FC236}">
                <a16:creationId xmlns:a16="http://schemas.microsoft.com/office/drawing/2014/main" id="{CDD7DFBC-4B1B-884D-A5D0-9AD08AFA8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3733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5060" name="Text Box 100">
            <a:extLst>
              <a:ext uri="{FF2B5EF4-FFF2-40B4-BE49-F238E27FC236}">
                <a16:creationId xmlns:a16="http://schemas.microsoft.com/office/drawing/2014/main" id="{8D4E7F54-5F4E-C74E-85C0-2BCFCB4F8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7338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5061" name="Text Box 101">
            <a:extLst>
              <a:ext uri="{FF2B5EF4-FFF2-40B4-BE49-F238E27FC236}">
                <a16:creationId xmlns:a16="http://schemas.microsoft.com/office/drawing/2014/main" id="{3B9C9304-9400-0A46-B711-20486D5498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7244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5062" name="Text Box 102">
            <a:extLst>
              <a:ext uri="{FF2B5EF4-FFF2-40B4-BE49-F238E27FC236}">
                <a16:creationId xmlns:a16="http://schemas.microsoft.com/office/drawing/2014/main" id="{88DB9545-49AB-B64E-898C-38D187D79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505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  <p:sp>
        <p:nvSpPr>
          <p:cNvPr id="45063" name="Text Box 103">
            <a:extLst>
              <a:ext uri="{FF2B5EF4-FFF2-40B4-BE49-F238E27FC236}">
                <a16:creationId xmlns:a16="http://schemas.microsoft.com/office/drawing/2014/main" id="{02C0DD4E-90F1-3E40-895E-30281FE99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4958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5064" name="Text Box 104">
            <a:extLst>
              <a:ext uri="{FF2B5EF4-FFF2-40B4-BE49-F238E27FC236}">
                <a16:creationId xmlns:a16="http://schemas.microsoft.com/office/drawing/2014/main" id="{D4317107-0E74-DA43-8699-8FA52DA0A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5065" name="Rectangle 105">
            <a:extLst>
              <a:ext uri="{FF2B5EF4-FFF2-40B4-BE49-F238E27FC236}">
                <a16:creationId xmlns:a16="http://schemas.microsoft.com/office/drawing/2014/main" id="{A94EC8BA-693B-3446-82F1-892E7301E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981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45066" name="Rectangle 106">
            <a:extLst>
              <a:ext uri="{FF2B5EF4-FFF2-40B4-BE49-F238E27FC236}">
                <a16:creationId xmlns:a16="http://schemas.microsoft.com/office/drawing/2014/main" id="{9037BB84-ED64-3549-AD97-5AAFC752F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7244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5067" name="Text Box 107">
            <a:extLst>
              <a:ext uri="{FF2B5EF4-FFF2-40B4-BE49-F238E27FC236}">
                <a16:creationId xmlns:a16="http://schemas.microsoft.com/office/drawing/2014/main" id="{574D4342-64B2-E747-9BE7-62BFBB341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7244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45068" name="Rectangle 108">
            <a:extLst>
              <a:ext uri="{FF2B5EF4-FFF2-40B4-BE49-F238E27FC236}">
                <a16:creationId xmlns:a16="http://schemas.microsoft.com/office/drawing/2014/main" id="{D0DAB1AE-D867-B24B-B8B1-E9F810BCA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35052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45069" name="Rectangle 109">
            <a:extLst>
              <a:ext uri="{FF2B5EF4-FFF2-40B4-BE49-F238E27FC236}">
                <a16:creationId xmlns:a16="http://schemas.microsoft.com/office/drawing/2014/main" id="{B6B1AA80-F600-584E-A3C3-48C4DA867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495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45070" name="Text Box 110">
            <a:extLst>
              <a:ext uri="{FF2B5EF4-FFF2-40B4-BE49-F238E27FC236}">
                <a16:creationId xmlns:a16="http://schemas.microsoft.com/office/drawing/2014/main" id="{59F08C9C-B199-1B45-B8B5-0D1B6D657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4958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Rectangle 2">
            <a:extLst>
              <a:ext uri="{FF2B5EF4-FFF2-40B4-BE49-F238E27FC236}">
                <a16:creationId xmlns:a16="http://schemas.microsoft.com/office/drawing/2014/main" id="{C6764A99-E2B4-7740-95B5-A8EE373000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(6) Second load completes 1st</a:t>
            </a:r>
          </a:p>
        </p:txBody>
      </p:sp>
      <p:grpSp>
        <p:nvGrpSpPr>
          <p:cNvPr id="46082" name="Group 3">
            <a:extLst>
              <a:ext uri="{FF2B5EF4-FFF2-40B4-BE49-F238E27FC236}">
                <a16:creationId xmlns:a16="http://schemas.microsoft.com/office/drawing/2014/main" id="{8069C24F-D07F-B644-87B2-0EA3E4F5D4A8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6096" name="Group 4">
              <a:extLst>
                <a:ext uri="{FF2B5EF4-FFF2-40B4-BE49-F238E27FC236}">
                  <a16:creationId xmlns:a16="http://schemas.microsoft.com/office/drawing/2014/main" id="{E35C1F7C-4CF1-B843-A2DE-277B25F8B8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6185" name="Rectangle 5">
                <a:extLst>
                  <a:ext uri="{FF2B5EF4-FFF2-40B4-BE49-F238E27FC236}">
                    <a16:creationId xmlns:a16="http://schemas.microsoft.com/office/drawing/2014/main" id="{08A44E76-5214-2247-B96C-5D6F2ECA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86" name="Line 6">
                <a:extLst>
                  <a:ext uri="{FF2B5EF4-FFF2-40B4-BE49-F238E27FC236}">
                    <a16:creationId xmlns:a16="http://schemas.microsoft.com/office/drawing/2014/main" id="{681BA4A8-BB42-2144-99ED-D97A92EA2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Line 7">
                <a:extLst>
                  <a:ext uri="{FF2B5EF4-FFF2-40B4-BE49-F238E27FC236}">
                    <a16:creationId xmlns:a16="http://schemas.microsoft.com/office/drawing/2014/main" id="{4CD9C2AB-26F6-1A41-89FA-E2755638F0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Line 8">
                <a:extLst>
                  <a:ext uri="{FF2B5EF4-FFF2-40B4-BE49-F238E27FC236}">
                    <a16:creationId xmlns:a16="http://schemas.microsoft.com/office/drawing/2014/main" id="{0A3FCE44-DA38-0F41-8F3E-C9B1D249A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Line 9">
                <a:extLst>
                  <a:ext uri="{FF2B5EF4-FFF2-40B4-BE49-F238E27FC236}">
                    <a16:creationId xmlns:a16="http://schemas.microsoft.com/office/drawing/2014/main" id="{C5075C18-E312-9648-9081-6E75D3FEC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Line 10">
                <a:extLst>
                  <a:ext uri="{FF2B5EF4-FFF2-40B4-BE49-F238E27FC236}">
                    <a16:creationId xmlns:a16="http://schemas.microsoft.com/office/drawing/2014/main" id="{EA2EB81F-F874-BE49-88FA-FE161C6F1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97" name="Group 11">
              <a:extLst>
                <a:ext uri="{FF2B5EF4-FFF2-40B4-BE49-F238E27FC236}">
                  <a16:creationId xmlns:a16="http://schemas.microsoft.com/office/drawing/2014/main" id="{688BA3E2-2B49-3A46-9C73-98467D72AF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6179" name="Rectangle 12">
                <a:extLst>
                  <a:ext uri="{FF2B5EF4-FFF2-40B4-BE49-F238E27FC236}">
                    <a16:creationId xmlns:a16="http://schemas.microsoft.com/office/drawing/2014/main" id="{F2807F09-9077-4D46-BFF0-24F7E8CC3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80" name="Line 13">
                <a:extLst>
                  <a:ext uri="{FF2B5EF4-FFF2-40B4-BE49-F238E27FC236}">
                    <a16:creationId xmlns:a16="http://schemas.microsoft.com/office/drawing/2014/main" id="{215A4553-E43E-CC4A-A901-A589B8034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Line 14">
                <a:extLst>
                  <a:ext uri="{FF2B5EF4-FFF2-40B4-BE49-F238E27FC236}">
                    <a16:creationId xmlns:a16="http://schemas.microsoft.com/office/drawing/2014/main" id="{7E34D1BF-A80E-3B4F-BEB4-E0DA5038A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Line 15">
                <a:extLst>
                  <a:ext uri="{FF2B5EF4-FFF2-40B4-BE49-F238E27FC236}">
                    <a16:creationId xmlns:a16="http://schemas.microsoft.com/office/drawing/2014/main" id="{5D15BFA2-216E-E44F-8F1E-4A84BA67FE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Line 16">
                <a:extLst>
                  <a:ext uri="{FF2B5EF4-FFF2-40B4-BE49-F238E27FC236}">
                    <a16:creationId xmlns:a16="http://schemas.microsoft.com/office/drawing/2014/main" id="{C97345BD-1450-2A45-88D2-A43301AE4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Line 17">
                <a:extLst>
                  <a:ext uri="{FF2B5EF4-FFF2-40B4-BE49-F238E27FC236}">
                    <a16:creationId xmlns:a16="http://schemas.microsoft.com/office/drawing/2014/main" id="{EE4EC66E-5394-074C-8A90-CBAE87FDFE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98" name="Group 18">
              <a:extLst>
                <a:ext uri="{FF2B5EF4-FFF2-40B4-BE49-F238E27FC236}">
                  <a16:creationId xmlns:a16="http://schemas.microsoft.com/office/drawing/2014/main" id="{B7D2F28E-250C-924B-A781-700D682877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6175" name="Rectangle 19">
                <a:extLst>
                  <a:ext uri="{FF2B5EF4-FFF2-40B4-BE49-F238E27FC236}">
                    <a16:creationId xmlns:a16="http://schemas.microsoft.com/office/drawing/2014/main" id="{6BB0A5F3-F35E-4943-B517-4FBAAB4A4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76" name="Line 20">
                <a:extLst>
                  <a:ext uri="{FF2B5EF4-FFF2-40B4-BE49-F238E27FC236}">
                    <a16:creationId xmlns:a16="http://schemas.microsoft.com/office/drawing/2014/main" id="{67930F62-696E-F942-BF5E-909DFABEC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Line 21">
                <a:extLst>
                  <a:ext uri="{FF2B5EF4-FFF2-40B4-BE49-F238E27FC236}">
                    <a16:creationId xmlns:a16="http://schemas.microsoft.com/office/drawing/2014/main" id="{33BD8A09-85F9-5247-AA54-5C2D2DCB73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Line 22">
                <a:extLst>
                  <a:ext uri="{FF2B5EF4-FFF2-40B4-BE49-F238E27FC236}">
                    <a16:creationId xmlns:a16="http://schemas.microsoft.com/office/drawing/2014/main" id="{BA44EBF6-D147-B34C-9CDA-7AAB1A4D5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99" name="Group 23">
              <a:extLst>
                <a:ext uri="{FF2B5EF4-FFF2-40B4-BE49-F238E27FC236}">
                  <a16:creationId xmlns:a16="http://schemas.microsoft.com/office/drawing/2014/main" id="{564857D7-3DC8-2642-B645-77A60FBA7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6172" name="Rectangle 24">
                <a:extLst>
                  <a:ext uri="{FF2B5EF4-FFF2-40B4-BE49-F238E27FC236}">
                    <a16:creationId xmlns:a16="http://schemas.microsoft.com/office/drawing/2014/main" id="{D7678448-32AC-7A4F-BE04-3D2FE606A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73" name="Line 25">
                <a:extLst>
                  <a:ext uri="{FF2B5EF4-FFF2-40B4-BE49-F238E27FC236}">
                    <a16:creationId xmlns:a16="http://schemas.microsoft.com/office/drawing/2014/main" id="{89FB3A3F-CA79-7C49-8B26-5A4EE5C17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Line 26">
                <a:extLst>
                  <a:ext uri="{FF2B5EF4-FFF2-40B4-BE49-F238E27FC236}">
                    <a16:creationId xmlns:a16="http://schemas.microsoft.com/office/drawing/2014/main" id="{F6F40C7B-C970-AE49-8CB5-080733A5C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00" name="Group 27">
              <a:extLst>
                <a:ext uri="{FF2B5EF4-FFF2-40B4-BE49-F238E27FC236}">
                  <a16:creationId xmlns:a16="http://schemas.microsoft.com/office/drawing/2014/main" id="{0350D985-059A-444E-B29F-72B1AC130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6167" name="Rectangle 28">
                <a:extLst>
                  <a:ext uri="{FF2B5EF4-FFF2-40B4-BE49-F238E27FC236}">
                    <a16:creationId xmlns:a16="http://schemas.microsoft.com/office/drawing/2014/main" id="{9F8BC3DC-5C8D-F347-A608-E6914A6AC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68" name="Line 29">
                <a:extLst>
                  <a:ext uri="{FF2B5EF4-FFF2-40B4-BE49-F238E27FC236}">
                    <a16:creationId xmlns:a16="http://schemas.microsoft.com/office/drawing/2014/main" id="{2C62139A-3D22-044F-BC98-0C0F353E7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Line 30">
                <a:extLst>
                  <a:ext uri="{FF2B5EF4-FFF2-40B4-BE49-F238E27FC236}">
                    <a16:creationId xmlns:a16="http://schemas.microsoft.com/office/drawing/2014/main" id="{DFA48599-8C61-ED44-89BF-224A2826D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Line 31">
                <a:extLst>
                  <a:ext uri="{FF2B5EF4-FFF2-40B4-BE49-F238E27FC236}">
                    <a16:creationId xmlns:a16="http://schemas.microsoft.com/office/drawing/2014/main" id="{E42B82A9-BC23-C143-95AA-1CE72CD0B2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Line 32">
                <a:extLst>
                  <a:ext uri="{FF2B5EF4-FFF2-40B4-BE49-F238E27FC236}">
                    <a16:creationId xmlns:a16="http://schemas.microsoft.com/office/drawing/2014/main" id="{548A9D87-5757-F746-93CD-B60429B1A1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01" name="Group 33">
              <a:extLst>
                <a:ext uri="{FF2B5EF4-FFF2-40B4-BE49-F238E27FC236}">
                  <a16:creationId xmlns:a16="http://schemas.microsoft.com/office/drawing/2014/main" id="{0915A6FB-1B77-4545-82F6-48582F06C6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6163" name="Rectangle 34">
                <a:extLst>
                  <a:ext uri="{FF2B5EF4-FFF2-40B4-BE49-F238E27FC236}">
                    <a16:creationId xmlns:a16="http://schemas.microsoft.com/office/drawing/2014/main" id="{E80174D8-5740-B54A-8B2B-DFDA4A826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64" name="Line 35">
                <a:extLst>
                  <a:ext uri="{FF2B5EF4-FFF2-40B4-BE49-F238E27FC236}">
                    <a16:creationId xmlns:a16="http://schemas.microsoft.com/office/drawing/2014/main" id="{A5087D10-D2F1-A245-BD8C-AAFE1B216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Line 36">
                <a:extLst>
                  <a:ext uri="{FF2B5EF4-FFF2-40B4-BE49-F238E27FC236}">
                    <a16:creationId xmlns:a16="http://schemas.microsoft.com/office/drawing/2014/main" id="{6E348002-315D-854A-A69E-BF4E45037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Line 37">
                <a:extLst>
                  <a:ext uri="{FF2B5EF4-FFF2-40B4-BE49-F238E27FC236}">
                    <a16:creationId xmlns:a16="http://schemas.microsoft.com/office/drawing/2014/main" id="{D68D72F8-3493-2C42-88DA-3F768503B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02" name="Line 38">
              <a:extLst>
                <a:ext uri="{FF2B5EF4-FFF2-40B4-BE49-F238E27FC236}">
                  <a16:creationId xmlns:a16="http://schemas.microsoft.com/office/drawing/2014/main" id="{7826C6AC-C88F-8347-A3DA-D7B523234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39">
              <a:extLst>
                <a:ext uri="{FF2B5EF4-FFF2-40B4-BE49-F238E27FC236}">
                  <a16:creationId xmlns:a16="http://schemas.microsoft.com/office/drawing/2014/main" id="{56E20498-42F8-E749-BA51-7B41161C7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Line 40">
              <a:extLst>
                <a:ext uri="{FF2B5EF4-FFF2-40B4-BE49-F238E27FC236}">
                  <a16:creationId xmlns:a16="http://schemas.microsoft.com/office/drawing/2014/main" id="{1AE71E86-6F8E-774C-A849-93D06A963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Line 41">
              <a:extLst>
                <a:ext uri="{FF2B5EF4-FFF2-40B4-BE49-F238E27FC236}">
                  <a16:creationId xmlns:a16="http://schemas.microsoft.com/office/drawing/2014/main" id="{C6DCC21E-16C0-B048-A128-67BBB4CDE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Line 42">
              <a:extLst>
                <a:ext uri="{FF2B5EF4-FFF2-40B4-BE49-F238E27FC236}">
                  <a16:creationId xmlns:a16="http://schemas.microsoft.com/office/drawing/2014/main" id="{19FBC632-102E-A84B-BBC7-C8675EB97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Rectangle 43">
              <a:extLst>
                <a:ext uri="{FF2B5EF4-FFF2-40B4-BE49-F238E27FC236}">
                  <a16:creationId xmlns:a16="http://schemas.microsoft.com/office/drawing/2014/main" id="{A4E25245-022E-1943-A5DD-5B6E0D6BB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08" name="Rectangle 44">
              <a:extLst>
                <a:ext uri="{FF2B5EF4-FFF2-40B4-BE49-F238E27FC236}">
                  <a16:creationId xmlns:a16="http://schemas.microsoft.com/office/drawing/2014/main" id="{E5F142C5-9448-B04B-AEAA-79D928C25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09" name="Line 45">
              <a:extLst>
                <a:ext uri="{FF2B5EF4-FFF2-40B4-BE49-F238E27FC236}">
                  <a16:creationId xmlns:a16="http://schemas.microsoft.com/office/drawing/2014/main" id="{713B2936-7B99-1C4E-94A9-6D2A16072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Line 46">
              <a:extLst>
                <a:ext uri="{FF2B5EF4-FFF2-40B4-BE49-F238E27FC236}">
                  <a16:creationId xmlns:a16="http://schemas.microsoft.com/office/drawing/2014/main" id="{24EB87DC-9904-1444-9138-73CC5082C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Line 47">
              <a:extLst>
                <a:ext uri="{FF2B5EF4-FFF2-40B4-BE49-F238E27FC236}">
                  <a16:creationId xmlns:a16="http://schemas.microsoft.com/office/drawing/2014/main" id="{6BEEC1B1-CC94-E345-BE21-F79B47D8D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Line 48">
              <a:extLst>
                <a:ext uri="{FF2B5EF4-FFF2-40B4-BE49-F238E27FC236}">
                  <a16:creationId xmlns:a16="http://schemas.microsoft.com/office/drawing/2014/main" id="{C8496149-E753-DC4C-BAF5-1D5A6A117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Line 49">
              <a:extLst>
                <a:ext uri="{FF2B5EF4-FFF2-40B4-BE49-F238E27FC236}">
                  <a16:creationId xmlns:a16="http://schemas.microsoft.com/office/drawing/2014/main" id="{7294FBD0-962A-1D40-8610-483A8DE98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Line 50">
              <a:extLst>
                <a:ext uri="{FF2B5EF4-FFF2-40B4-BE49-F238E27FC236}">
                  <a16:creationId xmlns:a16="http://schemas.microsoft.com/office/drawing/2014/main" id="{1907FEC6-C5FA-F142-BD7F-7EFB87ED2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Line 51">
              <a:extLst>
                <a:ext uri="{FF2B5EF4-FFF2-40B4-BE49-F238E27FC236}">
                  <a16:creationId xmlns:a16="http://schemas.microsoft.com/office/drawing/2014/main" id="{AF7FE0A1-1B78-C048-A1B8-E2E75EFB3B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Line 52">
              <a:extLst>
                <a:ext uri="{FF2B5EF4-FFF2-40B4-BE49-F238E27FC236}">
                  <a16:creationId xmlns:a16="http://schemas.microsoft.com/office/drawing/2014/main" id="{9451E117-3478-A74B-8780-FB5FCE2DE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Line 53">
              <a:extLst>
                <a:ext uri="{FF2B5EF4-FFF2-40B4-BE49-F238E27FC236}">
                  <a16:creationId xmlns:a16="http://schemas.microsoft.com/office/drawing/2014/main" id="{B6241ECD-1351-2A45-8181-D85E2E364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Line 54">
              <a:extLst>
                <a:ext uri="{FF2B5EF4-FFF2-40B4-BE49-F238E27FC236}">
                  <a16:creationId xmlns:a16="http://schemas.microsoft.com/office/drawing/2014/main" id="{C2025E4E-1D24-F64E-9625-DC91C1062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Line 55">
              <a:extLst>
                <a:ext uri="{FF2B5EF4-FFF2-40B4-BE49-F238E27FC236}">
                  <a16:creationId xmlns:a16="http://schemas.microsoft.com/office/drawing/2014/main" id="{D77CE7A3-829C-8F42-AB98-0C832E5B1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Line 56">
              <a:extLst>
                <a:ext uri="{FF2B5EF4-FFF2-40B4-BE49-F238E27FC236}">
                  <a16:creationId xmlns:a16="http://schemas.microsoft.com/office/drawing/2014/main" id="{096C5F88-802B-2F45-B4D2-061057B50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Line 57">
              <a:extLst>
                <a:ext uri="{FF2B5EF4-FFF2-40B4-BE49-F238E27FC236}">
                  <a16:creationId xmlns:a16="http://schemas.microsoft.com/office/drawing/2014/main" id="{33135093-B9E6-3843-83AA-F085D372F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Line 58">
              <a:extLst>
                <a:ext uri="{FF2B5EF4-FFF2-40B4-BE49-F238E27FC236}">
                  <a16:creationId xmlns:a16="http://schemas.microsoft.com/office/drawing/2014/main" id="{4FC527A2-0E9A-C148-83DF-339077528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Line 59">
              <a:extLst>
                <a:ext uri="{FF2B5EF4-FFF2-40B4-BE49-F238E27FC236}">
                  <a16:creationId xmlns:a16="http://schemas.microsoft.com/office/drawing/2014/main" id="{6814208F-CE1A-924B-AD81-8995D41AA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Line 60">
              <a:extLst>
                <a:ext uri="{FF2B5EF4-FFF2-40B4-BE49-F238E27FC236}">
                  <a16:creationId xmlns:a16="http://schemas.microsoft.com/office/drawing/2014/main" id="{AEBD3F42-8733-904B-A802-2146BF086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Line 61">
              <a:extLst>
                <a:ext uri="{FF2B5EF4-FFF2-40B4-BE49-F238E27FC236}">
                  <a16:creationId xmlns:a16="http://schemas.microsoft.com/office/drawing/2014/main" id="{6960F764-C9A0-9344-89A5-6C36B4096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Line 62">
              <a:extLst>
                <a:ext uri="{FF2B5EF4-FFF2-40B4-BE49-F238E27FC236}">
                  <a16:creationId xmlns:a16="http://schemas.microsoft.com/office/drawing/2014/main" id="{443B6C9C-158E-B54F-8463-694482CC6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Line 63">
              <a:extLst>
                <a:ext uri="{FF2B5EF4-FFF2-40B4-BE49-F238E27FC236}">
                  <a16:creationId xmlns:a16="http://schemas.microsoft.com/office/drawing/2014/main" id="{C4B88E76-DAE0-D942-91A2-E13A564195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Line 64">
              <a:extLst>
                <a:ext uri="{FF2B5EF4-FFF2-40B4-BE49-F238E27FC236}">
                  <a16:creationId xmlns:a16="http://schemas.microsoft.com/office/drawing/2014/main" id="{B32688C2-55E1-5646-AB51-BA31FE507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65">
              <a:extLst>
                <a:ext uri="{FF2B5EF4-FFF2-40B4-BE49-F238E27FC236}">
                  <a16:creationId xmlns:a16="http://schemas.microsoft.com/office/drawing/2014/main" id="{430C6154-0CF3-4348-B5FE-69716310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Line 66">
              <a:extLst>
                <a:ext uri="{FF2B5EF4-FFF2-40B4-BE49-F238E27FC236}">
                  <a16:creationId xmlns:a16="http://schemas.microsoft.com/office/drawing/2014/main" id="{38F27F55-E659-004E-9216-15D003D24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Line 67">
              <a:extLst>
                <a:ext uri="{FF2B5EF4-FFF2-40B4-BE49-F238E27FC236}">
                  <a16:creationId xmlns:a16="http://schemas.microsoft.com/office/drawing/2014/main" id="{47CDD018-73A9-CE48-BBD5-12B73BBEA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Line 68">
              <a:extLst>
                <a:ext uri="{FF2B5EF4-FFF2-40B4-BE49-F238E27FC236}">
                  <a16:creationId xmlns:a16="http://schemas.microsoft.com/office/drawing/2014/main" id="{AC786CF5-C290-414E-B04D-D8B718794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Line 69">
              <a:extLst>
                <a:ext uri="{FF2B5EF4-FFF2-40B4-BE49-F238E27FC236}">
                  <a16:creationId xmlns:a16="http://schemas.microsoft.com/office/drawing/2014/main" id="{064CC528-1BDB-1C4D-A7E1-5DA1E3E52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Line 70">
              <a:extLst>
                <a:ext uri="{FF2B5EF4-FFF2-40B4-BE49-F238E27FC236}">
                  <a16:creationId xmlns:a16="http://schemas.microsoft.com/office/drawing/2014/main" id="{96B8FD41-5E87-5A42-B95B-A221FB8D8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Line 71">
              <a:extLst>
                <a:ext uri="{FF2B5EF4-FFF2-40B4-BE49-F238E27FC236}">
                  <a16:creationId xmlns:a16="http://schemas.microsoft.com/office/drawing/2014/main" id="{796105B7-DEAF-8949-BF19-0532F6326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Line 72">
              <a:extLst>
                <a:ext uri="{FF2B5EF4-FFF2-40B4-BE49-F238E27FC236}">
                  <a16:creationId xmlns:a16="http://schemas.microsoft.com/office/drawing/2014/main" id="{C1FD2368-617F-B349-AAF9-AB2B8F587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Text Box 73">
              <a:extLst>
                <a:ext uri="{FF2B5EF4-FFF2-40B4-BE49-F238E27FC236}">
                  <a16:creationId xmlns:a16="http://schemas.microsoft.com/office/drawing/2014/main" id="{C58D9363-7F1E-5B42-85D7-C693A63B2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6138" name="Text Box 74">
              <a:extLst>
                <a:ext uri="{FF2B5EF4-FFF2-40B4-BE49-F238E27FC236}">
                  <a16:creationId xmlns:a16="http://schemas.microsoft.com/office/drawing/2014/main" id="{8F303DC4-337D-3849-B372-E6E119A8FD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6139" name="Line 75">
              <a:extLst>
                <a:ext uri="{FF2B5EF4-FFF2-40B4-BE49-F238E27FC236}">
                  <a16:creationId xmlns:a16="http://schemas.microsoft.com/office/drawing/2014/main" id="{068C8B8E-CE57-F144-99E2-D45AA1D407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Text Box 76">
              <a:extLst>
                <a:ext uri="{FF2B5EF4-FFF2-40B4-BE49-F238E27FC236}">
                  <a16:creationId xmlns:a16="http://schemas.microsoft.com/office/drawing/2014/main" id="{05598C41-96B0-354C-A8FE-891FCCCA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6141" name="Text Box 77">
              <a:extLst>
                <a:ext uri="{FF2B5EF4-FFF2-40B4-BE49-F238E27FC236}">
                  <a16:creationId xmlns:a16="http://schemas.microsoft.com/office/drawing/2014/main" id="{8DEF6725-4877-E748-9C6D-F7DB513FAC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6142" name="Text Box 78">
              <a:extLst>
                <a:ext uri="{FF2B5EF4-FFF2-40B4-BE49-F238E27FC236}">
                  <a16:creationId xmlns:a16="http://schemas.microsoft.com/office/drawing/2014/main" id="{564BE4C2-6270-424D-B9E1-7EBC184B4A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6143" name="Text Box 79">
              <a:extLst>
                <a:ext uri="{FF2B5EF4-FFF2-40B4-BE49-F238E27FC236}">
                  <a16:creationId xmlns:a16="http://schemas.microsoft.com/office/drawing/2014/main" id="{DE4F0D8A-7911-F046-AAA2-5B2AE63E9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6144" name="Text Box 80">
              <a:extLst>
                <a:ext uri="{FF2B5EF4-FFF2-40B4-BE49-F238E27FC236}">
                  <a16:creationId xmlns:a16="http://schemas.microsoft.com/office/drawing/2014/main" id="{DA5B80F3-0848-A645-9100-894C587673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6145" name="Text Box 81">
              <a:extLst>
                <a:ext uri="{FF2B5EF4-FFF2-40B4-BE49-F238E27FC236}">
                  <a16:creationId xmlns:a16="http://schemas.microsoft.com/office/drawing/2014/main" id="{BDF86171-A3D2-A44A-B15B-51CCDBDFB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6146" name="Text Box 82">
              <a:extLst>
                <a:ext uri="{FF2B5EF4-FFF2-40B4-BE49-F238E27FC236}">
                  <a16:creationId xmlns:a16="http://schemas.microsoft.com/office/drawing/2014/main" id="{55076624-3739-0542-B1D0-976D43AE6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6147" name="Text Box 83">
              <a:extLst>
                <a:ext uri="{FF2B5EF4-FFF2-40B4-BE49-F238E27FC236}">
                  <a16:creationId xmlns:a16="http://schemas.microsoft.com/office/drawing/2014/main" id="{FB88AF8D-5E21-714E-921C-034237EF5B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6148" name="Line 84">
              <a:extLst>
                <a:ext uri="{FF2B5EF4-FFF2-40B4-BE49-F238E27FC236}">
                  <a16:creationId xmlns:a16="http://schemas.microsoft.com/office/drawing/2014/main" id="{7A896A56-D145-3147-932E-E0647C59A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Text Box 85">
              <a:extLst>
                <a:ext uri="{FF2B5EF4-FFF2-40B4-BE49-F238E27FC236}">
                  <a16:creationId xmlns:a16="http://schemas.microsoft.com/office/drawing/2014/main" id="{8C0911DC-7910-E442-8968-ED081806D5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6150" name="Text Box 86">
              <a:extLst>
                <a:ext uri="{FF2B5EF4-FFF2-40B4-BE49-F238E27FC236}">
                  <a16:creationId xmlns:a16="http://schemas.microsoft.com/office/drawing/2014/main" id="{EA25DC37-DEFA-B248-879B-9B9C800A93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6151" name="Text Box 87">
              <a:extLst>
                <a:ext uri="{FF2B5EF4-FFF2-40B4-BE49-F238E27FC236}">
                  <a16:creationId xmlns:a16="http://schemas.microsoft.com/office/drawing/2014/main" id="{EBFBE95F-9A11-7441-9C81-C89B71598F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6152" name="Text Box 88">
              <a:extLst>
                <a:ext uri="{FF2B5EF4-FFF2-40B4-BE49-F238E27FC236}">
                  <a16:creationId xmlns:a16="http://schemas.microsoft.com/office/drawing/2014/main" id="{4C71DB08-EB8A-664F-AE35-8EB594966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6153" name="Text Box 89">
              <a:extLst>
                <a:ext uri="{FF2B5EF4-FFF2-40B4-BE49-F238E27FC236}">
                  <a16:creationId xmlns:a16="http://schemas.microsoft.com/office/drawing/2014/main" id="{281EB5D8-1DAE-3B43-82DC-515BAABB2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6154" name="Text Box 90">
              <a:extLst>
                <a:ext uri="{FF2B5EF4-FFF2-40B4-BE49-F238E27FC236}">
                  <a16:creationId xmlns:a16="http://schemas.microsoft.com/office/drawing/2014/main" id="{D486D545-5F98-B743-90B2-6410C09CB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6155" name="Text Box 91">
              <a:extLst>
                <a:ext uri="{FF2B5EF4-FFF2-40B4-BE49-F238E27FC236}">
                  <a16:creationId xmlns:a16="http://schemas.microsoft.com/office/drawing/2014/main" id="{2B9A6EF0-9729-9F40-923A-730785854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6156" name="Text Box 92">
              <a:extLst>
                <a:ext uri="{FF2B5EF4-FFF2-40B4-BE49-F238E27FC236}">
                  <a16:creationId xmlns:a16="http://schemas.microsoft.com/office/drawing/2014/main" id="{E3D5B4E8-BFA5-5043-AB98-F4B75E429B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6157" name="Text Box 93">
              <a:extLst>
                <a:ext uri="{FF2B5EF4-FFF2-40B4-BE49-F238E27FC236}">
                  <a16:creationId xmlns:a16="http://schemas.microsoft.com/office/drawing/2014/main" id="{5334BDF5-BBD3-B448-AD54-7947FCE82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6158" name="Text Box 94">
              <a:extLst>
                <a:ext uri="{FF2B5EF4-FFF2-40B4-BE49-F238E27FC236}">
                  <a16:creationId xmlns:a16="http://schemas.microsoft.com/office/drawing/2014/main" id="{A1A12DC6-265A-7748-AC01-7F53AE39A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6159" name="Text Box 95">
              <a:extLst>
                <a:ext uri="{FF2B5EF4-FFF2-40B4-BE49-F238E27FC236}">
                  <a16:creationId xmlns:a16="http://schemas.microsoft.com/office/drawing/2014/main" id="{74811B1A-FB3F-CE44-B32E-5A1ED4911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6160" name="Text Box 96">
              <a:extLst>
                <a:ext uri="{FF2B5EF4-FFF2-40B4-BE49-F238E27FC236}">
                  <a16:creationId xmlns:a16="http://schemas.microsoft.com/office/drawing/2014/main" id="{E6A2629D-2B93-F54A-B928-720DB4ADC2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6161" name="Text Box 97">
              <a:extLst>
                <a:ext uri="{FF2B5EF4-FFF2-40B4-BE49-F238E27FC236}">
                  <a16:creationId xmlns:a16="http://schemas.microsoft.com/office/drawing/2014/main" id="{C6C3B714-DB64-0C41-9036-045EEBF3B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6162" name="Text Box 98">
              <a:extLst>
                <a:ext uri="{FF2B5EF4-FFF2-40B4-BE49-F238E27FC236}">
                  <a16:creationId xmlns:a16="http://schemas.microsoft.com/office/drawing/2014/main" id="{F1BA0E9D-4FCB-424D-B02E-C95791B9E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6083" name="Rectangle 99">
            <a:extLst>
              <a:ext uri="{FF2B5EF4-FFF2-40B4-BE49-F238E27FC236}">
                <a16:creationId xmlns:a16="http://schemas.microsoft.com/office/drawing/2014/main" id="{23BFE426-5A63-5D4F-A5E9-F3BFB2E61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37338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6084" name="Text Box 100">
            <a:extLst>
              <a:ext uri="{FF2B5EF4-FFF2-40B4-BE49-F238E27FC236}">
                <a16:creationId xmlns:a16="http://schemas.microsoft.com/office/drawing/2014/main" id="{4C708440-8943-314E-97C5-E5A9F0B0F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7338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6085" name="Text Box 101">
            <a:extLst>
              <a:ext uri="{FF2B5EF4-FFF2-40B4-BE49-F238E27FC236}">
                <a16:creationId xmlns:a16="http://schemas.microsoft.com/office/drawing/2014/main" id="{741A272E-0EEF-264A-83B7-A70B8BB40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7244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6086" name="Text Box 102">
            <a:extLst>
              <a:ext uri="{FF2B5EF4-FFF2-40B4-BE49-F238E27FC236}">
                <a16:creationId xmlns:a16="http://schemas.microsoft.com/office/drawing/2014/main" id="{F382AE07-1540-4F4D-9A68-FF3580423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029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</a:p>
        </p:txBody>
      </p:sp>
      <p:sp>
        <p:nvSpPr>
          <p:cNvPr id="46087" name="Text Box 103">
            <a:extLst>
              <a:ext uri="{FF2B5EF4-FFF2-40B4-BE49-F238E27FC236}">
                <a16:creationId xmlns:a16="http://schemas.microsoft.com/office/drawing/2014/main" id="{91F8446E-B504-334F-A2EA-C20986EC79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6088" name="Rectangle 104">
            <a:extLst>
              <a:ext uri="{FF2B5EF4-FFF2-40B4-BE49-F238E27FC236}">
                <a16:creationId xmlns:a16="http://schemas.microsoft.com/office/drawing/2014/main" id="{8F2177B5-3C12-544B-9C6E-CA28D0DF3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7244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6089" name="Text Box 105">
            <a:extLst>
              <a:ext uri="{FF2B5EF4-FFF2-40B4-BE49-F238E27FC236}">
                <a16:creationId xmlns:a16="http://schemas.microsoft.com/office/drawing/2014/main" id="{32BB81F4-5878-D44D-A789-DDE18A746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7244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46090" name="Rectangle 106">
            <a:extLst>
              <a:ext uri="{FF2B5EF4-FFF2-40B4-BE49-F238E27FC236}">
                <a16:creationId xmlns:a16="http://schemas.microsoft.com/office/drawing/2014/main" id="{F63B0FAE-EC25-3942-86A4-837540221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5720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load2</a:t>
            </a:r>
          </a:p>
        </p:txBody>
      </p:sp>
      <p:sp>
        <p:nvSpPr>
          <p:cNvPr id="46091" name="Text Box 107">
            <a:extLst>
              <a:ext uri="{FF2B5EF4-FFF2-40B4-BE49-F238E27FC236}">
                <a16:creationId xmlns:a16="http://schemas.microsoft.com/office/drawing/2014/main" id="{0571F210-06B6-114A-9BCB-28D74C37A6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0292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46092" name="Text Box 108">
            <a:extLst>
              <a:ext uri="{FF2B5EF4-FFF2-40B4-BE49-F238E27FC236}">
                <a16:creationId xmlns:a16="http://schemas.microsoft.com/office/drawing/2014/main" id="{221DCBE6-81FC-9947-9CE2-3421BB3F5C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7244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value2</a:t>
            </a:r>
          </a:p>
        </p:txBody>
      </p:sp>
      <p:sp>
        <p:nvSpPr>
          <p:cNvPr id="46093" name="Text Box 109">
            <a:extLst>
              <a:ext uri="{FF2B5EF4-FFF2-40B4-BE49-F238E27FC236}">
                <a16:creationId xmlns:a16="http://schemas.microsoft.com/office/drawing/2014/main" id="{5DDD209D-FA93-8A4F-A40E-35FC59D62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50292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value2</a:t>
            </a:r>
          </a:p>
        </p:txBody>
      </p:sp>
      <p:sp>
        <p:nvSpPr>
          <p:cNvPr id="46094" name="Text Box 110">
            <a:extLst>
              <a:ext uri="{FF2B5EF4-FFF2-40B4-BE49-F238E27FC236}">
                <a16:creationId xmlns:a16="http://schemas.microsoft.com/office/drawing/2014/main" id="{AE62AECB-4046-3746-A43F-7EDC163B9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19812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value2</a:t>
            </a:r>
          </a:p>
        </p:txBody>
      </p:sp>
      <p:sp>
        <p:nvSpPr>
          <p:cNvPr id="46095" name="Text Box 111">
            <a:extLst>
              <a:ext uri="{FF2B5EF4-FFF2-40B4-BE49-F238E27FC236}">
                <a16:creationId xmlns:a16="http://schemas.microsoft.com/office/drawing/2014/main" id="{3342B4A4-1335-AA4B-ACAB-4ED57546F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648200"/>
            <a:ext cx="277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2">
            <a:extLst>
              <a:ext uri="{FF2B5EF4-FFF2-40B4-BE49-F238E27FC236}">
                <a16:creationId xmlns:a16="http://schemas.microsoft.com/office/drawing/2014/main" id="{0CA15092-B8B3-B547-987B-7A4E46E85A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(7)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3DA8EBB4-07E2-E847-BFAB-70B6184AC30D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1219200"/>
            <a:ext cx="7391400" cy="4818063"/>
            <a:chOff x="528" y="768"/>
            <a:chExt cx="4656" cy="3035"/>
          </a:xfrm>
        </p:grpSpPr>
        <p:grpSp>
          <p:nvGrpSpPr>
            <p:cNvPr id="47115" name="Group 4">
              <a:extLst>
                <a:ext uri="{FF2B5EF4-FFF2-40B4-BE49-F238E27FC236}">
                  <a16:creationId xmlns:a16="http://schemas.microsoft.com/office/drawing/2014/main" id="{7EBD6F5A-32FE-8243-9DBF-063A0E96DE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1632"/>
              <a:ext cx="720" cy="864"/>
              <a:chOff x="864" y="1344"/>
              <a:chExt cx="720" cy="864"/>
            </a:xfrm>
          </p:grpSpPr>
          <p:sp>
            <p:nvSpPr>
              <p:cNvPr id="47204" name="Rectangle 5">
                <a:extLst>
                  <a:ext uri="{FF2B5EF4-FFF2-40B4-BE49-F238E27FC236}">
                    <a16:creationId xmlns:a16="http://schemas.microsoft.com/office/drawing/2014/main" id="{5C89F95F-9064-8146-AEDC-330F0EF1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205" name="Line 6">
                <a:extLst>
                  <a:ext uri="{FF2B5EF4-FFF2-40B4-BE49-F238E27FC236}">
                    <a16:creationId xmlns:a16="http://schemas.microsoft.com/office/drawing/2014/main" id="{ED967C58-4005-2F48-8C68-71609FD764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6" name="Line 7">
                <a:extLst>
                  <a:ext uri="{FF2B5EF4-FFF2-40B4-BE49-F238E27FC236}">
                    <a16:creationId xmlns:a16="http://schemas.microsoft.com/office/drawing/2014/main" id="{0D07E876-963E-3241-BEEA-8F96AB830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7" name="Line 8">
                <a:extLst>
                  <a:ext uri="{FF2B5EF4-FFF2-40B4-BE49-F238E27FC236}">
                    <a16:creationId xmlns:a16="http://schemas.microsoft.com/office/drawing/2014/main" id="{5CA85EEB-07FE-1242-BECB-0D08FF8CD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8" name="Line 9">
                <a:extLst>
                  <a:ext uri="{FF2B5EF4-FFF2-40B4-BE49-F238E27FC236}">
                    <a16:creationId xmlns:a16="http://schemas.microsoft.com/office/drawing/2014/main" id="{ED352CA7-6927-2C44-A38D-885280FA8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9" name="Line 10">
                <a:extLst>
                  <a:ext uri="{FF2B5EF4-FFF2-40B4-BE49-F238E27FC236}">
                    <a16:creationId xmlns:a16="http://schemas.microsoft.com/office/drawing/2014/main" id="{58EB4FDB-7D63-7A4D-84A5-01F498C45E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16" name="Group 11">
              <a:extLst>
                <a:ext uri="{FF2B5EF4-FFF2-40B4-BE49-F238E27FC236}">
                  <a16:creationId xmlns:a16="http://schemas.microsoft.com/office/drawing/2014/main" id="{071B7129-0D04-D746-A087-5516CA1D5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8" y="1008"/>
              <a:ext cx="720" cy="864"/>
              <a:chOff x="864" y="1344"/>
              <a:chExt cx="720" cy="864"/>
            </a:xfrm>
          </p:grpSpPr>
          <p:sp>
            <p:nvSpPr>
              <p:cNvPr id="47198" name="Rectangle 12">
                <a:extLst>
                  <a:ext uri="{FF2B5EF4-FFF2-40B4-BE49-F238E27FC236}">
                    <a16:creationId xmlns:a16="http://schemas.microsoft.com/office/drawing/2014/main" id="{153DB810-77E3-F343-91BD-FC8816057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4" y="1344"/>
                <a:ext cx="720" cy="86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99" name="Line 13">
                <a:extLst>
                  <a:ext uri="{FF2B5EF4-FFF2-40B4-BE49-F238E27FC236}">
                    <a16:creationId xmlns:a16="http://schemas.microsoft.com/office/drawing/2014/main" id="{0AA900BA-946B-E447-89E5-7E2D7BA7AF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206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0" name="Line 14">
                <a:extLst>
                  <a:ext uri="{FF2B5EF4-FFF2-40B4-BE49-F238E27FC236}">
                    <a16:creationId xmlns:a16="http://schemas.microsoft.com/office/drawing/2014/main" id="{62F52BDD-A53D-E148-BAB2-84B4C0D7E3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92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1" name="Line 15">
                <a:extLst>
                  <a:ext uri="{FF2B5EF4-FFF2-40B4-BE49-F238E27FC236}">
                    <a16:creationId xmlns:a16="http://schemas.microsoft.com/office/drawing/2014/main" id="{2D41186D-2DEF-8E43-9778-ADF055C39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77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2" name="Line 16">
                <a:extLst>
                  <a:ext uri="{FF2B5EF4-FFF2-40B4-BE49-F238E27FC236}">
                    <a16:creationId xmlns:a16="http://schemas.microsoft.com/office/drawing/2014/main" id="{F3B85BEC-8CA9-7345-B8B5-A73C2C09F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63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03" name="Line 17">
                <a:extLst>
                  <a:ext uri="{FF2B5EF4-FFF2-40B4-BE49-F238E27FC236}">
                    <a16:creationId xmlns:a16="http://schemas.microsoft.com/office/drawing/2014/main" id="{782B0F61-A23A-FE4C-AFDB-CE24712798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" y="148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17" name="Group 18">
              <a:extLst>
                <a:ext uri="{FF2B5EF4-FFF2-40B4-BE49-F238E27FC236}">
                  <a16:creationId xmlns:a16="http://schemas.microsoft.com/office/drawing/2014/main" id="{C12E0C97-BF4A-6444-B206-45D3069B6C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48"/>
              <a:ext cx="720" cy="576"/>
              <a:chOff x="3504" y="1248"/>
              <a:chExt cx="720" cy="576"/>
            </a:xfrm>
          </p:grpSpPr>
          <p:sp>
            <p:nvSpPr>
              <p:cNvPr id="47194" name="Rectangle 19">
                <a:extLst>
                  <a:ext uri="{FF2B5EF4-FFF2-40B4-BE49-F238E27FC236}">
                    <a16:creationId xmlns:a16="http://schemas.microsoft.com/office/drawing/2014/main" id="{7EEAEE67-7567-1247-961F-C141C0A6A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1248"/>
                <a:ext cx="720" cy="5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95" name="Line 20">
                <a:extLst>
                  <a:ext uri="{FF2B5EF4-FFF2-40B4-BE49-F238E27FC236}">
                    <a16:creationId xmlns:a16="http://schemas.microsoft.com/office/drawing/2014/main" id="{F9EB8667-156A-2347-B95A-B03ED0464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6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6" name="Line 21">
                <a:extLst>
                  <a:ext uri="{FF2B5EF4-FFF2-40B4-BE49-F238E27FC236}">
                    <a16:creationId xmlns:a16="http://schemas.microsoft.com/office/drawing/2014/main" id="{FAB50E44-56C5-174B-800F-4A67CA9B0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536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7" name="Line 22">
                <a:extLst>
                  <a:ext uri="{FF2B5EF4-FFF2-40B4-BE49-F238E27FC236}">
                    <a16:creationId xmlns:a16="http://schemas.microsoft.com/office/drawing/2014/main" id="{F33EB02E-9DD2-CB48-BDA6-8CC47D51E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1392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18" name="Group 23">
              <a:extLst>
                <a:ext uri="{FF2B5EF4-FFF2-40B4-BE49-F238E27FC236}">
                  <a16:creationId xmlns:a16="http://schemas.microsoft.com/office/drawing/2014/main" id="{51815835-6E27-6140-9C8A-0AFD5199B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2688"/>
              <a:ext cx="720" cy="432"/>
              <a:chOff x="2208" y="2736"/>
              <a:chExt cx="720" cy="432"/>
            </a:xfrm>
          </p:grpSpPr>
          <p:sp>
            <p:nvSpPr>
              <p:cNvPr id="47191" name="Rectangle 24">
                <a:extLst>
                  <a:ext uri="{FF2B5EF4-FFF2-40B4-BE49-F238E27FC236}">
                    <a16:creationId xmlns:a16="http://schemas.microsoft.com/office/drawing/2014/main" id="{91FD91D8-647A-A44E-A7A1-F77F7441B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2736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92" name="Line 25">
                <a:extLst>
                  <a:ext uri="{FF2B5EF4-FFF2-40B4-BE49-F238E27FC236}">
                    <a16:creationId xmlns:a16="http://schemas.microsoft.com/office/drawing/2014/main" id="{FEB8574E-F604-3845-9871-C0F09AB4F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3" name="Line 26">
                <a:extLst>
                  <a:ext uri="{FF2B5EF4-FFF2-40B4-BE49-F238E27FC236}">
                    <a16:creationId xmlns:a16="http://schemas.microsoft.com/office/drawing/2014/main" id="{6270EDE1-F4CD-0A46-8349-249FE95953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288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19" name="Group 27">
              <a:extLst>
                <a:ext uri="{FF2B5EF4-FFF2-40B4-BE49-F238E27FC236}">
                  <a16:creationId xmlns:a16="http://schemas.microsoft.com/office/drawing/2014/main" id="{1ED491AA-01A8-D64B-978E-06839FCFFB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88"/>
              <a:ext cx="720" cy="432"/>
              <a:chOff x="2160" y="2880"/>
              <a:chExt cx="720" cy="432"/>
            </a:xfrm>
          </p:grpSpPr>
          <p:sp>
            <p:nvSpPr>
              <p:cNvPr id="47186" name="Rectangle 28">
                <a:extLst>
                  <a:ext uri="{FF2B5EF4-FFF2-40B4-BE49-F238E27FC236}">
                    <a16:creationId xmlns:a16="http://schemas.microsoft.com/office/drawing/2014/main" id="{EAE13AAF-2AEB-704C-967E-E68B7CA0E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80"/>
                <a:ext cx="720" cy="43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87" name="Line 29">
                <a:extLst>
                  <a:ext uri="{FF2B5EF4-FFF2-40B4-BE49-F238E27FC236}">
                    <a16:creationId xmlns:a16="http://schemas.microsoft.com/office/drawing/2014/main" id="{E9E94EAD-13C5-F543-A1D8-2186C221A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8" name="Line 30">
                <a:extLst>
                  <a:ext uri="{FF2B5EF4-FFF2-40B4-BE49-F238E27FC236}">
                    <a16:creationId xmlns:a16="http://schemas.microsoft.com/office/drawing/2014/main" id="{14E9CF43-70E3-1648-B3F0-E0109445E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4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9" name="Line 31">
                <a:extLst>
                  <a:ext uri="{FF2B5EF4-FFF2-40B4-BE49-F238E27FC236}">
                    <a16:creationId xmlns:a16="http://schemas.microsoft.com/office/drawing/2014/main" id="{5F1010CF-DA01-2544-AB7B-C666ED9F92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4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90" name="Line 32">
                <a:extLst>
                  <a:ext uri="{FF2B5EF4-FFF2-40B4-BE49-F238E27FC236}">
                    <a16:creationId xmlns:a16="http://schemas.microsoft.com/office/drawing/2014/main" id="{16AD3618-5DC3-C242-BA6F-6E1A350A07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2880"/>
                <a:ext cx="0" cy="4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20" name="Group 33">
              <a:extLst>
                <a:ext uri="{FF2B5EF4-FFF2-40B4-BE49-F238E27FC236}">
                  <a16:creationId xmlns:a16="http://schemas.microsoft.com/office/drawing/2014/main" id="{8E971633-4761-9C45-A385-73946ED28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688"/>
              <a:ext cx="720" cy="288"/>
              <a:chOff x="3504" y="3216"/>
              <a:chExt cx="720" cy="288"/>
            </a:xfrm>
          </p:grpSpPr>
          <p:sp>
            <p:nvSpPr>
              <p:cNvPr id="47182" name="Rectangle 34">
                <a:extLst>
                  <a:ext uri="{FF2B5EF4-FFF2-40B4-BE49-F238E27FC236}">
                    <a16:creationId xmlns:a16="http://schemas.microsoft.com/office/drawing/2014/main" id="{AE4408B9-EFC8-974E-8CB1-958B4B16B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216"/>
                <a:ext cx="720" cy="28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83" name="Line 35">
                <a:extLst>
                  <a:ext uri="{FF2B5EF4-FFF2-40B4-BE49-F238E27FC236}">
                    <a16:creationId xmlns:a16="http://schemas.microsoft.com/office/drawing/2014/main" id="{B6F80D85-66A5-DB4D-B5AF-93A16B8087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360"/>
                <a:ext cx="72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4" name="Line 36">
                <a:extLst>
                  <a:ext uri="{FF2B5EF4-FFF2-40B4-BE49-F238E27FC236}">
                    <a16:creationId xmlns:a16="http://schemas.microsoft.com/office/drawing/2014/main" id="{F98C1C78-B038-C647-8F82-DF3123ED1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85" name="Line 37">
                <a:extLst>
                  <a:ext uri="{FF2B5EF4-FFF2-40B4-BE49-F238E27FC236}">
                    <a16:creationId xmlns:a16="http://schemas.microsoft.com/office/drawing/2014/main" id="{41B55A61-3767-6F40-822D-017BA39BD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216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7121" name="Line 38">
              <a:extLst>
                <a:ext uri="{FF2B5EF4-FFF2-40B4-BE49-F238E27FC236}">
                  <a16:creationId xmlns:a16="http://schemas.microsoft.com/office/drawing/2014/main" id="{D39A1B47-655F-AD48-872E-CCCD1CEBF2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496"/>
              <a:ext cx="672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Line 39">
              <a:extLst>
                <a:ext uri="{FF2B5EF4-FFF2-40B4-BE49-F238E27FC236}">
                  <a16:creationId xmlns:a16="http://schemas.microsoft.com/office/drawing/2014/main" id="{FA9BE426-191F-F54A-9DAA-0E3196A7B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134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40">
              <a:extLst>
                <a:ext uri="{FF2B5EF4-FFF2-40B4-BE49-F238E27FC236}">
                  <a16:creationId xmlns:a16="http://schemas.microsoft.com/office/drawing/2014/main" id="{98644FEC-5728-E648-AE16-7C3C471E7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648"/>
              <a:ext cx="4176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Line 41">
              <a:extLst>
                <a:ext uri="{FF2B5EF4-FFF2-40B4-BE49-F238E27FC236}">
                  <a16:creationId xmlns:a16="http://schemas.microsoft.com/office/drawing/2014/main" id="{D55E2CD1-EB4E-984A-8D32-E891F8CC3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4" y="1008"/>
              <a:ext cx="0" cy="26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Line 42">
              <a:extLst>
                <a:ext uri="{FF2B5EF4-FFF2-40B4-BE49-F238E27FC236}">
                  <a16:creationId xmlns:a16="http://schemas.microsoft.com/office/drawing/2014/main" id="{DB40DCF4-A796-DE4B-94C9-7683B478E9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96"/>
              <a:ext cx="0" cy="115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Rectangle 43">
              <a:extLst>
                <a:ext uri="{FF2B5EF4-FFF2-40B4-BE49-F238E27FC236}">
                  <a16:creationId xmlns:a16="http://schemas.microsoft.com/office/drawing/2014/main" id="{AAB94D6C-9996-214F-A339-74C0FF1A5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127" name="Rectangle 44">
              <a:extLst>
                <a:ext uri="{FF2B5EF4-FFF2-40B4-BE49-F238E27FC236}">
                  <a16:creationId xmlns:a16="http://schemas.microsoft.com/office/drawing/2014/main" id="{0E180A12-A47B-B64E-BCCB-781E58D73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312"/>
              <a:ext cx="720" cy="14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128" name="Line 45">
              <a:extLst>
                <a:ext uri="{FF2B5EF4-FFF2-40B4-BE49-F238E27FC236}">
                  <a16:creationId xmlns:a16="http://schemas.microsoft.com/office/drawing/2014/main" id="{76AFB85B-AF84-B84C-92C8-7BFEB4FBE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1008"/>
              <a:ext cx="0" cy="24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Line 46">
              <a:extLst>
                <a:ext uri="{FF2B5EF4-FFF2-40B4-BE49-F238E27FC236}">
                  <a16:creationId xmlns:a16="http://schemas.microsoft.com/office/drawing/2014/main" id="{3DCFF4CE-5C34-884B-A147-3EDE7AA39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1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Line 47">
              <a:extLst>
                <a:ext uri="{FF2B5EF4-FFF2-40B4-BE49-F238E27FC236}">
                  <a16:creationId xmlns:a16="http://schemas.microsoft.com/office/drawing/2014/main" id="{AAD3BA8D-9AD9-1D48-B22C-490FEBE4E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Line 48">
              <a:extLst>
                <a:ext uri="{FF2B5EF4-FFF2-40B4-BE49-F238E27FC236}">
                  <a16:creationId xmlns:a16="http://schemas.microsoft.com/office/drawing/2014/main" id="{D5D73E2C-93FB-E845-88C5-632F01FCB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23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Line 49">
              <a:extLst>
                <a:ext uri="{FF2B5EF4-FFF2-40B4-BE49-F238E27FC236}">
                  <a16:creationId xmlns:a16="http://schemas.microsoft.com/office/drawing/2014/main" id="{DF442D23-41F6-1A42-9461-303C70D92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872"/>
              <a:ext cx="0" cy="4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Line 50">
              <a:extLst>
                <a:ext uri="{FF2B5EF4-FFF2-40B4-BE49-F238E27FC236}">
                  <a16:creationId xmlns:a16="http://schemas.microsoft.com/office/drawing/2014/main" id="{4C5AB3BF-3A59-F540-B6C8-347AB79FA1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Line 51">
              <a:extLst>
                <a:ext uri="{FF2B5EF4-FFF2-40B4-BE49-F238E27FC236}">
                  <a16:creationId xmlns:a16="http://schemas.microsoft.com/office/drawing/2014/main" id="{681864C2-F951-564A-9436-678929A50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Line 52">
              <a:extLst>
                <a:ext uri="{FF2B5EF4-FFF2-40B4-BE49-F238E27FC236}">
                  <a16:creationId xmlns:a16="http://schemas.microsoft.com/office/drawing/2014/main" id="{DE5D6CB3-CF2B-7D4C-8C16-D93A19D41C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01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Line 53">
              <a:extLst>
                <a:ext uri="{FF2B5EF4-FFF2-40B4-BE49-F238E27FC236}">
                  <a16:creationId xmlns:a16="http://schemas.microsoft.com/office/drawing/2014/main" id="{573C8662-BE09-8E45-8C36-5151B83C8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8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Line 54">
              <a:extLst>
                <a:ext uri="{FF2B5EF4-FFF2-40B4-BE49-F238E27FC236}">
                  <a16:creationId xmlns:a16="http://schemas.microsoft.com/office/drawing/2014/main" id="{84A71A41-6F29-FF42-8F55-4312B835D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016"/>
              <a:ext cx="18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Line 55">
              <a:extLst>
                <a:ext uri="{FF2B5EF4-FFF2-40B4-BE49-F238E27FC236}">
                  <a16:creationId xmlns:a16="http://schemas.microsoft.com/office/drawing/2014/main" id="{9D98D2C2-CFE3-6C4A-B011-A47B6390C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824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Line 56">
              <a:extLst>
                <a:ext uri="{FF2B5EF4-FFF2-40B4-BE49-F238E27FC236}">
                  <a16:creationId xmlns:a16="http://schemas.microsoft.com/office/drawing/2014/main" id="{DC9F71DD-ADF3-0A40-B336-75AE4F267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2160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Line 57">
              <a:extLst>
                <a:ext uri="{FF2B5EF4-FFF2-40B4-BE49-F238E27FC236}">
                  <a16:creationId xmlns:a16="http://schemas.microsoft.com/office/drawing/2014/main" id="{9CB3469A-4C16-5F4D-8868-707EEBF48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1824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Line 58">
              <a:extLst>
                <a:ext uri="{FF2B5EF4-FFF2-40B4-BE49-F238E27FC236}">
                  <a16:creationId xmlns:a16="http://schemas.microsoft.com/office/drawing/2014/main" id="{9EA566C1-A510-234A-9B36-08942A856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" y="2160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Line 59">
              <a:extLst>
                <a:ext uri="{FF2B5EF4-FFF2-40B4-BE49-F238E27FC236}">
                  <a16:creationId xmlns:a16="http://schemas.microsoft.com/office/drawing/2014/main" id="{2737ACE9-97AC-8D47-B205-818F40443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216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Line 60">
              <a:extLst>
                <a:ext uri="{FF2B5EF4-FFF2-40B4-BE49-F238E27FC236}">
                  <a16:creationId xmlns:a16="http://schemas.microsoft.com/office/drawing/2014/main" id="{AC1FF217-2DF8-014B-A3D5-947F9096CA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496"/>
              <a:ext cx="1104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Line 61">
              <a:extLst>
                <a:ext uri="{FF2B5EF4-FFF2-40B4-BE49-F238E27FC236}">
                  <a16:creationId xmlns:a16="http://schemas.microsoft.com/office/drawing/2014/main" id="{E4494544-EA29-9F4E-82AC-7F0396EBD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Line 62">
              <a:extLst>
                <a:ext uri="{FF2B5EF4-FFF2-40B4-BE49-F238E27FC236}">
                  <a16:creationId xmlns:a16="http://schemas.microsoft.com/office/drawing/2014/main" id="{86B7413D-2F1A-3D42-B530-AF44BA879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96"/>
              <a:ext cx="28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Line 63">
              <a:extLst>
                <a:ext uri="{FF2B5EF4-FFF2-40B4-BE49-F238E27FC236}">
                  <a16:creationId xmlns:a16="http://schemas.microsoft.com/office/drawing/2014/main" id="{7DED3EF5-0ACB-2244-BDA8-EC0B97326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496"/>
              <a:ext cx="1008" cy="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Line 64">
              <a:extLst>
                <a:ext uri="{FF2B5EF4-FFF2-40B4-BE49-F238E27FC236}">
                  <a16:creationId xmlns:a16="http://schemas.microsoft.com/office/drawing/2014/main" id="{CE9D84CA-AEB5-EC45-8445-A009A7F92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60"/>
              <a:ext cx="9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65">
              <a:extLst>
                <a:ext uri="{FF2B5EF4-FFF2-40B4-BE49-F238E27FC236}">
                  <a16:creationId xmlns:a16="http://schemas.microsoft.com/office/drawing/2014/main" id="{B563F651-C074-A14C-8E7F-DD47EBEA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12"/>
              <a:ext cx="96" cy="48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lnTo>
                    <a:pt x="48" y="0"/>
                  </a:lnTo>
                  <a:lnTo>
                    <a:pt x="96" y="4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Line 66">
              <a:extLst>
                <a:ext uri="{FF2B5EF4-FFF2-40B4-BE49-F238E27FC236}">
                  <a16:creationId xmlns:a16="http://schemas.microsoft.com/office/drawing/2014/main" id="{618DFB46-E5E5-C240-895E-8DE8A1BC9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Line 67">
              <a:extLst>
                <a:ext uri="{FF2B5EF4-FFF2-40B4-BE49-F238E27FC236}">
                  <a16:creationId xmlns:a16="http://schemas.microsoft.com/office/drawing/2014/main" id="{8B69514D-2E49-B047-888A-E5EE65E4DE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3456"/>
              <a:ext cx="0" cy="192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none" w="sm" len="sm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Line 68">
              <a:extLst>
                <a:ext uri="{FF2B5EF4-FFF2-40B4-BE49-F238E27FC236}">
                  <a16:creationId xmlns:a16="http://schemas.microsoft.com/office/drawing/2014/main" id="{6F85DDEB-9A34-B144-A2F3-895EB25D7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4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Line 69">
              <a:extLst>
                <a:ext uri="{FF2B5EF4-FFF2-40B4-BE49-F238E27FC236}">
                  <a16:creationId xmlns:a16="http://schemas.microsoft.com/office/drawing/2014/main" id="{9919E96D-0BE4-874B-8F30-67192C319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Line 70">
              <a:extLst>
                <a:ext uri="{FF2B5EF4-FFF2-40B4-BE49-F238E27FC236}">
                  <a16:creationId xmlns:a16="http://schemas.microsoft.com/office/drawing/2014/main" id="{828737BF-676B-F042-A99C-D907E8433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Line 71">
              <a:extLst>
                <a:ext uri="{FF2B5EF4-FFF2-40B4-BE49-F238E27FC236}">
                  <a16:creationId xmlns:a16="http://schemas.microsoft.com/office/drawing/2014/main" id="{CC03D0AF-CFC0-3548-9D25-E42ACEF17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976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Line 72">
              <a:extLst>
                <a:ext uri="{FF2B5EF4-FFF2-40B4-BE49-F238E27FC236}">
                  <a16:creationId xmlns:a16="http://schemas.microsoft.com/office/drawing/2014/main" id="{B29626E2-4B1C-534B-A774-F0C279F52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2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Text Box 73">
              <a:extLst>
                <a:ext uri="{FF2B5EF4-FFF2-40B4-BE49-F238E27FC236}">
                  <a16:creationId xmlns:a16="http://schemas.microsoft.com/office/drawing/2014/main" id="{A94001D8-9FF0-3C44-8762-2916F4B40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2" y="3264"/>
              <a:ext cx="5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To memory</a:t>
              </a:r>
            </a:p>
          </p:txBody>
        </p:sp>
        <p:sp>
          <p:nvSpPr>
            <p:cNvPr id="47157" name="Text Box 74">
              <a:extLst>
                <a:ext uri="{FF2B5EF4-FFF2-40B4-BE49-F238E27FC236}">
                  <a16:creationId xmlns:a16="http://schemas.microsoft.com/office/drawing/2014/main" id="{AF292216-EC53-CB40-9C13-FE91F2745F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1296"/>
              <a:ext cx="61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memory</a:t>
              </a:r>
            </a:p>
          </p:txBody>
        </p:sp>
        <p:sp>
          <p:nvSpPr>
            <p:cNvPr id="47158" name="Line 75">
              <a:extLst>
                <a:ext uri="{FF2B5EF4-FFF2-40B4-BE49-F238E27FC236}">
                  <a16:creationId xmlns:a16="http://schemas.microsoft.com/office/drawing/2014/main" id="{F419DCE0-6A37-8F43-89ED-B70746FAA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1440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Text Box 76">
              <a:extLst>
                <a:ext uri="{FF2B5EF4-FFF2-40B4-BE49-F238E27FC236}">
                  <a16:creationId xmlns:a16="http://schemas.microsoft.com/office/drawing/2014/main" id="{1D1C019D-8887-CD4B-98D9-531D3DBC33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1920"/>
              <a:ext cx="51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BUSES</a:t>
              </a:r>
            </a:p>
          </p:txBody>
        </p:sp>
        <p:sp>
          <p:nvSpPr>
            <p:cNvPr id="47160" name="Text Box 77">
              <a:extLst>
                <a:ext uri="{FF2B5EF4-FFF2-40B4-BE49-F238E27FC236}">
                  <a16:creationId xmlns:a16="http://schemas.microsoft.com/office/drawing/2014/main" id="{1B8C6DF1-08F7-D34A-9B6D-90AA7FE58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56"/>
              <a:ext cx="779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 BUS</a:t>
              </a:r>
            </a:p>
          </p:txBody>
        </p:sp>
        <p:sp>
          <p:nvSpPr>
            <p:cNvPr id="47161" name="Text Box 78">
              <a:extLst>
                <a:ext uri="{FF2B5EF4-FFF2-40B4-BE49-F238E27FC236}">
                  <a16:creationId xmlns:a16="http://schemas.microsoft.com/office/drawing/2014/main" id="{BCFF1B05-7BDB-134B-B21B-7539239CD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736"/>
              <a:ext cx="6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47162" name="Text Box 79">
              <a:extLst>
                <a:ext uri="{FF2B5EF4-FFF2-40B4-BE49-F238E27FC236}">
                  <a16:creationId xmlns:a16="http://schemas.microsoft.com/office/drawing/2014/main" id="{10805B74-FA60-CD46-8F04-E895412E6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0" y="3312"/>
              <a:ext cx="48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adders</a:t>
              </a:r>
            </a:p>
          </p:txBody>
        </p:sp>
        <p:sp>
          <p:nvSpPr>
            <p:cNvPr id="47163" name="Text Box 80">
              <a:extLst>
                <a:ext uri="{FF2B5EF4-FFF2-40B4-BE49-F238E27FC236}">
                  <a16:creationId xmlns:a16="http://schemas.microsoft.com/office/drawing/2014/main" id="{D1BEDE2A-F629-DA4D-A4F6-F6C8A54A8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3312"/>
              <a:ext cx="60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FP multipliers</a:t>
              </a:r>
            </a:p>
          </p:txBody>
        </p:sp>
        <p:sp>
          <p:nvSpPr>
            <p:cNvPr id="47164" name="Text Box 81">
              <a:extLst>
                <a:ext uri="{FF2B5EF4-FFF2-40B4-BE49-F238E27FC236}">
                  <a16:creationId xmlns:a16="http://schemas.microsoft.com/office/drawing/2014/main" id="{F95E06AE-4219-774B-9FFA-DDEF2D126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1584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LOAD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7165" name="Text Box 82">
              <a:extLst>
                <a:ext uri="{FF2B5EF4-FFF2-40B4-BE49-F238E27FC236}">
                  <a16:creationId xmlns:a16="http://schemas.microsoft.com/office/drawing/2014/main" id="{5C976879-E3A5-8646-9DEC-F80AE1B75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2736"/>
              <a:ext cx="49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STORE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BUFFERS</a:t>
              </a:r>
            </a:p>
          </p:txBody>
        </p:sp>
        <p:sp>
          <p:nvSpPr>
            <p:cNvPr id="47166" name="Text Box 83">
              <a:extLst>
                <a:ext uri="{FF2B5EF4-FFF2-40B4-BE49-F238E27FC236}">
                  <a16:creationId xmlns:a16="http://schemas.microsoft.com/office/drawing/2014/main" id="{6038F320-AA06-6745-81BF-3B309BFF9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2" y="816"/>
              <a:ext cx="591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FLT. PT.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OPERATION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QUEUE</a:t>
              </a:r>
            </a:p>
          </p:txBody>
        </p:sp>
        <p:sp>
          <p:nvSpPr>
            <p:cNvPr id="47167" name="Line 84">
              <a:extLst>
                <a:ext uri="{FF2B5EF4-FFF2-40B4-BE49-F238E27FC236}">
                  <a16:creationId xmlns:a16="http://schemas.microsoft.com/office/drawing/2014/main" id="{EADA48C9-7ABB-E540-AAFD-C8A8984123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7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Text Box 85">
              <a:extLst>
                <a:ext uri="{FF2B5EF4-FFF2-40B4-BE49-F238E27FC236}">
                  <a16:creationId xmlns:a16="http://schemas.microsoft.com/office/drawing/2014/main" id="{D45A2E8D-D60B-A646-824F-ECC76ECA3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768"/>
              <a:ext cx="55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From IF unit</a:t>
              </a:r>
            </a:p>
          </p:txBody>
        </p:sp>
        <p:sp>
          <p:nvSpPr>
            <p:cNvPr id="47169" name="Text Box 86">
              <a:extLst>
                <a:ext uri="{FF2B5EF4-FFF2-40B4-BE49-F238E27FC236}">
                  <a16:creationId xmlns:a16="http://schemas.microsoft.com/office/drawing/2014/main" id="{6A5C2EC2-392B-494B-817C-93304D3C7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" y="1392"/>
              <a:ext cx="5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 FP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REGISTERS</a:t>
              </a:r>
            </a:p>
          </p:txBody>
        </p:sp>
        <p:sp>
          <p:nvSpPr>
            <p:cNvPr id="47170" name="Text Box 87">
              <a:extLst>
                <a:ext uri="{FF2B5EF4-FFF2-40B4-BE49-F238E27FC236}">
                  <a16:creationId xmlns:a16="http://schemas.microsoft.com/office/drawing/2014/main" id="{A0F5DA03-B70A-744F-A030-B1A633E38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35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7171" name="Text Box 88">
              <a:extLst>
                <a:ext uri="{FF2B5EF4-FFF2-40B4-BE49-F238E27FC236}">
                  <a16:creationId xmlns:a16="http://schemas.microsoft.com/office/drawing/2014/main" id="{C2FD1335-014B-EA42-9D9A-120A42328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20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7172" name="Text Box 89">
              <a:extLst>
                <a:ext uri="{FF2B5EF4-FFF2-40B4-BE49-F238E27FC236}">
                  <a16:creationId xmlns:a16="http://schemas.microsoft.com/office/drawing/2014/main" id="{28383CCD-D263-3942-9C3B-BE45AA6B9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06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7173" name="Text Box 90">
              <a:extLst>
                <a:ext uri="{FF2B5EF4-FFF2-40B4-BE49-F238E27FC236}">
                  <a16:creationId xmlns:a16="http://schemas.microsoft.com/office/drawing/2014/main" id="{3EC0B945-D261-A049-A2AE-3CD628238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92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47174" name="Text Box 91">
              <a:extLst>
                <a:ext uri="{FF2B5EF4-FFF2-40B4-BE49-F238E27FC236}">
                  <a16:creationId xmlns:a16="http://schemas.microsoft.com/office/drawing/2014/main" id="{0C12ECF7-A21C-474A-9D16-80A14A6C7D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7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47175" name="Text Box 92">
              <a:extLst>
                <a:ext uri="{FF2B5EF4-FFF2-40B4-BE49-F238E27FC236}">
                  <a16:creationId xmlns:a16="http://schemas.microsoft.com/office/drawing/2014/main" id="{A2CE4DD9-346F-2042-9D2C-F0742528D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6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47176" name="Text Box 93">
              <a:extLst>
                <a:ext uri="{FF2B5EF4-FFF2-40B4-BE49-F238E27FC236}">
                  <a16:creationId xmlns:a16="http://schemas.microsoft.com/office/drawing/2014/main" id="{1EC49582-6A85-974D-97D6-AD98389BB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976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7177" name="Text Box 94">
              <a:extLst>
                <a:ext uri="{FF2B5EF4-FFF2-40B4-BE49-F238E27FC236}">
                  <a16:creationId xmlns:a16="http://schemas.microsoft.com/office/drawing/2014/main" id="{62165932-CFEB-2242-9284-0B4FD511FE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7178" name="Text Box 95">
              <a:extLst>
                <a:ext uri="{FF2B5EF4-FFF2-40B4-BE49-F238E27FC236}">
                  <a16:creationId xmlns:a16="http://schemas.microsoft.com/office/drawing/2014/main" id="{4D68EE4D-AD75-F344-B20B-144F6AAAC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83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7179" name="Text Box 96">
              <a:extLst>
                <a:ext uri="{FF2B5EF4-FFF2-40B4-BE49-F238E27FC236}">
                  <a16:creationId xmlns:a16="http://schemas.microsoft.com/office/drawing/2014/main" id="{4C274426-CF62-5B42-AAB4-5AE7DC72C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7180" name="Text Box 97">
              <a:extLst>
                <a:ext uri="{FF2B5EF4-FFF2-40B4-BE49-F238E27FC236}">
                  <a16:creationId xmlns:a16="http://schemas.microsoft.com/office/drawing/2014/main" id="{35A294B3-1491-A347-9022-23F7FCB5F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2688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47181" name="Text Box 98">
              <a:extLst>
                <a:ext uri="{FF2B5EF4-FFF2-40B4-BE49-F238E27FC236}">
                  <a16:creationId xmlns:a16="http://schemas.microsoft.com/office/drawing/2014/main" id="{63E781F0-A971-CC43-8820-FEF7D7E74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6" y="3648"/>
              <a:ext cx="116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COMMON DATA BUS (CDB)</a:t>
              </a:r>
            </a:p>
          </p:txBody>
        </p:sp>
      </p:grpSp>
      <p:sp>
        <p:nvSpPr>
          <p:cNvPr id="47107" name="Text Box 99">
            <a:extLst>
              <a:ext uri="{FF2B5EF4-FFF2-40B4-BE49-F238E27FC236}">
                <a16:creationId xmlns:a16="http://schemas.microsoft.com/office/drawing/2014/main" id="{E4E830B4-C405-A94A-B983-2EC825086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50292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</a:p>
        </p:txBody>
      </p:sp>
      <p:sp>
        <p:nvSpPr>
          <p:cNvPr id="47108" name="Text Box 100">
            <a:extLst>
              <a:ext uri="{FF2B5EF4-FFF2-40B4-BE49-F238E27FC236}">
                <a16:creationId xmlns:a16="http://schemas.microsoft.com/office/drawing/2014/main" id="{88CDCF54-D7AB-5B47-BBF2-8F519DABE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1981200"/>
            <a:ext cx="3333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  <p:sp>
        <p:nvSpPr>
          <p:cNvPr id="47109" name="Rectangle 101">
            <a:extLst>
              <a:ext uri="{FF2B5EF4-FFF2-40B4-BE49-F238E27FC236}">
                <a16:creationId xmlns:a16="http://schemas.microsoft.com/office/drawing/2014/main" id="{84BCDCB3-87D0-3345-A991-7F8115FD9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572000"/>
            <a:ext cx="4889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 u="sng">
                <a:latin typeface="Courier" pitchFamily="2" charset="0"/>
                <a:cs typeface="Arial" panose="020B0604020202020204" pitchFamily="34" charset="0"/>
              </a:rPr>
              <a:t>load1</a:t>
            </a:r>
          </a:p>
        </p:txBody>
      </p:sp>
      <p:sp>
        <p:nvSpPr>
          <p:cNvPr id="47110" name="Text Box 102">
            <a:extLst>
              <a:ext uri="{FF2B5EF4-FFF2-40B4-BE49-F238E27FC236}">
                <a16:creationId xmlns:a16="http://schemas.microsoft.com/office/drawing/2014/main" id="{7375DE15-EA51-EE47-9EA1-6C72120D2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0292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(value)</a:t>
            </a:r>
          </a:p>
        </p:txBody>
      </p:sp>
      <p:sp>
        <p:nvSpPr>
          <p:cNvPr id="47111" name="Text Box 103">
            <a:extLst>
              <a:ext uri="{FF2B5EF4-FFF2-40B4-BE49-F238E27FC236}">
                <a16:creationId xmlns:a16="http://schemas.microsoft.com/office/drawing/2014/main" id="{C55A6A7F-1948-5646-A63B-53AE9E93A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7244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value1</a:t>
            </a:r>
          </a:p>
        </p:txBody>
      </p:sp>
      <p:sp>
        <p:nvSpPr>
          <p:cNvPr id="47112" name="Text Box 104">
            <a:extLst>
              <a:ext uri="{FF2B5EF4-FFF2-40B4-BE49-F238E27FC236}">
                <a16:creationId xmlns:a16="http://schemas.microsoft.com/office/drawing/2014/main" id="{E59D049C-3592-1E41-80A9-DFB6012A5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19812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value2</a:t>
            </a:r>
          </a:p>
        </p:txBody>
      </p:sp>
      <p:sp>
        <p:nvSpPr>
          <p:cNvPr id="47113" name="Text Box 105">
            <a:extLst>
              <a:ext uri="{FF2B5EF4-FFF2-40B4-BE49-F238E27FC236}">
                <a16:creationId xmlns:a16="http://schemas.microsoft.com/office/drawing/2014/main" id="{831BF9CD-825F-0244-8313-EF347E6BC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648200"/>
            <a:ext cx="269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</a:p>
        </p:txBody>
      </p:sp>
      <p:sp>
        <p:nvSpPr>
          <p:cNvPr id="47114" name="Text Box 106">
            <a:extLst>
              <a:ext uri="{FF2B5EF4-FFF2-40B4-BE49-F238E27FC236}">
                <a16:creationId xmlns:a16="http://schemas.microsoft.com/office/drawing/2014/main" id="{A312FB0B-E92E-5F4B-A239-617747EDB6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5029200"/>
            <a:ext cx="560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value1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4130" name="Group 2">
            <a:extLst>
              <a:ext uri="{FF2B5EF4-FFF2-40B4-BE49-F238E27FC236}">
                <a16:creationId xmlns:a16="http://schemas.microsoft.com/office/drawing/2014/main" id="{C1745569-9375-864E-B6E0-A8EFDB239E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337962"/>
              </p:ext>
            </p:extLst>
          </p:nvPr>
        </p:nvGraphicFramePr>
        <p:xfrm>
          <a:off x="1676400" y="1371600"/>
          <a:ext cx="7212013" cy="1600200"/>
        </p:xfrm>
        <a:graphic>
          <a:graphicData uri="http://schemas.openxmlformats.org/drawingml/2006/table">
            <a:tbl>
              <a:tblPr/>
              <a:tblGrid>
                <a:gridCol w="2778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257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74638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17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…..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…..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4348" name="Rectangle 220">
            <a:extLst>
              <a:ext uri="{FF2B5EF4-FFF2-40B4-BE49-F238E27FC236}">
                <a16:creationId xmlns:a16="http://schemas.microsoft.com/office/drawing/2014/main" id="{66685C50-9274-B44E-BCE2-128F62EEB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413" y="22225"/>
            <a:ext cx="7162800" cy="762000"/>
          </a:xfrm>
          <a:prstGeom prst="rect">
            <a:avLst/>
          </a:prstGeom>
          <a:noFill/>
          <a:ln>
            <a:noFill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sz="3600" dirty="0">
                <a:effectLst>
                  <a:outerShdw blurRad="38100" dist="38100" dir="2700000" algn="tl">
                    <a:srgbClr val="DDDDDD"/>
                  </a:outerShdw>
                </a:effectLst>
              </a:rPr>
              <a:t>Recall our on-going example</a:t>
            </a:r>
          </a:p>
        </p:txBody>
      </p:sp>
      <p:sp>
        <p:nvSpPr>
          <p:cNvPr id="48348" name="Text Box 221">
            <a:extLst>
              <a:ext uri="{FF2B5EF4-FFF2-40B4-BE49-F238E27FC236}">
                <a16:creationId xmlns:a16="http://schemas.microsoft.com/office/drawing/2014/main" id="{234FC3B5-8036-A849-902E-4DE28551D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600200"/>
            <a:ext cx="16002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  <a:cs typeface="Arial" panose="020B0604020202020204" pitchFamily="34" charset="0"/>
              </a:rPr>
              <a:t>ADDD  F6 , F8, F2</a:t>
            </a:r>
          </a:p>
        </p:txBody>
      </p:sp>
      <p:sp>
        <p:nvSpPr>
          <p:cNvPr id="48349" name="Text Box 222">
            <a:extLst>
              <a:ext uri="{FF2B5EF4-FFF2-40B4-BE49-F238E27FC236}">
                <a16:creationId xmlns:a16="http://schemas.microsoft.com/office/drawing/2014/main" id="{370F2AC7-A829-C544-A27B-26D8027339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038600"/>
            <a:ext cx="18335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Shaded boxes indicate stalls.</a:t>
            </a:r>
          </a:p>
        </p:txBody>
      </p:sp>
      <p:sp>
        <p:nvSpPr>
          <p:cNvPr id="48350" name="Rectangle 223">
            <a:extLst>
              <a:ext uri="{FF2B5EF4-FFF2-40B4-BE49-F238E27FC236}">
                <a16:creationId xmlns:a16="http://schemas.microsoft.com/office/drawing/2014/main" id="{D8DF508D-D314-6E49-93B2-6DF61AB1C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4267200"/>
            <a:ext cx="7620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RAW</a:t>
            </a:r>
          </a:p>
        </p:txBody>
      </p:sp>
      <p:sp>
        <p:nvSpPr>
          <p:cNvPr id="48351" name="Text Box 224">
            <a:extLst>
              <a:ext uri="{FF2B5EF4-FFF2-40B4-BE49-F238E27FC236}">
                <a16:creationId xmlns:a16="http://schemas.microsoft.com/office/drawing/2014/main" id="{5B89004E-A182-4240-9664-A59EF78C9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343400"/>
            <a:ext cx="1246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1. LD-MULTD (F2)</a:t>
            </a:r>
          </a:p>
        </p:txBody>
      </p:sp>
      <p:sp>
        <p:nvSpPr>
          <p:cNvPr id="48352" name="Text Box 225">
            <a:extLst>
              <a:ext uri="{FF2B5EF4-FFF2-40B4-BE49-F238E27FC236}">
                <a16:creationId xmlns:a16="http://schemas.microsoft.com/office/drawing/2014/main" id="{CDA704AB-6C74-B145-B9E1-E43481360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5" y="4343400"/>
            <a:ext cx="13890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2. MULTD-DIVD (F0)</a:t>
            </a:r>
          </a:p>
        </p:txBody>
      </p:sp>
      <p:sp>
        <p:nvSpPr>
          <p:cNvPr id="48353" name="Text Box 226">
            <a:extLst>
              <a:ext uri="{FF2B5EF4-FFF2-40B4-BE49-F238E27FC236}">
                <a16:creationId xmlns:a16="http://schemas.microsoft.com/office/drawing/2014/main" id="{F5E89DFB-E924-BC46-BBE0-614F924634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2009775"/>
            <a:ext cx="2619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48354" name="Text Box 227">
            <a:extLst>
              <a:ext uri="{FF2B5EF4-FFF2-40B4-BE49-F238E27FC236}">
                <a16:creationId xmlns:a16="http://schemas.microsoft.com/office/drawing/2014/main" id="{BC8BF4E0-A101-B741-BBAD-4894540C9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4200" y="2474913"/>
            <a:ext cx="2619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48355" name="Text Box 228">
            <a:extLst>
              <a:ext uri="{FF2B5EF4-FFF2-40B4-BE49-F238E27FC236}">
                <a16:creationId xmlns:a16="http://schemas.microsoft.com/office/drawing/2014/main" id="{9BFE4654-F0EA-0949-B0F1-E3B126879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00" y="4833938"/>
            <a:ext cx="52943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=&gt; Execution latencies: LD (2 – agen + access), MULTD (10), DIVD (40), SUBD/ADDD (2)</a:t>
            </a:r>
          </a:p>
        </p:txBody>
      </p:sp>
      <p:sp>
        <p:nvSpPr>
          <p:cNvPr id="48356" name="Line 229">
            <a:extLst>
              <a:ext uri="{FF2B5EF4-FFF2-40B4-BE49-F238E27FC236}">
                <a16:creationId xmlns:a16="http://schemas.microsoft.com/office/drawing/2014/main" id="{09C19F71-8BFD-BF41-9415-3CB142F4BA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60700" y="3078163"/>
            <a:ext cx="0" cy="3524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357" name="Text Box 230">
            <a:extLst>
              <a:ext uri="{FF2B5EF4-FFF2-40B4-BE49-F238E27FC236}">
                <a16:creationId xmlns:a16="http://schemas.microsoft.com/office/drawing/2014/main" id="{942BFF5A-FC78-3940-BD3B-C49C36949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75" y="3413125"/>
            <a:ext cx="4921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CDB:</a:t>
            </a:r>
          </a:p>
        </p:txBody>
      </p:sp>
      <p:sp>
        <p:nvSpPr>
          <p:cNvPr id="48358" name="Text Box 231">
            <a:extLst>
              <a:ext uri="{FF2B5EF4-FFF2-40B4-BE49-F238E27FC236}">
                <a16:creationId xmlns:a16="http://schemas.microsoft.com/office/drawing/2014/main" id="{65C21473-09EC-C548-8921-89608F10A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3413125"/>
            <a:ext cx="3381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F6</a:t>
            </a:r>
          </a:p>
        </p:txBody>
      </p:sp>
      <p:sp>
        <p:nvSpPr>
          <p:cNvPr id="48359" name="Line 232">
            <a:extLst>
              <a:ext uri="{FF2B5EF4-FFF2-40B4-BE49-F238E27FC236}">
                <a16:creationId xmlns:a16="http://schemas.microsoft.com/office/drawing/2014/main" id="{A204F4A3-EEBA-5E46-83CB-4DDB0F6700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52800" y="3076575"/>
            <a:ext cx="0" cy="3524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360" name="Text Box 233">
            <a:extLst>
              <a:ext uri="{FF2B5EF4-FFF2-40B4-BE49-F238E27FC236}">
                <a16:creationId xmlns:a16="http://schemas.microsoft.com/office/drawing/2014/main" id="{A97A081A-C394-7249-842A-6468613BD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3413" y="3413125"/>
            <a:ext cx="3381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F2</a:t>
            </a:r>
          </a:p>
        </p:txBody>
      </p:sp>
      <p:sp>
        <p:nvSpPr>
          <p:cNvPr id="48361" name="Line 234">
            <a:extLst>
              <a:ext uri="{FF2B5EF4-FFF2-40B4-BE49-F238E27FC236}">
                <a16:creationId xmlns:a16="http://schemas.microsoft.com/office/drawing/2014/main" id="{FDFAE0E5-5EB1-984A-84B0-75F97DA559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6200" y="3076575"/>
            <a:ext cx="0" cy="3524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362" name="Text Box 235">
            <a:extLst>
              <a:ext uri="{FF2B5EF4-FFF2-40B4-BE49-F238E27FC236}">
                <a16:creationId xmlns:a16="http://schemas.microsoft.com/office/drawing/2014/main" id="{23AB1E14-454D-F24A-A85E-1DC37EEFC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3413125"/>
            <a:ext cx="3381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F8</a:t>
            </a:r>
          </a:p>
        </p:txBody>
      </p:sp>
      <p:sp>
        <p:nvSpPr>
          <p:cNvPr id="48363" name="Line 236">
            <a:extLst>
              <a:ext uri="{FF2B5EF4-FFF2-40B4-BE49-F238E27FC236}">
                <a16:creationId xmlns:a16="http://schemas.microsoft.com/office/drawing/2014/main" id="{E18D9247-61EA-D745-BD77-8BC5AC74E6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6588" y="3076575"/>
            <a:ext cx="0" cy="3524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364" name="Text Box 237">
            <a:extLst>
              <a:ext uri="{FF2B5EF4-FFF2-40B4-BE49-F238E27FC236}">
                <a16:creationId xmlns:a16="http://schemas.microsoft.com/office/drawing/2014/main" id="{960933D2-DE0C-E944-92CA-36F1700F1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1325" y="3413125"/>
            <a:ext cx="4032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F6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365" name="Line 238">
            <a:extLst>
              <a:ext uri="{FF2B5EF4-FFF2-40B4-BE49-F238E27FC236}">
                <a16:creationId xmlns:a16="http://schemas.microsoft.com/office/drawing/2014/main" id="{54F89224-C5FE-DA4B-9AAE-182A408334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22988" y="3076575"/>
            <a:ext cx="0" cy="3524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366" name="Text Box 239">
            <a:extLst>
              <a:ext uri="{FF2B5EF4-FFF2-40B4-BE49-F238E27FC236}">
                <a16:creationId xmlns:a16="http://schemas.microsoft.com/office/drawing/2014/main" id="{DD0CFABF-0492-BE4E-A961-552CA52361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3413125"/>
            <a:ext cx="3381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F0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Rectangle 2">
            <a:extLst>
              <a:ext uri="{FF2B5EF4-FFF2-40B4-BE49-F238E27FC236}">
                <a16:creationId xmlns:a16="http://schemas.microsoft.com/office/drawing/2014/main" id="{59D875E3-3A6D-B84C-93CB-611959D09F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Aside: CDC-6600 example</a:t>
            </a:r>
          </a:p>
        </p:txBody>
      </p:sp>
      <p:graphicFrame>
        <p:nvGraphicFramePr>
          <p:cNvPr id="286723" name="Group 3">
            <a:extLst>
              <a:ext uri="{FF2B5EF4-FFF2-40B4-BE49-F238E27FC236}">
                <a16:creationId xmlns:a16="http://schemas.microsoft.com/office/drawing/2014/main" id="{5939BFCD-6541-7343-B029-538C582F1B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4179735"/>
              </p:ext>
            </p:extLst>
          </p:nvPr>
        </p:nvGraphicFramePr>
        <p:xfrm>
          <a:off x="1676400" y="1371600"/>
          <a:ext cx="6934200" cy="1600200"/>
        </p:xfrm>
        <a:graphic>
          <a:graphicData uri="http://schemas.openxmlformats.org/drawingml/2006/table">
            <a:tbl>
              <a:tblPr/>
              <a:tblGrid>
                <a:gridCol w="2778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79400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7781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7781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17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…..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…..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wdDnDiag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wdDnDiag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wdDnDiag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pattFill prst="lgCheck">
                      <a:fgClr>
                        <a:schemeClr val="folHlink"/>
                      </a:fgClr>
                      <a:bgClr>
                        <a:srgbClr val="FFFFFF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6836" name="Text Box 213">
            <a:extLst>
              <a:ext uri="{FF2B5EF4-FFF2-40B4-BE49-F238E27FC236}">
                <a16:creationId xmlns:a16="http://schemas.microsoft.com/office/drawing/2014/main" id="{58FD4559-0E89-7C45-8764-F96076E5D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600200"/>
            <a:ext cx="1600200" cy="138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6837" name="Text Box 214">
            <a:extLst>
              <a:ext uri="{FF2B5EF4-FFF2-40B4-BE49-F238E27FC236}">
                <a16:creationId xmlns:a16="http://schemas.microsoft.com/office/drawing/2014/main" id="{6B9EF10F-11ED-574B-878B-56FDD279E8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276600"/>
            <a:ext cx="6027738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914400" indent="-4572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371600" indent="-4572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828800" indent="-4572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286000" indent="-4572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743200" indent="-4572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3200400" indent="-4572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657600" indent="-4572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4114800" indent="-4572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chemeClr val="tx1"/>
                </a:solidFill>
                <a:latin typeface="Arial" panose="020B0604020202020204" pitchFamily="34" charset="0"/>
              </a:rPr>
              <a:t>=&gt; Notice there are always 2 cycles between EX of data dependent instructions (e.g., LD and MULTD):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chemeClr val="tx1"/>
                </a:solidFill>
                <a:latin typeface="Arial" panose="020B0604020202020204" pitchFamily="34" charset="0"/>
              </a:rPr>
              <a:t>     producer does WR and consumer does last IS cycle in which registers are read from the register file.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chemeClr val="tx1"/>
                </a:solidFill>
                <a:latin typeface="Arial" panose="020B0604020202020204" pitchFamily="34" charset="0"/>
              </a:rPr>
              <a:t>     This is an artifact of the CDC-6600: all values must first pass through the register file (no bypasses).</a:t>
            </a:r>
          </a:p>
        </p:txBody>
      </p:sp>
      <p:grpSp>
        <p:nvGrpSpPr>
          <p:cNvPr id="26838" name="Group 215">
            <a:extLst>
              <a:ext uri="{FF2B5EF4-FFF2-40B4-BE49-F238E27FC236}">
                <a16:creationId xmlns:a16="http://schemas.microsoft.com/office/drawing/2014/main" id="{1453BDC3-2A5E-334A-92CD-C2B65A766AAA}"/>
              </a:ext>
            </a:extLst>
          </p:cNvPr>
          <p:cNvGrpSpPr>
            <a:grpSpLocks/>
          </p:cNvGrpSpPr>
          <p:nvPr/>
        </p:nvGrpSpPr>
        <p:grpSpPr bwMode="auto">
          <a:xfrm>
            <a:off x="304800" y="4038600"/>
            <a:ext cx="1660525" cy="1143000"/>
            <a:chOff x="288" y="2832"/>
            <a:chExt cx="1046" cy="720"/>
          </a:xfrm>
        </p:grpSpPr>
        <p:sp>
          <p:nvSpPr>
            <p:cNvPr id="26852" name="Text Box 216">
              <a:extLst>
                <a:ext uri="{FF2B5EF4-FFF2-40B4-BE49-F238E27FC236}">
                  <a16:creationId xmlns:a16="http://schemas.microsoft.com/office/drawing/2014/main" id="{C4B40867-0E1D-F146-B79C-70717A3F9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2832"/>
              <a:ext cx="104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Shaded boxes indicate stalls.</a:t>
              </a:r>
            </a:p>
          </p:txBody>
        </p:sp>
        <p:sp>
          <p:nvSpPr>
            <p:cNvPr id="26853" name="Rectangle 217">
              <a:extLst>
                <a:ext uri="{FF2B5EF4-FFF2-40B4-BE49-F238E27FC236}">
                  <a16:creationId xmlns:a16="http://schemas.microsoft.com/office/drawing/2014/main" id="{121A3912-8119-FB4E-890D-AB8B4C0C2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976"/>
              <a:ext cx="480" cy="192"/>
            </a:xfrm>
            <a:prstGeom prst="rect">
              <a:avLst/>
            </a:prstGeom>
            <a:solidFill>
              <a:schemeClr val="folHlink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RAW</a:t>
              </a:r>
            </a:p>
          </p:txBody>
        </p:sp>
        <p:sp>
          <p:nvSpPr>
            <p:cNvPr id="26854" name="Rectangle 218" descr="Wide downward diagonal">
              <a:extLst>
                <a:ext uri="{FF2B5EF4-FFF2-40B4-BE49-F238E27FC236}">
                  <a16:creationId xmlns:a16="http://schemas.microsoft.com/office/drawing/2014/main" id="{425999CB-731C-5246-8BBC-BEB8E9AE9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3168"/>
              <a:ext cx="480" cy="192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latin typeface="Times New Roman" panose="02020603050405020304" pitchFamily="18" charset="0"/>
                </a:rPr>
                <a:t>Structural</a:t>
              </a:r>
            </a:p>
          </p:txBody>
        </p:sp>
        <p:sp>
          <p:nvSpPr>
            <p:cNvPr id="26855" name="Rectangle 219" descr="Large checker board">
              <a:extLst>
                <a:ext uri="{FF2B5EF4-FFF2-40B4-BE49-F238E27FC236}">
                  <a16:creationId xmlns:a16="http://schemas.microsoft.com/office/drawing/2014/main" id="{4FACCD4D-DFA1-934A-A0EC-42DF9017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3360"/>
              <a:ext cx="480" cy="192"/>
            </a:xfrm>
            <a:prstGeom prst="rect">
              <a:avLst/>
            </a:prstGeom>
            <a:blipFill dpi="0" rotWithShape="0">
              <a:blip r:embed="rId4"/>
              <a:srcRect/>
              <a:tile tx="0" ty="0" sx="100000" sy="100000" flip="none" algn="tl"/>
            </a:blip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imes New Roman" panose="02020603050405020304" pitchFamily="18" charset="0"/>
                </a:rPr>
                <a:t>WAR</a:t>
              </a:r>
            </a:p>
          </p:txBody>
        </p:sp>
      </p:grpSp>
      <p:sp>
        <p:nvSpPr>
          <p:cNvPr id="26839" name="Text Box 220">
            <a:extLst>
              <a:ext uri="{FF2B5EF4-FFF2-40B4-BE49-F238E27FC236}">
                <a16:creationId xmlns:a16="http://schemas.microsoft.com/office/drawing/2014/main" id="{647D8EB4-B123-3E43-AD37-CA755464A1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343400"/>
            <a:ext cx="12509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1. LD-MULTD (F2)</a:t>
            </a:r>
          </a:p>
        </p:txBody>
      </p:sp>
      <p:sp>
        <p:nvSpPr>
          <p:cNvPr id="26840" name="Text Box 221">
            <a:extLst>
              <a:ext uri="{FF2B5EF4-FFF2-40B4-BE49-F238E27FC236}">
                <a16:creationId xmlns:a16="http://schemas.microsoft.com/office/drawing/2014/main" id="{37CDFD7A-02D5-E940-AF09-F5D432AA5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4343400"/>
            <a:ext cx="11652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2. LD-SUBD (F2)</a:t>
            </a:r>
          </a:p>
        </p:txBody>
      </p:sp>
      <p:sp>
        <p:nvSpPr>
          <p:cNvPr id="26841" name="Text Box 222">
            <a:extLst>
              <a:ext uri="{FF2B5EF4-FFF2-40B4-BE49-F238E27FC236}">
                <a16:creationId xmlns:a16="http://schemas.microsoft.com/office/drawing/2014/main" id="{FB8A9D8A-9B7B-4E49-8984-033D94FA5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343400"/>
            <a:ext cx="13843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3. MULTD-DIVD (F0)</a:t>
            </a:r>
          </a:p>
        </p:txBody>
      </p:sp>
      <p:sp>
        <p:nvSpPr>
          <p:cNvPr id="26842" name="Text Box 223">
            <a:extLst>
              <a:ext uri="{FF2B5EF4-FFF2-40B4-BE49-F238E27FC236}">
                <a16:creationId xmlns:a16="http://schemas.microsoft.com/office/drawing/2014/main" id="{0C77DE0C-8E04-D74A-8AB5-B7D6AA4EB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4343400"/>
            <a:ext cx="13636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4. SUBD-ADDD (F8)</a:t>
            </a:r>
          </a:p>
        </p:txBody>
      </p:sp>
      <p:sp>
        <p:nvSpPr>
          <p:cNvPr id="26843" name="Text Box 224">
            <a:extLst>
              <a:ext uri="{FF2B5EF4-FFF2-40B4-BE49-F238E27FC236}">
                <a16:creationId xmlns:a16="http://schemas.microsoft.com/office/drawing/2014/main" id="{35CB6BD8-6C3F-A84C-AB31-33EF14934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6588" y="2012950"/>
            <a:ext cx="2492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26844" name="Text Box 225">
            <a:extLst>
              <a:ext uri="{FF2B5EF4-FFF2-40B4-BE49-F238E27FC236}">
                <a16:creationId xmlns:a16="http://schemas.microsoft.com/office/drawing/2014/main" id="{26A5898F-D987-8641-9DDB-753A6CC459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8175" y="2260600"/>
            <a:ext cx="2492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26845" name="Text Box 226">
            <a:extLst>
              <a:ext uri="{FF2B5EF4-FFF2-40B4-BE49-F238E27FC236}">
                <a16:creationId xmlns:a16="http://schemas.microsoft.com/office/drawing/2014/main" id="{2783EB46-7B0F-704A-B8B6-2ECB9CDF8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4938" y="2465388"/>
            <a:ext cx="2492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3</a:t>
            </a:r>
          </a:p>
        </p:txBody>
      </p:sp>
      <p:sp>
        <p:nvSpPr>
          <p:cNvPr id="26846" name="Text Box 227">
            <a:extLst>
              <a:ext uri="{FF2B5EF4-FFF2-40B4-BE49-F238E27FC236}">
                <a16:creationId xmlns:a16="http://schemas.microsoft.com/office/drawing/2014/main" id="{31AACC5F-2A61-0143-A47C-624C49A5D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8950" y="2690813"/>
            <a:ext cx="2492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26847" name="Text Box 228">
            <a:extLst>
              <a:ext uri="{FF2B5EF4-FFF2-40B4-BE49-F238E27FC236}">
                <a16:creationId xmlns:a16="http://schemas.microsoft.com/office/drawing/2014/main" id="{97E0512C-B7D7-7E48-AF9F-475C6BD1C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0213" y="2684463"/>
            <a:ext cx="2492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6</a:t>
            </a:r>
          </a:p>
        </p:txBody>
      </p:sp>
      <p:sp>
        <p:nvSpPr>
          <p:cNvPr id="26848" name="Text Box 229">
            <a:extLst>
              <a:ext uri="{FF2B5EF4-FFF2-40B4-BE49-F238E27FC236}">
                <a16:creationId xmlns:a16="http://schemas.microsoft.com/office/drawing/2014/main" id="{B974056B-A12A-4D40-BCC7-F7673211D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2698750"/>
            <a:ext cx="2492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5</a:t>
            </a:r>
          </a:p>
        </p:txBody>
      </p:sp>
      <p:sp>
        <p:nvSpPr>
          <p:cNvPr id="26849" name="Text Box 230">
            <a:extLst>
              <a:ext uri="{FF2B5EF4-FFF2-40B4-BE49-F238E27FC236}">
                <a16:creationId xmlns:a16="http://schemas.microsoft.com/office/drawing/2014/main" id="{DA010157-8AC3-AB40-AAED-2A185B9D0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648200"/>
            <a:ext cx="176053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5. SUBD-ADDD (ADD unit)</a:t>
            </a:r>
          </a:p>
        </p:txBody>
      </p:sp>
      <p:sp>
        <p:nvSpPr>
          <p:cNvPr id="26850" name="Text Box 231">
            <a:extLst>
              <a:ext uri="{FF2B5EF4-FFF2-40B4-BE49-F238E27FC236}">
                <a16:creationId xmlns:a16="http://schemas.microsoft.com/office/drawing/2014/main" id="{8EFB4069-D263-DA4F-B4C1-2E3BD2153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953000"/>
            <a:ext cx="13065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6. DIVD-ADDD (F6)</a:t>
            </a:r>
          </a:p>
        </p:txBody>
      </p:sp>
      <p:sp>
        <p:nvSpPr>
          <p:cNvPr id="26851" name="Text Box 232">
            <a:extLst>
              <a:ext uri="{FF2B5EF4-FFF2-40B4-BE49-F238E27FC236}">
                <a16:creationId xmlns:a16="http://schemas.microsoft.com/office/drawing/2014/main" id="{4EFDEEA3-A174-0145-9D69-63EF9FA98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048000"/>
            <a:ext cx="5021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Times New Roman" panose="02020603050405020304" pitchFamily="18" charset="0"/>
              </a:rPr>
              <a:t>=&gt; Execution latencies: LD (2 – agen + access), MULTD (10), DIVD (40), SUBD/ADDD (2)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1DBA898-A47E-B24E-8AE5-35584062233E}"/>
              </a:ext>
            </a:extLst>
          </p:cNvPr>
          <p:cNvSpPr txBox="1"/>
          <p:nvPr/>
        </p:nvSpPr>
        <p:spPr>
          <a:xfrm>
            <a:off x="6300884" y="3220570"/>
            <a:ext cx="286488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Load, </a:t>
            </a:r>
            <a:r>
              <a:rPr lang="en-US" dirty="0" err="1"/>
              <a:t>subd</a:t>
            </a:r>
            <a:r>
              <a:rPr lang="en-US" dirty="0"/>
              <a:t>/</a:t>
            </a:r>
            <a:r>
              <a:rPr lang="en-US" dirty="0" err="1"/>
              <a:t>addd</a:t>
            </a:r>
            <a:r>
              <a:rPr lang="en-US" dirty="0"/>
              <a:t>: 2 cycles</a:t>
            </a:r>
          </a:p>
          <a:p>
            <a:r>
              <a:rPr lang="en-US" dirty="0"/>
              <a:t>MULTD: 10 cycles</a:t>
            </a:r>
          </a:p>
          <a:p>
            <a:r>
              <a:rPr lang="en-US" dirty="0"/>
              <a:t>DIVD: 40 cycles</a:t>
            </a:r>
          </a:p>
        </p:txBody>
      </p:sp>
    </p:spTree>
    <p:extLst>
      <p:ext uri="{BB962C8B-B14F-4D97-AF65-F5344CB8AC3E}">
        <p14:creationId xmlns:p14="http://schemas.microsoft.com/office/powerpoint/2010/main" val="57735402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>
            <a:extLst>
              <a:ext uri="{FF2B5EF4-FFF2-40B4-BE49-F238E27FC236}">
                <a16:creationId xmlns:a16="http://schemas.microsoft.com/office/drawing/2014/main" id="{30994294-EC29-D74F-8513-14E6AF2196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Tomasulo vs. Scoreboard</a:t>
            </a:r>
          </a:p>
        </p:txBody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4D6E258E-D435-1A42-B181-3D07F5B287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dirty="0"/>
              <a:t>Is </a:t>
            </a:r>
            <a:r>
              <a:rPr lang="en-US" altLang="en-US" dirty="0" err="1"/>
              <a:t>tomasulo</a:t>
            </a:r>
            <a:r>
              <a:rPr lang="en-US" altLang="en-US" dirty="0"/>
              <a:t> better?</a:t>
            </a:r>
          </a:p>
          <a:p>
            <a:r>
              <a:rPr lang="en-US" altLang="en-US" dirty="0"/>
              <a:t>Finish in 17 cycles vs. 20 for scoreboard, why?</a:t>
            </a:r>
          </a:p>
          <a:p>
            <a:r>
              <a:rPr lang="en-US" altLang="en-US" dirty="0"/>
              <a:t>We do reach the divide 3 cycles earlier… Simultaneous read of operand for SUBD and MULT</a:t>
            </a:r>
          </a:p>
        </p:txBody>
      </p:sp>
    </p:spTree>
    <p:extLst>
      <p:ext uri="{BB962C8B-B14F-4D97-AF65-F5344CB8AC3E}">
        <p14:creationId xmlns:p14="http://schemas.microsoft.com/office/powerpoint/2010/main" val="336107199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F02334-568C-9F4A-8750-B6184298A7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Further study…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091C45D-16C7-344B-A3F1-4305AF84CA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764491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2">
            <a:extLst>
              <a:ext uri="{FF2B5EF4-FFF2-40B4-BE49-F238E27FC236}">
                <a16:creationId xmlns:a16="http://schemas.microsoft.com/office/drawing/2014/main" id="{5A206BAE-BD1E-934F-A2B1-9282229AF8A8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457200" y="2133600"/>
            <a:ext cx="8458200" cy="1470025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panose="020B0600070205080204" pitchFamily="34" charset="-128"/>
              </a:rPr>
              <a:t>Module 6.3: Precise Interrupt and Reorder Buffer</a:t>
            </a:r>
          </a:p>
        </p:txBody>
      </p:sp>
    </p:spTree>
    <p:extLst>
      <p:ext uri="{BB962C8B-B14F-4D97-AF65-F5344CB8AC3E}">
        <p14:creationId xmlns:p14="http://schemas.microsoft.com/office/powerpoint/2010/main" val="2828115818"/>
      </p:ext>
    </p:extLst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Title 1">
            <a:extLst>
              <a:ext uri="{FF2B5EF4-FFF2-40B4-BE49-F238E27FC236}">
                <a16:creationId xmlns:a16="http://schemas.microsoft.com/office/drawing/2014/main" id="{48FAF342-AACB-D44D-83DB-AA3443A2E7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50178" name="Content Placeholder 2">
            <a:extLst>
              <a:ext uri="{FF2B5EF4-FFF2-40B4-BE49-F238E27FC236}">
                <a16:creationId xmlns:a16="http://schemas.microsoft.com/office/drawing/2014/main" id="{6590F071-74BE-FE4D-8ACF-1CE377BF73C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Understand the problem of precise interrupts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Understand reorder buffer as a solution to the precise interrupt problem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Types of interrupts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Correct handling of interrupts and why OOO execution may affect it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Various approaches including reorder buffer (ROB)</a:t>
            </a:r>
          </a:p>
          <a:p>
            <a:pPr lvl="1"/>
            <a:r>
              <a:rPr lang="en-US" altLang="en-US" dirty="0" err="1">
                <a:ea typeface="ＭＳ Ｐゴシック" panose="020B0600070205080204" pitchFamily="34" charset="-128"/>
              </a:rPr>
              <a:t>Tomasulo</a:t>
            </a:r>
            <a:r>
              <a:rPr lang="en-US" altLang="en-US" dirty="0">
                <a:ea typeface="ＭＳ Ｐゴシック" panose="020B0600070205080204" pitchFamily="34" charset="-128"/>
              </a:rPr>
              <a:t> algorithm with ROB: mechanism and illustration 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Handling branch misprediction using precise interrupt mechanism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Rectangle 2">
            <a:extLst>
              <a:ext uri="{FF2B5EF4-FFF2-40B4-BE49-F238E27FC236}">
                <a16:creationId xmlns:a16="http://schemas.microsoft.com/office/drawing/2014/main" id="{1075AE2D-0C85-8242-9FC4-6ABF1EEDCF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Precise interrupts</a:t>
            </a:r>
          </a:p>
        </p:txBody>
      </p:sp>
      <p:sp>
        <p:nvSpPr>
          <p:cNvPr id="51202" name="Rectangle 3">
            <a:extLst>
              <a:ext uri="{FF2B5EF4-FFF2-40B4-BE49-F238E27FC236}">
                <a16:creationId xmlns:a16="http://schemas.microsoft.com/office/drawing/2014/main" id="{5BFF8B06-864D-DA46-8E6E-9A5A6F0ED21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457200" indent="-457200"/>
            <a:r>
              <a:rPr lang="en-US" altLang="en-US" sz="2000">
                <a:ea typeface="ＭＳ Ｐゴシック" panose="020B0600070205080204" pitchFamily="34" charset="-128"/>
              </a:rPr>
              <a:t>Out-of-order execution and interrupts don</a:t>
            </a:r>
            <a:r>
              <a:rPr lang="ja-JP" altLang="en-US" sz="2000"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lang="en-US" altLang="en-US" sz="2000">
                <a:ea typeface="ＭＳ Ｐゴシック" panose="020B0600070205080204" pitchFamily="34" charset="-128"/>
              </a:rPr>
              <a:t>t mix!</a:t>
            </a:r>
          </a:p>
          <a:p>
            <a:pPr marL="971550" lvl="1" indent="-342900"/>
            <a:r>
              <a:rPr lang="en-US" altLang="en-US" sz="2000"/>
              <a:t>When an interrupt occurs, O/S wants </a:t>
            </a:r>
            <a:r>
              <a:rPr lang="en-US" altLang="en-US" sz="2000" u="sng"/>
              <a:t>precise state</a:t>
            </a:r>
          </a:p>
          <a:p>
            <a:pPr marL="971550" lvl="1" indent="-342900"/>
            <a:r>
              <a:rPr lang="en-US" altLang="en-US" sz="2000" u="sng"/>
              <a:t>Precise state</a:t>
            </a:r>
            <a:r>
              <a:rPr lang="en-US" altLang="en-US" sz="2000"/>
              <a:t> means:</a:t>
            </a:r>
          </a:p>
          <a:p>
            <a:pPr marL="1600200" lvl="2" indent="-342900"/>
            <a:r>
              <a:rPr lang="en-US" altLang="en-US" sz="1800"/>
              <a:t>All instructions </a:t>
            </a:r>
            <a:r>
              <a:rPr lang="en-US" altLang="en-US" sz="1800" i="1"/>
              <a:t>before</a:t>
            </a:r>
            <a:r>
              <a:rPr lang="en-US" altLang="en-US" sz="1800"/>
              <a:t> the instruction causing the interrupt have completed</a:t>
            </a:r>
          </a:p>
          <a:p>
            <a:pPr marL="1600200" lvl="2" indent="-342900"/>
            <a:r>
              <a:rPr lang="en-US" altLang="en-US" sz="1800"/>
              <a:t>All instructions </a:t>
            </a:r>
            <a:r>
              <a:rPr lang="en-US" altLang="en-US" sz="1800" i="1"/>
              <a:t>after</a:t>
            </a:r>
            <a:r>
              <a:rPr lang="en-US" altLang="en-US" sz="1800"/>
              <a:t> have not completed</a:t>
            </a:r>
          </a:p>
          <a:p>
            <a:pPr marL="971550" lvl="1" indent="-342900"/>
            <a:r>
              <a:rPr lang="en-US" altLang="en-US" sz="2000"/>
              <a:t>Why are precise interrupts important?</a:t>
            </a:r>
          </a:p>
          <a:p>
            <a:pPr marL="1600200" lvl="2" indent="-342900">
              <a:buFont typeface="Symbol" pitchFamily="2" charset="2"/>
              <a:buAutoNum type="arabicPeriod"/>
            </a:pPr>
            <a:r>
              <a:rPr lang="en-US" altLang="en-US" sz="1800"/>
              <a:t>O/S needs to save the state of the process and restart the process after servicing interrupt</a:t>
            </a:r>
          </a:p>
          <a:p>
            <a:pPr marL="2038350" lvl="3" indent="-266700"/>
            <a:r>
              <a:rPr lang="en-US" altLang="en-US" sz="1600"/>
              <a:t>Restart occurs from the PC of interrupted instruction</a:t>
            </a:r>
          </a:p>
          <a:p>
            <a:pPr marL="2038350" lvl="3" indent="-266700"/>
            <a:r>
              <a:rPr lang="en-US" altLang="en-US" sz="1600"/>
              <a:t>The restart state must reflect only changes up to that PC!</a:t>
            </a:r>
          </a:p>
          <a:p>
            <a:pPr marL="1600200" lvl="2" indent="-342900">
              <a:buFont typeface="Symbol" pitchFamily="2" charset="2"/>
              <a:buAutoNum type="arabicPeriod"/>
            </a:pPr>
            <a:r>
              <a:rPr lang="en-US" altLang="en-US" sz="1800"/>
              <a:t>Programmer debugging – user presumes sequential program</a:t>
            </a:r>
          </a:p>
          <a:p>
            <a:pPr marL="971550" lvl="1" indent="-342900"/>
            <a:r>
              <a:rPr lang="en-US" altLang="en-US" sz="2000"/>
              <a:t>Why is OOO-execution bad for precise interrupts?</a:t>
            </a:r>
          </a:p>
          <a:p>
            <a:pPr marL="1600200" lvl="2" indent="-342900"/>
            <a:r>
              <a:rPr lang="en-US" altLang="en-US" sz="1800"/>
              <a:t>Instructions </a:t>
            </a:r>
            <a:r>
              <a:rPr lang="en-US" altLang="en-US" sz="1800" i="1"/>
              <a:t>after</a:t>
            </a:r>
            <a:r>
              <a:rPr lang="en-US" altLang="en-US" sz="1800"/>
              <a:t> interrupt may have updated state!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2">
            <a:extLst>
              <a:ext uri="{FF2B5EF4-FFF2-40B4-BE49-F238E27FC236}">
                <a16:creationId xmlns:a16="http://schemas.microsoft.com/office/drawing/2014/main" id="{CCBB5041-F865-1A49-BB9C-CA9B8CE93E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Interrupts</a:t>
            </a:r>
          </a:p>
        </p:txBody>
      </p:sp>
      <p:sp>
        <p:nvSpPr>
          <p:cNvPr id="52226" name="Rectangle 3">
            <a:extLst>
              <a:ext uri="{FF2B5EF4-FFF2-40B4-BE49-F238E27FC236}">
                <a16:creationId xmlns:a16="http://schemas.microsoft.com/office/drawing/2014/main" id="{50603081-DC34-A94F-99ED-5ED7532EA94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Some examples</a:t>
            </a:r>
          </a:p>
          <a:p>
            <a:pPr lvl="1"/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External interrupts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endParaRPr lang="en-US" altLang="en-US"/>
          </a:p>
          <a:p>
            <a:pPr lvl="2"/>
            <a:r>
              <a:rPr lang="en-US" altLang="en-US"/>
              <a:t>I/O device request</a:t>
            </a:r>
          </a:p>
          <a:p>
            <a:pPr lvl="2"/>
            <a:r>
              <a:rPr lang="en-US" altLang="en-US"/>
              <a:t>Timer interrupt</a:t>
            </a:r>
          </a:p>
          <a:p>
            <a:pPr lvl="2"/>
            <a:r>
              <a:rPr lang="en-US" altLang="en-US"/>
              <a:t>Power failing</a:t>
            </a:r>
          </a:p>
          <a:p>
            <a:pPr lvl="1"/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Exceptions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endParaRPr lang="en-US" altLang="en-US"/>
          </a:p>
          <a:p>
            <a:pPr lvl="2"/>
            <a:r>
              <a:rPr lang="en-US" altLang="en-US"/>
              <a:t>Arithmetic overflow, divide-by-0, etc.</a:t>
            </a:r>
          </a:p>
          <a:p>
            <a:pPr lvl="2"/>
            <a:r>
              <a:rPr lang="en-US" altLang="en-US"/>
              <a:t>Page fault</a:t>
            </a:r>
          </a:p>
          <a:p>
            <a:pPr lvl="1"/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O/S calls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endParaRPr lang="en-US" altLang="en-US"/>
          </a:p>
          <a:p>
            <a:pPr lvl="2"/>
            <a:r>
              <a:rPr lang="en-US" altLang="en-US"/>
              <a:t>Also called </a:t>
            </a:r>
            <a:r>
              <a:rPr lang="en-US" altLang="en-US" i="1"/>
              <a:t>system call</a:t>
            </a:r>
            <a:r>
              <a:rPr lang="en-US" altLang="en-US"/>
              <a:t> or </a:t>
            </a:r>
            <a:r>
              <a:rPr lang="en-US" altLang="en-US" i="1"/>
              <a:t>trap</a:t>
            </a:r>
          </a:p>
          <a:p>
            <a:pPr lvl="2"/>
            <a:r>
              <a:rPr lang="en-US" altLang="en-US"/>
              <a:t>Initiated via an explicit instruction in ISA</a:t>
            </a:r>
          </a:p>
          <a:p>
            <a:pPr>
              <a:buFont typeface="ZapfDingbats" pitchFamily="82" charset="2"/>
              <a:buNone/>
            </a:pPr>
            <a:r>
              <a:rPr lang="en-US" altLang="en-US" sz="1800">
                <a:ea typeface="ＭＳ Ｐゴシック" panose="020B0600070205080204" pitchFamily="34" charset="-128"/>
              </a:rPr>
              <a:t>	External interrupts are asynchronous, exceptions are synchronous, O/S calls are synchronous and user-initiated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Rectangle 2">
            <a:extLst>
              <a:ext uri="{FF2B5EF4-FFF2-40B4-BE49-F238E27FC236}">
                <a16:creationId xmlns:a16="http://schemas.microsoft.com/office/drawing/2014/main" id="{656477B1-2ADA-6E40-9BEA-AEEB296222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Classifying Interrupts</a:t>
            </a:r>
          </a:p>
        </p:txBody>
      </p:sp>
      <p:sp>
        <p:nvSpPr>
          <p:cNvPr id="53250" name="Rectangle 3">
            <a:extLst>
              <a:ext uri="{FF2B5EF4-FFF2-40B4-BE49-F238E27FC236}">
                <a16:creationId xmlns:a16="http://schemas.microsoft.com/office/drawing/2014/main" id="{7B7F2F97-0872-4643-AA11-890214A176C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sz="2400">
                <a:ea typeface="ＭＳ Ｐゴシック" panose="020B0600070205080204" pitchFamily="34" charset="-128"/>
              </a:rPr>
              <a:t>Synchronous / Asynchronous</a:t>
            </a:r>
          </a:p>
          <a:p>
            <a:pPr lvl="1"/>
            <a:r>
              <a:rPr lang="en-US" altLang="en-US" sz="2000"/>
              <a:t>Synchronous: function of program and memory state (e.g., arithmetic overfow, page fault)</a:t>
            </a:r>
          </a:p>
          <a:p>
            <a:pPr lvl="1"/>
            <a:r>
              <a:rPr lang="en-US" altLang="en-US" sz="2000"/>
              <a:t>Asynchronous: external device or hardware malfunction (e.g., printer ready, bus error)</a:t>
            </a:r>
          </a:p>
          <a:p>
            <a:r>
              <a:rPr lang="en-US" altLang="en-US" sz="2400">
                <a:ea typeface="ＭＳ Ｐゴシック" panose="020B0600070205080204" pitchFamily="34" charset="-128"/>
              </a:rPr>
              <a:t>User request / Coerced</a:t>
            </a:r>
          </a:p>
          <a:p>
            <a:pPr lvl="1"/>
            <a:r>
              <a:rPr lang="en-US" altLang="en-US" sz="2000"/>
              <a:t>From user program (O/S call – system call or trap)</a:t>
            </a:r>
          </a:p>
          <a:p>
            <a:pPr lvl="1"/>
            <a:r>
              <a:rPr lang="en-US" altLang="en-US" sz="2000"/>
              <a:t>From O/S or hardware (e.g., page fault, protection violation)</a:t>
            </a:r>
          </a:p>
          <a:p>
            <a:r>
              <a:rPr lang="en-US" altLang="en-US" sz="2400">
                <a:ea typeface="ＭＳ Ｐゴシック" panose="020B0600070205080204" pitchFamily="34" charset="-128"/>
              </a:rPr>
              <a:t>User maskable / Nonmaskable</a:t>
            </a:r>
          </a:p>
          <a:p>
            <a:pPr lvl="1"/>
            <a:r>
              <a:rPr lang="en-US" altLang="en-US" sz="2000"/>
              <a:t>User maskable: can be (temporarily) ignored (e.g., arithmetic overflow, breakpoint)</a:t>
            </a:r>
          </a:p>
          <a:p>
            <a:pPr lvl="1"/>
            <a:r>
              <a:rPr lang="en-US" altLang="en-US" sz="2000"/>
              <a:t>Nonmaskable: must be handled (e.g., page fault, power fail)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2">
            <a:extLst>
              <a:ext uri="{FF2B5EF4-FFF2-40B4-BE49-F238E27FC236}">
                <a16:creationId xmlns:a16="http://schemas.microsoft.com/office/drawing/2014/main" id="{FF2A7CD4-67AA-6D44-801C-7F1D09D482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Classifying Interrupts (cont.)</a:t>
            </a:r>
          </a:p>
        </p:txBody>
      </p:sp>
      <p:sp>
        <p:nvSpPr>
          <p:cNvPr id="54274" name="Rectangle 3">
            <a:extLst>
              <a:ext uri="{FF2B5EF4-FFF2-40B4-BE49-F238E27FC236}">
                <a16:creationId xmlns:a16="http://schemas.microsoft.com/office/drawing/2014/main" id="{4C209019-A421-7E4D-B156-6CB8612DDB0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Within an instruction / Between instructions</a:t>
            </a:r>
          </a:p>
          <a:p>
            <a:pPr lvl="1"/>
            <a:r>
              <a:rPr lang="en-US" altLang="en-US"/>
              <a:t>Within: must be dealt with to complete an instruction (e.g., page fault)</a:t>
            </a:r>
          </a:p>
          <a:p>
            <a:pPr lvl="1"/>
            <a:r>
              <a:rPr lang="en-US" altLang="en-US"/>
              <a:t>Between: not part of an instruction (e.g., I/O device request, O/S call)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Resume / Terminate</a:t>
            </a:r>
          </a:p>
          <a:p>
            <a:pPr lvl="1"/>
            <a:r>
              <a:rPr lang="en-US" altLang="en-US"/>
              <a:t>Resume: must transparently return to user process (e.g., page fault, I/O device request)</a:t>
            </a:r>
          </a:p>
          <a:p>
            <a:pPr lvl="1"/>
            <a:r>
              <a:rPr lang="en-US" altLang="en-US"/>
              <a:t>Terminate: give up and die (e.g., protection violation, power failure)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Rectangle 2">
            <a:extLst>
              <a:ext uri="{FF2B5EF4-FFF2-40B4-BE49-F238E27FC236}">
                <a16:creationId xmlns:a16="http://schemas.microsoft.com/office/drawing/2014/main" id="{329D129C-D2ED-1A45-8AD5-536801D2C3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Handling interrupts</a:t>
            </a:r>
          </a:p>
        </p:txBody>
      </p:sp>
      <p:sp>
        <p:nvSpPr>
          <p:cNvPr id="55298" name="Rectangle 3">
            <a:extLst>
              <a:ext uri="{FF2B5EF4-FFF2-40B4-BE49-F238E27FC236}">
                <a16:creationId xmlns:a16="http://schemas.microsoft.com/office/drawing/2014/main" id="{EEE6BD83-5D63-6E4E-B94B-70008D0E15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sz="2400">
                <a:ea typeface="ＭＳ Ｐゴシック" panose="020B0600070205080204" pitchFamily="34" charset="-128"/>
              </a:rPr>
              <a:t>Precise interrupts (Sequential Semantics)</a:t>
            </a:r>
          </a:p>
          <a:p>
            <a:pPr lvl="1"/>
            <a:r>
              <a:rPr lang="en-US" altLang="en-US" sz="2000"/>
              <a:t>Complete instructions before offending one</a:t>
            </a:r>
          </a:p>
          <a:p>
            <a:pPr lvl="1"/>
            <a:r>
              <a:rPr lang="en-US" altLang="en-US" sz="2000"/>
              <a:t>Squash (effects of) instructions after</a:t>
            </a:r>
          </a:p>
          <a:p>
            <a:pPr lvl="1"/>
            <a:r>
              <a:rPr lang="en-US" altLang="en-US" sz="2000"/>
              <a:t>Save PC</a:t>
            </a:r>
          </a:p>
          <a:p>
            <a:pPr lvl="1"/>
            <a:r>
              <a:rPr lang="en-US" altLang="en-US" sz="2000"/>
              <a:t>Force trap instruction into IF</a:t>
            </a:r>
          </a:p>
          <a:p>
            <a:r>
              <a:rPr lang="en-US" altLang="en-US" sz="2400">
                <a:ea typeface="ＭＳ Ｐゴシック" panose="020B0600070205080204" pitchFamily="34" charset="-128"/>
              </a:rPr>
              <a:t>Must handle simultaneous/OOO interrupts</a:t>
            </a:r>
          </a:p>
          <a:p>
            <a:pPr lvl="1"/>
            <a:r>
              <a:rPr lang="en-US" altLang="en-US" sz="2000"/>
              <a:t>IF – memory problems (page fault, misaligned reference, protection violation)</a:t>
            </a:r>
          </a:p>
          <a:p>
            <a:pPr lvl="1"/>
            <a:r>
              <a:rPr lang="en-US" altLang="en-US" sz="2000"/>
              <a:t>ID – illegal or privileged instruction</a:t>
            </a:r>
          </a:p>
          <a:p>
            <a:pPr lvl="1"/>
            <a:r>
              <a:rPr lang="en-US" altLang="en-US" sz="2000"/>
              <a:t>EX – arithmetic exception</a:t>
            </a:r>
          </a:p>
          <a:p>
            <a:pPr lvl="1"/>
            <a:r>
              <a:rPr lang="en-US" altLang="en-US" sz="2000"/>
              <a:t>MEM – memory problems (see IF above)</a:t>
            </a:r>
          </a:p>
          <a:p>
            <a:pPr lvl="1"/>
            <a:r>
              <a:rPr lang="en-US" altLang="en-US" sz="2000"/>
              <a:t>WB – none</a:t>
            </a:r>
          </a:p>
          <a:p>
            <a:pPr lvl="1"/>
            <a:r>
              <a:rPr lang="en-US" altLang="en-US" sz="2000"/>
              <a:t>Which interrupt should be handled first?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10274" name="Group 2">
            <a:extLst>
              <a:ext uri="{FF2B5EF4-FFF2-40B4-BE49-F238E27FC236}">
                <a16:creationId xmlns:a16="http://schemas.microsoft.com/office/drawing/2014/main" id="{1EF2E3C5-DA1A-CE46-9381-102B138FFD0E}"/>
              </a:ext>
            </a:extLst>
          </p:cNvPr>
          <p:cNvGraphicFramePr>
            <a:graphicFrameLocks noGrp="1"/>
          </p:cNvGraphicFramePr>
          <p:nvPr/>
        </p:nvGraphicFramePr>
        <p:xfrm>
          <a:off x="1524000" y="1752600"/>
          <a:ext cx="4953000" cy="1609728"/>
        </p:xfrm>
        <a:graphic>
          <a:graphicData uri="http://schemas.openxmlformats.org/drawingml/2006/table">
            <a:tbl>
              <a:tblPr/>
              <a:tblGrid>
                <a:gridCol w="412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i+1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i+2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i+3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i+4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i+5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i+6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6440" name="Oval 121">
            <a:extLst>
              <a:ext uri="{FF2B5EF4-FFF2-40B4-BE49-F238E27FC236}">
                <a16:creationId xmlns:a16="http://schemas.microsoft.com/office/drawing/2014/main" id="{D893466B-4164-D340-96C8-0BBFEBFFD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2133600"/>
            <a:ext cx="457200" cy="304800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6441" name="Rectangle 122">
            <a:extLst>
              <a:ext uri="{FF2B5EF4-FFF2-40B4-BE49-F238E27FC236}">
                <a16:creationId xmlns:a16="http://schemas.microsoft.com/office/drawing/2014/main" id="{E81A047A-1482-704B-A038-4903069B0F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Handling interrupts (cont.)</a:t>
            </a:r>
          </a:p>
        </p:txBody>
      </p:sp>
      <p:sp>
        <p:nvSpPr>
          <p:cNvPr id="310395" name="Rectangle 123">
            <a:extLst>
              <a:ext uri="{FF2B5EF4-FFF2-40B4-BE49-F238E27FC236}">
                <a16:creationId xmlns:a16="http://schemas.microsoft.com/office/drawing/2014/main" id="{EAFC2916-8E9B-194A-BB6C-8E51170585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Example: data page fault</a:t>
            </a:r>
          </a:p>
          <a:p>
            <a:pPr>
              <a:defRPr/>
            </a:pPr>
            <a:endParaRPr lang="en-US" dirty="0"/>
          </a:p>
          <a:p>
            <a:pPr>
              <a:defRPr/>
            </a:pPr>
            <a:endParaRPr lang="en-US" dirty="0"/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Events</a:t>
            </a:r>
          </a:p>
          <a:p>
            <a:pPr lvl="1">
              <a:defRPr/>
            </a:pPr>
            <a:r>
              <a:rPr lang="en-US" dirty="0"/>
              <a:t>Preceding instruction already complete</a:t>
            </a:r>
          </a:p>
          <a:p>
            <a:pPr lvl="1">
              <a:defRPr/>
            </a:pPr>
            <a:r>
              <a:rPr lang="en-US" dirty="0"/>
              <a:t>Squash succeeding instructions</a:t>
            </a:r>
          </a:p>
          <a:p>
            <a:pPr lvl="2">
              <a:defRPr/>
            </a:pPr>
            <a:r>
              <a:rPr lang="en-US" dirty="0"/>
              <a:t>Prevent from modifying state</a:t>
            </a:r>
          </a:p>
          <a:p>
            <a:pPr lvl="1">
              <a:defRPr/>
            </a:pPr>
            <a:r>
              <a:rPr lang="en-US" dirty="0"/>
              <a:t>Inject </a:t>
            </a:r>
            <a:r>
              <a:rPr lang="ja-JP" altLang="en-US">
                <a:latin typeface="Arial"/>
              </a:rPr>
              <a:t>‘</a:t>
            </a:r>
            <a:r>
              <a:rPr lang="en-US" dirty="0"/>
              <a:t>trap</a:t>
            </a:r>
            <a:r>
              <a:rPr lang="ja-JP" altLang="en-US">
                <a:latin typeface="Arial"/>
              </a:rPr>
              <a:t>’</a:t>
            </a:r>
            <a:r>
              <a:rPr lang="en-US" dirty="0"/>
              <a:t> instruction, jumps to trap handler</a:t>
            </a:r>
          </a:p>
          <a:p>
            <a:pPr lvl="1">
              <a:defRPr/>
            </a:pPr>
            <a:r>
              <a:rPr lang="en-US" dirty="0"/>
              <a:t>Trap handler saves precise state</a:t>
            </a:r>
          </a:p>
        </p:txBody>
      </p:sp>
      <p:sp>
        <p:nvSpPr>
          <p:cNvPr id="56443" name="Text Box 124">
            <a:extLst>
              <a:ext uri="{FF2B5EF4-FFF2-40B4-BE49-F238E27FC236}">
                <a16:creationId xmlns:a16="http://schemas.microsoft.com/office/drawing/2014/main" id="{0CF5E18F-3D91-3F4C-B3AE-FEB1C4793E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1905000"/>
            <a:ext cx="7429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page fault</a:t>
            </a:r>
          </a:p>
        </p:txBody>
      </p:sp>
      <p:sp>
        <p:nvSpPr>
          <p:cNvPr id="56444" name="Text Box 125">
            <a:extLst>
              <a:ext uri="{FF2B5EF4-FFF2-40B4-BE49-F238E27FC236}">
                <a16:creationId xmlns:a16="http://schemas.microsoft.com/office/drawing/2014/main" id="{E7A29423-C0E8-1B44-9BDE-FB8B7E819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286000"/>
            <a:ext cx="5953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squash</a:t>
            </a:r>
          </a:p>
        </p:txBody>
      </p:sp>
      <p:sp>
        <p:nvSpPr>
          <p:cNvPr id="56445" name="Line 126">
            <a:extLst>
              <a:ext uri="{FF2B5EF4-FFF2-40B4-BE49-F238E27FC236}">
                <a16:creationId xmlns:a16="http://schemas.microsoft.com/office/drawing/2014/main" id="{C365E2B5-4A96-DF47-AD49-4ECD9B31D1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2438400"/>
            <a:ext cx="1066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446" name="Line 127">
            <a:extLst>
              <a:ext uri="{FF2B5EF4-FFF2-40B4-BE49-F238E27FC236}">
                <a16:creationId xmlns:a16="http://schemas.microsoft.com/office/drawing/2014/main" id="{53DF1FCF-822A-F34B-832F-5A0617188C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1600" y="2438400"/>
            <a:ext cx="60960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447" name="Line 128">
            <a:extLst>
              <a:ext uri="{FF2B5EF4-FFF2-40B4-BE49-F238E27FC236}">
                <a16:creationId xmlns:a16="http://schemas.microsoft.com/office/drawing/2014/main" id="{48466984-9427-AF47-8C84-C03F4314A6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2600" y="2438400"/>
            <a:ext cx="2286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448" name="Line 129">
            <a:extLst>
              <a:ext uri="{FF2B5EF4-FFF2-40B4-BE49-F238E27FC236}">
                <a16:creationId xmlns:a16="http://schemas.microsoft.com/office/drawing/2014/main" id="{829C3FD8-36B9-624D-B070-63590B7052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86200" y="2057400"/>
            <a:ext cx="22860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449" name="Text Box 130">
            <a:extLst>
              <a:ext uri="{FF2B5EF4-FFF2-40B4-BE49-F238E27FC236}">
                <a16:creationId xmlns:a16="http://schemas.microsoft.com/office/drawing/2014/main" id="{FDB1A72C-08F6-5E48-AC9C-5A55D45EE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95600"/>
            <a:ext cx="404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trap</a:t>
            </a:r>
          </a:p>
        </p:txBody>
      </p:sp>
      <p:sp>
        <p:nvSpPr>
          <p:cNvPr id="56450" name="Text Box 131">
            <a:extLst>
              <a:ext uri="{FF2B5EF4-FFF2-40B4-BE49-F238E27FC236}">
                <a16:creationId xmlns:a16="http://schemas.microsoft.com/office/drawing/2014/main" id="{F29408B1-75B7-8D41-8C96-36140E55D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124200"/>
            <a:ext cx="863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trap handler</a:t>
            </a:r>
          </a:p>
        </p:txBody>
      </p:sp>
      <p:sp>
        <p:nvSpPr>
          <p:cNvPr id="56451" name="Line 132">
            <a:extLst>
              <a:ext uri="{FF2B5EF4-FFF2-40B4-BE49-F238E27FC236}">
                <a16:creationId xmlns:a16="http://schemas.microsoft.com/office/drawing/2014/main" id="{955A96B2-DC19-6C46-816E-471E1FEF54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3048000"/>
            <a:ext cx="5334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452" name="Line 133">
            <a:extLst>
              <a:ext uri="{FF2B5EF4-FFF2-40B4-BE49-F238E27FC236}">
                <a16:creationId xmlns:a16="http://schemas.microsoft.com/office/drawing/2014/main" id="{6B861400-7EAA-604C-B2E2-0E2C28F94D3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32766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Rectangle 2">
            <a:extLst>
              <a:ext uri="{FF2B5EF4-FFF2-40B4-BE49-F238E27FC236}">
                <a16:creationId xmlns:a16="http://schemas.microsoft.com/office/drawing/2014/main" id="{9CF266CF-BEB5-054D-A8EB-CC1E6D3D9D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Handling interrupts (cont.)</a:t>
            </a:r>
          </a:p>
        </p:txBody>
      </p:sp>
      <p:sp>
        <p:nvSpPr>
          <p:cNvPr id="311299" name="Rectangle 3">
            <a:extLst>
              <a:ext uri="{FF2B5EF4-FFF2-40B4-BE49-F238E27FC236}">
                <a16:creationId xmlns:a16="http://schemas.microsoft.com/office/drawing/2014/main" id="{6914686A-46C1-F84A-B6E8-FAE62A3E13F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Out-of-order interrupts</a:t>
            </a:r>
          </a:p>
          <a:p>
            <a:pPr lvl="1">
              <a:defRPr/>
            </a:pPr>
            <a:r>
              <a:rPr lang="en-US" dirty="0"/>
              <a:t>Example: which page fault should we take?</a:t>
            </a:r>
          </a:p>
          <a:p>
            <a:pPr>
              <a:defRPr/>
            </a:pPr>
            <a:endParaRPr lang="en-US" dirty="0"/>
          </a:p>
          <a:p>
            <a:pPr>
              <a:defRPr/>
            </a:pPr>
            <a:endParaRPr lang="en-US" dirty="0"/>
          </a:p>
          <a:p>
            <a:pPr>
              <a:defRPr/>
            </a:pPr>
            <a:endParaRPr lang="en-US" dirty="0"/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Answer</a:t>
            </a:r>
          </a:p>
          <a:p>
            <a:pPr lvl="1">
              <a:defRPr/>
            </a:pPr>
            <a:r>
              <a:rPr lang="en-US" dirty="0"/>
              <a:t>Even though </a:t>
            </a:r>
            <a:r>
              <a:rPr lang="ja-JP" altLang="en-US">
                <a:latin typeface="Arial"/>
              </a:rPr>
              <a:t>‘</a:t>
            </a:r>
            <a:r>
              <a:rPr lang="en-US" dirty="0"/>
              <a:t>i+1</a:t>
            </a:r>
            <a:r>
              <a:rPr lang="ja-JP" altLang="en-US">
                <a:latin typeface="Arial"/>
              </a:rPr>
              <a:t>’</a:t>
            </a:r>
            <a:r>
              <a:rPr lang="en-US" dirty="0"/>
              <a:t> faults first, must service </a:t>
            </a:r>
            <a:r>
              <a:rPr lang="ja-JP" altLang="en-US">
                <a:latin typeface="Arial"/>
              </a:rPr>
              <a:t>‘</a:t>
            </a:r>
            <a:r>
              <a:rPr lang="en-US" dirty="0" err="1"/>
              <a:t>i</a:t>
            </a:r>
            <a:r>
              <a:rPr lang="ja-JP" altLang="en-US">
                <a:latin typeface="Arial"/>
              </a:rPr>
              <a:t>’</a:t>
            </a:r>
            <a:r>
              <a:rPr lang="en-US" dirty="0"/>
              <a:t> fault first</a:t>
            </a:r>
          </a:p>
          <a:p>
            <a:pPr lvl="1">
              <a:defRPr/>
            </a:pPr>
            <a:r>
              <a:rPr lang="en-US" dirty="0"/>
              <a:t>Solution: post interrupts</a:t>
            </a:r>
          </a:p>
          <a:p>
            <a:pPr lvl="2">
              <a:defRPr/>
            </a:pPr>
            <a:r>
              <a:rPr lang="en-US" dirty="0"/>
              <a:t>Check interrupt bit on entering WB</a:t>
            </a:r>
          </a:p>
          <a:p>
            <a:pPr lvl="2">
              <a:defRPr/>
            </a:pPr>
            <a:r>
              <a:rPr lang="en-US" dirty="0"/>
              <a:t>This maintains precise interrupts</a:t>
            </a:r>
          </a:p>
        </p:txBody>
      </p:sp>
      <p:graphicFrame>
        <p:nvGraphicFramePr>
          <p:cNvPr id="311300" name="Group 4">
            <a:extLst>
              <a:ext uri="{FF2B5EF4-FFF2-40B4-BE49-F238E27FC236}">
                <a16:creationId xmlns:a16="http://schemas.microsoft.com/office/drawing/2014/main" id="{5E6E3839-28DE-C242-963D-FF27D79DA6D4}"/>
              </a:ext>
            </a:extLst>
          </p:cNvPr>
          <p:cNvGraphicFramePr>
            <a:graphicFrameLocks noGrp="1"/>
          </p:cNvGraphicFramePr>
          <p:nvPr/>
        </p:nvGraphicFramePr>
        <p:xfrm>
          <a:off x="1752600" y="2505075"/>
          <a:ext cx="4953000" cy="1609728"/>
        </p:xfrm>
        <a:graphic>
          <a:graphicData uri="http://schemas.openxmlformats.org/drawingml/2006/table">
            <a:tbl>
              <a:tblPr/>
              <a:tblGrid>
                <a:gridCol w="412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i+1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i+2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i+3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i+4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i+5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i+6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7466" name="Oval 123">
            <a:extLst>
              <a:ext uri="{FF2B5EF4-FFF2-40B4-BE49-F238E27FC236}">
                <a16:creationId xmlns:a16="http://schemas.microsoft.com/office/drawing/2014/main" id="{F81FB1AA-AF2A-8647-ABBF-FDFEB578F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2657475"/>
            <a:ext cx="457200" cy="304800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7467" name="Text Box 124">
            <a:extLst>
              <a:ext uri="{FF2B5EF4-FFF2-40B4-BE49-F238E27FC236}">
                <a16:creationId xmlns:a16="http://schemas.microsoft.com/office/drawing/2014/main" id="{AEE61732-104E-1B42-9837-10D1F4028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276475"/>
            <a:ext cx="7429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page fault</a:t>
            </a:r>
          </a:p>
        </p:txBody>
      </p:sp>
      <p:sp>
        <p:nvSpPr>
          <p:cNvPr id="57468" name="Line 125">
            <a:extLst>
              <a:ext uri="{FF2B5EF4-FFF2-40B4-BE49-F238E27FC236}">
                <a16:creationId xmlns:a16="http://schemas.microsoft.com/office/drawing/2014/main" id="{8660309F-86BB-994A-9FE1-99C75FB9EF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3800" y="2428875"/>
            <a:ext cx="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469" name="Oval 126">
            <a:extLst>
              <a:ext uri="{FF2B5EF4-FFF2-40B4-BE49-F238E27FC236}">
                <a16:creationId xmlns:a16="http://schemas.microsoft.com/office/drawing/2014/main" id="{C8675D4B-4960-0B41-B9B8-68294809D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886075"/>
            <a:ext cx="457200" cy="304800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7470" name="Text Box 127">
            <a:extLst>
              <a:ext uri="{FF2B5EF4-FFF2-40B4-BE49-F238E27FC236}">
                <a16:creationId xmlns:a16="http://schemas.microsoft.com/office/drawing/2014/main" id="{772D159B-C67B-324C-A032-67647A870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419475"/>
            <a:ext cx="7429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page fault</a:t>
            </a:r>
          </a:p>
        </p:txBody>
      </p:sp>
      <p:sp>
        <p:nvSpPr>
          <p:cNvPr id="57471" name="Line 128">
            <a:extLst>
              <a:ext uri="{FF2B5EF4-FFF2-40B4-BE49-F238E27FC236}">
                <a16:creationId xmlns:a16="http://schemas.microsoft.com/office/drawing/2014/main" id="{70848892-54D6-4B40-A83D-A79B51784F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67000" y="3190875"/>
            <a:ext cx="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2">
            <a:extLst>
              <a:ext uri="{FF2B5EF4-FFF2-40B4-BE49-F238E27FC236}">
                <a16:creationId xmlns:a16="http://schemas.microsoft.com/office/drawing/2014/main" id="{0E59A6E0-C57D-B54E-BAAE-9E2E299CC9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OOO-execution and interrupts</a:t>
            </a:r>
          </a:p>
        </p:txBody>
      </p:sp>
      <p:sp>
        <p:nvSpPr>
          <p:cNvPr id="312323" name="Rectangle 3">
            <a:extLst>
              <a:ext uri="{FF2B5EF4-FFF2-40B4-BE49-F238E27FC236}">
                <a16:creationId xmlns:a16="http://schemas.microsoft.com/office/drawing/2014/main" id="{94870250-0671-AD4D-AD46-B0A8C8E9EC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Preceding example assumed in-order pipeline</a:t>
            </a:r>
          </a:p>
          <a:p>
            <a:pPr lvl="1">
              <a:defRPr/>
            </a:pPr>
            <a:r>
              <a:rPr lang="en-US" dirty="0"/>
              <a:t>WB occurs in-order</a:t>
            </a:r>
          </a:p>
          <a:p>
            <a:pPr lvl="1">
              <a:defRPr/>
            </a:pPr>
            <a:r>
              <a:rPr lang="en-US" dirty="0"/>
              <a:t>This makes precise interrupts easy</a:t>
            </a:r>
          </a:p>
          <a:p>
            <a:pPr>
              <a:defRPr/>
            </a:pPr>
            <a:r>
              <a:rPr lang="en-US" dirty="0"/>
              <a:t>Consider OOO-execution</a:t>
            </a:r>
          </a:p>
          <a:p>
            <a:pPr marL="457200" lvl="1" indent="0">
              <a:buFont typeface="Times New Roman" panose="02020603050405020304" pitchFamily="18" charset="0"/>
              <a:buNone/>
              <a:defRPr/>
            </a:pPr>
            <a:endParaRPr lang="en-US" dirty="0"/>
          </a:p>
          <a:p>
            <a:pPr marL="457200" lvl="1" indent="0">
              <a:buFont typeface="Times New Roman" panose="02020603050405020304" pitchFamily="18" charset="0"/>
              <a:buNone/>
              <a:defRPr/>
            </a:pPr>
            <a:endParaRPr lang="en-US" dirty="0"/>
          </a:p>
          <a:p>
            <a:pPr lvl="1">
              <a:defRPr/>
            </a:pPr>
            <a:r>
              <a:rPr lang="en-US" dirty="0"/>
              <a:t>Problem: ADD has already completed, state is imprecise!</a:t>
            </a:r>
          </a:p>
        </p:txBody>
      </p:sp>
      <p:graphicFrame>
        <p:nvGraphicFramePr>
          <p:cNvPr id="312324" name="Group 4">
            <a:extLst>
              <a:ext uri="{FF2B5EF4-FFF2-40B4-BE49-F238E27FC236}">
                <a16:creationId xmlns:a16="http://schemas.microsoft.com/office/drawing/2014/main" id="{8083B8B1-F849-784F-A5CE-89F6048542B1}"/>
              </a:ext>
            </a:extLst>
          </p:cNvPr>
          <p:cNvGraphicFramePr>
            <a:graphicFrameLocks noGrp="1"/>
          </p:cNvGraphicFramePr>
          <p:nvPr/>
        </p:nvGraphicFramePr>
        <p:xfrm>
          <a:off x="838200" y="3200400"/>
          <a:ext cx="5638800" cy="608988"/>
        </p:xfrm>
        <a:graphic>
          <a:graphicData uri="http://schemas.openxmlformats.org/drawingml/2006/table">
            <a:tbl>
              <a:tblPr/>
              <a:tblGrid>
                <a:gridCol w="1098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318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937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009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53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MULTD F0, F2, F4</a:t>
                      </a:r>
                    </a:p>
                  </a:txBody>
                  <a:tcPr marL="45720" marR="45720" marT="45618" marB="4561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53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ADDD  F6, F8, F8</a:t>
                      </a:r>
                    </a:p>
                  </a:txBody>
                  <a:tcPr marL="45720" marR="45720" marT="45618" marB="4561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618" marB="456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8425" name="Oval 58">
            <a:extLst>
              <a:ext uri="{FF2B5EF4-FFF2-40B4-BE49-F238E27FC236}">
                <a16:creationId xmlns:a16="http://schemas.microsoft.com/office/drawing/2014/main" id="{43403F1F-DFCC-8644-A8A0-5123D0A48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3429000"/>
            <a:ext cx="381000" cy="228600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8426" name="Line 59">
            <a:extLst>
              <a:ext uri="{FF2B5EF4-FFF2-40B4-BE49-F238E27FC236}">
                <a16:creationId xmlns:a16="http://schemas.microsoft.com/office/drawing/2014/main" id="{C0B9B186-29AB-144E-8733-3643590F9F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5400" y="2971800"/>
            <a:ext cx="60960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427" name="Text Box 60">
            <a:extLst>
              <a:ext uri="{FF2B5EF4-FFF2-40B4-BE49-F238E27FC236}">
                <a16:creationId xmlns:a16="http://schemas.microsoft.com/office/drawing/2014/main" id="{E938A745-BBA1-E74B-9812-920CFD960A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2819400"/>
            <a:ext cx="20843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floating-point arithmetic exception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Rectangle 2">
            <a:extLst>
              <a:ext uri="{FF2B5EF4-FFF2-40B4-BE49-F238E27FC236}">
                <a16:creationId xmlns:a16="http://schemas.microsoft.com/office/drawing/2014/main" id="{E6BE47AD-1015-964C-9245-1D9B74452E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Solutions</a:t>
            </a:r>
          </a:p>
        </p:txBody>
      </p:sp>
      <p:sp>
        <p:nvSpPr>
          <p:cNvPr id="59394" name="Rectangle 3">
            <a:extLst>
              <a:ext uri="{FF2B5EF4-FFF2-40B4-BE49-F238E27FC236}">
                <a16:creationId xmlns:a16="http://schemas.microsoft.com/office/drawing/2014/main" id="{5AD7D85C-1B19-644A-AF52-5C9825075A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Imprecise interrupts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Ignore the problem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Makes page faults difficult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IEEE Standard strongly suggests precise interrupts</a:t>
            </a:r>
          </a:p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In-order completion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Stall pipeline when necessary</a:t>
            </a:r>
          </a:p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Software clean-up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Save information for trap handlers (pipeline state)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Machine dependent</a:t>
            </a:r>
          </a:p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Hardware clean-up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Restore consistent state</a:t>
            </a:r>
          </a:p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Re-order instructions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Complete out-of-order</a:t>
            </a:r>
          </a:p>
          <a:p>
            <a:pPr lvl="1">
              <a:lnSpc>
                <a:spcPct val="80000"/>
              </a:lnSpc>
            </a:pPr>
            <a:r>
              <a:rPr lang="en-US" altLang="en-US" sz="2000" i="1"/>
              <a:t>Retire</a:t>
            </a:r>
            <a:r>
              <a:rPr lang="en-US" altLang="en-US" sz="2000"/>
              <a:t> in-order</a:t>
            </a:r>
          </a:p>
        </p:txBody>
      </p:sp>
      <p:sp>
        <p:nvSpPr>
          <p:cNvPr id="59395" name="Line 5">
            <a:extLst>
              <a:ext uri="{FF2B5EF4-FFF2-40B4-BE49-F238E27FC236}">
                <a16:creationId xmlns:a16="http://schemas.microsoft.com/office/drawing/2014/main" id="{56875D9B-FA57-6149-A4A5-441F0EB536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6200" y="5105400"/>
            <a:ext cx="53340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6" name="Line 6">
            <a:extLst>
              <a:ext uri="{FF2B5EF4-FFF2-40B4-BE49-F238E27FC236}">
                <a16:creationId xmlns:a16="http://schemas.microsoft.com/office/drawing/2014/main" id="{C4C08CBC-BE7A-364E-AA17-1E0791E1BA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6200" y="5486400"/>
            <a:ext cx="838200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7" name="Line 7">
            <a:extLst>
              <a:ext uri="{FF2B5EF4-FFF2-40B4-BE49-F238E27FC236}">
                <a16:creationId xmlns:a16="http://schemas.microsoft.com/office/drawing/2014/main" id="{1F8B3216-2164-B84A-8495-A84834C2D5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5867400"/>
            <a:ext cx="83820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8" name="Line 8">
            <a:extLst>
              <a:ext uri="{FF2B5EF4-FFF2-40B4-BE49-F238E27FC236}">
                <a16:creationId xmlns:a16="http://schemas.microsoft.com/office/drawing/2014/main" id="{6E534B20-D462-3841-9041-BD71671D76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6096000"/>
            <a:ext cx="3810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9" name="Line 9">
            <a:extLst>
              <a:ext uri="{FF2B5EF4-FFF2-40B4-BE49-F238E27FC236}">
                <a16:creationId xmlns:a16="http://schemas.microsoft.com/office/drawing/2014/main" id="{27E016FA-B9EB-8741-8B62-1F26888A7B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6096000"/>
            <a:ext cx="15240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0" name="Line 10">
            <a:extLst>
              <a:ext uri="{FF2B5EF4-FFF2-40B4-BE49-F238E27FC236}">
                <a16:creationId xmlns:a16="http://schemas.microsoft.com/office/drawing/2014/main" id="{61449873-85B5-AD47-AE35-29CCEC9B8C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00" y="60960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1" name="Line 11">
            <a:extLst>
              <a:ext uri="{FF2B5EF4-FFF2-40B4-BE49-F238E27FC236}">
                <a16:creationId xmlns:a16="http://schemas.microsoft.com/office/drawing/2014/main" id="{968DF103-D415-504C-8599-E1303A22D4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47800" y="6096000"/>
            <a:ext cx="1524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2" name="Line 12">
            <a:extLst>
              <a:ext uri="{FF2B5EF4-FFF2-40B4-BE49-F238E27FC236}">
                <a16:creationId xmlns:a16="http://schemas.microsoft.com/office/drawing/2014/main" id="{AD5F0C30-B1A8-CE49-94C2-1E38DAD40C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3400" y="6096000"/>
            <a:ext cx="3810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3" name="Line 13">
            <a:extLst>
              <a:ext uri="{FF2B5EF4-FFF2-40B4-BE49-F238E27FC236}">
                <a16:creationId xmlns:a16="http://schemas.microsoft.com/office/drawing/2014/main" id="{A2BCB6EF-70F4-9244-B97E-8B3F460AC7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-152400" y="5867400"/>
            <a:ext cx="68580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4" name="Line 14">
            <a:extLst>
              <a:ext uri="{FF2B5EF4-FFF2-40B4-BE49-F238E27FC236}">
                <a16:creationId xmlns:a16="http://schemas.microsoft.com/office/drawing/2014/main" id="{E243CDF8-6B54-834F-A28F-43D420F798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-381000" y="5562600"/>
            <a:ext cx="609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5" name="Line 15">
            <a:extLst>
              <a:ext uri="{FF2B5EF4-FFF2-40B4-BE49-F238E27FC236}">
                <a16:creationId xmlns:a16="http://schemas.microsoft.com/office/drawing/2014/main" id="{00759204-9FB6-DE4B-9B6C-3AC82FB565D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-304800" y="4800600"/>
            <a:ext cx="6096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06" name="Text Box 16">
            <a:extLst>
              <a:ext uri="{FF2B5EF4-FFF2-40B4-BE49-F238E27FC236}">
                <a16:creationId xmlns:a16="http://schemas.microsoft.com/office/drawing/2014/main" id="{B674C8E1-F01C-CC47-AD49-1FFA469F0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5410200"/>
            <a:ext cx="22193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Can you tell which one is preferred?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2">
            <a:extLst>
              <a:ext uri="{FF2B5EF4-FFF2-40B4-BE49-F238E27FC236}">
                <a16:creationId xmlns:a16="http://schemas.microsoft.com/office/drawing/2014/main" id="{F609C6E9-3FB9-6E4F-8A52-B397F04588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Reorder Buffer (ROB)</a:t>
            </a:r>
          </a:p>
        </p:txBody>
      </p:sp>
      <p:sp>
        <p:nvSpPr>
          <p:cNvPr id="60418" name="Rectangle 3">
            <a:extLst>
              <a:ext uri="{FF2B5EF4-FFF2-40B4-BE49-F238E27FC236}">
                <a16:creationId xmlns:a16="http://schemas.microsoft.com/office/drawing/2014/main" id="{268CB6B2-04BC-2044-B14C-AF190A0D2C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Operation of ROB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ROB is a FIFO with head and tail pointer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dispatch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Reserve ROB entry at tail, advance tail ptr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Record ROB entry (ROB tag) with instruction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execution/completion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Write value into ROB entry specified by the instruction</a:t>
            </a:r>
            <a:r>
              <a:rPr lang="ja-JP" altLang="en-US" sz="1800">
                <a:latin typeface="Arial" panose="020B0604020202020204" pitchFamily="34" charset="0"/>
              </a:rPr>
              <a:t>’</a:t>
            </a:r>
            <a:r>
              <a:rPr lang="en-US" altLang="en-US" sz="1800"/>
              <a:t>s tag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DO NOT write result into the register file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If instruction caused an exception, mark exception bit in the ROB for offending instruction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retire (a.k.a. commit, graduate)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Check instruction at the head of the ROB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completed, check exception bit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no exception, commit state (write value into register file) and advance head ptr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exception, squash subsequent instructions in ROB (back-up the tail ptr to the head ptr)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Rectangle 2">
            <a:extLst>
              <a:ext uri="{FF2B5EF4-FFF2-40B4-BE49-F238E27FC236}">
                <a16:creationId xmlns:a16="http://schemas.microsoft.com/office/drawing/2014/main" id="{3C7F3182-9044-C44B-BA5D-31B49AE3AB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New stage: Retire (RE)</a:t>
            </a:r>
          </a:p>
        </p:txBody>
      </p:sp>
      <p:sp>
        <p:nvSpPr>
          <p:cNvPr id="61442" name="Text Box 3">
            <a:extLst>
              <a:ext uri="{FF2B5EF4-FFF2-40B4-BE49-F238E27FC236}">
                <a16:creationId xmlns:a16="http://schemas.microsoft.com/office/drawing/2014/main" id="{DC10F8EF-5705-2440-876F-7E6BAADCDF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1525" y="1974850"/>
            <a:ext cx="338138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IF</a:t>
            </a:r>
          </a:p>
        </p:txBody>
      </p:sp>
      <p:sp>
        <p:nvSpPr>
          <p:cNvPr id="61443" name="Text Box 4">
            <a:extLst>
              <a:ext uri="{FF2B5EF4-FFF2-40B4-BE49-F238E27FC236}">
                <a16:creationId xmlns:a16="http://schemas.microsoft.com/office/drawing/2014/main" id="{D012E8B6-1589-2343-9FDC-DBCA00F8F1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0775" y="1974850"/>
            <a:ext cx="338138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ID</a:t>
            </a:r>
          </a:p>
        </p:txBody>
      </p:sp>
      <p:sp>
        <p:nvSpPr>
          <p:cNvPr id="61444" name="Text Box 5">
            <a:extLst>
              <a:ext uri="{FF2B5EF4-FFF2-40B4-BE49-F238E27FC236}">
                <a16:creationId xmlns:a16="http://schemas.microsoft.com/office/drawing/2014/main" id="{75AFC3E1-7012-B14C-8728-A5BAC3D03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363" y="1974850"/>
            <a:ext cx="338137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IS</a:t>
            </a:r>
          </a:p>
        </p:txBody>
      </p:sp>
      <p:sp>
        <p:nvSpPr>
          <p:cNvPr id="61445" name="Text Box 6">
            <a:extLst>
              <a:ext uri="{FF2B5EF4-FFF2-40B4-BE49-F238E27FC236}">
                <a16:creationId xmlns:a16="http://schemas.microsoft.com/office/drawing/2014/main" id="{CF6827C1-0A6F-6648-9642-77F1887B2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1974850"/>
            <a:ext cx="349250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EX</a:t>
            </a:r>
          </a:p>
        </p:txBody>
      </p:sp>
      <p:sp>
        <p:nvSpPr>
          <p:cNvPr id="61446" name="Text Box 7">
            <a:extLst>
              <a:ext uri="{FF2B5EF4-FFF2-40B4-BE49-F238E27FC236}">
                <a16:creationId xmlns:a16="http://schemas.microsoft.com/office/drawing/2014/main" id="{8950FD5F-C069-2442-8A83-85DA29D9B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2038" y="1974850"/>
            <a:ext cx="349250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WB</a:t>
            </a:r>
          </a:p>
        </p:txBody>
      </p:sp>
      <p:sp>
        <p:nvSpPr>
          <p:cNvPr id="61447" name="Text Box 8">
            <a:extLst>
              <a:ext uri="{FF2B5EF4-FFF2-40B4-BE49-F238E27FC236}">
                <a16:creationId xmlns:a16="http://schemas.microsoft.com/office/drawing/2014/main" id="{0B049B03-BEDA-D84D-9638-379732410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3375" y="1981200"/>
            <a:ext cx="349250" cy="246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RE</a:t>
            </a:r>
          </a:p>
        </p:txBody>
      </p:sp>
      <p:sp>
        <p:nvSpPr>
          <p:cNvPr id="61448" name="Text Box 9">
            <a:extLst>
              <a:ext uri="{FF2B5EF4-FFF2-40B4-BE49-F238E27FC236}">
                <a16:creationId xmlns:a16="http://schemas.microsoft.com/office/drawing/2014/main" id="{5AD8583C-A771-DD43-BA49-B839DE67EC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1525" y="2438400"/>
            <a:ext cx="625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in-order</a:t>
            </a:r>
          </a:p>
        </p:txBody>
      </p:sp>
      <p:sp>
        <p:nvSpPr>
          <p:cNvPr id="61449" name="Text Box 10">
            <a:extLst>
              <a:ext uri="{FF2B5EF4-FFF2-40B4-BE49-F238E27FC236}">
                <a16:creationId xmlns:a16="http://schemas.microsoft.com/office/drawing/2014/main" id="{801CEA83-D7DD-8244-989D-D471915EE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363" y="2438400"/>
            <a:ext cx="8509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out-of-order</a:t>
            </a:r>
          </a:p>
        </p:txBody>
      </p:sp>
      <p:sp>
        <p:nvSpPr>
          <p:cNvPr id="61450" name="Text Box 11">
            <a:extLst>
              <a:ext uri="{FF2B5EF4-FFF2-40B4-BE49-F238E27FC236}">
                <a16:creationId xmlns:a16="http://schemas.microsoft.com/office/drawing/2014/main" id="{1B66D099-C0B9-2343-9607-29C08210C4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4625" y="2438400"/>
            <a:ext cx="6254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in-order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2">
            <a:extLst>
              <a:ext uri="{FF2B5EF4-FFF2-40B4-BE49-F238E27FC236}">
                <a16:creationId xmlns:a16="http://schemas.microsoft.com/office/drawing/2014/main" id="{BB9FE2CC-64C0-6F40-8606-1773F11E10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Reorder Buffer (cont.)</a:t>
            </a:r>
          </a:p>
        </p:txBody>
      </p:sp>
      <p:graphicFrame>
        <p:nvGraphicFramePr>
          <p:cNvPr id="316419" name="Group 3">
            <a:extLst>
              <a:ext uri="{FF2B5EF4-FFF2-40B4-BE49-F238E27FC236}">
                <a16:creationId xmlns:a16="http://schemas.microsoft.com/office/drawing/2014/main" id="{C966D88E-1867-3C4F-9779-975D74D70548}"/>
              </a:ext>
            </a:extLst>
          </p:cNvPr>
          <p:cNvGraphicFramePr>
            <a:graphicFrameLocks noGrp="1"/>
          </p:cNvGraphicFramePr>
          <p:nvPr/>
        </p:nvGraphicFramePr>
        <p:xfrm>
          <a:off x="3252788" y="1981200"/>
          <a:ext cx="3657600" cy="2414592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96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21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21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</a:t>
                      </a:r>
                    </a:p>
                  </a:txBody>
                  <a:tcPr marL="45720" marR="45720" marT="45731" marB="4573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31" marB="4573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62559" name="Text Box 96">
            <a:extLst>
              <a:ext uri="{FF2B5EF4-FFF2-40B4-BE49-F238E27FC236}">
                <a16:creationId xmlns:a16="http://schemas.microsoft.com/office/drawing/2014/main" id="{8C8FAAEC-DCC5-AD4B-8671-CDDD85DC5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6588" y="1752600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62560" name="Text Box 97">
            <a:extLst>
              <a:ext uri="{FF2B5EF4-FFF2-40B4-BE49-F238E27FC236}">
                <a16:creationId xmlns:a16="http://schemas.microsoft.com/office/drawing/2014/main" id="{4BED29DE-6D74-714A-8FB2-193FACE9C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0788" y="28194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sp>
        <p:nvSpPr>
          <p:cNvPr id="62561" name="Text Box 98">
            <a:extLst>
              <a:ext uri="{FF2B5EF4-FFF2-40B4-BE49-F238E27FC236}">
                <a16:creationId xmlns:a16="http://schemas.microsoft.com/office/drawing/2014/main" id="{8558BDFE-78E3-CD48-9C08-59E6CEE83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3581400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62562" name="Line 99">
            <a:extLst>
              <a:ext uri="{FF2B5EF4-FFF2-40B4-BE49-F238E27FC236}">
                <a16:creationId xmlns:a16="http://schemas.microsoft.com/office/drawing/2014/main" id="{71C7CE85-826F-DB4F-BB45-52F6CE37FD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7988" y="365760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63" name="Line 100">
            <a:extLst>
              <a:ext uri="{FF2B5EF4-FFF2-40B4-BE49-F238E27FC236}">
                <a16:creationId xmlns:a16="http://schemas.microsoft.com/office/drawing/2014/main" id="{FB3AAB80-D363-5D43-9ECC-D2D0FD381E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7988" y="289560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64" name="Text Box 101">
            <a:extLst>
              <a:ext uri="{FF2B5EF4-FFF2-40B4-BE49-F238E27FC236}">
                <a16:creationId xmlns:a16="http://schemas.microsoft.com/office/drawing/2014/main" id="{53FCEF5B-4CAF-3540-A860-16A9F843B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572000"/>
            <a:ext cx="4376737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Shown: The two loads (A and B) have completed and retired.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The MULTD has not completed.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The ADDD and SUBD have completed out-of-order, but the ROB prevents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them from retiring (updating state).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THUS: </a:t>
            </a: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if the MULTD posts an exception, the Register File state is precise.</a:t>
            </a:r>
          </a:p>
        </p:txBody>
      </p:sp>
      <p:sp>
        <p:nvSpPr>
          <p:cNvPr id="62565" name="Text Box 102">
            <a:extLst>
              <a:ext uri="{FF2B5EF4-FFF2-40B4-BE49-F238E27FC236}">
                <a16:creationId xmlns:a16="http://schemas.microsoft.com/office/drawing/2014/main" id="{1F032F4C-B04C-4E43-8DDE-BBDC78313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" y="1193800"/>
            <a:ext cx="1943100" cy="138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   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B   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C   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   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E   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   ADDD  F6 , F8, F2</a:t>
            </a:r>
          </a:p>
        </p:txBody>
      </p:sp>
      <p:sp>
        <p:nvSpPr>
          <p:cNvPr id="62566" name="Line 103">
            <a:extLst>
              <a:ext uri="{FF2B5EF4-FFF2-40B4-BE49-F238E27FC236}">
                <a16:creationId xmlns:a16="http://schemas.microsoft.com/office/drawing/2014/main" id="{8D21762B-2D4C-C24D-A6B9-A01BA80020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2200" y="353695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67" name="Text Box 104">
            <a:extLst>
              <a:ext uri="{FF2B5EF4-FFF2-40B4-BE49-F238E27FC236}">
                <a16:creationId xmlns:a16="http://schemas.microsoft.com/office/drawing/2014/main" id="{DC1C1F8C-BFC2-7349-8080-55E0A15896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350" y="3657600"/>
            <a:ext cx="6588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dispatch</a:t>
            </a:r>
          </a:p>
        </p:txBody>
      </p:sp>
      <p:sp>
        <p:nvSpPr>
          <p:cNvPr id="62568" name="Line 105">
            <a:extLst>
              <a:ext uri="{FF2B5EF4-FFF2-40B4-BE49-F238E27FC236}">
                <a16:creationId xmlns:a16="http://schemas.microsoft.com/office/drawing/2014/main" id="{1EB81DBD-3ED4-EB4F-818F-11B3CFD4C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2200" y="27559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69" name="Text Box 106">
            <a:extLst>
              <a:ext uri="{FF2B5EF4-FFF2-40B4-BE49-F238E27FC236}">
                <a16:creationId xmlns:a16="http://schemas.microsoft.com/office/drawing/2014/main" id="{0FBEA137-20A5-0642-8E9D-62E675C9FB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0538" y="2876550"/>
            <a:ext cx="4762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retire</a:t>
            </a:r>
          </a:p>
        </p:txBody>
      </p:sp>
      <p:sp>
        <p:nvSpPr>
          <p:cNvPr id="62570" name="Line 107">
            <a:extLst>
              <a:ext uri="{FF2B5EF4-FFF2-40B4-BE49-F238E27FC236}">
                <a16:creationId xmlns:a16="http://schemas.microsoft.com/office/drawing/2014/main" id="{EA0A2F97-56E0-3A46-96CA-52621B661A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1600200"/>
            <a:ext cx="0" cy="396875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71" name="Text Box 108">
            <a:extLst>
              <a:ext uri="{FF2B5EF4-FFF2-40B4-BE49-F238E27FC236}">
                <a16:creationId xmlns:a16="http://schemas.microsoft.com/office/drawing/2014/main" id="{5303F28A-D211-C549-92F9-02DD784A4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8725" y="1355725"/>
            <a:ext cx="18399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update RF with value at head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>
            <a:extLst>
              <a:ext uri="{FF2B5EF4-FFF2-40B4-BE49-F238E27FC236}">
                <a16:creationId xmlns:a16="http://schemas.microsoft.com/office/drawing/2014/main" id="{2F47152D-EAAF-9D45-A894-48276FF954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>
                <a:ea typeface="ＭＳ Ｐゴシック" panose="020B0600070205080204" pitchFamily="34" charset="-128"/>
              </a:rPr>
              <a:t>Precise Tomasulo Pipeline with ROB</a:t>
            </a:r>
          </a:p>
        </p:txBody>
      </p:sp>
      <p:sp>
        <p:nvSpPr>
          <p:cNvPr id="63490" name="Text Box 3">
            <a:extLst>
              <a:ext uri="{FF2B5EF4-FFF2-40B4-BE49-F238E27FC236}">
                <a16:creationId xmlns:a16="http://schemas.microsoft.com/office/drawing/2014/main" id="{D372F10F-50CC-074F-8264-9B0D9298A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676400"/>
            <a:ext cx="2262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Update state out-of-order: imprecise!</a:t>
            </a:r>
          </a:p>
        </p:txBody>
      </p:sp>
      <p:grpSp>
        <p:nvGrpSpPr>
          <p:cNvPr id="63491" name="Group 4">
            <a:extLst>
              <a:ext uri="{FF2B5EF4-FFF2-40B4-BE49-F238E27FC236}">
                <a16:creationId xmlns:a16="http://schemas.microsoft.com/office/drawing/2014/main" id="{0C054967-DD8F-3641-BB13-18DE82B9E5E7}"/>
              </a:ext>
            </a:extLst>
          </p:cNvPr>
          <p:cNvGrpSpPr>
            <a:grpSpLocks/>
          </p:cNvGrpSpPr>
          <p:nvPr/>
        </p:nvGrpSpPr>
        <p:grpSpPr bwMode="auto">
          <a:xfrm>
            <a:off x="1219200" y="1905000"/>
            <a:ext cx="1322388" cy="3505200"/>
            <a:chOff x="336" y="1200"/>
            <a:chExt cx="833" cy="2208"/>
          </a:xfrm>
        </p:grpSpPr>
        <p:sp>
          <p:nvSpPr>
            <p:cNvPr id="63530" name="Rectangle 5">
              <a:extLst>
                <a:ext uri="{FF2B5EF4-FFF2-40B4-BE49-F238E27FC236}">
                  <a16:creationId xmlns:a16="http://schemas.microsoft.com/office/drawing/2014/main" id="{81E675F5-E530-8444-ADC0-50F60F1C1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1632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31" name="Text Box 6">
              <a:extLst>
                <a:ext uri="{FF2B5EF4-FFF2-40B4-BE49-F238E27FC236}">
                  <a16:creationId xmlns:a16="http://schemas.microsoft.com/office/drawing/2014/main" id="{B881A2E7-8CBD-444C-9529-0311C3EC1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1680"/>
              <a:ext cx="4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File</a:t>
              </a:r>
            </a:p>
          </p:txBody>
        </p:sp>
        <p:sp>
          <p:nvSpPr>
            <p:cNvPr id="63532" name="Rectangle 7">
              <a:extLst>
                <a:ext uri="{FF2B5EF4-FFF2-40B4-BE49-F238E27FC236}">
                  <a16:creationId xmlns:a16="http://schemas.microsoft.com/office/drawing/2014/main" id="{95F1C665-4ED8-CB47-87A8-6D862C79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2256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33" name="Line 8">
              <a:extLst>
                <a:ext uri="{FF2B5EF4-FFF2-40B4-BE49-F238E27FC236}">
                  <a16:creationId xmlns:a16="http://schemas.microsoft.com/office/drawing/2014/main" id="{DC324BC7-6292-4748-9A96-06F7257740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" y="2352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Line 9">
              <a:extLst>
                <a:ext uri="{FF2B5EF4-FFF2-40B4-BE49-F238E27FC236}">
                  <a16:creationId xmlns:a16="http://schemas.microsoft.com/office/drawing/2014/main" id="{7B82C6A0-95DD-EE47-B325-7A18CC6DE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" y="2448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Line 10">
              <a:extLst>
                <a:ext uri="{FF2B5EF4-FFF2-40B4-BE49-F238E27FC236}">
                  <a16:creationId xmlns:a16="http://schemas.microsoft.com/office/drawing/2014/main" id="{D0CE00CE-7620-6E42-8445-78C16D1F7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" y="2544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Text Box 11">
              <a:extLst>
                <a:ext uri="{FF2B5EF4-FFF2-40B4-BE49-F238E27FC236}">
                  <a16:creationId xmlns:a16="http://schemas.microsoft.com/office/drawing/2014/main" id="{7D7D73DC-298B-9F4C-8914-B5B92369F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2352"/>
              <a:ext cx="5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63537" name="Rectangle 12">
              <a:extLst>
                <a:ext uri="{FF2B5EF4-FFF2-40B4-BE49-F238E27FC236}">
                  <a16:creationId xmlns:a16="http://schemas.microsoft.com/office/drawing/2014/main" id="{ECB3F8FF-11AD-514E-8A29-C4D2ED7FA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2880"/>
              <a:ext cx="576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38" name="Text Box 13">
              <a:extLst>
                <a:ext uri="{FF2B5EF4-FFF2-40B4-BE49-F238E27FC236}">
                  <a16:creationId xmlns:a16="http://schemas.microsoft.com/office/drawing/2014/main" id="{A390643E-7B76-5445-9614-2062C7BA1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" y="2928"/>
              <a:ext cx="48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Functional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Units</a:t>
              </a:r>
            </a:p>
          </p:txBody>
        </p:sp>
        <p:sp>
          <p:nvSpPr>
            <p:cNvPr id="63539" name="Line 14">
              <a:extLst>
                <a:ext uri="{FF2B5EF4-FFF2-40B4-BE49-F238E27FC236}">
                  <a16:creationId xmlns:a16="http://schemas.microsoft.com/office/drawing/2014/main" id="{EE578AA0-BD39-4244-BFC8-9AB5A976A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" y="2016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Line 15">
              <a:extLst>
                <a:ext uri="{FF2B5EF4-FFF2-40B4-BE49-F238E27FC236}">
                  <a16:creationId xmlns:a16="http://schemas.microsoft.com/office/drawing/2014/main" id="{F16240D4-26CC-664A-BC2C-173602F10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4" y="2640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Line 16">
              <a:extLst>
                <a:ext uri="{FF2B5EF4-FFF2-40B4-BE49-F238E27FC236}">
                  <a16:creationId xmlns:a16="http://schemas.microsoft.com/office/drawing/2014/main" id="{63377160-2BCC-AD40-A8CD-262AB2BEE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" y="3216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Line 17">
              <a:extLst>
                <a:ext uri="{FF2B5EF4-FFF2-40B4-BE49-F238E27FC236}">
                  <a16:creationId xmlns:a16="http://schemas.microsoft.com/office/drawing/2014/main" id="{521C0213-ACBC-D646-8C77-9F379D79FE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" y="3408"/>
              <a:ext cx="52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Line 18">
              <a:extLst>
                <a:ext uri="{FF2B5EF4-FFF2-40B4-BE49-F238E27FC236}">
                  <a16:creationId xmlns:a16="http://schemas.microsoft.com/office/drawing/2014/main" id="{1BCBB7E5-6FB1-6C42-9B55-461AAF647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" y="2112"/>
              <a:ext cx="0" cy="12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Line 19">
              <a:extLst>
                <a:ext uri="{FF2B5EF4-FFF2-40B4-BE49-F238E27FC236}">
                  <a16:creationId xmlns:a16="http://schemas.microsoft.com/office/drawing/2014/main" id="{81C41A9E-D1B6-A14C-A781-8ED2152CFB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" y="2112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Line 20">
              <a:extLst>
                <a:ext uri="{FF2B5EF4-FFF2-40B4-BE49-F238E27FC236}">
                  <a16:creationId xmlns:a16="http://schemas.microsoft.com/office/drawing/2014/main" id="{37D10D01-5A75-AD4D-9C04-B66F9B819D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211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Line 21">
              <a:extLst>
                <a:ext uri="{FF2B5EF4-FFF2-40B4-BE49-F238E27FC236}">
                  <a16:creationId xmlns:a16="http://schemas.microsoft.com/office/drawing/2014/main" id="{163065D7-4612-2645-AAD5-90F60C056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" y="1488"/>
              <a:ext cx="0" cy="6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Line 22">
              <a:extLst>
                <a:ext uri="{FF2B5EF4-FFF2-40B4-BE49-F238E27FC236}">
                  <a16:creationId xmlns:a16="http://schemas.microsoft.com/office/drawing/2014/main" id="{DBC2573D-8064-6B41-BAF8-EBE5F91E9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" y="1488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Line 23">
              <a:extLst>
                <a:ext uri="{FF2B5EF4-FFF2-40B4-BE49-F238E27FC236}">
                  <a16:creationId xmlns:a16="http://schemas.microsoft.com/office/drawing/2014/main" id="{1C75A462-D246-1449-9B40-F01A018E0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1488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Text Box 24">
              <a:extLst>
                <a:ext uri="{FF2B5EF4-FFF2-40B4-BE49-F238E27FC236}">
                  <a16:creationId xmlns:a16="http://schemas.microsoft.com/office/drawing/2014/main" id="{59740031-59B4-E542-AB07-FCCDEEFB24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211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3550" name="Text Box 25">
              <a:extLst>
                <a:ext uri="{FF2B5EF4-FFF2-40B4-BE49-F238E27FC236}">
                  <a16:creationId xmlns:a16="http://schemas.microsoft.com/office/drawing/2014/main" id="{09C0D989-6EFC-604B-8AEB-F07C26DBC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211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3551" name="AutoShape 26">
              <a:extLst>
                <a:ext uri="{FF2B5EF4-FFF2-40B4-BE49-F238E27FC236}">
                  <a16:creationId xmlns:a16="http://schemas.microsoft.com/office/drawing/2014/main" id="{B1D8B5CC-89DC-654F-993D-9AB5B271F2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6815">
              <a:off x="672" y="1200"/>
              <a:ext cx="162" cy="279"/>
            </a:xfrm>
            <a:prstGeom prst="downArrow">
              <a:avLst>
                <a:gd name="adj1" fmla="val 50000"/>
                <a:gd name="adj2" fmla="val 43056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3492" name="Group 27">
            <a:extLst>
              <a:ext uri="{FF2B5EF4-FFF2-40B4-BE49-F238E27FC236}">
                <a16:creationId xmlns:a16="http://schemas.microsoft.com/office/drawing/2014/main" id="{D3331C50-32B4-4B44-90DE-95C21E157EA5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676400"/>
            <a:ext cx="4100513" cy="3733800"/>
            <a:chOff x="1968" y="1248"/>
            <a:chExt cx="2583" cy="2352"/>
          </a:xfrm>
        </p:grpSpPr>
        <p:sp>
          <p:nvSpPr>
            <p:cNvPr id="63493" name="Rectangle 28">
              <a:extLst>
                <a:ext uri="{FF2B5EF4-FFF2-40B4-BE49-F238E27FC236}">
                  <a16:creationId xmlns:a16="http://schemas.microsoft.com/office/drawing/2014/main" id="{32E8554D-86ED-CA41-8A6A-3C4FF6708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824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494" name="Text Box 29">
              <a:extLst>
                <a:ext uri="{FF2B5EF4-FFF2-40B4-BE49-F238E27FC236}">
                  <a16:creationId xmlns:a16="http://schemas.microsoft.com/office/drawing/2014/main" id="{7FAE140B-CB19-504C-9897-161D3EF6A4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1872"/>
              <a:ext cx="4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File</a:t>
              </a:r>
            </a:p>
          </p:txBody>
        </p:sp>
        <p:sp>
          <p:nvSpPr>
            <p:cNvPr id="63495" name="Rectangle 30">
              <a:extLst>
                <a:ext uri="{FF2B5EF4-FFF2-40B4-BE49-F238E27FC236}">
                  <a16:creationId xmlns:a16="http://schemas.microsoft.com/office/drawing/2014/main" id="{6D35023D-2773-2E4D-9390-2EAB1E5AE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448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496" name="Line 31">
              <a:extLst>
                <a:ext uri="{FF2B5EF4-FFF2-40B4-BE49-F238E27FC236}">
                  <a16:creationId xmlns:a16="http://schemas.microsoft.com/office/drawing/2014/main" id="{65FFDFE6-3976-614F-A5DF-ED16A7CFF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2544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Line 32">
              <a:extLst>
                <a:ext uri="{FF2B5EF4-FFF2-40B4-BE49-F238E27FC236}">
                  <a16:creationId xmlns:a16="http://schemas.microsoft.com/office/drawing/2014/main" id="{EF26675F-FD89-8A47-A898-4BBCC26B67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2640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Line 33">
              <a:extLst>
                <a:ext uri="{FF2B5EF4-FFF2-40B4-BE49-F238E27FC236}">
                  <a16:creationId xmlns:a16="http://schemas.microsoft.com/office/drawing/2014/main" id="{76C94C49-46B1-7941-8FF9-2D921234E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2736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Text Box 34">
              <a:extLst>
                <a:ext uri="{FF2B5EF4-FFF2-40B4-BE49-F238E27FC236}">
                  <a16:creationId xmlns:a16="http://schemas.microsoft.com/office/drawing/2014/main" id="{EB3DFA65-0386-1B4A-A174-3D9AEB81F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2544"/>
              <a:ext cx="5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63500" name="Rectangle 35">
              <a:extLst>
                <a:ext uri="{FF2B5EF4-FFF2-40B4-BE49-F238E27FC236}">
                  <a16:creationId xmlns:a16="http://schemas.microsoft.com/office/drawing/2014/main" id="{67F8A18A-D120-DF46-9142-DE986776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072"/>
              <a:ext cx="576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01" name="Text Box 36">
              <a:extLst>
                <a:ext uri="{FF2B5EF4-FFF2-40B4-BE49-F238E27FC236}">
                  <a16:creationId xmlns:a16="http://schemas.microsoft.com/office/drawing/2014/main" id="{F082F713-1E0F-754E-9428-BFE7092F99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3120"/>
              <a:ext cx="48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Functional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Units</a:t>
              </a:r>
            </a:p>
          </p:txBody>
        </p:sp>
        <p:sp>
          <p:nvSpPr>
            <p:cNvPr id="63502" name="Line 37">
              <a:extLst>
                <a:ext uri="{FF2B5EF4-FFF2-40B4-BE49-F238E27FC236}">
                  <a16:creationId xmlns:a16="http://schemas.microsoft.com/office/drawing/2014/main" id="{1FDBB632-FF1A-6249-BB4E-E7B8CD8EA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220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Line 38">
              <a:extLst>
                <a:ext uri="{FF2B5EF4-FFF2-40B4-BE49-F238E27FC236}">
                  <a16:creationId xmlns:a16="http://schemas.microsoft.com/office/drawing/2014/main" id="{15CE1132-8EA7-6947-9DEC-B45430333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96" y="2832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Line 39">
              <a:extLst>
                <a:ext uri="{FF2B5EF4-FFF2-40B4-BE49-F238E27FC236}">
                  <a16:creationId xmlns:a16="http://schemas.microsoft.com/office/drawing/2014/main" id="{685AA2BA-1F62-9F4C-9C0F-82FB736D9C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408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Line 40">
              <a:extLst>
                <a:ext uri="{FF2B5EF4-FFF2-40B4-BE49-F238E27FC236}">
                  <a16:creationId xmlns:a16="http://schemas.microsoft.com/office/drawing/2014/main" id="{20869B87-DE04-5D48-8C6E-FD09F8CBB1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600"/>
              <a:ext cx="12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Line 41">
              <a:extLst>
                <a:ext uri="{FF2B5EF4-FFF2-40B4-BE49-F238E27FC236}">
                  <a16:creationId xmlns:a16="http://schemas.microsoft.com/office/drawing/2014/main" id="{182FD9D8-9795-844B-8F28-A3AD9B6186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4" y="2736"/>
              <a:ext cx="0" cy="8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Line 42">
              <a:extLst>
                <a:ext uri="{FF2B5EF4-FFF2-40B4-BE49-F238E27FC236}">
                  <a16:creationId xmlns:a16="http://schemas.microsoft.com/office/drawing/2014/main" id="{87EC13F7-4BA0-7245-985F-BFFFEAE05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30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Line 43">
              <a:extLst>
                <a:ext uri="{FF2B5EF4-FFF2-40B4-BE49-F238E27FC236}">
                  <a16:creationId xmlns:a16="http://schemas.microsoft.com/office/drawing/2014/main" id="{68436687-19B4-7541-BB70-918CFF135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2304"/>
              <a:ext cx="0" cy="14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Text Box 44">
              <a:extLst>
                <a:ext uri="{FF2B5EF4-FFF2-40B4-BE49-F238E27FC236}">
                  <a16:creationId xmlns:a16="http://schemas.microsoft.com/office/drawing/2014/main" id="{52FB2EC9-BE44-7849-92B3-3B3509EB36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230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3510" name="Text Box 45">
              <a:extLst>
                <a:ext uri="{FF2B5EF4-FFF2-40B4-BE49-F238E27FC236}">
                  <a16:creationId xmlns:a16="http://schemas.microsoft.com/office/drawing/2014/main" id="{F7C0E373-452F-E745-B974-D14C287491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4" y="230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63511" name="Rectangle 46">
              <a:extLst>
                <a:ext uri="{FF2B5EF4-FFF2-40B4-BE49-F238E27FC236}">
                  <a16:creationId xmlns:a16="http://schemas.microsoft.com/office/drawing/2014/main" id="{1FFDF4AB-1CF6-B44F-99D9-583EA4A58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2208"/>
              <a:ext cx="288" cy="100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12" name="Text Box 47">
              <a:extLst>
                <a:ext uri="{FF2B5EF4-FFF2-40B4-BE49-F238E27FC236}">
                  <a16:creationId xmlns:a16="http://schemas.microsoft.com/office/drawing/2014/main" id="{0FC9FD0D-2DA8-C94F-A93E-D08BA5BED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2592"/>
              <a:ext cx="29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ROB</a:t>
              </a:r>
            </a:p>
          </p:txBody>
        </p:sp>
        <p:sp>
          <p:nvSpPr>
            <p:cNvPr id="63513" name="Line 48">
              <a:extLst>
                <a:ext uri="{FF2B5EF4-FFF2-40B4-BE49-F238E27FC236}">
                  <a16:creationId xmlns:a16="http://schemas.microsoft.com/office/drawing/2014/main" id="{C9121CBB-71A0-3C4E-9887-4E7D84EE3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4" y="2736"/>
              <a:ext cx="2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Line 49">
              <a:extLst>
                <a:ext uri="{FF2B5EF4-FFF2-40B4-BE49-F238E27FC236}">
                  <a16:creationId xmlns:a16="http://schemas.microsoft.com/office/drawing/2014/main" id="{232D9812-4146-404B-8B77-70E646176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3600"/>
              <a:ext cx="52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Line 50">
              <a:extLst>
                <a:ext uri="{FF2B5EF4-FFF2-40B4-BE49-F238E27FC236}">
                  <a16:creationId xmlns:a16="http://schemas.microsoft.com/office/drawing/2014/main" id="{86189DFF-9A8F-B647-A4F0-95DB12CA06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8" y="2304"/>
              <a:ext cx="0" cy="12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Line 51">
              <a:extLst>
                <a:ext uri="{FF2B5EF4-FFF2-40B4-BE49-F238E27FC236}">
                  <a16:creationId xmlns:a16="http://schemas.microsoft.com/office/drawing/2014/main" id="{A9461A64-3710-AD47-9D88-CDA210F64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68" y="2304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Text Box 52">
              <a:extLst>
                <a:ext uri="{FF2B5EF4-FFF2-40B4-BE49-F238E27FC236}">
                  <a16:creationId xmlns:a16="http://schemas.microsoft.com/office/drawing/2014/main" id="{C9DA5D34-77E5-824C-AA36-67F97DF9A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2304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3518" name="Line 53">
              <a:extLst>
                <a:ext uri="{FF2B5EF4-FFF2-40B4-BE49-F238E27FC236}">
                  <a16:creationId xmlns:a16="http://schemas.microsoft.com/office/drawing/2014/main" id="{E08858CD-7342-4D41-8380-8873AC4DDB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230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Line 54">
              <a:extLst>
                <a:ext uri="{FF2B5EF4-FFF2-40B4-BE49-F238E27FC236}">
                  <a16:creationId xmlns:a16="http://schemas.microsoft.com/office/drawing/2014/main" id="{58A8D42B-D644-8E40-892A-8099DA2DC4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2304"/>
              <a:ext cx="0" cy="4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Line 55">
              <a:extLst>
                <a:ext uri="{FF2B5EF4-FFF2-40B4-BE49-F238E27FC236}">
                  <a16:creationId xmlns:a16="http://schemas.microsoft.com/office/drawing/2014/main" id="{916DCB96-231C-7842-BF54-370689024F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" y="2736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Line 56">
              <a:extLst>
                <a:ext uri="{FF2B5EF4-FFF2-40B4-BE49-F238E27FC236}">
                  <a16:creationId xmlns:a16="http://schemas.microsoft.com/office/drawing/2014/main" id="{091F7C40-6F77-0C40-8E4D-3DDE02AAB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0" y="1680"/>
              <a:ext cx="0" cy="52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Line 57">
              <a:extLst>
                <a:ext uri="{FF2B5EF4-FFF2-40B4-BE49-F238E27FC236}">
                  <a16:creationId xmlns:a16="http://schemas.microsoft.com/office/drawing/2014/main" id="{0B7F5E6B-779A-A445-AB6F-48DF247B0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1680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Line 58">
              <a:extLst>
                <a:ext uri="{FF2B5EF4-FFF2-40B4-BE49-F238E27FC236}">
                  <a16:creationId xmlns:a16="http://schemas.microsoft.com/office/drawing/2014/main" id="{FD7E05EA-C073-7541-B253-69430DC09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1680"/>
              <a:ext cx="72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Text Box 59">
              <a:extLst>
                <a:ext uri="{FF2B5EF4-FFF2-40B4-BE49-F238E27FC236}">
                  <a16:creationId xmlns:a16="http://schemas.microsoft.com/office/drawing/2014/main" id="{5B99F8C7-762F-A847-8402-155CF5856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304"/>
              <a:ext cx="903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Complete out-of-order</a:t>
              </a:r>
            </a:p>
          </p:txBody>
        </p:sp>
        <p:sp>
          <p:nvSpPr>
            <p:cNvPr id="63525" name="AutoShape 60">
              <a:extLst>
                <a:ext uri="{FF2B5EF4-FFF2-40B4-BE49-F238E27FC236}">
                  <a16:creationId xmlns:a16="http://schemas.microsoft.com/office/drawing/2014/main" id="{051CBC87-5BB8-1D4A-BABD-3548E33538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6815">
              <a:off x="3744" y="2448"/>
              <a:ext cx="162" cy="279"/>
            </a:xfrm>
            <a:prstGeom prst="downArrow">
              <a:avLst>
                <a:gd name="adj1" fmla="val 50000"/>
                <a:gd name="adj2" fmla="val 43056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26" name="AutoShape 61">
              <a:extLst>
                <a:ext uri="{FF2B5EF4-FFF2-40B4-BE49-F238E27FC236}">
                  <a16:creationId xmlns:a16="http://schemas.microsoft.com/office/drawing/2014/main" id="{4A343674-6206-B842-9928-A1E378947A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6815">
              <a:off x="3360" y="1392"/>
              <a:ext cx="162" cy="279"/>
            </a:xfrm>
            <a:prstGeom prst="downArrow">
              <a:avLst>
                <a:gd name="adj1" fmla="val 50000"/>
                <a:gd name="adj2" fmla="val 43056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27" name="Text Box 62">
              <a:extLst>
                <a:ext uri="{FF2B5EF4-FFF2-40B4-BE49-F238E27FC236}">
                  <a16:creationId xmlns:a16="http://schemas.microsoft.com/office/drawing/2014/main" id="{5C05205F-F753-7940-A61D-18F46ED9C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248"/>
              <a:ext cx="145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i="1">
                  <a:latin typeface="Arial" panose="020B0604020202020204" pitchFamily="34" charset="0"/>
                  <a:cs typeface="Arial" panose="020B0604020202020204" pitchFamily="34" charset="0"/>
                </a:rPr>
                <a:t>Retire</a:t>
              </a: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: Update state in-order: precise!</a:t>
              </a:r>
            </a:p>
          </p:txBody>
        </p:sp>
        <p:sp>
          <p:nvSpPr>
            <p:cNvPr id="63528" name="AutoShape 63">
              <a:extLst>
                <a:ext uri="{FF2B5EF4-FFF2-40B4-BE49-F238E27FC236}">
                  <a16:creationId xmlns:a16="http://schemas.microsoft.com/office/drawing/2014/main" id="{A18B17FB-AA57-3648-92D7-F3419A13EA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41873">
              <a:off x="2928" y="2784"/>
              <a:ext cx="162" cy="279"/>
            </a:xfrm>
            <a:prstGeom prst="downArrow">
              <a:avLst>
                <a:gd name="adj1" fmla="val 50000"/>
                <a:gd name="adj2" fmla="val 43056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29" name="Text Box 64">
              <a:extLst>
                <a:ext uri="{FF2B5EF4-FFF2-40B4-BE49-F238E27FC236}">
                  <a16:creationId xmlns:a16="http://schemas.microsoft.com/office/drawing/2014/main" id="{1121E828-F8C8-CC46-85D1-58061F5E7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8" y="3024"/>
              <a:ext cx="55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New bypass</a:t>
              </a:r>
            </a:p>
          </p:txBody>
        </p:sp>
      </p:grp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Rectangle 2">
            <a:extLst>
              <a:ext uri="{FF2B5EF4-FFF2-40B4-BE49-F238E27FC236}">
                <a16:creationId xmlns:a16="http://schemas.microsoft.com/office/drawing/2014/main" id="{5A76C1ED-E8AE-874B-89AD-D5175563BB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ROB requires bypass</a:t>
            </a:r>
          </a:p>
        </p:txBody>
      </p:sp>
      <p:sp>
        <p:nvSpPr>
          <p:cNvPr id="64514" name="Rectangle 3">
            <a:extLst>
              <a:ext uri="{FF2B5EF4-FFF2-40B4-BE49-F238E27FC236}">
                <a16:creationId xmlns:a16="http://schemas.microsoft.com/office/drawing/2014/main" id="{87B636D9-2E53-FE40-98F6-371A63BE11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Scenario</a:t>
            </a:r>
          </a:p>
          <a:p>
            <a:pPr lvl="1"/>
            <a:r>
              <a:rPr lang="en-US" altLang="en-US"/>
              <a:t>Producer instruction completed – value in ROB</a:t>
            </a:r>
          </a:p>
          <a:p>
            <a:pPr lvl="1"/>
            <a:r>
              <a:rPr lang="en-US" altLang="en-US"/>
              <a:t>Producer instruction not retired – value </a:t>
            </a:r>
            <a:r>
              <a:rPr lang="en-US" altLang="en-US" i="1"/>
              <a:t>not</a:t>
            </a:r>
            <a:r>
              <a:rPr lang="en-US" altLang="en-US"/>
              <a:t> in register file</a:t>
            </a:r>
          </a:p>
          <a:p>
            <a:pPr lvl="1"/>
            <a:r>
              <a:rPr lang="en-US" altLang="en-US"/>
              <a:t>Then, dependent instruction is dispatched into window</a:t>
            </a:r>
          </a:p>
          <a:p>
            <a:pPr lvl="2"/>
            <a:r>
              <a:rPr lang="en-US" altLang="en-US"/>
              <a:t>Value not read from register file</a:t>
            </a:r>
          </a:p>
          <a:p>
            <a:pPr lvl="2"/>
            <a:r>
              <a:rPr lang="en-US" altLang="en-US"/>
              <a:t>Value can</a:t>
            </a:r>
            <a:r>
              <a:rPr lang="ja-JP" altLang="en-US">
                <a:latin typeface="Arial" panose="020B0604020202020204" pitchFamily="34" charset="0"/>
              </a:rPr>
              <a:t>’</a:t>
            </a:r>
            <a:r>
              <a:rPr lang="en-US" altLang="en-US"/>
              <a:t>t be grabbed from result bus – producer already completed!</a:t>
            </a:r>
          </a:p>
          <a:p>
            <a:pPr lvl="2"/>
            <a:r>
              <a:rPr lang="en-US" altLang="en-US" i="1"/>
              <a:t>Only place data resides is in ROB</a:t>
            </a:r>
            <a:r>
              <a:rPr lang="en-US" altLang="en-US"/>
              <a:t> – need to read value from ROB (ROB bypass)</a:t>
            </a:r>
          </a:p>
          <a:p>
            <a:pPr lvl="2"/>
            <a:r>
              <a:rPr lang="en-US" altLang="en-US"/>
              <a:t>This new bypass is labeled (3) in previous diagram</a:t>
            </a:r>
          </a:p>
          <a:p>
            <a:pPr lvl="2"/>
            <a:endParaRPr lang="en-US" altLang="en-US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19490" name="Group 2">
            <a:extLst>
              <a:ext uri="{FF2B5EF4-FFF2-40B4-BE49-F238E27FC236}">
                <a16:creationId xmlns:a16="http://schemas.microsoft.com/office/drawing/2014/main" id="{BBD279D9-E83F-374A-BF95-D2D8310E2F74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65665" name="Text Box 130">
            <a:extLst>
              <a:ext uri="{FF2B5EF4-FFF2-40B4-BE49-F238E27FC236}">
                <a16:creationId xmlns:a16="http://schemas.microsoft.com/office/drawing/2014/main" id="{B738A2E6-8CB9-3745-B20E-9D645B433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65666" name="Text Box 131">
            <a:extLst>
              <a:ext uri="{FF2B5EF4-FFF2-40B4-BE49-F238E27FC236}">
                <a16:creationId xmlns:a16="http://schemas.microsoft.com/office/drawing/2014/main" id="{F8FE4E36-7FC0-8749-A069-2E397E3CE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32727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65667" name="Text Box 132">
            <a:extLst>
              <a:ext uri="{FF2B5EF4-FFF2-40B4-BE49-F238E27FC236}">
                <a16:creationId xmlns:a16="http://schemas.microsoft.com/office/drawing/2014/main" id="{A68FD3D7-974B-3846-9EE8-483782C8B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174875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65668" name="Group 133">
            <a:extLst>
              <a:ext uri="{FF2B5EF4-FFF2-40B4-BE49-F238E27FC236}">
                <a16:creationId xmlns:a16="http://schemas.microsoft.com/office/drawing/2014/main" id="{FA84E69E-BAE0-0C4F-A338-05E29169075D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65758" name="Rectangle 134">
              <a:extLst>
                <a:ext uri="{FF2B5EF4-FFF2-40B4-BE49-F238E27FC236}">
                  <a16:creationId xmlns:a16="http://schemas.microsoft.com/office/drawing/2014/main" id="{502C0248-9A3A-954F-A743-C2DF0E028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759" name="Text Box 135">
              <a:extLst>
                <a:ext uri="{FF2B5EF4-FFF2-40B4-BE49-F238E27FC236}">
                  <a16:creationId xmlns:a16="http://schemas.microsoft.com/office/drawing/2014/main" id="{E4875A23-AD01-034E-94EF-51DE29831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65669" name="Line 136">
            <a:extLst>
              <a:ext uri="{FF2B5EF4-FFF2-40B4-BE49-F238E27FC236}">
                <a16:creationId xmlns:a16="http://schemas.microsoft.com/office/drawing/2014/main" id="{2BD00045-89E5-C749-9BAB-22F8FA3972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670" name="Line 137">
            <a:extLst>
              <a:ext uri="{FF2B5EF4-FFF2-40B4-BE49-F238E27FC236}">
                <a16:creationId xmlns:a16="http://schemas.microsoft.com/office/drawing/2014/main" id="{97D0DE1F-EB61-1B4A-9286-4E01ACCB09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671" name="Freeform 138">
            <a:extLst>
              <a:ext uri="{FF2B5EF4-FFF2-40B4-BE49-F238E27FC236}">
                <a16:creationId xmlns:a16="http://schemas.microsoft.com/office/drawing/2014/main" id="{28604C71-1F1A-AC48-9E4A-9710A995A897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672" name="Text Box 139">
            <a:extLst>
              <a:ext uri="{FF2B5EF4-FFF2-40B4-BE49-F238E27FC236}">
                <a16:creationId xmlns:a16="http://schemas.microsoft.com/office/drawing/2014/main" id="{3E97DE22-3D29-C442-9EE0-978AC82867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65673" name="Freeform 140">
            <a:extLst>
              <a:ext uri="{FF2B5EF4-FFF2-40B4-BE49-F238E27FC236}">
                <a16:creationId xmlns:a16="http://schemas.microsoft.com/office/drawing/2014/main" id="{74AE88CA-9637-CF41-B23B-E63BBF41DE8E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674" name="Freeform 141">
            <a:extLst>
              <a:ext uri="{FF2B5EF4-FFF2-40B4-BE49-F238E27FC236}">
                <a16:creationId xmlns:a16="http://schemas.microsoft.com/office/drawing/2014/main" id="{82A41185-F0EC-7443-92F5-752ED37E4887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675" name="Line 142">
            <a:extLst>
              <a:ext uri="{FF2B5EF4-FFF2-40B4-BE49-F238E27FC236}">
                <a16:creationId xmlns:a16="http://schemas.microsoft.com/office/drawing/2014/main" id="{A9C2B8D3-AAEF-4542-9C50-37BCB62BAD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19631" name="Group 143">
            <a:extLst>
              <a:ext uri="{FF2B5EF4-FFF2-40B4-BE49-F238E27FC236}">
                <a16:creationId xmlns:a16="http://schemas.microsoft.com/office/drawing/2014/main" id="{8BB208BA-CB67-854A-BCA5-D3FA88BC00A7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19681" name="Group 193">
            <a:extLst>
              <a:ext uri="{FF2B5EF4-FFF2-40B4-BE49-F238E27FC236}">
                <a16:creationId xmlns:a16="http://schemas.microsoft.com/office/drawing/2014/main" id="{6E04C32C-5833-2643-9DDE-017A5505AFF3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5752" name="Text Box 219">
            <a:extLst>
              <a:ext uri="{FF2B5EF4-FFF2-40B4-BE49-F238E27FC236}">
                <a16:creationId xmlns:a16="http://schemas.microsoft.com/office/drawing/2014/main" id="{803F421C-8C00-A24F-AAEF-2F7BEDDC56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65753" name="Freeform 220">
            <a:extLst>
              <a:ext uri="{FF2B5EF4-FFF2-40B4-BE49-F238E27FC236}">
                <a16:creationId xmlns:a16="http://schemas.microsoft.com/office/drawing/2014/main" id="{A55F6F90-922E-864F-917E-EBE3862371F4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754" name="Text Box 221">
            <a:extLst>
              <a:ext uri="{FF2B5EF4-FFF2-40B4-BE49-F238E27FC236}">
                <a16:creationId xmlns:a16="http://schemas.microsoft.com/office/drawing/2014/main" id="{F5249A5E-6632-BD46-ACCC-4839420C6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65755" name="Text Box 222">
            <a:extLst>
              <a:ext uri="{FF2B5EF4-FFF2-40B4-BE49-F238E27FC236}">
                <a16:creationId xmlns:a16="http://schemas.microsoft.com/office/drawing/2014/main" id="{D5344CB6-8489-5448-BB5F-1327EA745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65756" name="Text Box 223">
            <a:extLst>
              <a:ext uri="{FF2B5EF4-FFF2-40B4-BE49-F238E27FC236}">
                <a16:creationId xmlns:a16="http://schemas.microsoft.com/office/drawing/2014/main" id="{0D10F1A3-03CF-0844-A763-473568832F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65757" name="Text Box 224">
            <a:extLst>
              <a:ext uri="{FF2B5EF4-FFF2-40B4-BE49-F238E27FC236}">
                <a16:creationId xmlns:a16="http://schemas.microsoft.com/office/drawing/2014/main" id="{44507787-7041-D24A-918B-75AF21379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Rectangle 2">
            <a:extLst>
              <a:ext uri="{FF2B5EF4-FFF2-40B4-BE49-F238E27FC236}">
                <a16:creationId xmlns:a16="http://schemas.microsoft.com/office/drawing/2014/main" id="{D8442342-0FD9-CC44-8238-B5BF750E40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Example</a:t>
            </a:r>
          </a:p>
        </p:txBody>
      </p:sp>
      <p:sp>
        <p:nvSpPr>
          <p:cNvPr id="66562" name="Text Box 3">
            <a:extLst>
              <a:ext uri="{FF2B5EF4-FFF2-40B4-BE49-F238E27FC236}">
                <a16:creationId xmlns:a16="http://schemas.microsoft.com/office/drawing/2014/main" id="{45554CA7-ECBB-6C46-A7C0-851DA0B97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600200"/>
            <a:ext cx="2743200" cy="2538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A  LW    R2, 4(R0)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B  MULT  R3, R1, R2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C  LW    R2, 8(R0)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D  ADD   R1, R1, R2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E  SUB   R2, R0, R1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endParaRPr lang="en-US" altLang="en-US" sz="1400">
              <a:latin typeface="Courier" pitchFamily="2" charset="0"/>
            </a:endParaRP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endParaRPr lang="en-US" altLang="en-US" sz="1400">
              <a:latin typeface="Courier" pitchFamily="2" charset="0"/>
            </a:endParaRP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latin typeface="Courier" pitchFamily="2" charset="0"/>
              </a:rPr>
              <a:t>F  ADD   R0, R1, R2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1538" name="Group 2">
            <a:extLst>
              <a:ext uri="{FF2B5EF4-FFF2-40B4-BE49-F238E27FC236}">
                <a16:creationId xmlns:a16="http://schemas.microsoft.com/office/drawing/2014/main" id="{3E792DC0-8487-F54C-A13C-F801A6FFFFC5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67713" name="Text Box 130">
            <a:extLst>
              <a:ext uri="{FF2B5EF4-FFF2-40B4-BE49-F238E27FC236}">
                <a16:creationId xmlns:a16="http://schemas.microsoft.com/office/drawing/2014/main" id="{58ED6FE7-6F0E-7E4B-8DCF-B5668E56C8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67714" name="Text Box 131">
            <a:extLst>
              <a:ext uri="{FF2B5EF4-FFF2-40B4-BE49-F238E27FC236}">
                <a16:creationId xmlns:a16="http://schemas.microsoft.com/office/drawing/2014/main" id="{8662BF08-E07E-4844-B677-2C6A72AFD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32727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67715" name="Text Box 132">
            <a:extLst>
              <a:ext uri="{FF2B5EF4-FFF2-40B4-BE49-F238E27FC236}">
                <a16:creationId xmlns:a16="http://schemas.microsoft.com/office/drawing/2014/main" id="{B4E01DD8-83E3-F245-B2D1-F44DDA0170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174875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67716" name="Group 133">
            <a:extLst>
              <a:ext uri="{FF2B5EF4-FFF2-40B4-BE49-F238E27FC236}">
                <a16:creationId xmlns:a16="http://schemas.microsoft.com/office/drawing/2014/main" id="{8D275B33-E70D-394B-AEBB-6F158D4F1C6E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67809" name="Rectangle 134">
              <a:extLst>
                <a:ext uri="{FF2B5EF4-FFF2-40B4-BE49-F238E27FC236}">
                  <a16:creationId xmlns:a16="http://schemas.microsoft.com/office/drawing/2014/main" id="{052B5898-AB2E-E445-A43A-0557D6551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810" name="Text Box 135">
              <a:extLst>
                <a:ext uri="{FF2B5EF4-FFF2-40B4-BE49-F238E27FC236}">
                  <a16:creationId xmlns:a16="http://schemas.microsoft.com/office/drawing/2014/main" id="{F783B71C-EB99-F245-8AC9-31B3AAE8A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67717" name="Line 136">
            <a:extLst>
              <a:ext uri="{FF2B5EF4-FFF2-40B4-BE49-F238E27FC236}">
                <a16:creationId xmlns:a16="http://schemas.microsoft.com/office/drawing/2014/main" id="{426F4EAE-D4CC-2041-841D-78F8F7893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718" name="Line 137">
            <a:extLst>
              <a:ext uri="{FF2B5EF4-FFF2-40B4-BE49-F238E27FC236}">
                <a16:creationId xmlns:a16="http://schemas.microsoft.com/office/drawing/2014/main" id="{3C18E90D-1D61-F44C-96D3-16CCBBD7DE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719" name="Freeform 138">
            <a:extLst>
              <a:ext uri="{FF2B5EF4-FFF2-40B4-BE49-F238E27FC236}">
                <a16:creationId xmlns:a16="http://schemas.microsoft.com/office/drawing/2014/main" id="{223EBA98-B218-0B4C-ABEB-80A73129721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720" name="Text Box 139">
            <a:extLst>
              <a:ext uri="{FF2B5EF4-FFF2-40B4-BE49-F238E27FC236}">
                <a16:creationId xmlns:a16="http://schemas.microsoft.com/office/drawing/2014/main" id="{65D3EF20-FFD4-6A4F-94FC-A41ED37049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67721" name="Freeform 140">
            <a:extLst>
              <a:ext uri="{FF2B5EF4-FFF2-40B4-BE49-F238E27FC236}">
                <a16:creationId xmlns:a16="http://schemas.microsoft.com/office/drawing/2014/main" id="{3E78ED0A-E19D-C940-BC43-3187C410641D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722" name="Freeform 141">
            <a:extLst>
              <a:ext uri="{FF2B5EF4-FFF2-40B4-BE49-F238E27FC236}">
                <a16:creationId xmlns:a16="http://schemas.microsoft.com/office/drawing/2014/main" id="{07AC2113-AE46-2E44-B422-1B82AC32E4CF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723" name="Line 142">
            <a:extLst>
              <a:ext uri="{FF2B5EF4-FFF2-40B4-BE49-F238E27FC236}">
                <a16:creationId xmlns:a16="http://schemas.microsoft.com/office/drawing/2014/main" id="{FEE24541-1B88-0B49-9A4D-5B6C7BB3C7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21679" name="Group 143">
            <a:extLst>
              <a:ext uri="{FF2B5EF4-FFF2-40B4-BE49-F238E27FC236}">
                <a16:creationId xmlns:a16="http://schemas.microsoft.com/office/drawing/2014/main" id="{6FE271D4-1E98-A145-9CF2-8EFB1E753B33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1729" name="Group 193">
            <a:extLst>
              <a:ext uri="{FF2B5EF4-FFF2-40B4-BE49-F238E27FC236}">
                <a16:creationId xmlns:a16="http://schemas.microsoft.com/office/drawing/2014/main" id="{97463B7B-4391-2148-BFB6-201FDE1F5B97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7800" name="Text Box 219">
            <a:extLst>
              <a:ext uri="{FF2B5EF4-FFF2-40B4-BE49-F238E27FC236}">
                <a16:creationId xmlns:a16="http://schemas.microsoft.com/office/drawing/2014/main" id="{B08EBEB2-011C-F546-8835-1C9FAAA059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67801" name="Freeform 220">
            <a:extLst>
              <a:ext uri="{FF2B5EF4-FFF2-40B4-BE49-F238E27FC236}">
                <a16:creationId xmlns:a16="http://schemas.microsoft.com/office/drawing/2014/main" id="{0B4E0D48-A229-FF40-B4D5-1AF6ACD62ED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802" name="Text Box 221">
            <a:extLst>
              <a:ext uri="{FF2B5EF4-FFF2-40B4-BE49-F238E27FC236}">
                <a16:creationId xmlns:a16="http://schemas.microsoft.com/office/drawing/2014/main" id="{414BE62D-58DB-A440-B752-6C05E6789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67803" name="Text Box 222">
            <a:extLst>
              <a:ext uri="{FF2B5EF4-FFF2-40B4-BE49-F238E27FC236}">
                <a16:creationId xmlns:a16="http://schemas.microsoft.com/office/drawing/2014/main" id="{B87829D0-93C2-B64A-8376-8B429DD35E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67804" name="Text Box 223">
            <a:extLst>
              <a:ext uri="{FF2B5EF4-FFF2-40B4-BE49-F238E27FC236}">
                <a16:creationId xmlns:a16="http://schemas.microsoft.com/office/drawing/2014/main" id="{B163092B-4DFC-5942-8897-2F7231757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67805" name="Text Box 224">
            <a:extLst>
              <a:ext uri="{FF2B5EF4-FFF2-40B4-BE49-F238E27FC236}">
                <a16:creationId xmlns:a16="http://schemas.microsoft.com/office/drawing/2014/main" id="{8E6ED0FA-44E2-9D47-B758-F45E66EF0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67806" name="Group 225">
            <a:extLst>
              <a:ext uri="{FF2B5EF4-FFF2-40B4-BE49-F238E27FC236}">
                <a16:creationId xmlns:a16="http://schemas.microsoft.com/office/drawing/2014/main" id="{7DFD1BB2-D4D1-3342-A857-40D5D54452B5}"/>
              </a:ext>
            </a:extLst>
          </p:cNvPr>
          <p:cNvGrpSpPr>
            <a:grpSpLocks/>
          </p:cNvGrpSpPr>
          <p:nvPr/>
        </p:nvGrpSpPr>
        <p:grpSpPr bwMode="auto">
          <a:xfrm>
            <a:off x="3117850" y="1066800"/>
            <a:ext cx="2111375" cy="990600"/>
            <a:chOff x="1964" y="672"/>
            <a:chExt cx="1330" cy="624"/>
          </a:xfrm>
        </p:grpSpPr>
        <p:sp>
          <p:nvSpPr>
            <p:cNvPr id="67807" name="Rectangle 226">
              <a:extLst>
                <a:ext uri="{FF2B5EF4-FFF2-40B4-BE49-F238E27FC236}">
                  <a16:creationId xmlns:a16="http://schemas.microsoft.com/office/drawing/2014/main" id="{478ED751-DEF4-4B45-A623-CD053E8B9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672"/>
              <a:ext cx="1330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A  LW    R2, 4(R0)</a:t>
              </a:r>
            </a:p>
          </p:txBody>
        </p:sp>
        <p:sp>
          <p:nvSpPr>
            <p:cNvPr id="67808" name="Line 227">
              <a:extLst>
                <a:ext uri="{FF2B5EF4-FFF2-40B4-BE49-F238E27FC236}">
                  <a16:creationId xmlns:a16="http://schemas.microsoft.com/office/drawing/2014/main" id="{3EA31054-41C7-5348-B1EE-C39714AF56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2562" name="Group 2">
            <a:extLst>
              <a:ext uri="{FF2B5EF4-FFF2-40B4-BE49-F238E27FC236}">
                <a16:creationId xmlns:a16="http://schemas.microsoft.com/office/drawing/2014/main" id="{7A86FFE6-499B-B749-83B4-FB153FEED936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68737" name="Text Box 130">
            <a:extLst>
              <a:ext uri="{FF2B5EF4-FFF2-40B4-BE49-F238E27FC236}">
                <a16:creationId xmlns:a16="http://schemas.microsoft.com/office/drawing/2014/main" id="{7F824009-443F-474B-8E94-5CBC578D4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68738" name="Text Box 131">
            <a:extLst>
              <a:ext uri="{FF2B5EF4-FFF2-40B4-BE49-F238E27FC236}">
                <a16:creationId xmlns:a16="http://schemas.microsoft.com/office/drawing/2014/main" id="{123CFA7A-BCCE-104C-AA1B-B105D58EF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49872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68739" name="Text Box 132">
            <a:extLst>
              <a:ext uri="{FF2B5EF4-FFF2-40B4-BE49-F238E27FC236}">
                <a16:creationId xmlns:a16="http://schemas.microsoft.com/office/drawing/2014/main" id="{42095403-616A-6442-B395-CC405B6B1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2860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68740" name="Group 133">
            <a:extLst>
              <a:ext uri="{FF2B5EF4-FFF2-40B4-BE49-F238E27FC236}">
                <a16:creationId xmlns:a16="http://schemas.microsoft.com/office/drawing/2014/main" id="{F263EDD5-1AED-8A49-9968-D727800B486D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68834" name="Rectangle 134">
              <a:extLst>
                <a:ext uri="{FF2B5EF4-FFF2-40B4-BE49-F238E27FC236}">
                  <a16:creationId xmlns:a16="http://schemas.microsoft.com/office/drawing/2014/main" id="{E578D4BB-68A1-5A44-92AC-4A1E2F0C9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835" name="Text Box 135">
              <a:extLst>
                <a:ext uri="{FF2B5EF4-FFF2-40B4-BE49-F238E27FC236}">
                  <a16:creationId xmlns:a16="http://schemas.microsoft.com/office/drawing/2014/main" id="{A3AACF04-933F-5C48-9775-0F17E02F87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68741" name="Line 136">
            <a:extLst>
              <a:ext uri="{FF2B5EF4-FFF2-40B4-BE49-F238E27FC236}">
                <a16:creationId xmlns:a16="http://schemas.microsoft.com/office/drawing/2014/main" id="{C8EC3B9F-3681-684E-91F5-2AB7B77547F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742" name="Line 137">
            <a:extLst>
              <a:ext uri="{FF2B5EF4-FFF2-40B4-BE49-F238E27FC236}">
                <a16:creationId xmlns:a16="http://schemas.microsoft.com/office/drawing/2014/main" id="{A32577CB-F178-FE4A-8977-C9B4157617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743" name="Freeform 138">
            <a:extLst>
              <a:ext uri="{FF2B5EF4-FFF2-40B4-BE49-F238E27FC236}">
                <a16:creationId xmlns:a16="http://schemas.microsoft.com/office/drawing/2014/main" id="{3AE2F898-8023-674A-94BB-DC790A0430A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744" name="Text Box 139">
            <a:extLst>
              <a:ext uri="{FF2B5EF4-FFF2-40B4-BE49-F238E27FC236}">
                <a16:creationId xmlns:a16="http://schemas.microsoft.com/office/drawing/2014/main" id="{3DFE1051-098D-3A48-AA73-F767917DC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68745" name="Freeform 140">
            <a:extLst>
              <a:ext uri="{FF2B5EF4-FFF2-40B4-BE49-F238E27FC236}">
                <a16:creationId xmlns:a16="http://schemas.microsoft.com/office/drawing/2014/main" id="{87CB7DEA-84E3-BE4B-ABD7-E9ECFB21CB30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746" name="Freeform 141">
            <a:extLst>
              <a:ext uri="{FF2B5EF4-FFF2-40B4-BE49-F238E27FC236}">
                <a16:creationId xmlns:a16="http://schemas.microsoft.com/office/drawing/2014/main" id="{99EE7A1D-8139-D242-B61F-FE38C4E6C400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747" name="Line 142">
            <a:extLst>
              <a:ext uri="{FF2B5EF4-FFF2-40B4-BE49-F238E27FC236}">
                <a16:creationId xmlns:a16="http://schemas.microsoft.com/office/drawing/2014/main" id="{50B6C1F8-11C4-0942-854F-FF37525E0A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22703" name="Group 143">
            <a:extLst>
              <a:ext uri="{FF2B5EF4-FFF2-40B4-BE49-F238E27FC236}">
                <a16:creationId xmlns:a16="http://schemas.microsoft.com/office/drawing/2014/main" id="{F34287E2-39CC-E84C-A247-EA5B59314A47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Imm=4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2753" name="Group 193">
            <a:extLst>
              <a:ext uri="{FF2B5EF4-FFF2-40B4-BE49-F238E27FC236}">
                <a16:creationId xmlns:a16="http://schemas.microsoft.com/office/drawing/2014/main" id="{1A68816B-FC1D-F44E-AF62-699CA3168310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8824" name="Text Box 219">
            <a:extLst>
              <a:ext uri="{FF2B5EF4-FFF2-40B4-BE49-F238E27FC236}">
                <a16:creationId xmlns:a16="http://schemas.microsoft.com/office/drawing/2014/main" id="{8860D04B-1BC5-F14E-9647-588981FEB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68825" name="Freeform 220">
            <a:extLst>
              <a:ext uri="{FF2B5EF4-FFF2-40B4-BE49-F238E27FC236}">
                <a16:creationId xmlns:a16="http://schemas.microsoft.com/office/drawing/2014/main" id="{C4B50B4B-CA0D-0747-8D42-7F583591FAE1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826" name="Text Box 221">
            <a:extLst>
              <a:ext uri="{FF2B5EF4-FFF2-40B4-BE49-F238E27FC236}">
                <a16:creationId xmlns:a16="http://schemas.microsoft.com/office/drawing/2014/main" id="{5DF5C03F-C1E7-F84D-BFF4-ACC9861C2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68827" name="Text Box 222">
            <a:extLst>
              <a:ext uri="{FF2B5EF4-FFF2-40B4-BE49-F238E27FC236}">
                <a16:creationId xmlns:a16="http://schemas.microsoft.com/office/drawing/2014/main" id="{09F9CA39-994F-C74B-9A0F-0890D1B119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68828" name="Text Box 223">
            <a:extLst>
              <a:ext uri="{FF2B5EF4-FFF2-40B4-BE49-F238E27FC236}">
                <a16:creationId xmlns:a16="http://schemas.microsoft.com/office/drawing/2014/main" id="{4ADD5476-67A3-EA4D-915C-B09FB1295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68829" name="Text Box 224">
            <a:extLst>
              <a:ext uri="{FF2B5EF4-FFF2-40B4-BE49-F238E27FC236}">
                <a16:creationId xmlns:a16="http://schemas.microsoft.com/office/drawing/2014/main" id="{F3801AD0-8A37-C346-9736-8BF6D1AFD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68830" name="Group 225">
            <a:extLst>
              <a:ext uri="{FF2B5EF4-FFF2-40B4-BE49-F238E27FC236}">
                <a16:creationId xmlns:a16="http://schemas.microsoft.com/office/drawing/2014/main" id="{E46F114B-0103-5444-B151-8ACCB48D93D5}"/>
              </a:ext>
            </a:extLst>
          </p:cNvPr>
          <p:cNvGrpSpPr>
            <a:grpSpLocks/>
          </p:cNvGrpSpPr>
          <p:nvPr/>
        </p:nvGrpSpPr>
        <p:grpSpPr bwMode="auto">
          <a:xfrm>
            <a:off x="3117850" y="1066800"/>
            <a:ext cx="2111375" cy="990600"/>
            <a:chOff x="1964" y="672"/>
            <a:chExt cx="1330" cy="624"/>
          </a:xfrm>
        </p:grpSpPr>
        <p:sp>
          <p:nvSpPr>
            <p:cNvPr id="68832" name="Rectangle 226">
              <a:extLst>
                <a:ext uri="{FF2B5EF4-FFF2-40B4-BE49-F238E27FC236}">
                  <a16:creationId xmlns:a16="http://schemas.microsoft.com/office/drawing/2014/main" id="{FBEB409A-D341-854A-A0AA-C51AEDD4E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672"/>
              <a:ext cx="1330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A  LW    R2, 4(R0)</a:t>
              </a:r>
            </a:p>
          </p:txBody>
        </p:sp>
        <p:sp>
          <p:nvSpPr>
            <p:cNvPr id="68833" name="Line 227">
              <a:extLst>
                <a:ext uri="{FF2B5EF4-FFF2-40B4-BE49-F238E27FC236}">
                  <a16:creationId xmlns:a16="http://schemas.microsoft.com/office/drawing/2014/main" id="{3C62AC48-4AB7-7840-B8FA-4B1BC372F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8831" name="Line 228">
            <a:extLst>
              <a:ext uri="{FF2B5EF4-FFF2-40B4-BE49-F238E27FC236}">
                <a16:creationId xmlns:a16="http://schemas.microsoft.com/office/drawing/2014/main" id="{E074D271-7F68-2546-80EE-71F1217BBC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59080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3586" name="Group 2">
            <a:extLst>
              <a:ext uri="{FF2B5EF4-FFF2-40B4-BE49-F238E27FC236}">
                <a16:creationId xmlns:a16="http://schemas.microsoft.com/office/drawing/2014/main" id="{EAB25897-9E8B-BF41-BEDF-7D0A132369C7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69761" name="Text Box 130">
            <a:extLst>
              <a:ext uri="{FF2B5EF4-FFF2-40B4-BE49-F238E27FC236}">
                <a16:creationId xmlns:a16="http://schemas.microsoft.com/office/drawing/2014/main" id="{68A05940-426A-1743-94EA-244ADD192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69762" name="Text Box 131">
            <a:extLst>
              <a:ext uri="{FF2B5EF4-FFF2-40B4-BE49-F238E27FC236}">
                <a16:creationId xmlns:a16="http://schemas.microsoft.com/office/drawing/2014/main" id="{728669F1-2BD0-5E4E-AB71-7514D36156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49872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69763" name="Text Box 132">
            <a:extLst>
              <a:ext uri="{FF2B5EF4-FFF2-40B4-BE49-F238E27FC236}">
                <a16:creationId xmlns:a16="http://schemas.microsoft.com/office/drawing/2014/main" id="{6A46FAC3-810A-B44F-91C6-41DD64626F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2860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69764" name="Group 133">
            <a:extLst>
              <a:ext uri="{FF2B5EF4-FFF2-40B4-BE49-F238E27FC236}">
                <a16:creationId xmlns:a16="http://schemas.microsoft.com/office/drawing/2014/main" id="{2790CD2A-225F-C54B-AF02-B1F902547D48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69858" name="Rectangle 134">
              <a:extLst>
                <a:ext uri="{FF2B5EF4-FFF2-40B4-BE49-F238E27FC236}">
                  <a16:creationId xmlns:a16="http://schemas.microsoft.com/office/drawing/2014/main" id="{099D53CD-A63A-C743-BB48-BF3D5BBAC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859" name="Text Box 135">
              <a:extLst>
                <a:ext uri="{FF2B5EF4-FFF2-40B4-BE49-F238E27FC236}">
                  <a16:creationId xmlns:a16="http://schemas.microsoft.com/office/drawing/2014/main" id="{272A706E-2819-A243-A33C-FFFCAA15F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69765" name="Line 136">
            <a:extLst>
              <a:ext uri="{FF2B5EF4-FFF2-40B4-BE49-F238E27FC236}">
                <a16:creationId xmlns:a16="http://schemas.microsoft.com/office/drawing/2014/main" id="{7EAE6E15-0EE7-D24F-977B-8E644E36D1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66" name="Line 137">
            <a:extLst>
              <a:ext uri="{FF2B5EF4-FFF2-40B4-BE49-F238E27FC236}">
                <a16:creationId xmlns:a16="http://schemas.microsoft.com/office/drawing/2014/main" id="{BDD8D6C9-2453-0348-9D8A-0ACAFE276D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67" name="Freeform 138">
            <a:extLst>
              <a:ext uri="{FF2B5EF4-FFF2-40B4-BE49-F238E27FC236}">
                <a16:creationId xmlns:a16="http://schemas.microsoft.com/office/drawing/2014/main" id="{E7B9C14D-A43D-E040-97EC-86BF7F75524C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68" name="Text Box 139">
            <a:extLst>
              <a:ext uri="{FF2B5EF4-FFF2-40B4-BE49-F238E27FC236}">
                <a16:creationId xmlns:a16="http://schemas.microsoft.com/office/drawing/2014/main" id="{7B413D13-2BDA-3143-A3E9-5E56131B0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69769" name="Freeform 140">
            <a:extLst>
              <a:ext uri="{FF2B5EF4-FFF2-40B4-BE49-F238E27FC236}">
                <a16:creationId xmlns:a16="http://schemas.microsoft.com/office/drawing/2014/main" id="{052CF20F-B299-FD43-B55D-0807F87F041E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70" name="Freeform 141">
            <a:extLst>
              <a:ext uri="{FF2B5EF4-FFF2-40B4-BE49-F238E27FC236}">
                <a16:creationId xmlns:a16="http://schemas.microsoft.com/office/drawing/2014/main" id="{9FEB91CF-32AE-8349-8A0B-6D37E0578436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71" name="Line 142">
            <a:extLst>
              <a:ext uri="{FF2B5EF4-FFF2-40B4-BE49-F238E27FC236}">
                <a16:creationId xmlns:a16="http://schemas.microsoft.com/office/drawing/2014/main" id="{774FE2B0-965D-DE41-AD53-CD039784B0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23727" name="Group 143">
            <a:extLst>
              <a:ext uri="{FF2B5EF4-FFF2-40B4-BE49-F238E27FC236}">
                <a16:creationId xmlns:a16="http://schemas.microsoft.com/office/drawing/2014/main" id="{9DFD717C-BA3D-C448-B6D5-37EF0D680AF4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Imm=4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3777" name="Group 193">
            <a:extLst>
              <a:ext uri="{FF2B5EF4-FFF2-40B4-BE49-F238E27FC236}">
                <a16:creationId xmlns:a16="http://schemas.microsoft.com/office/drawing/2014/main" id="{4AEEC416-C937-B54F-8079-7AED693E80C4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9848" name="Text Box 219">
            <a:extLst>
              <a:ext uri="{FF2B5EF4-FFF2-40B4-BE49-F238E27FC236}">
                <a16:creationId xmlns:a16="http://schemas.microsoft.com/office/drawing/2014/main" id="{FAFB0DD6-5116-1C4F-BAAA-2665B39B3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69849" name="Freeform 220">
            <a:extLst>
              <a:ext uri="{FF2B5EF4-FFF2-40B4-BE49-F238E27FC236}">
                <a16:creationId xmlns:a16="http://schemas.microsoft.com/office/drawing/2014/main" id="{37684F38-98CC-324F-A1F4-E3599116FFE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850" name="Text Box 221">
            <a:extLst>
              <a:ext uri="{FF2B5EF4-FFF2-40B4-BE49-F238E27FC236}">
                <a16:creationId xmlns:a16="http://schemas.microsoft.com/office/drawing/2014/main" id="{398B03CE-55FB-D748-8759-B6FF15DAF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69851" name="Text Box 222">
            <a:extLst>
              <a:ext uri="{FF2B5EF4-FFF2-40B4-BE49-F238E27FC236}">
                <a16:creationId xmlns:a16="http://schemas.microsoft.com/office/drawing/2014/main" id="{38CF412C-A05B-0244-9F90-5230C39382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69852" name="Text Box 223">
            <a:extLst>
              <a:ext uri="{FF2B5EF4-FFF2-40B4-BE49-F238E27FC236}">
                <a16:creationId xmlns:a16="http://schemas.microsoft.com/office/drawing/2014/main" id="{24ED6FE0-429E-1143-AE9A-AD0C26847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69853" name="Text Box 224">
            <a:extLst>
              <a:ext uri="{FF2B5EF4-FFF2-40B4-BE49-F238E27FC236}">
                <a16:creationId xmlns:a16="http://schemas.microsoft.com/office/drawing/2014/main" id="{C1CA7030-5D9B-0949-9793-FE8CD8EBA7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69854" name="Group 225">
            <a:extLst>
              <a:ext uri="{FF2B5EF4-FFF2-40B4-BE49-F238E27FC236}">
                <a16:creationId xmlns:a16="http://schemas.microsoft.com/office/drawing/2014/main" id="{37473459-EFE6-344D-AD78-36F1E75C6AEF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69856" name="Rectangle 226">
              <a:extLst>
                <a:ext uri="{FF2B5EF4-FFF2-40B4-BE49-F238E27FC236}">
                  <a16:creationId xmlns:a16="http://schemas.microsoft.com/office/drawing/2014/main" id="{F8B0B02C-18CD-A04E-A023-89F79EEB5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B  MULT  R3, R1, R2</a:t>
              </a:r>
            </a:p>
          </p:txBody>
        </p:sp>
        <p:sp>
          <p:nvSpPr>
            <p:cNvPr id="69857" name="Line 227">
              <a:extLst>
                <a:ext uri="{FF2B5EF4-FFF2-40B4-BE49-F238E27FC236}">
                  <a16:creationId xmlns:a16="http://schemas.microsoft.com/office/drawing/2014/main" id="{C3542232-2F95-C648-AE08-7EC9922C0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9855" name="Line 228">
            <a:extLst>
              <a:ext uri="{FF2B5EF4-FFF2-40B4-BE49-F238E27FC236}">
                <a16:creationId xmlns:a16="http://schemas.microsoft.com/office/drawing/2014/main" id="{8E9CE559-998C-7D4D-B1E0-48B6362D96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59080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4610" name="Group 2">
            <a:extLst>
              <a:ext uri="{FF2B5EF4-FFF2-40B4-BE49-F238E27FC236}">
                <a16:creationId xmlns:a16="http://schemas.microsoft.com/office/drawing/2014/main" id="{00770381-F9B0-5D4A-B2C7-D8B145C7787A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0785" name="Text Box 130">
            <a:extLst>
              <a:ext uri="{FF2B5EF4-FFF2-40B4-BE49-F238E27FC236}">
                <a16:creationId xmlns:a16="http://schemas.microsoft.com/office/drawing/2014/main" id="{A279D116-C8EC-2A4C-A430-470FC3684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70786" name="Text Box 131">
            <a:extLst>
              <a:ext uri="{FF2B5EF4-FFF2-40B4-BE49-F238E27FC236}">
                <a16:creationId xmlns:a16="http://schemas.microsoft.com/office/drawing/2014/main" id="{A0E1D558-51D7-EE46-B013-C759460E0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72732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70787" name="Text Box 132">
            <a:extLst>
              <a:ext uri="{FF2B5EF4-FFF2-40B4-BE49-F238E27FC236}">
                <a16:creationId xmlns:a16="http://schemas.microsoft.com/office/drawing/2014/main" id="{530B1860-F32A-1C47-A8FB-D6E04A681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2860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70788" name="Group 133">
            <a:extLst>
              <a:ext uri="{FF2B5EF4-FFF2-40B4-BE49-F238E27FC236}">
                <a16:creationId xmlns:a16="http://schemas.microsoft.com/office/drawing/2014/main" id="{B1B3979B-A997-3B4F-B605-EDCECEFBBD85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0883" name="Rectangle 134">
              <a:extLst>
                <a:ext uri="{FF2B5EF4-FFF2-40B4-BE49-F238E27FC236}">
                  <a16:creationId xmlns:a16="http://schemas.microsoft.com/office/drawing/2014/main" id="{17168082-C0C0-524B-8AB2-DBDC523C4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884" name="Text Box 135">
              <a:extLst>
                <a:ext uri="{FF2B5EF4-FFF2-40B4-BE49-F238E27FC236}">
                  <a16:creationId xmlns:a16="http://schemas.microsoft.com/office/drawing/2014/main" id="{60E3D545-E9C6-7348-83EF-E947AAF7AA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0789" name="Line 136">
            <a:extLst>
              <a:ext uri="{FF2B5EF4-FFF2-40B4-BE49-F238E27FC236}">
                <a16:creationId xmlns:a16="http://schemas.microsoft.com/office/drawing/2014/main" id="{539EA2D0-BC61-7542-A466-C09D90CD4A5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90" name="Line 137">
            <a:extLst>
              <a:ext uri="{FF2B5EF4-FFF2-40B4-BE49-F238E27FC236}">
                <a16:creationId xmlns:a16="http://schemas.microsoft.com/office/drawing/2014/main" id="{0B718D33-C59A-A242-8ACA-0CFA48775A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91" name="Freeform 138">
            <a:extLst>
              <a:ext uri="{FF2B5EF4-FFF2-40B4-BE49-F238E27FC236}">
                <a16:creationId xmlns:a16="http://schemas.microsoft.com/office/drawing/2014/main" id="{E101C3C9-E65D-494E-B47F-410842CDBBD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92" name="Text Box 139">
            <a:extLst>
              <a:ext uri="{FF2B5EF4-FFF2-40B4-BE49-F238E27FC236}">
                <a16:creationId xmlns:a16="http://schemas.microsoft.com/office/drawing/2014/main" id="{22F43496-6B75-C34E-B9AE-219A89385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0793" name="Freeform 140">
            <a:extLst>
              <a:ext uri="{FF2B5EF4-FFF2-40B4-BE49-F238E27FC236}">
                <a16:creationId xmlns:a16="http://schemas.microsoft.com/office/drawing/2014/main" id="{2E4A912D-FF8D-9F45-A319-75DF34BE6B5B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94" name="Freeform 141">
            <a:extLst>
              <a:ext uri="{FF2B5EF4-FFF2-40B4-BE49-F238E27FC236}">
                <a16:creationId xmlns:a16="http://schemas.microsoft.com/office/drawing/2014/main" id="{909B841A-3E03-7B48-9C24-BCFBA9CA79CB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95" name="Line 142">
            <a:extLst>
              <a:ext uri="{FF2B5EF4-FFF2-40B4-BE49-F238E27FC236}">
                <a16:creationId xmlns:a16="http://schemas.microsoft.com/office/drawing/2014/main" id="{0D431399-2324-6A4C-9D40-9AE199ED68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24751" name="Group 143">
            <a:extLst>
              <a:ext uri="{FF2B5EF4-FFF2-40B4-BE49-F238E27FC236}">
                <a16:creationId xmlns:a16="http://schemas.microsoft.com/office/drawing/2014/main" id="{CE2955DE-6461-E947-BB2A-D01E37CE60F4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4801" name="Group 193">
            <a:extLst>
              <a:ext uri="{FF2B5EF4-FFF2-40B4-BE49-F238E27FC236}">
                <a16:creationId xmlns:a16="http://schemas.microsoft.com/office/drawing/2014/main" id="{383A7073-6249-EF4E-BB3F-71953B3A73B3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0872" name="Text Box 219">
            <a:extLst>
              <a:ext uri="{FF2B5EF4-FFF2-40B4-BE49-F238E27FC236}">
                <a16:creationId xmlns:a16="http://schemas.microsoft.com/office/drawing/2014/main" id="{B383EA4E-F76A-AD4E-85CD-A8341218E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0873" name="Freeform 220">
            <a:extLst>
              <a:ext uri="{FF2B5EF4-FFF2-40B4-BE49-F238E27FC236}">
                <a16:creationId xmlns:a16="http://schemas.microsoft.com/office/drawing/2014/main" id="{C573A2A3-6FE9-9949-8B7B-91213FB84EA6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874" name="Text Box 221">
            <a:extLst>
              <a:ext uri="{FF2B5EF4-FFF2-40B4-BE49-F238E27FC236}">
                <a16:creationId xmlns:a16="http://schemas.microsoft.com/office/drawing/2014/main" id="{D89C437C-95AB-DE40-A810-40E7364B7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0875" name="Text Box 222">
            <a:extLst>
              <a:ext uri="{FF2B5EF4-FFF2-40B4-BE49-F238E27FC236}">
                <a16:creationId xmlns:a16="http://schemas.microsoft.com/office/drawing/2014/main" id="{60650D91-B5FC-484C-BBA2-8EC3FA146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0876" name="Text Box 223">
            <a:extLst>
              <a:ext uri="{FF2B5EF4-FFF2-40B4-BE49-F238E27FC236}">
                <a16:creationId xmlns:a16="http://schemas.microsoft.com/office/drawing/2014/main" id="{56B96F3B-1778-2B48-83E0-E0500EACF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0877" name="Text Box 224">
            <a:extLst>
              <a:ext uri="{FF2B5EF4-FFF2-40B4-BE49-F238E27FC236}">
                <a16:creationId xmlns:a16="http://schemas.microsoft.com/office/drawing/2014/main" id="{8ED30A44-8A83-344E-B700-1E5C8FD27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0878" name="Group 225">
            <a:extLst>
              <a:ext uri="{FF2B5EF4-FFF2-40B4-BE49-F238E27FC236}">
                <a16:creationId xmlns:a16="http://schemas.microsoft.com/office/drawing/2014/main" id="{6C026274-8C8D-514C-B1C1-9F47ADFF153B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70881" name="Rectangle 226">
              <a:extLst>
                <a:ext uri="{FF2B5EF4-FFF2-40B4-BE49-F238E27FC236}">
                  <a16:creationId xmlns:a16="http://schemas.microsoft.com/office/drawing/2014/main" id="{4C922BCE-7AEA-D343-BEF2-44A8FA258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B  MULT  R3, R1, R2</a:t>
              </a:r>
            </a:p>
          </p:txBody>
        </p:sp>
        <p:sp>
          <p:nvSpPr>
            <p:cNvPr id="70882" name="Line 227">
              <a:extLst>
                <a:ext uri="{FF2B5EF4-FFF2-40B4-BE49-F238E27FC236}">
                  <a16:creationId xmlns:a16="http://schemas.microsoft.com/office/drawing/2014/main" id="{B653C133-6842-6744-BD05-E68F7D8A61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879" name="Line 228">
            <a:extLst>
              <a:ext uri="{FF2B5EF4-FFF2-40B4-BE49-F238E27FC236}">
                <a16:creationId xmlns:a16="http://schemas.microsoft.com/office/drawing/2014/main" id="{96591BEF-C076-0146-9EC4-62AB220614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81940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880" name="Text Box 229">
            <a:extLst>
              <a:ext uri="{FF2B5EF4-FFF2-40B4-BE49-F238E27FC236}">
                <a16:creationId xmlns:a16="http://schemas.microsoft.com/office/drawing/2014/main" id="{716045AB-0B7A-AE46-A261-DF3E10E27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5634" name="Group 2">
            <a:extLst>
              <a:ext uri="{FF2B5EF4-FFF2-40B4-BE49-F238E27FC236}">
                <a16:creationId xmlns:a16="http://schemas.microsoft.com/office/drawing/2014/main" id="{74AF7284-FAA9-3548-A62E-A9ED519B7F46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1809" name="Text Box 130">
            <a:extLst>
              <a:ext uri="{FF2B5EF4-FFF2-40B4-BE49-F238E27FC236}">
                <a16:creationId xmlns:a16="http://schemas.microsoft.com/office/drawing/2014/main" id="{566D0F62-146C-D946-B65C-21D5E3C76F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sp>
        <p:nvSpPr>
          <p:cNvPr id="71810" name="Text Box 131">
            <a:extLst>
              <a:ext uri="{FF2B5EF4-FFF2-40B4-BE49-F238E27FC236}">
                <a16:creationId xmlns:a16="http://schemas.microsoft.com/office/drawing/2014/main" id="{6659BD71-EDA9-694D-913E-CF1FF3C29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727325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71811" name="Text Box 132">
            <a:extLst>
              <a:ext uri="{FF2B5EF4-FFF2-40B4-BE49-F238E27FC236}">
                <a16:creationId xmlns:a16="http://schemas.microsoft.com/office/drawing/2014/main" id="{16C99203-6EFC-A440-AB5D-D11320ED46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2860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pSp>
        <p:nvGrpSpPr>
          <p:cNvPr id="71812" name="Group 133">
            <a:extLst>
              <a:ext uri="{FF2B5EF4-FFF2-40B4-BE49-F238E27FC236}">
                <a16:creationId xmlns:a16="http://schemas.microsoft.com/office/drawing/2014/main" id="{1B51C71F-50C1-AF44-9859-155E687F8A49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1907" name="Rectangle 134">
              <a:extLst>
                <a:ext uri="{FF2B5EF4-FFF2-40B4-BE49-F238E27FC236}">
                  <a16:creationId xmlns:a16="http://schemas.microsoft.com/office/drawing/2014/main" id="{10D3E3CF-996D-8641-A814-3E1E1E15F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908" name="Text Box 135">
              <a:extLst>
                <a:ext uri="{FF2B5EF4-FFF2-40B4-BE49-F238E27FC236}">
                  <a16:creationId xmlns:a16="http://schemas.microsoft.com/office/drawing/2014/main" id="{0230C692-9DE4-E740-A922-145D1598F5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1813" name="Line 136">
            <a:extLst>
              <a:ext uri="{FF2B5EF4-FFF2-40B4-BE49-F238E27FC236}">
                <a16:creationId xmlns:a16="http://schemas.microsoft.com/office/drawing/2014/main" id="{36CF4AC0-6B74-AC41-9F46-54827B59C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14" name="Line 137">
            <a:extLst>
              <a:ext uri="{FF2B5EF4-FFF2-40B4-BE49-F238E27FC236}">
                <a16:creationId xmlns:a16="http://schemas.microsoft.com/office/drawing/2014/main" id="{DB6FBCCD-50CA-A948-A1D2-CF2DB1A7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15" name="Freeform 138">
            <a:extLst>
              <a:ext uri="{FF2B5EF4-FFF2-40B4-BE49-F238E27FC236}">
                <a16:creationId xmlns:a16="http://schemas.microsoft.com/office/drawing/2014/main" id="{55B3BAA0-D52A-144F-B515-54BB5DAC88C8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16" name="Text Box 139">
            <a:extLst>
              <a:ext uri="{FF2B5EF4-FFF2-40B4-BE49-F238E27FC236}">
                <a16:creationId xmlns:a16="http://schemas.microsoft.com/office/drawing/2014/main" id="{0E808BA9-9441-BA47-B1CD-C4F089A9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1817" name="Freeform 140">
            <a:extLst>
              <a:ext uri="{FF2B5EF4-FFF2-40B4-BE49-F238E27FC236}">
                <a16:creationId xmlns:a16="http://schemas.microsoft.com/office/drawing/2014/main" id="{5B7E2529-4FE2-8D43-B43E-C84D63E67850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18" name="Freeform 141">
            <a:extLst>
              <a:ext uri="{FF2B5EF4-FFF2-40B4-BE49-F238E27FC236}">
                <a16:creationId xmlns:a16="http://schemas.microsoft.com/office/drawing/2014/main" id="{D86DA959-51F9-B640-A046-D798B662DF99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19" name="Line 142">
            <a:extLst>
              <a:ext uri="{FF2B5EF4-FFF2-40B4-BE49-F238E27FC236}">
                <a16:creationId xmlns:a16="http://schemas.microsoft.com/office/drawing/2014/main" id="{F8CF0E66-8404-1D40-9847-EEA9EDFFDB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41935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25775" name="Group 143">
            <a:extLst>
              <a:ext uri="{FF2B5EF4-FFF2-40B4-BE49-F238E27FC236}">
                <a16:creationId xmlns:a16="http://schemas.microsoft.com/office/drawing/2014/main" id="{26C84D09-E1D7-B24D-AA60-90423D38C3A6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5825" name="Group 193">
            <a:extLst>
              <a:ext uri="{FF2B5EF4-FFF2-40B4-BE49-F238E27FC236}">
                <a16:creationId xmlns:a16="http://schemas.microsoft.com/office/drawing/2014/main" id="{B4107676-1EB9-EB44-B2D1-DFAFC1F60AD1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1896" name="Text Box 219">
            <a:extLst>
              <a:ext uri="{FF2B5EF4-FFF2-40B4-BE49-F238E27FC236}">
                <a16:creationId xmlns:a16="http://schemas.microsoft.com/office/drawing/2014/main" id="{1C351DA8-FB20-0649-85ED-7BE121F370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1897" name="Freeform 220">
            <a:extLst>
              <a:ext uri="{FF2B5EF4-FFF2-40B4-BE49-F238E27FC236}">
                <a16:creationId xmlns:a16="http://schemas.microsoft.com/office/drawing/2014/main" id="{EB416B25-C541-AA40-976F-BC7D2C56147C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98" name="Text Box 221">
            <a:extLst>
              <a:ext uri="{FF2B5EF4-FFF2-40B4-BE49-F238E27FC236}">
                <a16:creationId xmlns:a16="http://schemas.microsoft.com/office/drawing/2014/main" id="{A0BBB137-CFF9-3340-AD0F-5BF76BD3D1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1899" name="Text Box 222">
            <a:extLst>
              <a:ext uri="{FF2B5EF4-FFF2-40B4-BE49-F238E27FC236}">
                <a16:creationId xmlns:a16="http://schemas.microsoft.com/office/drawing/2014/main" id="{B0CD476E-6A7B-2B44-B8B1-B5B7A1B3A0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1900" name="Text Box 223">
            <a:extLst>
              <a:ext uri="{FF2B5EF4-FFF2-40B4-BE49-F238E27FC236}">
                <a16:creationId xmlns:a16="http://schemas.microsoft.com/office/drawing/2014/main" id="{73612103-4B91-3449-AF0C-ACEA7F986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1901" name="Text Box 224">
            <a:extLst>
              <a:ext uri="{FF2B5EF4-FFF2-40B4-BE49-F238E27FC236}">
                <a16:creationId xmlns:a16="http://schemas.microsoft.com/office/drawing/2014/main" id="{D1F5169C-7A20-624B-A834-3B8A4C75C9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1902" name="Group 225">
            <a:extLst>
              <a:ext uri="{FF2B5EF4-FFF2-40B4-BE49-F238E27FC236}">
                <a16:creationId xmlns:a16="http://schemas.microsoft.com/office/drawing/2014/main" id="{7F980223-C28D-7747-8D82-DB9405CAE7D4}"/>
              </a:ext>
            </a:extLst>
          </p:cNvPr>
          <p:cNvGrpSpPr>
            <a:grpSpLocks/>
          </p:cNvGrpSpPr>
          <p:nvPr/>
        </p:nvGrpSpPr>
        <p:grpSpPr bwMode="auto">
          <a:xfrm>
            <a:off x="3117850" y="1066800"/>
            <a:ext cx="2111375" cy="990600"/>
            <a:chOff x="1964" y="672"/>
            <a:chExt cx="1330" cy="624"/>
          </a:xfrm>
        </p:grpSpPr>
        <p:sp>
          <p:nvSpPr>
            <p:cNvPr id="71905" name="Rectangle 226">
              <a:extLst>
                <a:ext uri="{FF2B5EF4-FFF2-40B4-BE49-F238E27FC236}">
                  <a16:creationId xmlns:a16="http://schemas.microsoft.com/office/drawing/2014/main" id="{7F292E9B-3407-2043-A1EA-C8271E92E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672"/>
              <a:ext cx="1330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C  LW    R2, 8(R0)</a:t>
              </a:r>
            </a:p>
          </p:txBody>
        </p:sp>
        <p:sp>
          <p:nvSpPr>
            <p:cNvPr id="71906" name="Line 227">
              <a:extLst>
                <a:ext uri="{FF2B5EF4-FFF2-40B4-BE49-F238E27FC236}">
                  <a16:creationId xmlns:a16="http://schemas.microsoft.com/office/drawing/2014/main" id="{1DC688B7-AC44-6041-901A-D73DDA090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903" name="Line 228">
            <a:extLst>
              <a:ext uri="{FF2B5EF4-FFF2-40B4-BE49-F238E27FC236}">
                <a16:creationId xmlns:a16="http://schemas.microsoft.com/office/drawing/2014/main" id="{77FAC7CD-E2D5-184A-A90A-54A769A3B3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2819400"/>
            <a:ext cx="779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904" name="Text Box 229">
            <a:extLst>
              <a:ext uri="{FF2B5EF4-FFF2-40B4-BE49-F238E27FC236}">
                <a16:creationId xmlns:a16="http://schemas.microsoft.com/office/drawing/2014/main" id="{8DCEADF2-A9EC-A744-85DC-29B52476C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6658" name="Group 2">
            <a:extLst>
              <a:ext uri="{FF2B5EF4-FFF2-40B4-BE49-F238E27FC236}">
                <a16:creationId xmlns:a16="http://schemas.microsoft.com/office/drawing/2014/main" id="{44B3DDDC-BA8D-A344-A63F-A8D03B2DC52D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2833" name="Text Box 130">
            <a:extLst>
              <a:ext uri="{FF2B5EF4-FFF2-40B4-BE49-F238E27FC236}">
                <a16:creationId xmlns:a16="http://schemas.microsoft.com/office/drawing/2014/main" id="{81573544-1EFA-CC48-9289-9A0A36DAFA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2834" name="Group 131">
            <a:extLst>
              <a:ext uri="{FF2B5EF4-FFF2-40B4-BE49-F238E27FC236}">
                <a16:creationId xmlns:a16="http://schemas.microsoft.com/office/drawing/2014/main" id="{6D473DD5-CE48-9D4D-BB81-AE6DA867CEFF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2933" name="Rectangle 132">
              <a:extLst>
                <a:ext uri="{FF2B5EF4-FFF2-40B4-BE49-F238E27FC236}">
                  <a16:creationId xmlns:a16="http://schemas.microsoft.com/office/drawing/2014/main" id="{ABE1DC83-EC07-D44E-98F0-B97516354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934" name="Text Box 133">
              <a:extLst>
                <a:ext uri="{FF2B5EF4-FFF2-40B4-BE49-F238E27FC236}">
                  <a16:creationId xmlns:a16="http://schemas.microsoft.com/office/drawing/2014/main" id="{38C675C7-A3B2-F647-B369-9ED2F67591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2835" name="Line 134">
            <a:extLst>
              <a:ext uri="{FF2B5EF4-FFF2-40B4-BE49-F238E27FC236}">
                <a16:creationId xmlns:a16="http://schemas.microsoft.com/office/drawing/2014/main" id="{B8D76E4E-912C-324B-B74D-960B80E89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836" name="Line 135">
            <a:extLst>
              <a:ext uri="{FF2B5EF4-FFF2-40B4-BE49-F238E27FC236}">
                <a16:creationId xmlns:a16="http://schemas.microsoft.com/office/drawing/2014/main" id="{6B44AB3F-A999-5542-9694-D7CF22F3A4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837" name="Freeform 136">
            <a:extLst>
              <a:ext uri="{FF2B5EF4-FFF2-40B4-BE49-F238E27FC236}">
                <a16:creationId xmlns:a16="http://schemas.microsoft.com/office/drawing/2014/main" id="{D6AE2148-342F-7B45-840C-CE68F12771A7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838" name="Text Box 137">
            <a:extLst>
              <a:ext uri="{FF2B5EF4-FFF2-40B4-BE49-F238E27FC236}">
                <a16:creationId xmlns:a16="http://schemas.microsoft.com/office/drawing/2014/main" id="{01BC20FD-2244-594A-B0AD-BCAFDF585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2839" name="Freeform 138">
            <a:extLst>
              <a:ext uri="{FF2B5EF4-FFF2-40B4-BE49-F238E27FC236}">
                <a16:creationId xmlns:a16="http://schemas.microsoft.com/office/drawing/2014/main" id="{2F7A53C7-C96F-0749-8BDE-9BF0D45B8CA6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840" name="Freeform 139">
            <a:extLst>
              <a:ext uri="{FF2B5EF4-FFF2-40B4-BE49-F238E27FC236}">
                <a16:creationId xmlns:a16="http://schemas.microsoft.com/office/drawing/2014/main" id="{D3BBCB67-A9E7-0B44-9F0D-B9CFFDDBAA19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841" name="Group 140">
            <a:extLst>
              <a:ext uri="{FF2B5EF4-FFF2-40B4-BE49-F238E27FC236}">
                <a16:creationId xmlns:a16="http://schemas.microsoft.com/office/drawing/2014/main" id="{12D20314-0F0C-5148-99B7-E3AEFDCEE3E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2931" name="Text Box 141">
              <a:extLst>
                <a:ext uri="{FF2B5EF4-FFF2-40B4-BE49-F238E27FC236}">
                  <a16:creationId xmlns:a16="http://schemas.microsoft.com/office/drawing/2014/main" id="{4AB4DFC7-0D81-524A-B2FC-3CCBD4C16E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2932" name="Line 142">
              <a:extLst>
                <a:ext uri="{FF2B5EF4-FFF2-40B4-BE49-F238E27FC236}">
                  <a16:creationId xmlns:a16="http://schemas.microsoft.com/office/drawing/2014/main" id="{FE7C2437-D416-3140-85D5-5F1F7A3A5C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26799" name="Group 143">
            <a:extLst>
              <a:ext uri="{FF2B5EF4-FFF2-40B4-BE49-F238E27FC236}">
                <a16:creationId xmlns:a16="http://schemas.microsoft.com/office/drawing/2014/main" id="{6796E599-1FA6-704C-8EB0-E4B663C373DC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Imm=8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6849" name="Group 193">
            <a:extLst>
              <a:ext uri="{FF2B5EF4-FFF2-40B4-BE49-F238E27FC236}">
                <a16:creationId xmlns:a16="http://schemas.microsoft.com/office/drawing/2014/main" id="{5A61BC9B-37EE-4643-938D-106DF164E0A0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2918" name="Text Box 219">
            <a:extLst>
              <a:ext uri="{FF2B5EF4-FFF2-40B4-BE49-F238E27FC236}">
                <a16:creationId xmlns:a16="http://schemas.microsoft.com/office/drawing/2014/main" id="{5D4354B5-9EFF-2A4C-BAD0-0777475CE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2919" name="Freeform 220">
            <a:extLst>
              <a:ext uri="{FF2B5EF4-FFF2-40B4-BE49-F238E27FC236}">
                <a16:creationId xmlns:a16="http://schemas.microsoft.com/office/drawing/2014/main" id="{9E2026F8-8EE4-B842-A162-400A3020F7B7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920" name="Text Box 221">
            <a:extLst>
              <a:ext uri="{FF2B5EF4-FFF2-40B4-BE49-F238E27FC236}">
                <a16:creationId xmlns:a16="http://schemas.microsoft.com/office/drawing/2014/main" id="{6BE8F3D8-F9AC-CD4B-9FBF-125B4BB4E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2921" name="Text Box 222">
            <a:extLst>
              <a:ext uri="{FF2B5EF4-FFF2-40B4-BE49-F238E27FC236}">
                <a16:creationId xmlns:a16="http://schemas.microsoft.com/office/drawing/2014/main" id="{B61B754E-39B6-5F4B-B314-7C600292A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2922" name="Text Box 223">
            <a:extLst>
              <a:ext uri="{FF2B5EF4-FFF2-40B4-BE49-F238E27FC236}">
                <a16:creationId xmlns:a16="http://schemas.microsoft.com/office/drawing/2014/main" id="{94CFB32D-4FBF-9B4F-A951-5524E27EF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2923" name="Text Box 224">
            <a:extLst>
              <a:ext uri="{FF2B5EF4-FFF2-40B4-BE49-F238E27FC236}">
                <a16:creationId xmlns:a16="http://schemas.microsoft.com/office/drawing/2014/main" id="{CC9475C3-9B83-184C-A201-236BD9833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2924" name="Group 225">
            <a:extLst>
              <a:ext uri="{FF2B5EF4-FFF2-40B4-BE49-F238E27FC236}">
                <a16:creationId xmlns:a16="http://schemas.microsoft.com/office/drawing/2014/main" id="{8529A801-4C54-6F45-A68B-C639CD8116BC}"/>
              </a:ext>
            </a:extLst>
          </p:cNvPr>
          <p:cNvGrpSpPr>
            <a:grpSpLocks/>
          </p:cNvGrpSpPr>
          <p:nvPr/>
        </p:nvGrpSpPr>
        <p:grpSpPr bwMode="auto">
          <a:xfrm>
            <a:off x="3117850" y="1066800"/>
            <a:ext cx="2111375" cy="990600"/>
            <a:chOff x="1964" y="672"/>
            <a:chExt cx="1330" cy="624"/>
          </a:xfrm>
        </p:grpSpPr>
        <p:sp>
          <p:nvSpPr>
            <p:cNvPr id="72929" name="Rectangle 226">
              <a:extLst>
                <a:ext uri="{FF2B5EF4-FFF2-40B4-BE49-F238E27FC236}">
                  <a16:creationId xmlns:a16="http://schemas.microsoft.com/office/drawing/2014/main" id="{E9CECCF4-BF7A-C640-9CC1-C5776DB2A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672"/>
              <a:ext cx="1330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C  LW    R2, 8(R0)</a:t>
              </a:r>
            </a:p>
          </p:txBody>
        </p:sp>
        <p:sp>
          <p:nvSpPr>
            <p:cNvPr id="72930" name="Line 227">
              <a:extLst>
                <a:ext uri="{FF2B5EF4-FFF2-40B4-BE49-F238E27FC236}">
                  <a16:creationId xmlns:a16="http://schemas.microsoft.com/office/drawing/2014/main" id="{3969CC39-F1CB-794D-9CBF-9FAFFB9BE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925" name="Group 228">
            <a:extLst>
              <a:ext uri="{FF2B5EF4-FFF2-40B4-BE49-F238E27FC236}">
                <a16:creationId xmlns:a16="http://schemas.microsoft.com/office/drawing/2014/main" id="{B5724746-1220-1F4E-B8CD-FCE870C96CD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895600"/>
            <a:ext cx="1233488" cy="246063"/>
            <a:chOff x="4800" y="1718"/>
            <a:chExt cx="777" cy="155"/>
          </a:xfrm>
        </p:grpSpPr>
        <p:sp>
          <p:nvSpPr>
            <p:cNvPr id="72927" name="Text Box 229">
              <a:extLst>
                <a:ext uri="{FF2B5EF4-FFF2-40B4-BE49-F238E27FC236}">
                  <a16:creationId xmlns:a16="http://schemas.microsoft.com/office/drawing/2014/main" id="{C99B029A-F644-2149-87E2-64B95B39DC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2928" name="Line 230">
              <a:extLst>
                <a:ext uri="{FF2B5EF4-FFF2-40B4-BE49-F238E27FC236}">
                  <a16:creationId xmlns:a16="http://schemas.microsoft.com/office/drawing/2014/main" id="{EC25016C-D50E-E446-8391-950F002BA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2926" name="Text Box 231">
            <a:extLst>
              <a:ext uri="{FF2B5EF4-FFF2-40B4-BE49-F238E27FC236}">
                <a16:creationId xmlns:a16="http://schemas.microsoft.com/office/drawing/2014/main" id="{74D8B39E-2CE7-9046-8DA4-3456DE762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7682" name="Group 2">
            <a:extLst>
              <a:ext uri="{FF2B5EF4-FFF2-40B4-BE49-F238E27FC236}">
                <a16:creationId xmlns:a16="http://schemas.microsoft.com/office/drawing/2014/main" id="{3E05FAB6-2E50-5D44-A8EB-88DAED7C480C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3857" name="Text Box 130">
            <a:extLst>
              <a:ext uri="{FF2B5EF4-FFF2-40B4-BE49-F238E27FC236}">
                <a16:creationId xmlns:a16="http://schemas.microsoft.com/office/drawing/2014/main" id="{FDB5B7A9-04ED-F04A-924A-AABB165784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3858" name="Group 131">
            <a:extLst>
              <a:ext uri="{FF2B5EF4-FFF2-40B4-BE49-F238E27FC236}">
                <a16:creationId xmlns:a16="http://schemas.microsoft.com/office/drawing/2014/main" id="{0D0A3E08-F648-2640-86C3-207025C7D901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3957" name="Rectangle 132">
              <a:extLst>
                <a:ext uri="{FF2B5EF4-FFF2-40B4-BE49-F238E27FC236}">
                  <a16:creationId xmlns:a16="http://schemas.microsoft.com/office/drawing/2014/main" id="{BC61044C-05DA-D246-95E9-ABAA7FCD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958" name="Text Box 133">
              <a:extLst>
                <a:ext uri="{FF2B5EF4-FFF2-40B4-BE49-F238E27FC236}">
                  <a16:creationId xmlns:a16="http://schemas.microsoft.com/office/drawing/2014/main" id="{C0ED5936-4BC3-2D45-9942-63E5D1491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3859" name="Line 134">
            <a:extLst>
              <a:ext uri="{FF2B5EF4-FFF2-40B4-BE49-F238E27FC236}">
                <a16:creationId xmlns:a16="http://schemas.microsoft.com/office/drawing/2014/main" id="{E1F70938-40BC-CC4F-A30A-2AAE6EE369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860" name="Line 135">
            <a:extLst>
              <a:ext uri="{FF2B5EF4-FFF2-40B4-BE49-F238E27FC236}">
                <a16:creationId xmlns:a16="http://schemas.microsoft.com/office/drawing/2014/main" id="{F4B25C8C-D3EB-5044-9971-98A0689A48A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861" name="Freeform 136">
            <a:extLst>
              <a:ext uri="{FF2B5EF4-FFF2-40B4-BE49-F238E27FC236}">
                <a16:creationId xmlns:a16="http://schemas.microsoft.com/office/drawing/2014/main" id="{B1E98A10-006F-E54D-B5B6-E8D0128460C3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862" name="Text Box 137">
            <a:extLst>
              <a:ext uri="{FF2B5EF4-FFF2-40B4-BE49-F238E27FC236}">
                <a16:creationId xmlns:a16="http://schemas.microsoft.com/office/drawing/2014/main" id="{C4FC83E9-122B-614C-9AC6-75726BE62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3863" name="Freeform 138">
            <a:extLst>
              <a:ext uri="{FF2B5EF4-FFF2-40B4-BE49-F238E27FC236}">
                <a16:creationId xmlns:a16="http://schemas.microsoft.com/office/drawing/2014/main" id="{DBFAEC85-8B77-F340-BA86-C50251ED1D5B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864" name="Freeform 139">
            <a:extLst>
              <a:ext uri="{FF2B5EF4-FFF2-40B4-BE49-F238E27FC236}">
                <a16:creationId xmlns:a16="http://schemas.microsoft.com/office/drawing/2014/main" id="{679C04A5-2A43-CD4F-877F-6F7CC9454066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3865" name="Group 140">
            <a:extLst>
              <a:ext uri="{FF2B5EF4-FFF2-40B4-BE49-F238E27FC236}">
                <a16:creationId xmlns:a16="http://schemas.microsoft.com/office/drawing/2014/main" id="{5028C9EA-BAEA-0444-BB36-7983A79B82AF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3955" name="Text Box 141">
              <a:extLst>
                <a:ext uri="{FF2B5EF4-FFF2-40B4-BE49-F238E27FC236}">
                  <a16:creationId xmlns:a16="http://schemas.microsoft.com/office/drawing/2014/main" id="{24777BBB-827A-804D-A08D-A74BC82E4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3956" name="Line 142">
              <a:extLst>
                <a:ext uri="{FF2B5EF4-FFF2-40B4-BE49-F238E27FC236}">
                  <a16:creationId xmlns:a16="http://schemas.microsoft.com/office/drawing/2014/main" id="{2CC6EAD9-EDF2-8548-B4BF-93434587A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27823" name="Group 143">
            <a:extLst>
              <a:ext uri="{FF2B5EF4-FFF2-40B4-BE49-F238E27FC236}">
                <a16:creationId xmlns:a16="http://schemas.microsoft.com/office/drawing/2014/main" id="{12DB191B-3561-BA42-B62C-742FE22D5ABB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Imm=8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7873" name="Group 193">
            <a:extLst>
              <a:ext uri="{FF2B5EF4-FFF2-40B4-BE49-F238E27FC236}">
                <a16:creationId xmlns:a16="http://schemas.microsoft.com/office/drawing/2014/main" id="{DC0738FE-7B9A-5547-896C-7C31E1CB4283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3942" name="Text Box 219">
            <a:extLst>
              <a:ext uri="{FF2B5EF4-FFF2-40B4-BE49-F238E27FC236}">
                <a16:creationId xmlns:a16="http://schemas.microsoft.com/office/drawing/2014/main" id="{163F5728-ECE3-394B-A777-B5110B951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3943" name="Freeform 220">
            <a:extLst>
              <a:ext uri="{FF2B5EF4-FFF2-40B4-BE49-F238E27FC236}">
                <a16:creationId xmlns:a16="http://schemas.microsoft.com/office/drawing/2014/main" id="{066723AC-9FDC-FD4B-9F01-A9565EA117F3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944" name="Text Box 221">
            <a:extLst>
              <a:ext uri="{FF2B5EF4-FFF2-40B4-BE49-F238E27FC236}">
                <a16:creationId xmlns:a16="http://schemas.microsoft.com/office/drawing/2014/main" id="{779C17F0-F7D4-8C49-B05A-6180CEC9A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3945" name="Text Box 222">
            <a:extLst>
              <a:ext uri="{FF2B5EF4-FFF2-40B4-BE49-F238E27FC236}">
                <a16:creationId xmlns:a16="http://schemas.microsoft.com/office/drawing/2014/main" id="{5AFD820A-BAD8-F546-B484-71A92CE2A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3946" name="Text Box 223">
            <a:extLst>
              <a:ext uri="{FF2B5EF4-FFF2-40B4-BE49-F238E27FC236}">
                <a16:creationId xmlns:a16="http://schemas.microsoft.com/office/drawing/2014/main" id="{C721BBCF-73D5-B142-B5F1-43BE9CF14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3947" name="Text Box 224">
            <a:extLst>
              <a:ext uri="{FF2B5EF4-FFF2-40B4-BE49-F238E27FC236}">
                <a16:creationId xmlns:a16="http://schemas.microsoft.com/office/drawing/2014/main" id="{91E6E135-5D1D-4C4B-8706-EF2306959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3948" name="Group 225">
            <a:extLst>
              <a:ext uri="{FF2B5EF4-FFF2-40B4-BE49-F238E27FC236}">
                <a16:creationId xmlns:a16="http://schemas.microsoft.com/office/drawing/2014/main" id="{6A3CBCE7-F65E-D84B-891C-899E8556EFE8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73953" name="Rectangle 226">
              <a:extLst>
                <a:ext uri="{FF2B5EF4-FFF2-40B4-BE49-F238E27FC236}">
                  <a16:creationId xmlns:a16="http://schemas.microsoft.com/office/drawing/2014/main" id="{77074D91-C8BF-7640-A4A6-F821523B8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D  ADD   R1, R1, R2</a:t>
              </a:r>
            </a:p>
          </p:txBody>
        </p:sp>
        <p:sp>
          <p:nvSpPr>
            <p:cNvPr id="73954" name="Line 227">
              <a:extLst>
                <a:ext uri="{FF2B5EF4-FFF2-40B4-BE49-F238E27FC236}">
                  <a16:creationId xmlns:a16="http://schemas.microsoft.com/office/drawing/2014/main" id="{4271A55C-08B6-744B-AE90-C14225411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3949" name="Group 228">
            <a:extLst>
              <a:ext uri="{FF2B5EF4-FFF2-40B4-BE49-F238E27FC236}">
                <a16:creationId xmlns:a16="http://schemas.microsoft.com/office/drawing/2014/main" id="{C738BD2C-F5DC-CC43-8C32-270BC0F74456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895600"/>
            <a:ext cx="1233488" cy="246063"/>
            <a:chOff x="4800" y="1718"/>
            <a:chExt cx="777" cy="155"/>
          </a:xfrm>
        </p:grpSpPr>
        <p:sp>
          <p:nvSpPr>
            <p:cNvPr id="73951" name="Text Box 229">
              <a:extLst>
                <a:ext uri="{FF2B5EF4-FFF2-40B4-BE49-F238E27FC236}">
                  <a16:creationId xmlns:a16="http://schemas.microsoft.com/office/drawing/2014/main" id="{C8F4412F-145F-4A47-8392-E7D6A1AB7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3952" name="Line 230">
              <a:extLst>
                <a:ext uri="{FF2B5EF4-FFF2-40B4-BE49-F238E27FC236}">
                  <a16:creationId xmlns:a16="http://schemas.microsoft.com/office/drawing/2014/main" id="{09E7815B-0D97-C547-B3A8-00C5DAE09D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3950" name="Text Box 231">
            <a:extLst>
              <a:ext uri="{FF2B5EF4-FFF2-40B4-BE49-F238E27FC236}">
                <a16:creationId xmlns:a16="http://schemas.microsoft.com/office/drawing/2014/main" id="{1961E437-DB40-8441-9628-3DF07F1B4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8706" name="Group 2">
            <a:extLst>
              <a:ext uri="{FF2B5EF4-FFF2-40B4-BE49-F238E27FC236}">
                <a16:creationId xmlns:a16="http://schemas.microsoft.com/office/drawing/2014/main" id="{4A1F10D6-31BB-2047-AF1F-4F1EFCFA9F01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4881" name="Text Box 130">
            <a:extLst>
              <a:ext uri="{FF2B5EF4-FFF2-40B4-BE49-F238E27FC236}">
                <a16:creationId xmlns:a16="http://schemas.microsoft.com/office/drawing/2014/main" id="{2AAC66A5-5F4E-D24C-9643-295427233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4882" name="Group 131">
            <a:extLst>
              <a:ext uri="{FF2B5EF4-FFF2-40B4-BE49-F238E27FC236}">
                <a16:creationId xmlns:a16="http://schemas.microsoft.com/office/drawing/2014/main" id="{1F5F8870-57B5-9B41-9002-547B4A08F159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4982" name="Rectangle 132">
              <a:extLst>
                <a:ext uri="{FF2B5EF4-FFF2-40B4-BE49-F238E27FC236}">
                  <a16:creationId xmlns:a16="http://schemas.microsoft.com/office/drawing/2014/main" id="{8F71C26A-9CF5-5B40-A866-041833FF9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983" name="Text Box 133">
              <a:extLst>
                <a:ext uri="{FF2B5EF4-FFF2-40B4-BE49-F238E27FC236}">
                  <a16:creationId xmlns:a16="http://schemas.microsoft.com/office/drawing/2014/main" id="{69C21F42-2867-8E40-B7D5-616B6BFEF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4883" name="Line 134">
            <a:extLst>
              <a:ext uri="{FF2B5EF4-FFF2-40B4-BE49-F238E27FC236}">
                <a16:creationId xmlns:a16="http://schemas.microsoft.com/office/drawing/2014/main" id="{C3999B48-670A-B24E-AD98-CE67695DE7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884" name="Line 135">
            <a:extLst>
              <a:ext uri="{FF2B5EF4-FFF2-40B4-BE49-F238E27FC236}">
                <a16:creationId xmlns:a16="http://schemas.microsoft.com/office/drawing/2014/main" id="{D273FC40-918D-BD40-A074-BC95CDE04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885" name="Freeform 136">
            <a:extLst>
              <a:ext uri="{FF2B5EF4-FFF2-40B4-BE49-F238E27FC236}">
                <a16:creationId xmlns:a16="http://schemas.microsoft.com/office/drawing/2014/main" id="{94FAEB6E-5023-6D47-8E5E-4292629CCAC1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886" name="Text Box 137">
            <a:extLst>
              <a:ext uri="{FF2B5EF4-FFF2-40B4-BE49-F238E27FC236}">
                <a16:creationId xmlns:a16="http://schemas.microsoft.com/office/drawing/2014/main" id="{C80BBFD5-1D81-6F4E-9ABD-114059708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4887" name="Freeform 138">
            <a:extLst>
              <a:ext uri="{FF2B5EF4-FFF2-40B4-BE49-F238E27FC236}">
                <a16:creationId xmlns:a16="http://schemas.microsoft.com/office/drawing/2014/main" id="{6EE6C361-B61F-F040-BE9D-BE0EBC60BCC7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888" name="Freeform 139">
            <a:extLst>
              <a:ext uri="{FF2B5EF4-FFF2-40B4-BE49-F238E27FC236}">
                <a16:creationId xmlns:a16="http://schemas.microsoft.com/office/drawing/2014/main" id="{9B52C69C-9E63-FC40-9552-F56DFF7E2E2D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4889" name="Group 140">
            <a:extLst>
              <a:ext uri="{FF2B5EF4-FFF2-40B4-BE49-F238E27FC236}">
                <a16:creationId xmlns:a16="http://schemas.microsoft.com/office/drawing/2014/main" id="{96D6F3A3-8A65-3042-BB9A-EE50826799B7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4980" name="Text Box 141">
              <a:extLst>
                <a:ext uri="{FF2B5EF4-FFF2-40B4-BE49-F238E27FC236}">
                  <a16:creationId xmlns:a16="http://schemas.microsoft.com/office/drawing/2014/main" id="{8A09B5B9-5015-3B47-89C6-7F2E89042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4981" name="Line 142">
              <a:extLst>
                <a:ext uri="{FF2B5EF4-FFF2-40B4-BE49-F238E27FC236}">
                  <a16:creationId xmlns:a16="http://schemas.microsoft.com/office/drawing/2014/main" id="{AC626097-AAE6-B64B-B0E1-A6E3CDA8E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28847" name="Group 143">
            <a:extLst>
              <a:ext uri="{FF2B5EF4-FFF2-40B4-BE49-F238E27FC236}">
                <a16:creationId xmlns:a16="http://schemas.microsoft.com/office/drawing/2014/main" id="{9C6ED9D1-2CDC-334E-8069-10F91EDBE171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2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8897" name="Group 193">
            <a:extLst>
              <a:ext uri="{FF2B5EF4-FFF2-40B4-BE49-F238E27FC236}">
                <a16:creationId xmlns:a16="http://schemas.microsoft.com/office/drawing/2014/main" id="{B340A558-034F-DB4F-8AF6-EAC9CEC446D5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4966" name="Text Box 219">
            <a:extLst>
              <a:ext uri="{FF2B5EF4-FFF2-40B4-BE49-F238E27FC236}">
                <a16:creationId xmlns:a16="http://schemas.microsoft.com/office/drawing/2014/main" id="{0ABC2A4F-036B-C14D-B6F9-E2C7031C5E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4967" name="Freeform 220">
            <a:extLst>
              <a:ext uri="{FF2B5EF4-FFF2-40B4-BE49-F238E27FC236}">
                <a16:creationId xmlns:a16="http://schemas.microsoft.com/office/drawing/2014/main" id="{DF01C3C3-55D0-0E4E-93CC-A6CD8BF4C7E9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968" name="Text Box 221">
            <a:extLst>
              <a:ext uri="{FF2B5EF4-FFF2-40B4-BE49-F238E27FC236}">
                <a16:creationId xmlns:a16="http://schemas.microsoft.com/office/drawing/2014/main" id="{C08648B8-8F9C-4341-851E-46A404D080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4969" name="Text Box 222">
            <a:extLst>
              <a:ext uri="{FF2B5EF4-FFF2-40B4-BE49-F238E27FC236}">
                <a16:creationId xmlns:a16="http://schemas.microsoft.com/office/drawing/2014/main" id="{A866ECDC-80CB-CA49-ABC5-532B431694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4970" name="Text Box 223">
            <a:extLst>
              <a:ext uri="{FF2B5EF4-FFF2-40B4-BE49-F238E27FC236}">
                <a16:creationId xmlns:a16="http://schemas.microsoft.com/office/drawing/2014/main" id="{1BD0DB49-C9B0-6843-9307-192B7007F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4971" name="Text Box 224">
            <a:extLst>
              <a:ext uri="{FF2B5EF4-FFF2-40B4-BE49-F238E27FC236}">
                <a16:creationId xmlns:a16="http://schemas.microsoft.com/office/drawing/2014/main" id="{0169B51F-6B30-CB4B-9330-50216BF5A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4972" name="Group 225">
            <a:extLst>
              <a:ext uri="{FF2B5EF4-FFF2-40B4-BE49-F238E27FC236}">
                <a16:creationId xmlns:a16="http://schemas.microsoft.com/office/drawing/2014/main" id="{920A2119-B9F6-5B44-824F-014741C44440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74978" name="Rectangle 226">
              <a:extLst>
                <a:ext uri="{FF2B5EF4-FFF2-40B4-BE49-F238E27FC236}">
                  <a16:creationId xmlns:a16="http://schemas.microsoft.com/office/drawing/2014/main" id="{5C43A934-9B1B-0843-9EC6-709CCAFD3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D  ADD   R1, R1, R2</a:t>
              </a:r>
            </a:p>
          </p:txBody>
        </p:sp>
        <p:sp>
          <p:nvSpPr>
            <p:cNvPr id="74979" name="Line 227">
              <a:extLst>
                <a:ext uri="{FF2B5EF4-FFF2-40B4-BE49-F238E27FC236}">
                  <a16:creationId xmlns:a16="http://schemas.microsoft.com/office/drawing/2014/main" id="{8C80492E-DB25-FC4F-9FDF-498DA5BF1B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973" name="Group 228">
            <a:extLst>
              <a:ext uri="{FF2B5EF4-FFF2-40B4-BE49-F238E27FC236}">
                <a16:creationId xmlns:a16="http://schemas.microsoft.com/office/drawing/2014/main" id="{5A11BEDA-EAF7-0C4D-99CB-27DED48CFFD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108325"/>
            <a:ext cx="1233488" cy="246063"/>
            <a:chOff x="4800" y="1718"/>
            <a:chExt cx="777" cy="155"/>
          </a:xfrm>
        </p:grpSpPr>
        <p:sp>
          <p:nvSpPr>
            <p:cNvPr id="74976" name="Text Box 229">
              <a:extLst>
                <a:ext uri="{FF2B5EF4-FFF2-40B4-BE49-F238E27FC236}">
                  <a16:creationId xmlns:a16="http://schemas.microsoft.com/office/drawing/2014/main" id="{0A739D04-265F-F544-AAEB-006163E19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4977" name="Line 230">
              <a:extLst>
                <a:ext uri="{FF2B5EF4-FFF2-40B4-BE49-F238E27FC236}">
                  <a16:creationId xmlns:a16="http://schemas.microsoft.com/office/drawing/2014/main" id="{F421C7FE-2B25-7D4B-9B21-6EB0728DF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4974" name="Text Box 231">
            <a:extLst>
              <a:ext uri="{FF2B5EF4-FFF2-40B4-BE49-F238E27FC236}">
                <a16:creationId xmlns:a16="http://schemas.microsoft.com/office/drawing/2014/main" id="{0662E825-8A31-EC4B-B10D-B74CB2B3B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74975" name="Text Box 232">
            <a:extLst>
              <a:ext uri="{FF2B5EF4-FFF2-40B4-BE49-F238E27FC236}">
                <a16:creationId xmlns:a16="http://schemas.microsoft.com/office/drawing/2014/main" id="{9E4C9E4A-8B05-7741-957F-4F1EFC868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421313"/>
            <a:ext cx="887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2 (cache hit)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9730" name="Group 2">
            <a:extLst>
              <a:ext uri="{FF2B5EF4-FFF2-40B4-BE49-F238E27FC236}">
                <a16:creationId xmlns:a16="http://schemas.microsoft.com/office/drawing/2014/main" id="{22B09CE0-EB76-B44A-9A95-7E1B4B5C51F9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5905" name="Text Box 130">
            <a:extLst>
              <a:ext uri="{FF2B5EF4-FFF2-40B4-BE49-F238E27FC236}">
                <a16:creationId xmlns:a16="http://schemas.microsoft.com/office/drawing/2014/main" id="{BEC862E7-526D-0E42-94DA-DB0AC4E24A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5906" name="Group 131">
            <a:extLst>
              <a:ext uri="{FF2B5EF4-FFF2-40B4-BE49-F238E27FC236}">
                <a16:creationId xmlns:a16="http://schemas.microsoft.com/office/drawing/2014/main" id="{E1AA8613-BC5F-3349-8965-ED1B1F8888CE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6006" name="Rectangle 132">
              <a:extLst>
                <a:ext uri="{FF2B5EF4-FFF2-40B4-BE49-F238E27FC236}">
                  <a16:creationId xmlns:a16="http://schemas.microsoft.com/office/drawing/2014/main" id="{F860FE78-FB65-8C46-B71D-AC6540967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007" name="Text Box 133">
              <a:extLst>
                <a:ext uri="{FF2B5EF4-FFF2-40B4-BE49-F238E27FC236}">
                  <a16:creationId xmlns:a16="http://schemas.microsoft.com/office/drawing/2014/main" id="{1E3F0BDC-178C-9546-86A8-5DCE5A7D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5907" name="Line 134">
            <a:extLst>
              <a:ext uri="{FF2B5EF4-FFF2-40B4-BE49-F238E27FC236}">
                <a16:creationId xmlns:a16="http://schemas.microsoft.com/office/drawing/2014/main" id="{100E0AE9-645B-7E4C-90C7-06C1A71B3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908" name="Line 135">
            <a:extLst>
              <a:ext uri="{FF2B5EF4-FFF2-40B4-BE49-F238E27FC236}">
                <a16:creationId xmlns:a16="http://schemas.microsoft.com/office/drawing/2014/main" id="{587B8E66-9093-6F44-B4C2-9E873CAC8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909" name="Freeform 136">
            <a:extLst>
              <a:ext uri="{FF2B5EF4-FFF2-40B4-BE49-F238E27FC236}">
                <a16:creationId xmlns:a16="http://schemas.microsoft.com/office/drawing/2014/main" id="{D4F68F74-541B-2C48-9BCF-96BB9537D8CA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910" name="Text Box 137">
            <a:extLst>
              <a:ext uri="{FF2B5EF4-FFF2-40B4-BE49-F238E27FC236}">
                <a16:creationId xmlns:a16="http://schemas.microsoft.com/office/drawing/2014/main" id="{20FE040A-E694-114B-A852-18F2F613B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5911" name="Freeform 138">
            <a:extLst>
              <a:ext uri="{FF2B5EF4-FFF2-40B4-BE49-F238E27FC236}">
                <a16:creationId xmlns:a16="http://schemas.microsoft.com/office/drawing/2014/main" id="{171B4F2C-D34A-454C-8E76-5901A790C69D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912" name="Freeform 139">
            <a:extLst>
              <a:ext uri="{FF2B5EF4-FFF2-40B4-BE49-F238E27FC236}">
                <a16:creationId xmlns:a16="http://schemas.microsoft.com/office/drawing/2014/main" id="{6D8828B2-5C3A-D448-B680-529F222806DB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5913" name="Group 140">
            <a:extLst>
              <a:ext uri="{FF2B5EF4-FFF2-40B4-BE49-F238E27FC236}">
                <a16:creationId xmlns:a16="http://schemas.microsoft.com/office/drawing/2014/main" id="{6FFF115D-40E6-574C-85E9-4CA0FB82995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6004" name="Text Box 141">
              <a:extLst>
                <a:ext uri="{FF2B5EF4-FFF2-40B4-BE49-F238E27FC236}">
                  <a16:creationId xmlns:a16="http://schemas.microsoft.com/office/drawing/2014/main" id="{69A5FF93-D591-CA4B-80A1-8E7E38570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6005" name="Line 142">
              <a:extLst>
                <a:ext uri="{FF2B5EF4-FFF2-40B4-BE49-F238E27FC236}">
                  <a16:creationId xmlns:a16="http://schemas.microsoft.com/office/drawing/2014/main" id="{64223EFC-F056-6646-B564-0B59DDC57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29871" name="Group 143">
            <a:extLst>
              <a:ext uri="{FF2B5EF4-FFF2-40B4-BE49-F238E27FC236}">
                <a16:creationId xmlns:a16="http://schemas.microsoft.com/office/drawing/2014/main" id="{AB71FDA3-1B2C-2147-9872-6FC809908A93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2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29921" name="Group 193">
            <a:extLst>
              <a:ext uri="{FF2B5EF4-FFF2-40B4-BE49-F238E27FC236}">
                <a16:creationId xmlns:a16="http://schemas.microsoft.com/office/drawing/2014/main" id="{E738A1B1-FE28-5E4C-B3E7-392CB6F66F79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5990" name="Text Box 219">
            <a:extLst>
              <a:ext uri="{FF2B5EF4-FFF2-40B4-BE49-F238E27FC236}">
                <a16:creationId xmlns:a16="http://schemas.microsoft.com/office/drawing/2014/main" id="{5C1F9002-7DBB-F84C-AB11-82D978987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5991" name="Freeform 220">
            <a:extLst>
              <a:ext uri="{FF2B5EF4-FFF2-40B4-BE49-F238E27FC236}">
                <a16:creationId xmlns:a16="http://schemas.microsoft.com/office/drawing/2014/main" id="{86D4395A-C3A3-8E4A-ABC3-555E42339CA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992" name="Text Box 221">
            <a:extLst>
              <a:ext uri="{FF2B5EF4-FFF2-40B4-BE49-F238E27FC236}">
                <a16:creationId xmlns:a16="http://schemas.microsoft.com/office/drawing/2014/main" id="{B387D408-7A2A-CF4B-A145-FFB0CC7AE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5993" name="Text Box 222">
            <a:extLst>
              <a:ext uri="{FF2B5EF4-FFF2-40B4-BE49-F238E27FC236}">
                <a16:creationId xmlns:a16="http://schemas.microsoft.com/office/drawing/2014/main" id="{76FF0AC9-5175-FC4F-8B67-6F64B8C7C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5994" name="Text Box 223">
            <a:extLst>
              <a:ext uri="{FF2B5EF4-FFF2-40B4-BE49-F238E27FC236}">
                <a16:creationId xmlns:a16="http://schemas.microsoft.com/office/drawing/2014/main" id="{7BB0B28B-7BF5-C945-8A6A-AF0CC8BD2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5995" name="Text Box 224">
            <a:extLst>
              <a:ext uri="{FF2B5EF4-FFF2-40B4-BE49-F238E27FC236}">
                <a16:creationId xmlns:a16="http://schemas.microsoft.com/office/drawing/2014/main" id="{65A27ABB-3F5B-704E-A363-C103171CA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5996" name="Group 225">
            <a:extLst>
              <a:ext uri="{FF2B5EF4-FFF2-40B4-BE49-F238E27FC236}">
                <a16:creationId xmlns:a16="http://schemas.microsoft.com/office/drawing/2014/main" id="{9714310D-CD0B-384F-B725-975067C8E15E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76002" name="Rectangle 226">
              <a:extLst>
                <a:ext uri="{FF2B5EF4-FFF2-40B4-BE49-F238E27FC236}">
                  <a16:creationId xmlns:a16="http://schemas.microsoft.com/office/drawing/2014/main" id="{A27B6C7A-E4D6-5F40-A8CE-101893830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E  SUB   R2, R0, R1</a:t>
              </a:r>
            </a:p>
          </p:txBody>
        </p:sp>
        <p:sp>
          <p:nvSpPr>
            <p:cNvPr id="76003" name="Line 227">
              <a:extLst>
                <a:ext uri="{FF2B5EF4-FFF2-40B4-BE49-F238E27FC236}">
                  <a16:creationId xmlns:a16="http://schemas.microsoft.com/office/drawing/2014/main" id="{69A5E63D-601E-D74D-9C61-9B452BD7B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5997" name="Group 228">
            <a:extLst>
              <a:ext uri="{FF2B5EF4-FFF2-40B4-BE49-F238E27FC236}">
                <a16:creationId xmlns:a16="http://schemas.microsoft.com/office/drawing/2014/main" id="{4883B84C-8E87-F440-88AE-33320101341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108325"/>
            <a:ext cx="1233488" cy="246063"/>
            <a:chOff x="4800" y="1718"/>
            <a:chExt cx="777" cy="155"/>
          </a:xfrm>
        </p:grpSpPr>
        <p:sp>
          <p:nvSpPr>
            <p:cNvPr id="76000" name="Text Box 229">
              <a:extLst>
                <a:ext uri="{FF2B5EF4-FFF2-40B4-BE49-F238E27FC236}">
                  <a16:creationId xmlns:a16="http://schemas.microsoft.com/office/drawing/2014/main" id="{9689297F-4369-7E45-97B9-5C725C5004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6001" name="Line 230">
              <a:extLst>
                <a:ext uri="{FF2B5EF4-FFF2-40B4-BE49-F238E27FC236}">
                  <a16:creationId xmlns:a16="http://schemas.microsoft.com/office/drawing/2014/main" id="{104276D6-1C07-5C41-B40D-3EED775A7D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5998" name="Text Box 231">
            <a:extLst>
              <a:ext uri="{FF2B5EF4-FFF2-40B4-BE49-F238E27FC236}">
                <a16:creationId xmlns:a16="http://schemas.microsoft.com/office/drawing/2014/main" id="{8ABC836F-7F08-2D49-AC72-AF2E00F1D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75999" name="Text Box 232">
            <a:extLst>
              <a:ext uri="{FF2B5EF4-FFF2-40B4-BE49-F238E27FC236}">
                <a16:creationId xmlns:a16="http://schemas.microsoft.com/office/drawing/2014/main" id="{C5EB7F12-1A59-D14B-92B1-D27BFD9DE4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421313"/>
            <a:ext cx="887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2 (cache hit)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0754" name="Group 2">
            <a:extLst>
              <a:ext uri="{FF2B5EF4-FFF2-40B4-BE49-F238E27FC236}">
                <a16:creationId xmlns:a16="http://schemas.microsoft.com/office/drawing/2014/main" id="{7C5170C5-85BA-5F42-B70F-A089359155E0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6929" name="Text Box 130">
            <a:extLst>
              <a:ext uri="{FF2B5EF4-FFF2-40B4-BE49-F238E27FC236}">
                <a16:creationId xmlns:a16="http://schemas.microsoft.com/office/drawing/2014/main" id="{FBB0CAF9-0E71-8445-983B-59E0AE1F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6930" name="Group 131">
            <a:extLst>
              <a:ext uri="{FF2B5EF4-FFF2-40B4-BE49-F238E27FC236}">
                <a16:creationId xmlns:a16="http://schemas.microsoft.com/office/drawing/2014/main" id="{2E0EA809-A791-574E-A6D6-04B4371F58B2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7030" name="Rectangle 132">
              <a:extLst>
                <a:ext uri="{FF2B5EF4-FFF2-40B4-BE49-F238E27FC236}">
                  <a16:creationId xmlns:a16="http://schemas.microsoft.com/office/drawing/2014/main" id="{3392D004-44EB-744F-B0FA-9F01E98AC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031" name="Text Box 133">
              <a:extLst>
                <a:ext uri="{FF2B5EF4-FFF2-40B4-BE49-F238E27FC236}">
                  <a16:creationId xmlns:a16="http://schemas.microsoft.com/office/drawing/2014/main" id="{A99C35A5-5E53-CC43-B33F-CBA394C525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6931" name="Line 134">
            <a:extLst>
              <a:ext uri="{FF2B5EF4-FFF2-40B4-BE49-F238E27FC236}">
                <a16:creationId xmlns:a16="http://schemas.microsoft.com/office/drawing/2014/main" id="{F2E2DAB0-EDB3-B449-9AF5-FC8A1BBC4E7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32" name="Line 135">
            <a:extLst>
              <a:ext uri="{FF2B5EF4-FFF2-40B4-BE49-F238E27FC236}">
                <a16:creationId xmlns:a16="http://schemas.microsoft.com/office/drawing/2014/main" id="{647B42DF-4864-7942-BE25-4B64462921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33" name="Freeform 136">
            <a:extLst>
              <a:ext uri="{FF2B5EF4-FFF2-40B4-BE49-F238E27FC236}">
                <a16:creationId xmlns:a16="http://schemas.microsoft.com/office/drawing/2014/main" id="{26C223C9-F8CC-9A4D-9806-F3AE13BB0C1D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34" name="Text Box 137">
            <a:extLst>
              <a:ext uri="{FF2B5EF4-FFF2-40B4-BE49-F238E27FC236}">
                <a16:creationId xmlns:a16="http://schemas.microsoft.com/office/drawing/2014/main" id="{46C96EBC-61EB-E145-91A5-7CDC76D9D9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6935" name="Freeform 138">
            <a:extLst>
              <a:ext uri="{FF2B5EF4-FFF2-40B4-BE49-F238E27FC236}">
                <a16:creationId xmlns:a16="http://schemas.microsoft.com/office/drawing/2014/main" id="{6CFC0869-485D-904A-BBF2-3A68DAAAD9F2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36" name="Freeform 139">
            <a:extLst>
              <a:ext uri="{FF2B5EF4-FFF2-40B4-BE49-F238E27FC236}">
                <a16:creationId xmlns:a16="http://schemas.microsoft.com/office/drawing/2014/main" id="{4C322FE6-C2B2-D540-B48B-5FD129F9B6E1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6937" name="Group 140">
            <a:extLst>
              <a:ext uri="{FF2B5EF4-FFF2-40B4-BE49-F238E27FC236}">
                <a16:creationId xmlns:a16="http://schemas.microsoft.com/office/drawing/2014/main" id="{51CD0A15-2BA7-4A42-B360-A8A2664CF2D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7028" name="Text Box 141">
              <a:extLst>
                <a:ext uri="{FF2B5EF4-FFF2-40B4-BE49-F238E27FC236}">
                  <a16:creationId xmlns:a16="http://schemas.microsoft.com/office/drawing/2014/main" id="{696E3BDA-1CF3-344A-BF03-0E426CFF0A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7029" name="Line 142">
              <a:extLst>
                <a:ext uri="{FF2B5EF4-FFF2-40B4-BE49-F238E27FC236}">
                  <a16:creationId xmlns:a16="http://schemas.microsoft.com/office/drawing/2014/main" id="{E62C547B-6F73-1748-98D1-1A4EE14A4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0895" name="Group 143">
            <a:extLst>
              <a:ext uri="{FF2B5EF4-FFF2-40B4-BE49-F238E27FC236}">
                <a16:creationId xmlns:a16="http://schemas.microsoft.com/office/drawing/2014/main" id="{A921CF16-8F16-7C42-9B19-288360DE6CE0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2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0945" name="Group 193">
            <a:extLst>
              <a:ext uri="{FF2B5EF4-FFF2-40B4-BE49-F238E27FC236}">
                <a16:creationId xmlns:a16="http://schemas.microsoft.com/office/drawing/2014/main" id="{E90E0902-7D48-6E41-8411-3CF05B9F838B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7014" name="Text Box 219">
            <a:extLst>
              <a:ext uri="{FF2B5EF4-FFF2-40B4-BE49-F238E27FC236}">
                <a16:creationId xmlns:a16="http://schemas.microsoft.com/office/drawing/2014/main" id="{B834BEC2-2138-944A-8AC7-DA88DA33D5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7015" name="Freeform 220">
            <a:extLst>
              <a:ext uri="{FF2B5EF4-FFF2-40B4-BE49-F238E27FC236}">
                <a16:creationId xmlns:a16="http://schemas.microsoft.com/office/drawing/2014/main" id="{C012D37F-B56D-8540-AAAA-1BDA88538566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016" name="Text Box 221">
            <a:extLst>
              <a:ext uri="{FF2B5EF4-FFF2-40B4-BE49-F238E27FC236}">
                <a16:creationId xmlns:a16="http://schemas.microsoft.com/office/drawing/2014/main" id="{C21D2F7E-3AAC-984B-98D1-51B948D13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7017" name="Text Box 222">
            <a:extLst>
              <a:ext uri="{FF2B5EF4-FFF2-40B4-BE49-F238E27FC236}">
                <a16:creationId xmlns:a16="http://schemas.microsoft.com/office/drawing/2014/main" id="{BE1346FF-BC70-D64E-ACA5-69D25C96C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7018" name="Text Box 223">
            <a:extLst>
              <a:ext uri="{FF2B5EF4-FFF2-40B4-BE49-F238E27FC236}">
                <a16:creationId xmlns:a16="http://schemas.microsoft.com/office/drawing/2014/main" id="{1E01DAB4-825F-244B-9451-4BF56FF3A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7019" name="Text Box 224">
            <a:extLst>
              <a:ext uri="{FF2B5EF4-FFF2-40B4-BE49-F238E27FC236}">
                <a16:creationId xmlns:a16="http://schemas.microsoft.com/office/drawing/2014/main" id="{45D3BC5F-99A2-1C41-AFF9-44B9665A0D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7020" name="Group 225">
            <a:extLst>
              <a:ext uri="{FF2B5EF4-FFF2-40B4-BE49-F238E27FC236}">
                <a16:creationId xmlns:a16="http://schemas.microsoft.com/office/drawing/2014/main" id="{8E061B67-3A7F-4F4A-AF86-7582F348BEAC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77026" name="Rectangle 226">
              <a:extLst>
                <a:ext uri="{FF2B5EF4-FFF2-40B4-BE49-F238E27FC236}">
                  <a16:creationId xmlns:a16="http://schemas.microsoft.com/office/drawing/2014/main" id="{CE30F364-44F9-8A4B-B72E-88A9EF285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E  SUB   R2, R0, R1</a:t>
              </a:r>
            </a:p>
          </p:txBody>
        </p:sp>
        <p:sp>
          <p:nvSpPr>
            <p:cNvPr id="77027" name="Line 227">
              <a:extLst>
                <a:ext uri="{FF2B5EF4-FFF2-40B4-BE49-F238E27FC236}">
                  <a16:creationId xmlns:a16="http://schemas.microsoft.com/office/drawing/2014/main" id="{83104A6C-80FF-EE4A-B45D-AE88952EF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021" name="Group 228">
            <a:extLst>
              <a:ext uri="{FF2B5EF4-FFF2-40B4-BE49-F238E27FC236}">
                <a16:creationId xmlns:a16="http://schemas.microsoft.com/office/drawing/2014/main" id="{3B8877EB-06AE-5149-96D3-C233A74A046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77024" name="Text Box 229">
              <a:extLst>
                <a:ext uri="{FF2B5EF4-FFF2-40B4-BE49-F238E27FC236}">
                  <a16:creationId xmlns:a16="http://schemas.microsoft.com/office/drawing/2014/main" id="{0A23C8B8-48BD-004B-A12A-0D95702F7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7025" name="Line 230">
              <a:extLst>
                <a:ext uri="{FF2B5EF4-FFF2-40B4-BE49-F238E27FC236}">
                  <a16:creationId xmlns:a16="http://schemas.microsoft.com/office/drawing/2014/main" id="{07D3E6E9-B46E-C64C-86F3-8737CAA0B0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7022" name="Text Box 231">
            <a:extLst>
              <a:ext uri="{FF2B5EF4-FFF2-40B4-BE49-F238E27FC236}">
                <a16:creationId xmlns:a16="http://schemas.microsoft.com/office/drawing/2014/main" id="{A893F7A4-EC9E-D040-AE7E-34CA765BD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77023" name="Text Box 232">
            <a:extLst>
              <a:ext uri="{FF2B5EF4-FFF2-40B4-BE49-F238E27FC236}">
                <a16:creationId xmlns:a16="http://schemas.microsoft.com/office/drawing/2014/main" id="{7724CAD8-EF43-894A-8F92-6D948D45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421313"/>
            <a:ext cx="887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2 (cache hit)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1778" name="Group 2">
            <a:extLst>
              <a:ext uri="{FF2B5EF4-FFF2-40B4-BE49-F238E27FC236}">
                <a16:creationId xmlns:a16="http://schemas.microsoft.com/office/drawing/2014/main" id="{F442EC42-3E6F-9B42-9846-DD37B8585AF5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7953" name="Text Box 130">
            <a:extLst>
              <a:ext uri="{FF2B5EF4-FFF2-40B4-BE49-F238E27FC236}">
                <a16:creationId xmlns:a16="http://schemas.microsoft.com/office/drawing/2014/main" id="{8F8B361A-632A-6C49-999E-3AD654D5D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7954" name="Group 131">
            <a:extLst>
              <a:ext uri="{FF2B5EF4-FFF2-40B4-BE49-F238E27FC236}">
                <a16:creationId xmlns:a16="http://schemas.microsoft.com/office/drawing/2014/main" id="{F0DAA62E-83EA-FA45-9F61-366681FFB10F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8051" name="Rectangle 132">
              <a:extLst>
                <a:ext uri="{FF2B5EF4-FFF2-40B4-BE49-F238E27FC236}">
                  <a16:creationId xmlns:a16="http://schemas.microsoft.com/office/drawing/2014/main" id="{97B5233A-BB29-C548-B210-47B661F5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052" name="Text Box 133">
              <a:extLst>
                <a:ext uri="{FF2B5EF4-FFF2-40B4-BE49-F238E27FC236}">
                  <a16:creationId xmlns:a16="http://schemas.microsoft.com/office/drawing/2014/main" id="{015A3F9C-98B0-4842-A16F-8900A7893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7955" name="Line 134">
            <a:extLst>
              <a:ext uri="{FF2B5EF4-FFF2-40B4-BE49-F238E27FC236}">
                <a16:creationId xmlns:a16="http://schemas.microsoft.com/office/drawing/2014/main" id="{0C97DC5A-165A-D749-8190-30849DC44A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56" name="Line 135">
            <a:extLst>
              <a:ext uri="{FF2B5EF4-FFF2-40B4-BE49-F238E27FC236}">
                <a16:creationId xmlns:a16="http://schemas.microsoft.com/office/drawing/2014/main" id="{F2E921B7-1B67-124B-A7A7-071E714539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57" name="Freeform 136">
            <a:extLst>
              <a:ext uri="{FF2B5EF4-FFF2-40B4-BE49-F238E27FC236}">
                <a16:creationId xmlns:a16="http://schemas.microsoft.com/office/drawing/2014/main" id="{F16EC110-0B2E-3C44-8407-A50E917C018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58" name="Text Box 137">
            <a:extLst>
              <a:ext uri="{FF2B5EF4-FFF2-40B4-BE49-F238E27FC236}">
                <a16:creationId xmlns:a16="http://schemas.microsoft.com/office/drawing/2014/main" id="{17C0C8A6-FFBC-F347-9BFE-A887ABEEA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7959" name="Freeform 138">
            <a:extLst>
              <a:ext uri="{FF2B5EF4-FFF2-40B4-BE49-F238E27FC236}">
                <a16:creationId xmlns:a16="http://schemas.microsoft.com/office/drawing/2014/main" id="{0044387B-B292-034A-ADFB-3C88BBAACD36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60" name="Freeform 139">
            <a:extLst>
              <a:ext uri="{FF2B5EF4-FFF2-40B4-BE49-F238E27FC236}">
                <a16:creationId xmlns:a16="http://schemas.microsoft.com/office/drawing/2014/main" id="{F1F5CBFA-9767-E048-A6D7-A57D0AAE28C9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7961" name="Group 140">
            <a:extLst>
              <a:ext uri="{FF2B5EF4-FFF2-40B4-BE49-F238E27FC236}">
                <a16:creationId xmlns:a16="http://schemas.microsoft.com/office/drawing/2014/main" id="{E3FC0320-FD49-DF48-AAE3-0282D5242F5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8049" name="Text Box 141">
              <a:extLst>
                <a:ext uri="{FF2B5EF4-FFF2-40B4-BE49-F238E27FC236}">
                  <a16:creationId xmlns:a16="http://schemas.microsoft.com/office/drawing/2014/main" id="{2B5DFFB1-A38C-E14C-B20C-2FF5C6E0EA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8050" name="Line 142">
              <a:extLst>
                <a:ext uri="{FF2B5EF4-FFF2-40B4-BE49-F238E27FC236}">
                  <a16:creationId xmlns:a16="http://schemas.microsoft.com/office/drawing/2014/main" id="{7B175AC2-AFD8-D248-8B08-1F23BD91F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1919" name="Group 143">
            <a:extLst>
              <a:ext uri="{FF2B5EF4-FFF2-40B4-BE49-F238E27FC236}">
                <a16:creationId xmlns:a16="http://schemas.microsoft.com/office/drawing/2014/main" id="{E5CDAB5D-9EE0-304B-8C2E-198B0A1C334D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666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1969" name="Group 193">
            <a:extLst>
              <a:ext uri="{FF2B5EF4-FFF2-40B4-BE49-F238E27FC236}">
                <a16:creationId xmlns:a16="http://schemas.microsoft.com/office/drawing/2014/main" id="{C660B2C6-3F77-AC41-A695-A0B419FA8632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038" name="Text Box 219">
            <a:extLst>
              <a:ext uri="{FF2B5EF4-FFF2-40B4-BE49-F238E27FC236}">
                <a16:creationId xmlns:a16="http://schemas.microsoft.com/office/drawing/2014/main" id="{30B28989-84A1-8F41-87E2-86E863972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8039" name="Freeform 220">
            <a:extLst>
              <a:ext uri="{FF2B5EF4-FFF2-40B4-BE49-F238E27FC236}">
                <a16:creationId xmlns:a16="http://schemas.microsoft.com/office/drawing/2014/main" id="{A70CEC4A-D9BE-6747-B07A-486C2CDAA333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040" name="Text Box 221">
            <a:extLst>
              <a:ext uri="{FF2B5EF4-FFF2-40B4-BE49-F238E27FC236}">
                <a16:creationId xmlns:a16="http://schemas.microsoft.com/office/drawing/2014/main" id="{0C135810-ED89-BB4C-A0CD-E88F16BF7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8041" name="Text Box 222">
            <a:extLst>
              <a:ext uri="{FF2B5EF4-FFF2-40B4-BE49-F238E27FC236}">
                <a16:creationId xmlns:a16="http://schemas.microsoft.com/office/drawing/2014/main" id="{55DEE613-0CCB-9C4C-B40F-FD12A3239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8042" name="Text Box 223">
            <a:extLst>
              <a:ext uri="{FF2B5EF4-FFF2-40B4-BE49-F238E27FC236}">
                <a16:creationId xmlns:a16="http://schemas.microsoft.com/office/drawing/2014/main" id="{553364B6-F819-1848-B03C-418AF7D39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8043" name="Text Box 224">
            <a:extLst>
              <a:ext uri="{FF2B5EF4-FFF2-40B4-BE49-F238E27FC236}">
                <a16:creationId xmlns:a16="http://schemas.microsoft.com/office/drawing/2014/main" id="{5EF2CCBB-8962-A647-BE6B-5507295F61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8044" name="Group 225">
            <a:extLst>
              <a:ext uri="{FF2B5EF4-FFF2-40B4-BE49-F238E27FC236}">
                <a16:creationId xmlns:a16="http://schemas.microsoft.com/office/drawing/2014/main" id="{140BFA52-1BA9-FF4D-B66B-F83BB55C108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78047" name="Text Box 226">
              <a:extLst>
                <a:ext uri="{FF2B5EF4-FFF2-40B4-BE49-F238E27FC236}">
                  <a16:creationId xmlns:a16="http://schemas.microsoft.com/office/drawing/2014/main" id="{BCD9A239-29AC-9C4A-8CD2-FDA3053CF6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8048" name="Line 227">
              <a:extLst>
                <a:ext uri="{FF2B5EF4-FFF2-40B4-BE49-F238E27FC236}">
                  <a16:creationId xmlns:a16="http://schemas.microsoft.com/office/drawing/2014/main" id="{B943864B-FCDF-E645-A8B5-353F9EA08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8045" name="Text Box 228">
            <a:extLst>
              <a:ext uri="{FF2B5EF4-FFF2-40B4-BE49-F238E27FC236}">
                <a16:creationId xmlns:a16="http://schemas.microsoft.com/office/drawing/2014/main" id="{2302957D-3DB2-4341-B0DC-61DD5675A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78046" name="Text Box 229">
            <a:extLst>
              <a:ext uri="{FF2B5EF4-FFF2-40B4-BE49-F238E27FC236}">
                <a16:creationId xmlns:a16="http://schemas.microsoft.com/office/drawing/2014/main" id="{C13D1201-31F9-044E-9FFE-9F275B2BC1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4338" y="5942013"/>
            <a:ext cx="14652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2, 666, no exception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2802" name="Group 2">
            <a:extLst>
              <a:ext uri="{FF2B5EF4-FFF2-40B4-BE49-F238E27FC236}">
                <a16:creationId xmlns:a16="http://schemas.microsoft.com/office/drawing/2014/main" id="{F592E7DE-F792-D24D-886A-0F136DD1A01E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8977" name="Text Box 130">
            <a:extLst>
              <a:ext uri="{FF2B5EF4-FFF2-40B4-BE49-F238E27FC236}">
                <a16:creationId xmlns:a16="http://schemas.microsoft.com/office/drawing/2014/main" id="{F23DB0C1-23E1-AF49-A195-551D8CA10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78978" name="Group 131">
            <a:extLst>
              <a:ext uri="{FF2B5EF4-FFF2-40B4-BE49-F238E27FC236}">
                <a16:creationId xmlns:a16="http://schemas.microsoft.com/office/drawing/2014/main" id="{EAC154FF-2479-6B42-BA34-518A48581BA9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79075" name="Rectangle 132">
              <a:extLst>
                <a:ext uri="{FF2B5EF4-FFF2-40B4-BE49-F238E27FC236}">
                  <a16:creationId xmlns:a16="http://schemas.microsoft.com/office/drawing/2014/main" id="{7C9F7A0F-C64B-3543-933A-F48FA4B0F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076" name="Text Box 133">
              <a:extLst>
                <a:ext uri="{FF2B5EF4-FFF2-40B4-BE49-F238E27FC236}">
                  <a16:creationId xmlns:a16="http://schemas.microsoft.com/office/drawing/2014/main" id="{3958D603-04CF-354C-92D8-C6BEE13FE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78979" name="Line 134">
            <a:extLst>
              <a:ext uri="{FF2B5EF4-FFF2-40B4-BE49-F238E27FC236}">
                <a16:creationId xmlns:a16="http://schemas.microsoft.com/office/drawing/2014/main" id="{A660E4B5-B827-384C-8B76-9ED3CAB2E7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80" name="Line 135">
            <a:extLst>
              <a:ext uri="{FF2B5EF4-FFF2-40B4-BE49-F238E27FC236}">
                <a16:creationId xmlns:a16="http://schemas.microsoft.com/office/drawing/2014/main" id="{B29C94FD-5D56-6F46-862A-FDB29662DE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81" name="Freeform 136">
            <a:extLst>
              <a:ext uri="{FF2B5EF4-FFF2-40B4-BE49-F238E27FC236}">
                <a16:creationId xmlns:a16="http://schemas.microsoft.com/office/drawing/2014/main" id="{10B88358-B09E-1844-97F6-211601232E7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82" name="Text Box 137">
            <a:extLst>
              <a:ext uri="{FF2B5EF4-FFF2-40B4-BE49-F238E27FC236}">
                <a16:creationId xmlns:a16="http://schemas.microsoft.com/office/drawing/2014/main" id="{7C77324A-2629-C94A-B26E-E6E5CCF2BD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78983" name="Freeform 138">
            <a:extLst>
              <a:ext uri="{FF2B5EF4-FFF2-40B4-BE49-F238E27FC236}">
                <a16:creationId xmlns:a16="http://schemas.microsoft.com/office/drawing/2014/main" id="{D0D50116-C849-5947-9AB5-6136E4B14FE4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84" name="Freeform 139">
            <a:extLst>
              <a:ext uri="{FF2B5EF4-FFF2-40B4-BE49-F238E27FC236}">
                <a16:creationId xmlns:a16="http://schemas.microsoft.com/office/drawing/2014/main" id="{D1B1F301-5322-9649-93F6-D2C4813EF26F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8985" name="Group 140">
            <a:extLst>
              <a:ext uri="{FF2B5EF4-FFF2-40B4-BE49-F238E27FC236}">
                <a16:creationId xmlns:a16="http://schemas.microsoft.com/office/drawing/2014/main" id="{19C499F6-826F-6044-90FC-4426387E385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79073" name="Text Box 141">
              <a:extLst>
                <a:ext uri="{FF2B5EF4-FFF2-40B4-BE49-F238E27FC236}">
                  <a16:creationId xmlns:a16="http://schemas.microsoft.com/office/drawing/2014/main" id="{F5B95B0F-18AE-F345-9D38-F105D72B7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79074" name="Line 142">
              <a:extLst>
                <a:ext uri="{FF2B5EF4-FFF2-40B4-BE49-F238E27FC236}">
                  <a16:creationId xmlns:a16="http://schemas.microsoft.com/office/drawing/2014/main" id="{73C4EDA3-16E7-F54C-B54C-CB58DA0D3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2943" name="Group 143">
            <a:extLst>
              <a:ext uri="{FF2B5EF4-FFF2-40B4-BE49-F238E27FC236}">
                <a16:creationId xmlns:a16="http://schemas.microsoft.com/office/drawing/2014/main" id="{3B80DCCF-0274-BA4B-B232-F2BEC970F8A7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2993" name="Group 193">
            <a:extLst>
              <a:ext uri="{FF2B5EF4-FFF2-40B4-BE49-F238E27FC236}">
                <a16:creationId xmlns:a16="http://schemas.microsoft.com/office/drawing/2014/main" id="{4F8CFD9E-7E2A-3C48-874D-A5BACDC73C88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9062" name="Text Box 219">
            <a:extLst>
              <a:ext uri="{FF2B5EF4-FFF2-40B4-BE49-F238E27FC236}">
                <a16:creationId xmlns:a16="http://schemas.microsoft.com/office/drawing/2014/main" id="{4078DDE3-EBDD-AA48-BE73-100E78DEF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79063" name="Freeform 220">
            <a:extLst>
              <a:ext uri="{FF2B5EF4-FFF2-40B4-BE49-F238E27FC236}">
                <a16:creationId xmlns:a16="http://schemas.microsoft.com/office/drawing/2014/main" id="{DACD1FDD-ED90-4247-87B2-C3936BF111AF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064" name="Text Box 221">
            <a:extLst>
              <a:ext uri="{FF2B5EF4-FFF2-40B4-BE49-F238E27FC236}">
                <a16:creationId xmlns:a16="http://schemas.microsoft.com/office/drawing/2014/main" id="{65228A6F-318C-C849-9410-E966B54C3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79065" name="Text Box 222">
            <a:extLst>
              <a:ext uri="{FF2B5EF4-FFF2-40B4-BE49-F238E27FC236}">
                <a16:creationId xmlns:a16="http://schemas.microsoft.com/office/drawing/2014/main" id="{CD5E9E0C-80D4-D34A-A758-864DD5D77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79066" name="Text Box 223">
            <a:extLst>
              <a:ext uri="{FF2B5EF4-FFF2-40B4-BE49-F238E27FC236}">
                <a16:creationId xmlns:a16="http://schemas.microsoft.com/office/drawing/2014/main" id="{9D3BBD39-59EF-B741-9AD5-32FA94A15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79067" name="Text Box 224">
            <a:extLst>
              <a:ext uri="{FF2B5EF4-FFF2-40B4-BE49-F238E27FC236}">
                <a16:creationId xmlns:a16="http://schemas.microsoft.com/office/drawing/2014/main" id="{C4381CB6-6B6F-5449-9541-6C7E0101C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79068" name="Group 225">
            <a:extLst>
              <a:ext uri="{FF2B5EF4-FFF2-40B4-BE49-F238E27FC236}">
                <a16:creationId xmlns:a16="http://schemas.microsoft.com/office/drawing/2014/main" id="{EF641576-440E-8347-B4D6-57081267FEB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79071" name="Text Box 226">
              <a:extLst>
                <a:ext uri="{FF2B5EF4-FFF2-40B4-BE49-F238E27FC236}">
                  <a16:creationId xmlns:a16="http://schemas.microsoft.com/office/drawing/2014/main" id="{56ADEDC4-6985-E24A-8877-2F2EEAEF2D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79072" name="Line 227">
              <a:extLst>
                <a:ext uri="{FF2B5EF4-FFF2-40B4-BE49-F238E27FC236}">
                  <a16:creationId xmlns:a16="http://schemas.microsoft.com/office/drawing/2014/main" id="{9985CDC0-D119-6541-8099-AC44F9BA2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9069" name="Text Box 228">
            <a:extLst>
              <a:ext uri="{FF2B5EF4-FFF2-40B4-BE49-F238E27FC236}">
                <a16:creationId xmlns:a16="http://schemas.microsoft.com/office/drawing/2014/main" id="{EB37909C-A23A-6249-B9B7-7C862D3B74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79070" name="Text Box 229">
            <a:extLst>
              <a:ext uri="{FF2B5EF4-FFF2-40B4-BE49-F238E27FC236}">
                <a16:creationId xmlns:a16="http://schemas.microsoft.com/office/drawing/2014/main" id="{3B2AA4F1-E333-F943-8E34-ADDD71BB51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421313"/>
            <a:ext cx="25558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3826" name="Group 2">
            <a:extLst>
              <a:ext uri="{FF2B5EF4-FFF2-40B4-BE49-F238E27FC236}">
                <a16:creationId xmlns:a16="http://schemas.microsoft.com/office/drawing/2014/main" id="{97065F71-4083-0346-ABEE-D02699754D67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0001" name="Text Box 130">
            <a:extLst>
              <a:ext uri="{FF2B5EF4-FFF2-40B4-BE49-F238E27FC236}">
                <a16:creationId xmlns:a16="http://schemas.microsoft.com/office/drawing/2014/main" id="{A6DC5BB4-3637-0E4F-999D-BEA7EC8F5F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0002" name="Group 131">
            <a:extLst>
              <a:ext uri="{FF2B5EF4-FFF2-40B4-BE49-F238E27FC236}">
                <a16:creationId xmlns:a16="http://schemas.microsoft.com/office/drawing/2014/main" id="{59E34FC0-C6D8-4D42-A544-02D2E94933A6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0099" name="Rectangle 132">
              <a:extLst>
                <a:ext uri="{FF2B5EF4-FFF2-40B4-BE49-F238E27FC236}">
                  <a16:creationId xmlns:a16="http://schemas.microsoft.com/office/drawing/2014/main" id="{77090EC6-ACDA-9E43-9741-4AC77F6FA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100" name="Text Box 133">
              <a:extLst>
                <a:ext uri="{FF2B5EF4-FFF2-40B4-BE49-F238E27FC236}">
                  <a16:creationId xmlns:a16="http://schemas.microsoft.com/office/drawing/2014/main" id="{A1EEC7CA-CF9E-D645-9094-CE931C2D4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0003" name="Line 134">
            <a:extLst>
              <a:ext uri="{FF2B5EF4-FFF2-40B4-BE49-F238E27FC236}">
                <a16:creationId xmlns:a16="http://schemas.microsoft.com/office/drawing/2014/main" id="{D69BCFB9-847A-4F4A-A982-573E78A25E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004" name="Line 135">
            <a:extLst>
              <a:ext uri="{FF2B5EF4-FFF2-40B4-BE49-F238E27FC236}">
                <a16:creationId xmlns:a16="http://schemas.microsoft.com/office/drawing/2014/main" id="{4BCEDB10-D6B3-C34B-8BF4-093A1B3719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005" name="Freeform 136">
            <a:extLst>
              <a:ext uri="{FF2B5EF4-FFF2-40B4-BE49-F238E27FC236}">
                <a16:creationId xmlns:a16="http://schemas.microsoft.com/office/drawing/2014/main" id="{1B326948-33B9-5241-9B67-7953F7E253F0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006" name="Text Box 137">
            <a:extLst>
              <a:ext uri="{FF2B5EF4-FFF2-40B4-BE49-F238E27FC236}">
                <a16:creationId xmlns:a16="http://schemas.microsoft.com/office/drawing/2014/main" id="{7EE939D9-5A36-7349-8460-C6D879755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0007" name="Freeform 138">
            <a:extLst>
              <a:ext uri="{FF2B5EF4-FFF2-40B4-BE49-F238E27FC236}">
                <a16:creationId xmlns:a16="http://schemas.microsoft.com/office/drawing/2014/main" id="{BC7FDD2D-F454-A340-8C02-51BC9CFAA669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008" name="Freeform 139">
            <a:extLst>
              <a:ext uri="{FF2B5EF4-FFF2-40B4-BE49-F238E27FC236}">
                <a16:creationId xmlns:a16="http://schemas.microsoft.com/office/drawing/2014/main" id="{45638974-2060-2D45-8B50-06FAA0D6C9A7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0009" name="Group 140">
            <a:extLst>
              <a:ext uri="{FF2B5EF4-FFF2-40B4-BE49-F238E27FC236}">
                <a16:creationId xmlns:a16="http://schemas.microsoft.com/office/drawing/2014/main" id="{4B9057E2-92D4-284D-92ED-065BD299449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0097" name="Text Box 141">
              <a:extLst>
                <a:ext uri="{FF2B5EF4-FFF2-40B4-BE49-F238E27FC236}">
                  <a16:creationId xmlns:a16="http://schemas.microsoft.com/office/drawing/2014/main" id="{2ACF61AE-5519-704E-8DFD-540D33CEC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0098" name="Line 142">
              <a:extLst>
                <a:ext uri="{FF2B5EF4-FFF2-40B4-BE49-F238E27FC236}">
                  <a16:creationId xmlns:a16="http://schemas.microsoft.com/office/drawing/2014/main" id="{204EC1C2-4101-DC4B-B0EC-5E2ABAB6C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3967" name="Group 143">
            <a:extLst>
              <a:ext uri="{FF2B5EF4-FFF2-40B4-BE49-F238E27FC236}">
                <a16:creationId xmlns:a16="http://schemas.microsoft.com/office/drawing/2014/main" id="{C0E5FB1A-9B86-A944-97CA-E3953C90BA4D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4017" name="Group 193">
            <a:extLst>
              <a:ext uri="{FF2B5EF4-FFF2-40B4-BE49-F238E27FC236}">
                <a16:creationId xmlns:a16="http://schemas.microsoft.com/office/drawing/2014/main" id="{E735F7C6-5630-8D48-B927-1B29957516DA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0086" name="Text Box 219">
            <a:extLst>
              <a:ext uri="{FF2B5EF4-FFF2-40B4-BE49-F238E27FC236}">
                <a16:creationId xmlns:a16="http://schemas.microsoft.com/office/drawing/2014/main" id="{2C27862A-49E0-F74C-82E4-4DC3506D31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0087" name="Freeform 220">
            <a:extLst>
              <a:ext uri="{FF2B5EF4-FFF2-40B4-BE49-F238E27FC236}">
                <a16:creationId xmlns:a16="http://schemas.microsoft.com/office/drawing/2014/main" id="{60859F2C-7C68-B24B-94FF-A1597DAB41E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088" name="Text Box 221">
            <a:extLst>
              <a:ext uri="{FF2B5EF4-FFF2-40B4-BE49-F238E27FC236}">
                <a16:creationId xmlns:a16="http://schemas.microsoft.com/office/drawing/2014/main" id="{4BDC55B4-451A-2E47-A2F5-50B860BA6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0089" name="Text Box 222">
            <a:extLst>
              <a:ext uri="{FF2B5EF4-FFF2-40B4-BE49-F238E27FC236}">
                <a16:creationId xmlns:a16="http://schemas.microsoft.com/office/drawing/2014/main" id="{4317CAC9-FD60-A04C-9397-251AB9C3A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0090" name="Text Box 223">
            <a:extLst>
              <a:ext uri="{FF2B5EF4-FFF2-40B4-BE49-F238E27FC236}">
                <a16:creationId xmlns:a16="http://schemas.microsoft.com/office/drawing/2014/main" id="{4F583E2C-B521-E649-8B89-2309FAB0C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0091" name="Text Box 224">
            <a:extLst>
              <a:ext uri="{FF2B5EF4-FFF2-40B4-BE49-F238E27FC236}">
                <a16:creationId xmlns:a16="http://schemas.microsoft.com/office/drawing/2014/main" id="{27AAF37D-BCDC-4C48-8CAC-BBFD3BE962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0092" name="Group 225">
            <a:extLst>
              <a:ext uri="{FF2B5EF4-FFF2-40B4-BE49-F238E27FC236}">
                <a16:creationId xmlns:a16="http://schemas.microsoft.com/office/drawing/2014/main" id="{386149CB-12C7-CE46-9808-D3BAE0C850B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80095" name="Text Box 226">
              <a:extLst>
                <a:ext uri="{FF2B5EF4-FFF2-40B4-BE49-F238E27FC236}">
                  <a16:creationId xmlns:a16="http://schemas.microsoft.com/office/drawing/2014/main" id="{D668AE96-BDB8-C546-893E-E6CB68FD43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0096" name="Line 227">
              <a:extLst>
                <a:ext uri="{FF2B5EF4-FFF2-40B4-BE49-F238E27FC236}">
                  <a16:creationId xmlns:a16="http://schemas.microsoft.com/office/drawing/2014/main" id="{EFE07D7A-2F92-D242-AF99-8ECB50B9E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093" name="Text Box 228">
            <a:extLst>
              <a:ext uri="{FF2B5EF4-FFF2-40B4-BE49-F238E27FC236}">
                <a16:creationId xmlns:a16="http://schemas.microsoft.com/office/drawing/2014/main" id="{40D247AD-FB24-544B-9677-D3E16D257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80094" name="Text Box 229">
            <a:extLst>
              <a:ext uri="{FF2B5EF4-FFF2-40B4-BE49-F238E27FC236}">
                <a16:creationId xmlns:a16="http://schemas.microsoft.com/office/drawing/2014/main" id="{CAB0DF5F-69FA-244D-B34D-6B5CC19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5927725"/>
            <a:ext cx="15128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3, 742, no exception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4850" name="Group 2">
            <a:extLst>
              <a:ext uri="{FF2B5EF4-FFF2-40B4-BE49-F238E27FC236}">
                <a16:creationId xmlns:a16="http://schemas.microsoft.com/office/drawing/2014/main" id="{140C2C0C-97BE-D844-8CDF-932B33DE5A93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1025" name="Text Box 130">
            <a:extLst>
              <a:ext uri="{FF2B5EF4-FFF2-40B4-BE49-F238E27FC236}">
                <a16:creationId xmlns:a16="http://schemas.microsoft.com/office/drawing/2014/main" id="{D6A2E543-B94B-0647-ADF7-27FB3E97FD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1026" name="Group 131">
            <a:extLst>
              <a:ext uri="{FF2B5EF4-FFF2-40B4-BE49-F238E27FC236}">
                <a16:creationId xmlns:a16="http://schemas.microsoft.com/office/drawing/2014/main" id="{5BE488C4-35BC-624C-AE31-8048C18BBF63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1123" name="Rectangle 132">
              <a:extLst>
                <a:ext uri="{FF2B5EF4-FFF2-40B4-BE49-F238E27FC236}">
                  <a16:creationId xmlns:a16="http://schemas.microsoft.com/office/drawing/2014/main" id="{81323BE6-A828-EB40-81ED-2DC8C3BE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124" name="Text Box 133">
              <a:extLst>
                <a:ext uri="{FF2B5EF4-FFF2-40B4-BE49-F238E27FC236}">
                  <a16:creationId xmlns:a16="http://schemas.microsoft.com/office/drawing/2014/main" id="{585D8483-3771-2D4A-B78E-92142BD47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1027" name="Line 134">
            <a:extLst>
              <a:ext uri="{FF2B5EF4-FFF2-40B4-BE49-F238E27FC236}">
                <a16:creationId xmlns:a16="http://schemas.microsoft.com/office/drawing/2014/main" id="{E9E620C4-1846-3A42-884B-363A878CF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028" name="Line 135">
            <a:extLst>
              <a:ext uri="{FF2B5EF4-FFF2-40B4-BE49-F238E27FC236}">
                <a16:creationId xmlns:a16="http://schemas.microsoft.com/office/drawing/2014/main" id="{DEF4B7EF-A9CD-A049-B982-836AFB16C7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029" name="Freeform 136">
            <a:extLst>
              <a:ext uri="{FF2B5EF4-FFF2-40B4-BE49-F238E27FC236}">
                <a16:creationId xmlns:a16="http://schemas.microsoft.com/office/drawing/2014/main" id="{FDECBE2D-6440-7348-ABCE-B166847C688F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030" name="Text Box 137">
            <a:extLst>
              <a:ext uri="{FF2B5EF4-FFF2-40B4-BE49-F238E27FC236}">
                <a16:creationId xmlns:a16="http://schemas.microsoft.com/office/drawing/2014/main" id="{C11ABAA2-5FBF-DC43-918C-57A2D1DF1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1031" name="Freeform 138">
            <a:extLst>
              <a:ext uri="{FF2B5EF4-FFF2-40B4-BE49-F238E27FC236}">
                <a16:creationId xmlns:a16="http://schemas.microsoft.com/office/drawing/2014/main" id="{B4672360-26F8-3A44-8FEB-EB6C47402C7C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032" name="Freeform 139">
            <a:extLst>
              <a:ext uri="{FF2B5EF4-FFF2-40B4-BE49-F238E27FC236}">
                <a16:creationId xmlns:a16="http://schemas.microsoft.com/office/drawing/2014/main" id="{4DFF5181-8AF1-944F-8BC9-07DB4BDB3B66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1033" name="Group 140">
            <a:extLst>
              <a:ext uri="{FF2B5EF4-FFF2-40B4-BE49-F238E27FC236}">
                <a16:creationId xmlns:a16="http://schemas.microsoft.com/office/drawing/2014/main" id="{14583EC7-936B-3E4F-9475-1C2A3C83A05F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1121" name="Text Box 141">
              <a:extLst>
                <a:ext uri="{FF2B5EF4-FFF2-40B4-BE49-F238E27FC236}">
                  <a16:creationId xmlns:a16="http://schemas.microsoft.com/office/drawing/2014/main" id="{531D4A1D-3FBA-C849-8328-E41E8B41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1122" name="Line 142">
              <a:extLst>
                <a:ext uri="{FF2B5EF4-FFF2-40B4-BE49-F238E27FC236}">
                  <a16:creationId xmlns:a16="http://schemas.microsoft.com/office/drawing/2014/main" id="{51724687-24CE-8B46-8C05-8807EF66D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4991" name="Group 143">
            <a:extLst>
              <a:ext uri="{FF2B5EF4-FFF2-40B4-BE49-F238E27FC236}">
                <a16:creationId xmlns:a16="http://schemas.microsoft.com/office/drawing/2014/main" id="{674848D7-E2CD-274D-973A-BBEAC0008F51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5041" name="Group 193">
            <a:extLst>
              <a:ext uri="{FF2B5EF4-FFF2-40B4-BE49-F238E27FC236}">
                <a16:creationId xmlns:a16="http://schemas.microsoft.com/office/drawing/2014/main" id="{9A63B95C-A5AB-A145-814A-F57AF12128E9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1110" name="Text Box 219">
            <a:extLst>
              <a:ext uri="{FF2B5EF4-FFF2-40B4-BE49-F238E27FC236}">
                <a16:creationId xmlns:a16="http://schemas.microsoft.com/office/drawing/2014/main" id="{57ECF533-A00F-2A48-BB33-22A9503136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1111" name="Freeform 220">
            <a:extLst>
              <a:ext uri="{FF2B5EF4-FFF2-40B4-BE49-F238E27FC236}">
                <a16:creationId xmlns:a16="http://schemas.microsoft.com/office/drawing/2014/main" id="{D6257EBD-A010-6140-9196-13DEF2D4FFD6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112" name="Text Box 221">
            <a:extLst>
              <a:ext uri="{FF2B5EF4-FFF2-40B4-BE49-F238E27FC236}">
                <a16:creationId xmlns:a16="http://schemas.microsoft.com/office/drawing/2014/main" id="{D1BE210C-25DC-8645-B192-1268EB89C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1113" name="Text Box 222">
            <a:extLst>
              <a:ext uri="{FF2B5EF4-FFF2-40B4-BE49-F238E27FC236}">
                <a16:creationId xmlns:a16="http://schemas.microsoft.com/office/drawing/2014/main" id="{4EF8A29A-A2BA-E147-9EC6-1BEE4A304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1114" name="Text Box 223">
            <a:extLst>
              <a:ext uri="{FF2B5EF4-FFF2-40B4-BE49-F238E27FC236}">
                <a16:creationId xmlns:a16="http://schemas.microsoft.com/office/drawing/2014/main" id="{8F464842-BC11-F44C-BB12-D1EFDAD44F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1115" name="Text Box 224">
            <a:extLst>
              <a:ext uri="{FF2B5EF4-FFF2-40B4-BE49-F238E27FC236}">
                <a16:creationId xmlns:a16="http://schemas.microsoft.com/office/drawing/2014/main" id="{5EF62FA9-B317-9B46-9F32-B6E6BB625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1116" name="Group 225">
            <a:extLst>
              <a:ext uri="{FF2B5EF4-FFF2-40B4-BE49-F238E27FC236}">
                <a16:creationId xmlns:a16="http://schemas.microsoft.com/office/drawing/2014/main" id="{12FCD28C-1F19-9047-BE7F-1DE3EDE581EB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81119" name="Text Box 226">
              <a:extLst>
                <a:ext uri="{FF2B5EF4-FFF2-40B4-BE49-F238E27FC236}">
                  <a16:creationId xmlns:a16="http://schemas.microsoft.com/office/drawing/2014/main" id="{9DC86C99-34E5-664B-91CB-6B3A4B26C1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1120" name="Line 227">
              <a:extLst>
                <a:ext uri="{FF2B5EF4-FFF2-40B4-BE49-F238E27FC236}">
                  <a16:creationId xmlns:a16="http://schemas.microsoft.com/office/drawing/2014/main" id="{BC6E8AE3-CDD0-2446-9EA1-A80B2F5D2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117" name="Text Box 228">
            <a:extLst>
              <a:ext uri="{FF2B5EF4-FFF2-40B4-BE49-F238E27FC236}">
                <a16:creationId xmlns:a16="http://schemas.microsoft.com/office/drawing/2014/main" id="{EA4971C1-2EB3-774B-8680-E151C2405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81118" name="Text Box 229">
            <a:extLst>
              <a:ext uri="{FF2B5EF4-FFF2-40B4-BE49-F238E27FC236}">
                <a16:creationId xmlns:a16="http://schemas.microsoft.com/office/drawing/2014/main" id="{F0C22B0C-52F0-3744-B45C-7343DC1BD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5927725"/>
            <a:ext cx="15128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4, -688, no exception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5874" name="Group 2">
            <a:extLst>
              <a:ext uri="{FF2B5EF4-FFF2-40B4-BE49-F238E27FC236}">
                <a16:creationId xmlns:a16="http://schemas.microsoft.com/office/drawing/2014/main" id="{4E6413C8-76AB-8343-8001-7F7EAD6AADF4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2049" name="Text Box 130">
            <a:extLst>
              <a:ext uri="{FF2B5EF4-FFF2-40B4-BE49-F238E27FC236}">
                <a16:creationId xmlns:a16="http://schemas.microsoft.com/office/drawing/2014/main" id="{34F1E92F-4C34-8144-93CF-59904D93A0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2050" name="Group 131">
            <a:extLst>
              <a:ext uri="{FF2B5EF4-FFF2-40B4-BE49-F238E27FC236}">
                <a16:creationId xmlns:a16="http://schemas.microsoft.com/office/drawing/2014/main" id="{57DC4F2E-BA80-1A4B-BEBD-A2A39A49C99B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2149" name="Rectangle 132">
              <a:extLst>
                <a:ext uri="{FF2B5EF4-FFF2-40B4-BE49-F238E27FC236}">
                  <a16:creationId xmlns:a16="http://schemas.microsoft.com/office/drawing/2014/main" id="{723282EB-CDCF-1745-907A-E2EBCA397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150" name="Text Box 133">
              <a:extLst>
                <a:ext uri="{FF2B5EF4-FFF2-40B4-BE49-F238E27FC236}">
                  <a16:creationId xmlns:a16="http://schemas.microsoft.com/office/drawing/2014/main" id="{E1BF24F3-D8EA-8F44-93B1-C0CCBC0909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2051" name="Line 134">
            <a:extLst>
              <a:ext uri="{FF2B5EF4-FFF2-40B4-BE49-F238E27FC236}">
                <a16:creationId xmlns:a16="http://schemas.microsoft.com/office/drawing/2014/main" id="{68B4643C-C173-0444-B2F3-B7A3C1EFC5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52" name="Line 135">
            <a:extLst>
              <a:ext uri="{FF2B5EF4-FFF2-40B4-BE49-F238E27FC236}">
                <a16:creationId xmlns:a16="http://schemas.microsoft.com/office/drawing/2014/main" id="{7C3F9435-7BC2-1A4F-8C3E-8CCAA7D1B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53" name="Freeform 136">
            <a:extLst>
              <a:ext uri="{FF2B5EF4-FFF2-40B4-BE49-F238E27FC236}">
                <a16:creationId xmlns:a16="http://schemas.microsoft.com/office/drawing/2014/main" id="{7CAAD523-718F-1A4C-A269-94D46B33B45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54" name="Text Box 137">
            <a:extLst>
              <a:ext uri="{FF2B5EF4-FFF2-40B4-BE49-F238E27FC236}">
                <a16:creationId xmlns:a16="http://schemas.microsoft.com/office/drawing/2014/main" id="{7C1C1B86-8353-034B-BE9C-AA3D3367F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2055" name="Freeform 138">
            <a:extLst>
              <a:ext uri="{FF2B5EF4-FFF2-40B4-BE49-F238E27FC236}">
                <a16:creationId xmlns:a16="http://schemas.microsoft.com/office/drawing/2014/main" id="{5D4DFA50-BCF3-0841-8C52-EFE257EDDAAC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56" name="Freeform 139">
            <a:extLst>
              <a:ext uri="{FF2B5EF4-FFF2-40B4-BE49-F238E27FC236}">
                <a16:creationId xmlns:a16="http://schemas.microsoft.com/office/drawing/2014/main" id="{A440935D-735C-0B4D-9F17-ED9481EEA57D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2057" name="Group 140">
            <a:extLst>
              <a:ext uri="{FF2B5EF4-FFF2-40B4-BE49-F238E27FC236}">
                <a16:creationId xmlns:a16="http://schemas.microsoft.com/office/drawing/2014/main" id="{8E00C6BC-7E75-D247-802F-3C111A8F66F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2147" name="Text Box 141">
              <a:extLst>
                <a:ext uri="{FF2B5EF4-FFF2-40B4-BE49-F238E27FC236}">
                  <a16:creationId xmlns:a16="http://schemas.microsoft.com/office/drawing/2014/main" id="{39D50A9B-BA8F-6D4C-8F93-8855C042E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2148" name="Line 142">
              <a:extLst>
                <a:ext uri="{FF2B5EF4-FFF2-40B4-BE49-F238E27FC236}">
                  <a16:creationId xmlns:a16="http://schemas.microsoft.com/office/drawing/2014/main" id="{E60589F1-5B30-8B45-99C4-3BC0E1C02C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6015" name="Group 143">
            <a:extLst>
              <a:ext uri="{FF2B5EF4-FFF2-40B4-BE49-F238E27FC236}">
                <a16:creationId xmlns:a16="http://schemas.microsoft.com/office/drawing/2014/main" id="{3557DC81-82A6-3543-ABBF-3AC1C5F5BD00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6065" name="Group 193">
            <a:extLst>
              <a:ext uri="{FF2B5EF4-FFF2-40B4-BE49-F238E27FC236}">
                <a16:creationId xmlns:a16="http://schemas.microsoft.com/office/drawing/2014/main" id="{DDC96C11-E6F8-6540-AFD5-E70ECE167B22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2134" name="Text Box 219">
            <a:extLst>
              <a:ext uri="{FF2B5EF4-FFF2-40B4-BE49-F238E27FC236}">
                <a16:creationId xmlns:a16="http://schemas.microsoft.com/office/drawing/2014/main" id="{838F49F4-E812-994D-BA83-374CE5A40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2135" name="Freeform 220">
            <a:extLst>
              <a:ext uri="{FF2B5EF4-FFF2-40B4-BE49-F238E27FC236}">
                <a16:creationId xmlns:a16="http://schemas.microsoft.com/office/drawing/2014/main" id="{6ECD56DC-84B8-EF47-AD9C-1FBCE9F24E8C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136" name="Text Box 221">
            <a:extLst>
              <a:ext uri="{FF2B5EF4-FFF2-40B4-BE49-F238E27FC236}">
                <a16:creationId xmlns:a16="http://schemas.microsoft.com/office/drawing/2014/main" id="{E6F1257F-3074-5A4D-94AC-737DCBCEB6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2137" name="Text Box 222">
            <a:extLst>
              <a:ext uri="{FF2B5EF4-FFF2-40B4-BE49-F238E27FC236}">
                <a16:creationId xmlns:a16="http://schemas.microsoft.com/office/drawing/2014/main" id="{44739B4B-D815-884C-A7A6-BF89406EA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2138" name="Text Box 223">
            <a:extLst>
              <a:ext uri="{FF2B5EF4-FFF2-40B4-BE49-F238E27FC236}">
                <a16:creationId xmlns:a16="http://schemas.microsoft.com/office/drawing/2014/main" id="{F9F28F51-06C9-9742-AA1A-0C9B65AC5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2139" name="Text Box 224">
            <a:extLst>
              <a:ext uri="{FF2B5EF4-FFF2-40B4-BE49-F238E27FC236}">
                <a16:creationId xmlns:a16="http://schemas.microsoft.com/office/drawing/2014/main" id="{059C709F-99CD-1045-A099-F5FFAC0B7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2140" name="Group 225">
            <a:extLst>
              <a:ext uri="{FF2B5EF4-FFF2-40B4-BE49-F238E27FC236}">
                <a16:creationId xmlns:a16="http://schemas.microsoft.com/office/drawing/2014/main" id="{AB912CFF-B024-5B49-AA5D-25B7852D958E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76600"/>
            <a:ext cx="1233488" cy="246063"/>
            <a:chOff x="4800" y="1718"/>
            <a:chExt cx="777" cy="155"/>
          </a:xfrm>
        </p:grpSpPr>
        <p:sp>
          <p:nvSpPr>
            <p:cNvPr id="82145" name="Text Box 226">
              <a:extLst>
                <a:ext uri="{FF2B5EF4-FFF2-40B4-BE49-F238E27FC236}">
                  <a16:creationId xmlns:a16="http://schemas.microsoft.com/office/drawing/2014/main" id="{A8682DD6-5848-874A-B867-241912BC8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2146" name="Line 227">
              <a:extLst>
                <a:ext uri="{FF2B5EF4-FFF2-40B4-BE49-F238E27FC236}">
                  <a16:creationId xmlns:a16="http://schemas.microsoft.com/office/drawing/2014/main" id="{91F88B92-2348-9146-9941-089A10614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2141" name="Text Box 228">
            <a:extLst>
              <a:ext uri="{FF2B5EF4-FFF2-40B4-BE49-F238E27FC236}">
                <a16:creationId xmlns:a16="http://schemas.microsoft.com/office/drawing/2014/main" id="{E9F0DC35-229E-3040-AA17-6173C14CA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grpSp>
        <p:nvGrpSpPr>
          <p:cNvPr id="82142" name="Group 229">
            <a:extLst>
              <a:ext uri="{FF2B5EF4-FFF2-40B4-BE49-F238E27FC236}">
                <a16:creationId xmlns:a16="http://schemas.microsoft.com/office/drawing/2014/main" id="{CCA77927-5776-2E40-B0F9-960BB3AF1F73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1341437" cy="990600"/>
            <a:chOff x="1931" y="672"/>
            <a:chExt cx="845" cy="624"/>
          </a:xfrm>
        </p:grpSpPr>
        <p:sp>
          <p:nvSpPr>
            <p:cNvPr id="82143" name="Rectangle 230">
              <a:extLst>
                <a:ext uri="{FF2B5EF4-FFF2-40B4-BE49-F238E27FC236}">
                  <a16:creationId xmlns:a16="http://schemas.microsoft.com/office/drawing/2014/main" id="{1C1283F4-DFE8-EA44-85AE-7851634AA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845" cy="15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  ADD   R0, R1, R2</a:t>
              </a:r>
            </a:p>
          </p:txBody>
        </p:sp>
        <p:sp>
          <p:nvSpPr>
            <p:cNvPr id="82144" name="Line 231">
              <a:extLst>
                <a:ext uri="{FF2B5EF4-FFF2-40B4-BE49-F238E27FC236}">
                  <a16:creationId xmlns:a16="http://schemas.microsoft.com/office/drawing/2014/main" id="{F8E1F96D-90FA-ED40-A3EB-0F7192BB60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6898" name="Group 2">
            <a:extLst>
              <a:ext uri="{FF2B5EF4-FFF2-40B4-BE49-F238E27FC236}">
                <a16:creationId xmlns:a16="http://schemas.microsoft.com/office/drawing/2014/main" id="{3540158F-3A91-8746-B345-A657B049374F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3073" name="Text Box 130">
            <a:extLst>
              <a:ext uri="{FF2B5EF4-FFF2-40B4-BE49-F238E27FC236}">
                <a16:creationId xmlns:a16="http://schemas.microsoft.com/office/drawing/2014/main" id="{16CE7088-27E0-B949-B89A-052E138F2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3074" name="Group 131">
            <a:extLst>
              <a:ext uri="{FF2B5EF4-FFF2-40B4-BE49-F238E27FC236}">
                <a16:creationId xmlns:a16="http://schemas.microsoft.com/office/drawing/2014/main" id="{E6D3E19D-5BDE-204E-8BA8-0EF8BF094FD7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3173" name="Rectangle 132">
              <a:extLst>
                <a:ext uri="{FF2B5EF4-FFF2-40B4-BE49-F238E27FC236}">
                  <a16:creationId xmlns:a16="http://schemas.microsoft.com/office/drawing/2014/main" id="{1FBB8A4B-B079-B440-A5E7-3B26FC05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174" name="Text Box 133">
              <a:extLst>
                <a:ext uri="{FF2B5EF4-FFF2-40B4-BE49-F238E27FC236}">
                  <a16:creationId xmlns:a16="http://schemas.microsoft.com/office/drawing/2014/main" id="{978B25A4-2C70-7A48-A365-66EB33579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3075" name="Line 134">
            <a:extLst>
              <a:ext uri="{FF2B5EF4-FFF2-40B4-BE49-F238E27FC236}">
                <a16:creationId xmlns:a16="http://schemas.microsoft.com/office/drawing/2014/main" id="{C42A2DB4-BC9A-EC4C-A4E5-F0FEC5F8E7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76" name="Line 135">
            <a:extLst>
              <a:ext uri="{FF2B5EF4-FFF2-40B4-BE49-F238E27FC236}">
                <a16:creationId xmlns:a16="http://schemas.microsoft.com/office/drawing/2014/main" id="{46D61351-A005-D443-A244-65C05316A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77" name="Freeform 136">
            <a:extLst>
              <a:ext uri="{FF2B5EF4-FFF2-40B4-BE49-F238E27FC236}">
                <a16:creationId xmlns:a16="http://schemas.microsoft.com/office/drawing/2014/main" id="{C153F170-C033-BC46-9B66-47EBBC48DF93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78" name="Text Box 137">
            <a:extLst>
              <a:ext uri="{FF2B5EF4-FFF2-40B4-BE49-F238E27FC236}">
                <a16:creationId xmlns:a16="http://schemas.microsoft.com/office/drawing/2014/main" id="{8EACC0F8-4C9A-8048-A263-522A264CEC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3079" name="Freeform 138">
            <a:extLst>
              <a:ext uri="{FF2B5EF4-FFF2-40B4-BE49-F238E27FC236}">
                <a16:creationId xmlns:a16="http://schemas.microsoft.com/office/drawing/2014/main" id="{E0666EAC-5FD6-4949-B898-B8B26CCF8B07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80" name="Freeform 139">
            <a:extLst>
              <a:ext uri="{FF2B5EF4-FFF2-40B4-BE49-F238E27FC236}">
                <a16:creationId xmlns:a16="http://schemas.microsoft.com/office/drawing/2014/main" id="{3C2454CE-D9D2-A147-A8CE-0DED15A92A99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081" name="Group 140">
            <a:extLst>
              <a:ext uri="{FF2B5EF4-FFF2-40B4-BE49-F238E27FC236}">
                <a16:creationId xmlns:a16="http://schemas.microsoft.com/office/drawing/2014/main" id="{FC03046D-5130-5E4E-BFC9-AD9E17364B27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3171" name="Text Box 141">
              <a:extLst>
                <a:ext uri="{FF2B5EF4-FFF2-40B4-BE49-F238E27FC236}">
                  <a16:creationId xmlns:a16="http://schemas.microsoft.com/office/drawing/2014/main" id="{F1DD621C-2821-7445-89E3-EC05E751B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3172" name="Line 142">
              <a:extLst>
                <a:ext uri="{FF2B5EF4-FFF2-40B4-BE49-F238E27FC236}">
                  <a16:creationId xmlns:a16="http://schemas.microsoft.com/office/drawing/2014/main" id="{62D23256-DBD0-E643-8E27-CEC34421C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7039" name="Group 143">
            <a:extLst>
              <a:ext uri="{FF2B5EF4-FFF2-40B4-BE49-F238E27FC236}">
                <a16:creationId xmlns:a16="http://schemas.microsoft.com/office/drawing/2014/main" id="{0F851B06-DA35-EE49-83E7-97C2A4517FC2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sym typeface="Symbol" charset="0"/>
                        </a:rPr>
                        <a:t>-688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7089" name="Group 193">
            <a:extLst>
              <a:ext uri="{FF2B5EF4-FFF2-40B4-BE49-F238E27FC236}">
                <a16:creationId xmlns:a16="http://schemas.microsoft.com/office/drawing/2014/main" id="{50AF44DD-9653-6540-AC81-7CC50CC8037D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3158" name="Text Box 219">
            <a:extLst>
              <a:ext uri="{FF2B5EF4-FFF2-40B4-BE49-F238E27FC236}">
                <a16:creationId xmlns:a16="http://schemas.microsoft.com/office/drawing/2014/main" id="{8FFE1413-7C59-3E4C-AEB9-3711DA902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3159" name="Freeform 220">
            <a:extLst>
              <a:ext uri="{FF2B5EF4-FFF2-40B4-BE49-F238E27FC236}">
                <a16:creationId xmlns:a16="http://schemas.microsoft.com/office/drawing/2014/main" id="{28970D8B-CBF1-334A-8963-AFFCA13F37B4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160" name="Text Box 221">
            <a:extLst>
              <a:ext uri="{FF2B5EF4-FFF2-40B4-BE49-F238E27FC236}">
                <a16:creationId xmlns:a16="http://schemas.microsoft.com/office/drawing/2014/main" id="{3D7A3BEC-A4C8-ED44-B259-09120A2F3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3161" name="Text Box 222">
            <a:extLst>
              <a:ext uri="{FF2B5EF4-FFF2-40B4-BE49-F238E27FC236}">
                <a16:creationId xmlns:a16="http://schemas.microsoft.com/office/drawing/2014/main" id="{B4EBEA62-8EEA-C84F-89D7-13C3821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3162" name="Text Box 223">
            <a:extLst>
              <a:ext uri="{FF2B5EF4-FFF2-40B4-BE49-F238E27FC236}">
                <a16:creationId xmlns:a16="http://schemas.microsoft.com/office/drawing/2014/main" id="{77BA8947-C4B8-F547-B541-101D790A3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3163" name="Text Box 224">
            <a:extLst>
              <a:ext uri="{FF2B5EF4-FFF2-40B4-BE49-F238E27FC236}">
                <a16:creationId xmlns:a16="http://schemas.microsoft.com/office/drawing/2014/main" id="{68537967-4D5B-7546-A16C-388D97B52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3164" name="Group 225">
            <a:extLst>
              <a:ext uri="{FF2B5EF4-FFF2-40B4-BE49-F238E27FC236}">
                <a16:creationId xmlns:a16="http://schemas.microsoft.com/office/drawing/2014/main" id="{E97A3C82-D1A8-6449-9254-F31D84D4ACF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3169" name="Text Box 226">
              <a:extLst>
                <a:ext uri="{FF2B5EF4-FFF2-40B4-BE49-F238E27FC236}">
                  <a16:creationId xmlns:a16="http://schemas.microsoft.com/office/drawing/2014/main" id="{9983D611-D4B7-A149-AB8A-5AACBCEC4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3170" name="Line 227">
              <a:extLst>
                <a:ext uri="{FF2B5EF4-FFF2-40B4-BE49-F238E27FC236}">
                  <a16:creationId xmlns:a16="http://schemas.microsoft.com/office/drawing/2014/main" id="{9E9BCCA2-6F3A-CD4A-9151-B1F90798E1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3165" name="Text Box 228">
            <a:extLst>
              <a:ext uri="{FF2B5EF4-FFF2-40B4-BE49-F238E27FC236}">
                <a16:creationId xmlns:a16="http://schemas.microsoft.com/office/drawing/2014/main" id="{DE9B73B7-19B7-1541-B93A-DC6B5446F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grpSp>
        <p:nvGrpSpPr>
          <p:cNvPr id="83166" name="Group 229">
            <a:extLst>
              <a:ext uri="{FF2B5EF4-FFF2-40B4-BE49-F238E27FC236}">
                <a16:creationId xmlns:a16="http://schemas.microsoft.com/office/drawing/2014/main" id="{E6B9B6CC-996D-FD4C-921A-E12845D4A9FC}"/>
              </a:ext>
            </a:extLst>
          </p:cNvPr>
          <p:cNvGrpSpPr>
            <a:grpSpLocks/>
          </p:cNvGrpSpPr>
          <p:nvPr/>
        </p:nvGrpSpPr>
        <p:grpSpPr bwMode="auto">
          <a:xfrm>
            <a:off x="3065463" y="1066800"/>
            <a:ext cx="2217737" cy="990600"/>
            <a:chOff x="1931" y="672"/>
            <a:chExt cx="1397" cy="624"/>
          </a:xfrm>
        </p:grpSpPr>
        <p:sp>
          <p:nvSpPr>
            <p:cNvPr id="83167" name="Rectangle 230">
              <a:extLst>
                <a:ext uri="{FF2B5EF4-FFF2-40B4-BE49-F238E27FC236}">
                  <a16:creationId xmlns:a16="http://schemas.microsoft.com/office/drawing/2014/main" id="{769CC2CA-92A8-F74A-8DB1-ADA59C53E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672"/>
              <a:ext cx="1397" cy="20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prstDash val="dash"/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" pitchFamily="2" charset="0"/>
                </a:rPr>
                <a:t>F  ADD   R0, R1, R2</a:t>
              </a:r>
            </a:p>
          </p:txBody>
        </p:sp>
        <p:sp>
          <p:nvSpPr>
            <p:cNvPr id="83168" name="Line 231">
              <a:extLst>
                <a:ext uri="{FF2B5EF4-FFF2-40B4-BE49-F238E27FC236}">
                  <a16:creationId xmlns:a16="http://schemas.microsoft.com/office/drawing/2014/main" id="{8CB267E4-4F39-EC45-B55B-F3A6430DD6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872"/>
              <a:ext cx="0" cy="4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7922" name="Group 2">
            <a:extLst>
              <a:ext uri="{FF2B5EF4-FFF2-40B4-BE49-F238E27FC236}">
                <a16:creationId xmlns:a16="http://schemas.microsoft.com/office/drawing/2014/main" id="{4C95C21B-D37C-3340-8842-D1A39A7E7C1A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4097" name="Text Box 130">
            <a:extLst>
              <a:ext uri="{FF2B5EF4-FFF2-40B4-BE49-F238E27FC236}">
                <a16:creationId xmlns:a16="http://schemas.microsoft.com/office/drawing/2014/main" id="{8AC81149-206D-F245-978E-A73F9CEC17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4098" name="Group 131">
            <a:extLst>
              <a:ext uri="{FF2B5EF4-FFF2-40B4-BE49-F238E27FC236}">
                <a16:creationId xmlns:a16="http://schemas.microsoft.com/office/drawing/2014/main" id="{8C8252C6-CEBC-7849-BA96-D08BF50D88BD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4195" name="Rectangle 132">
              <a:extLst>
                <a:ext uri="{FF2B5EF4-FFF2-40B4-BE49-F238E27FC236}">
                  <a16:creationId xmlns:a16="http://schemas.microsoft.com/office/drawing/2014/main" id="{7EE60437-1DAE-984A-AF89-C16FF69E4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196" name="Text Box 133">
              <a:extLst>
                <a:ext uri="{FF2B5EF4-FFF2-40B4-BE49-F238E27FC236}">
                  <a16:creationId xmlns:a16="http://schemas.microsoft.com/office/drawing/2014/main" id="{F8E93817-2A5C-624A-9CD7-8A94648A2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4099" name="Line 134">
            <a:extLst>
              <a:ext uri="{FF2B5EF4-FFF2-40B4-BE49-F238E27FC236}">
                <a16:creationId xmlns:a16="http://schemas.microsoft.com/office/drawing/2014/main" id="{900BF77E-4BC1-F04A-A507-FA938BCD5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100" name="Line 135">
            <a:extLst>
              <a:ext uri="{FF2B5EF4-FFF2-40B4-BE49-F238E27FC236}">
                <a16:creationId xmlns:a16="http://schemas.microsoft.com/office/drawing/2014/main" id="{00141E28-7441-1B4A-9EDF-4794E5D7F47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101" name="Freeform 136">
            <a:extLst>
              <a:ext uri="{FF2B5EF4-FFF2-40B4-BE49-F238E27FC236}">
                <a16:creationId xmlns:a16="http://schemas.microsoft.com/office/drawing/2014/main" id="{94F64676-F194-9E44-9AA3-F9DA329DB814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102" name="Text Box 137">
            <a:extLst>
              <a:ext uri="{FF2B5EF4-FFF2-40B4-BE49-F238E27FC236}">
                <a16:creationId xmlns:a16="http://schemas.microsoft.com/office/drawing/2014/main" id="{E26E75FB-C6B7-824A-BD10-9C939D548F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4103" name="Freeform 138">
            <a:extLst>
              <a:ext uri="{FF2B5EF4-FFF2-40B4-BE49-F238E27FC236}">
                <a16:creationId xmlns:a16="http://schemas.microsoft.com/office/drawing/2014/main" id="{777F3F57-F5F2-8942-8C35-BF59710C5F37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104" name="Freeform 139">
            <a:extLst>
              <a:ext uri="{FF2B5EF4-FFF2-40B4-BE49-F238E27FC236}">
                <a16:creationId xmlns:a16="http://schemas.microsoft.com/office/drawing/2014/main" id="{3F244293-743B-DD4E-8E43-8B477DF2636C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4105" name="Group 140">
            <a:extLst>
              <a:ext uri="{FF2B5EF4-FFF2-40B4-BE49-F238E27FC236}">
                <a16:creationId xmlns:a16="http://schemas.microsoft.com/office/drawing/2014/main" id="{3202C2E0-FDCF-434D-AC25-EDC86027D93A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4193" name="Text Box 141">
              <a:extLst>
                <a:ext uri="{FF2B5EF4-FFF2-40B4-BE49-F238E27FC236}">
                  <a16:creationId xmlns:a16="http://schemas.microsoft.com/office/drawing/2014/main" id="{ADE3FFA1-FCB2-814E-9E2A-A8CB98DD1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4194" name="Line 142">
              <a:extLst>
                <a:ext uri="{FF2B5EF4-FFF2-40B4-BE49-F238E27FC236}">
                  <a16:creationId xmlns:a16="http://schemas.microsoft.com/office/drawing/2014/main" id="{B06C2F29-B622-4140-B1D3-EE3F5112C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8063" name="Group 143">
            <a:extLst>
              <a:ext uri="{FF2B5EF4-FFF2-40B4-BE49-F238E27FC236}">
                <a16:creationId xmlns:a16="http://schemas.microsoft.com/office/drawing/2014/main" id="{A71DBD64-A30A-1F4E-A732-33DE95638C78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8113" name="Group 193">
            <a:extLst>
              <a:ext uri="{FF2B5EF4-FFF2-40B4-BE49-F238E27FC236}">
                <a16:creationId xmlns:a16="http://schemas.microsoft.com/office/drawing/2014/main" id="{B5D13133-748F-6D41-9C85-0C7E0A9690C0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4182" name="Text Box 219">
            <a:extLst>
              <a:ext uri="{FF2B5EF4-FFF2-40B4-BE49-F238E27FC236}">
                <a16:creationId xmlns:a16="http://schemas.microsoft.com/office/drawing/2014/main" id="{758741AA-0AE7-CC45-98DB-855FA08DA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4183" name="Freeform 220">
            <a:extLst>
              <a:ext uri="{FF2B5EF4-FFF2-40B4-BE49-F238E27FC236}">
                <a16:creationId xmlns:a16="http://schemas.microsoft.com/office/drawing/2014/main" id="{8098620B-2EFC-F641-B38A-A4C1A11B237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184" name="Text Box 221">
            <a:extLst>
              <a:ext uri="{FF2B5EF4-FFF2-40B4-BE49-F238E27FC236}">
                <a16:creationId xmlns:a16="http://schemas.microsoft.com/office/drawing/2014/main" id="{6A6508FC-31C8-DB4D-94F7-750EF6555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4185" name="Text Box 222">
            <a:extLst>
              <a:ext uri="{FF2B5EF4-FFF2-40B4-BE49-F238E27FC236}">
                <a16:creationId xmlns:a16="http://schemas.microsoft.com/office/drawing/2014/main" id="{E224F3E5-B752-8942-AA2A-795133ED8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4186" name="Text Box 223">
            <a:extLst>
              <a:ext uri="{FF2B5EF4-FFF2-40B4-BE49-F238E27FC236}">
                <a16:creationId xmlns:a16="http://schemas.microsoft.com/office/drawing/2014/main" id="{42399687-8AB5-5C4F-BEF6-3AEFE8B928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4187" name="Text Box 224">
            <a:extLst>
              <a:ext uri="{FF2B5EF4-FFF2-40B4-BE49-F238E27FC236}">
                <a16:creationId xmlns:a16="http://schemas.microsoft.com/office/drawing/2014/main" id="{5B98538E-D5AB-404B-9CA4-C2B6EEA10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4188" name="Group 225">
            <a:extLst>
              <a:ext uri="{FF2B5EF4-FFF2-40B4-BE49-F238E27FC236}">
                <a16:creationId xmlns:a16="http://schemas.microsoft.com/office/drawing/2014/main" id="{B4B16BB4-1A6C-7045-84A8-2C5651C7144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4191" name="Text Box 226">
              <a:extLst>
                <a:ext uri="{FF2B5EF4-FFF2-40B4-BE49-F238E27FC236}">
                  <a16:creationId xmlns:a16="http://schemas.microsoft.com/office/drawing/2014/main" id="{A40353F5-E0B2-6C4B-971F-93193E1C5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4192" name="Line 227">
              <a:extLst>
                <a:ext uri="{FF2B5EF4-FFF2-40B4-BE49-F238E27FC236}">
                  <a16:creationId xmlns:a16="http://schemas.microsoft.com/office/drawing/2014/main" id="{8BB87958-C9CE-984F-BB51-2BD66AAD7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189" name="Text Box 228">
            <a:extLst>
              <a:ext uri="{FF2B5EF4-FFF2-40B4-BE49-F238E27FC236}">
                <a16:creationId xmlns:a16="http://schemas.microsoft.com/office/drawing/2014/main" id="{14814C35-5497-C649-B8C2-ACF393535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268913"/>
            <a:ext cx="1016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 (cache miss)</a:t>
            </a:r>
          </a:p>
        </p:txBody>
      </p:sp>
      <p:sp>
        <p:nvSpPr>
          <p:cNvPr id="84190" name="Text Box 229">
            <a:extLst>
              <a:ext uri="{FF2B5EF4-FFF2-40B4-BE49-F238E27FC236}">
                <a16:creationId xmlns:a16="http://schemas.microsoft.com/office/drawing/2014/main" id="{919B4CA4-9FD5-4547-9188-7DC516A18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5927725"/>
            <a:ext cx="15128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5, 54, no exception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8946" name="Group 2">
            <a:extLst>
              <a:ext uri="{FF2B5EF4-FFF2-40B4-BE49-F238E27FC236}">
                <a16:creationId xmlns:a16="http://schemas.microsoft.com/office/drawing/2014/main" id="{B5A80186-D1AE-5342-A050-587E8CD3604F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5121" name="Text Box 130">
            <a:extLst>
              <a:ext uri="{FF2B5EF4-FFF2-40B4-BE49-F238E27FC236}">
                <a16:creationId xmlns:a16="http://schemas.microsoft.com/office/drawing/2014/main" id="{91782603-E7EF-E947-AD92-CE47D65BD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5122" name="Group 131">
            <a:extLst>
              <a:ext uri="{FF2B5EF4-FFF2-40B4-BE49-F238E27FC236}">
                <a16:creationId xmlns:a16="http://schemas.microsoft.com/office/drawing/2014/main" id="{4B51AC3A-CFB0-6046-AD80-AAA91E748F47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5218" name="Rectangle 132">
              <a:extLst>
                <a:ext uri="{FF2B5EF4-FFF2-40B4-BE49-F238E27FC236}">
                  <a16:creationId xmlns:a16="http://schemas.microsoft.com/office/drawing/2014/main" id="{D8960770-9B12-B64B-A85B-B45053AAA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219" name="Text Box 133">
              <a:extLst>
                <a:ext uri="{FF2B5EF4-FFF2-40B4-BE49-F238E27FC236}">
                  <a16:creationId xmlns:a16="http://schemas.microsoft.com/office/drawing/2014/main" id="{55F23DBA-5E88-5245-81DC-9DCA165223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5123" name="Line 134">
            <a:extLst>
              <a:ext uri="{FF2B5EF4-FFF2-40B4-BE49-F238E27FC236}">
                <a16:creationId xmlns:a16="http://schemas.microsoft.com/office/drawing/2014/main" id="{001DCA6F-F47B-A04E-A598-0767F5D4D0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124" name="Line 135">
            <a:extLst>
              <a:ext uri="{FF2B5EF4-FFF2-40B4-BE49-F238E27FC236}">
                <a16:creationId xmlns:a16="http://schemas.microsoft.com/office/drawing/2014/main" id="{2FA79C59-AC0B-6F4E-A851-540EE1C43F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125" name="Freeform 136">
            <a:extLst>
              <a:ext uri="{FF2B5EF4-FFF2-40B4-BE49-F238E27FC236}">
                <a16:creationId xmlns:a16="http://schemas.microsoft.com/office/drawing/2014/main" id="{A75D647D-CA63-354D-A2F9-E18798650E51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126" name="Text Box 137">
            <a:extLst>
              <a:ext uri="{FF2B5EF4-FFF2-40B4-BE49-F238E27FC236}">
                <a16:creationId xmlns:a16="http://schemas.microsoft.com/office/drawing/2014/main" id="{5028241A-D1BD-694B-9CB5-1D7D17C18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5127" name="Freeform 138">
            <a:extLst>
              <a:ext uri="{FF2B5EF4-FFF2-40B4-BE49-F238E27FC236}">
                <a16:creationId xmlns:a16="http://schemas.microsoft.com/office/drawing/2014/main" id="{5592BE33-BFF3-394F-97FF-ABBB3CAE0A31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128" name="Freeform 139">
            <a:extLst>
              <a:ext uri="{FF2B5EF4-FFF2-40B4-BE49-F238E27FC236}">
                <a16:creationId xmlns:a16="http://schemas.microsoft.com/office/drawing/2014/main" id="{6E9708C6-0F57-F542-B3C1-F401F434EA7C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5129" name="Group 140">
            <a:extLst>
              <a:ext uri="{FF2B5EF4-FFF2-40B4-BE49-F238E27FC236}">
                <a16:creationId xmlns:a16="http://schemas.microsoft.com/office/drawing/2014/main" id="{D796B5C7-9721-9249-AEAE-DB7B69C75AF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86000"/>
            <a:ext cx="1319213" cy="246063"/>
            <a:chOff x="4800" y="1440"/>
            <a:chExt cx="831" cy="155"/>
          </a:xfrm>
        </p:grpSpPr>
        <p:sp>
          <p:nvSpPr>
            <p:cNvPr id="85216" name="Text Box 141">
              <a:extLst>
                <a:ext uri="{FF2B5EF4-FFF2-40B4-BE49-F238E27FC236}">
                  <a16:creationId xmlns:a16="http://schemas.microsoft.com/office/drawing/2014/main" id="{F49D2EED-480F-1848-AC28-F6A4110D1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5217" name="Line 142">
              <a:extLst>
                <a:ext uri="{FF2B5EF4-FFF2-40B4-BE49-F238E27FC236}">
                  <a16:creationId xmlns:a16="http://schemas.microsoft.com/office/drawing/2014/main" id="{030DAE76-F0D7-424E-86B1-15F8730E3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39087" name="Group 143">
            <a:extLst>
              <a:ext uri="{FF2B5EF4-FFF2-40B4-BE49-F238E27FC236}">
                <a16:creationId xmlns:a16="http://schemas.microsoft.com/office/drawing/2014/main" id="{426BE6B5-49D6-2A4D-8F86-CC029909928E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9137" name="Group 193">
            <a:extLst>
              <a:ext uri="{FF2B5EF4-FFF2-40B4-BE49-F238E27FC236}">
                <a16:creationId xmlns:a16="http://schemas.microsoft.com/office/drawing/2014/main" id="{C361D768-3A45-F342-8E64-225E6F8C7677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5206" name="Text Box 219">
            <a:extLst>
              <a:ext uri="{FF2B5EF4-FFF2-40B4-BE49-F238E27FC236}">
                <a16:creationId xmlns:a16="http://schemas.microsoft.com/office/drawing/2014/main" id="{3EEBA749-55B6-554B-9DE6-84C4B84CA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5207" name="Freeform 220">
            <a:extLst>
              <a:ext uri="{FF2B5EF4-FFF2-40B4-BE49-F238E27FC236}">
                <a16:creationId xmlns:a16="http://schemas.microsoft.com/office/drawing/2014/main" id="{C3278886-A68C-7248-BFDD-03DB115A056D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208" name="Text Box 221">
            <a:extLst>
              <a:ext uri="{FF2B5EF4-FFF2-40B4-BE49-F238E27FC236}">
                <a16:creationId xmlns:a16="http://schemas.microsoft.com/office/drawing/2014/main" id="{09AAACAE-8935-0C46-AA7C-996CF087D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5209" name="Text Box 222">
            <a:extLst>
              <a:ext uri="{FF2B5EF4-FFF2-40B4-BE49-F238E27FC236}">
                <a16:creationId xmlns:a16="http://schemas.microsoft.com/office/drawing/2014/main" id="{7914268D-8E6F-8344-A464-CF6D5898F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5210" name="Text Box 223">
            <a:extLst>
              <a:ext uri="{FF2B5EF4-FFF2-40B4-BE49-F238E27FC236}">
                <a16:creationId xmlns:a16="http://schemas.microsoft.com/office/drawing/2014/main" id="{4030C5BD-715E-C246-AA8B-D0D4F6812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5211" name="Text Box 224">
            <a:extLst>
              <a:ext uri="{FF2B5EF4-FFF2-40B4-BE49-F238E27FC236}">
                <a16:creationId xmlns:a16="http://schemas.microsoft.com/office/drawing/2014/main" id="{0DB2F0A2-4A38-754C-8D22-F29CA2C41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5212" name="Group 225">
            <a:extLst>
              <a:ext uri="{FF2B5EF4-FFF2-40B4-BE49-F238E27FC236}">
                <a16:creationId xmlns:a16="http://schemas.microsoft.com/office/drawing/2014/main" id="{67F112DD-33A7-F441-A86A-C40B6153A5B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5214" name="Text Box 226">
              <a:extLst>
                <a:ext uri="{FF2B5EF4-FFF2-40B4-BE49-F238E27FC236}">
                  <a16:creationId xmlns:a16="http://schemas.microsoft.com/office/drawing/2014/main" id="{65CE8734-61D6-354C-9F08-13A2447B6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5215" name="Line 227">
              <a:extLst>
                <a:ext uri="{FF2B5EF4-FFF2-40B4-BE49-F238E27FC236}">
                  <a16:creationId xmlns:a16="http://schemas.microsoft.com/office/drawing/2014/main" id="{D6D728F2-85DD-CA46-8C35-8D1D18248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5213" name="Text Box 228">
            <a:extLst>
              <a:ext uri="{FF2B5EF4-FFF2-40B4-BE49-F238E27FC236}">
                <a16:creationId xmlns:a16="http://schemas.microsoft.com/office/drawing/2014/main" id="{39915CD8-A8A4-4A4E-8F7F-9AEBFD2521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5927725"/>
            <a:ext cx="1962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0, 650000, no exception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9970" name="Group 2">
            <a:extLst>
              <a:ext uri="{FF2B5EF4-FFF2-40B4-BE49-F238E27FC236}">
                <a16:creationId xmlns:a16="http://schemas.microsoft.com/office/drawing/2014/main" id="{7E83B744-A6C2-934A-A09F-EECBEB724C33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6145" name="Text Box 130">
            <a:extLst>
              <a:ext uri="{FF2B5EF4-FFF2-40B4-BE49-F238E27FC236}">
                <a16:creationId xmlns:a16="http://schemas.microsoft.com/office/drawing/2014/main" id="{3D7C0F9B-C93A-8847-A6E3-31A5B725A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6146" name="Group 131">
            <a:extLst>
              <a:ext uri="{FF2B5EF4-FFF2-40B4-BE49-F238E27FC236}">
                <a16:creationId xmlns:a16="http://schemas.microsoft.com/office/drawing/2014/main" id="{817D91E6-61EA-8E4E-89A2-D00F6FC63FA3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6244" name="Rectangle 132">
              <a:extLst>
                <a:ext uri="{FF2B5EF4-FFF2-40B4-BE49-F238E27FC236}">
                  <a16:creationId xmlns:a16="http://schemas.microsoft.com/office/drawing/2014/main" id="{BAE70022-1350-B34C-82F6-02BC188D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245" name="Text Box 133">
              <a:extLst>
                <a:ext uri="{FF2B5EF4-FFF2-40B4-BE49-F238E27FC236}">
                  <a16:creationId xmlns:a16="http://schemas.microsoft.com/office/drawing/2014/main" id="{632E6B75-E75D-224A-BCE0-85BE16CDB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6147" name="Line 134">
            <a:extLst>
              <a:ext uri="{FF2B5EF4-FFF2-40B4-BE49-F238E27FC236}">
                <a16:creationId xmlns:a16="http://schemas.microsoft.com/office/drawing/2014/main" id="{D3A01210-67EA-B047-A2FE-2ED774A7B2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148" name="Line 135">
            <a:extLst>
              <a:ext uri="{FF2B5EF4-FFF2-40B4-BE49-F238E27FC236}">
                <a16:creationId xmlns:a16="http://schemas.microsoft.com/office/drawing/2014/main" id="{64940489-46E7-EC4A-B8F7-D8A9D32279D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149" name="Freeform 136">
            <a:extLst>
              <a:ext uri="{FF2B5EF4-FFF2-40B4-BE49-F238E27FC236}">
                <a16:creationId xmlns:a16="http://schemas.microsoft.com/office/drawing/2014/main" id="{A0418345-6D22-3246-B2AD-E86307EDF3BC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150" name="Text Box 137">
            <a:extLst>
              <a:ext uri="{FF2B5EF4-FFF2-40B4-BE49-F238E27FC236}">
                <a16:creationId xmlns:a16="http://schemas.microsoft.com/office/drawing/2014/main" id="{6DD476D2-8159-4648-B0EA-6A08B5A46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6151" name="Freeform 138">
            <a:extLst>
              <a:ext uri="{FF2B5EF4-FFF2-40B4-BE49-F238E27FC236}">
                <a16:creationId xmlns:a16="http://schemas.microsoft.com/office/drawing/2014/main" id="{7992F70D-9AF0-404A-BE21-E43923A84162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152" name="Freeform 139">
            <a:extLst>
              <a:ext uri="{FF2B5EF4-FFF2-40B4-BE49-F238E27FC236}">
                <a16:creationId xmlns:a16="http://schemas.microsoft.com/office/drawing/2014/main" id="{778EC366-3F6B-804A-9C72-9A77BE89A58B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153" name="Group 140">
            <a:extLst>
              <a:ext uri="{FF2B5EF4-FFF2-40B4-BE49-F238E27FC236}">
                <a16:creationId xmlns:a16="http://schemas.microsoft.com/office/drawing/2014/main" id="{B6D64706-E1B3-ED44-9156-60B1833F5A0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438400"/>
            <a:ext cx="1319213" cy="246063"/>
            <a:chOff x="4800" y="1440"/>
            <a:chExt cx="831" cy="155"/>
          </a:xfrm>
        </p:grpSpPr>
        <p:sp>
          <p:nvSpPr>
            <p:cNvPr id="86242" name="Text Box 141">
              <a:extLst>
                <a:ext uri="{FF2B5EF4-FFF2-40B4-BE49-F238E27FC236}">
                  <a16:creationId xmlns:a16="http://schemas.microsoft.com/office/drawing/2014/main" id="{96DEE800-19EB-3D46-A7D4-8333B8C11F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6243" name="Line 142">
              <a:extLst>
                <a:ext uri="{FF2B5EF4-FFF2-40B4-BE49-F238E27FC236}">
                  <a16:creationId xmlns:a16="http://schemas.microsoft.com/office/drawing/2014/main" id="{498ABB93-AEBD-2C48-826C-9A14EF6DF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0111" name="Group 143">
            <a:extLst>
              <a:ext uri="{FF2B5EF4-FFF2-40B4-BE49-F238E27FC236}">
                <a16:creationId xmlns:a16="http://schemas.microsoft.com/office/drawing/2014/main" id="{0C22ECCB-986C-1F4E-A593-CB93E2981B75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0161" name="Group 193">
            <a:extLst>
              <a:ext uri="{FF2B5EF4-FFF2-40B4-BE49-F238E27FC236}">
                <a16:creationId xmlns:a16="http://schemas.microsoft.com/office/drawing/2014/main" id="{211DFB11-A04C-D946-9982-74CEF0E7E61F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650000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6230" name="Text Box 219">
            <a:extLst>
              <a:ext uri="{FF2B5EF4-FFF2-40B4-BE49-F238E27FC236}">
                <a16:creationId xmlns:a16="http://schemas.microsoft.com/office/drawing/2014/main" id="{9C3F0EEF-4DCB-204E-A576-3E5170EFC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6231" name="Freeform 220">
            <a:extLst>
              <a:ext uri="{FF2B5EF4-FFF2-40B4-BE49-F238E27FC236}">
                <a16:creationId xmlns:a16="http://schemas.microsoft.com/office/drawing/2014/main" id="{AD577062-0D5C-084E-BEA7-E002D8A23209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232" name="Text Box 221">
            <a:extLst>
              <a:ext uri="{FF2B5EF4-FFF2-40B4-BE49-F238E27FC236}">
                <a16:creationId xmlns:a16="http://schemas.microsoft.com/office/drawing/2014/main" id="{B4283354-017D-5D44-86A6-ACF14A6ED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6233" name="Text Box 222">
            <a:extLst>
              <a:ext uri="{FF2B5EF4-FFF2-40B4-BE49-F238E27FC236}">
                <a16:creationId xmlns:a16="http://schemas.microsoft.com/office/drawing/2014/main" id="{A392D669-1880-C040-9FDB-8FE3B3A42C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6234" name="Text Box 223">
            <a:extLst>
              <a:ext uri="{FF2B5EF4-FFF2-40B4-BE49-F238E27FC236}">
                <a16:creationId xmlns:a16="http://schemas.microsoft.com/office/drawing/2014/main" id="{0890553C-1185-094E-8684-352ED5256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6235" name="Text Box 224">
            <a:extLst>
              <a:ext uri="{FF2B5EF4-FFF2-40B4-BE49-F238E27FC236}">
                <a16:creationId xmlns:a16="http://schemas.microsoft.com/office/drawing/2014/main" id="{E195D37D-74D0-DB4B-A7CF-47CC47440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6236" name="Group 225">
            <a:extLst>
              <a:ext uri="{FF2B5EF4-FFF2-40B4-BE49-F238E27FC236}">
                <a16:creationId xmlns:a16="http://schemas.microsoft.com/office/drawing/2014/main" id="{DF176AC1-C735-7C4C-8D1F-C4C8D304DB4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6240" name="Text Box 226">
              <a:extLst>
                <a:ext uri="{FF2B5EF4-FFF2-40B4-BE49-F238E27FC236}">
                  <a16:creationId xmlns:a16="http://schemas.microsoft.com/office/drawing/2014/main" id="{0D72BFAE-D08C-7C4A-9401-70D863AF8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6241" name="Line 227">
              <a:extLst>
                <a:ext uri="{FF2B5EF4-FFF2-40B4-BE49-F238E27FC236}">
                  <a16:creationId xmlns:a16="http://schemas.microsoft.com/office/drawing/2014/main" id="{1BA4ADDA-BC61-324F-9184-6C79E5146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6237" name="Text Box 228">
            <a:extLst>
              <a:ext uri="{FF2B5EF4-FFF2-40B4-BE49-F238E27FC236}">
                <a16:creationId xmlns:a16="http://schemas.microsoft.com/office/drawing/2014/main" id="{AAA4673B-98C9-FC41-A17D-4E6573D4C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3588" y="1292225"/>
            <a:ext cx="18462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Reg=R2, Tag=0, Val=650000</a:t>
            </a:r>
          </a:p>
        </p:txBody>
      </p:sp>
      <p:sp>
        <p:nvSpPr>
          <p:cNvPr id="86238" name="Text Box 229">
            <a:extLst>
              <a:ext uri="{FF2B5EF4-FFF2-40B4-BE49-F238E27FC236}">
                <a16:creationId xmlns:a16="http://schemas.microsoft.com/office/drawing/2014/main" id="{8EBF09D8-FC65-5A43-B618-10E8B2206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30464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doesn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 match RF tag, don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  <p:sp>
        <p:nvSpPr>
          <p:cNvPr id="86239" name="Text Box 230">
            <a:extLst>
              <a:ext uri="{FF2B5EF4-FFF2-40B4-BE49-F238E27FC236}">
                <a16:creationId xmlns:a16="http://schemas.microsoft.com/office/drawing/2014/main" id="{488DE878-0E2F-A248-8257-BD0ABA28B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5318125"/>
            <a:ext cx="8112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1 (multiply)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2">
            <a:extLst>
              <a:ext uri="{FF2B5EF4-FFF2-40B4-BE49-F238E27FC236}">
                <a16:creationId xmlns:a16="http://schemas.microsoft.com/office/drawing/2014/main" id="{810D4471-9E54-DE48-95CE-29540DE1C2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Two scenarios next…</a:t>
            </a:r>
          </a:p>
        </p:txBody>
      </p:sp>
      <p:sp>
        <p:nvSpPr>
          <p:cNvPr id="87042" name="Rectangle 3">
            <a:extLst>
              <a:ext uri="{FF2B5EF4-FFF2-40B4-BE49-F238E27FC236}">
                <a16:creationId xmlns:a16="http://schemas.microsoft.com/office/drawing/2014/main" id="{4F00D76A-A154-1C40-B7E4-BE142C2BD97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Multiply</a:t>
            </a:r>
          </a:p>
          <a:p>
            <a:pPr lvl="1"/>
            <a:r>
              <a:rPr lang="en-US" altLang="en-US"/>
              <a:t>Scenario #1: Completes without exception</a:t>
            </a:r>
          </a:p>
          <a:p>
            <a:pPr lvl="1"/>
            <a:r>
              <a:rPr lang="en-US" altLang="en-US"/>
              <a:t>Scenario #2: Raises exception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2018" name="Group 2">
            <a:extLst>
              <a:ext uri="{FF2B5EF4-FFF2-40B4-BE49-F238E27FC236}">
                <a16:creationId xmlns:a16="http://schemas.microsoft.com/office/drawing/2014/main" id="{3F092A15-EFD9-DE44-B451-5E5541C8E879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8193" name="Text Box 130">
            <a:extLst>
              <a:ext uri="{FF2B5EF4-FFF2-40B4-BE49-F238E27FC236}">
                <a16:creationId xmlns:a16="http://schemas.microsoft.com/office/drawing/2014/main" id="{60194769-454C-1D4E-8853-A6180A4FE3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8194" name="Group 131">
            <a:extLst>
              <a:ext uri="{FF2B5EF4-FFF2-40B4-BE49-F238E27FC236}">
                <a16:creationId xmlns:a16="http://schemas.microsoft.com/office/drawing/2014/main" id="{B9ACA8E0-A4F7-7C40-BFB5-743857B240F8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8290" name="Rectangle 132">
              <a:extLst>
                <a:ext uri="{FF2B5EF4-FFF2-40B4-BE49-F238E27FC236}">
                  <a16:creationId xmlns:a16="http://schemas.microsoft.com/office/drawing/2014/main" id="{3332FF91-8BA4-B345-896D-C8E27893A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91" name="Text Box 133">
              <a:extLst>
                <a:ext uri="{FF2B5EF4-FFF2-40B4-BE49-F238E27FC236}">
                  <a16:creationId xmlns:a16="http://schemas.microsoft.com/office/drawing/2014/main" id="{126238A1-06E4-3B45-A13E-19367E6FE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8195" name="Line 134">
            <a:extLst>
              <a:ext uri="{FF2B5EF4-FFF2-40B4-BE49-F238E27FC236}">
                <a16:creationId xmlns:a16="http://schemas.microsoft.com/office/drawing/2014/main" id="{7B6EB942-184A-314E-AA78-00975E2CF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196" name="Line 135">
            <a:extLst>
              <a:ext uri="{FF2B5EF4-FFF2-40B4-BE49-F238E27FC236}">
                <a16:creationId xmlns:a16="http://schemas.microsoft.com/office/drawing/2014/main" id="{0EF7937E-EF8C-494E-A0EE-9BFC217315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197" name="Freeform 136">
            <a:extLst>
              <a:ext uri="{FF2B5EF4-FFF2-40B4-BE49-F238E27FC236}">
                <a16:creationId xmlns:a16="http://schemas.microsoft.com/office/drawing/2014/main" id="{32F5346A-8E95-854B-B62E-37D61DC60EEB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198" name="Text Box 137">
            <a:extLst>
              <a:ext uri="{FF2B5EF4-FFF2-40B4-BE49-F238E27FC236}">
                <a16:creationId xmlns:a16="http://schemas.microsoft.com/office/drawing/2014/main" id="{D24EFA88-1FF4-5748-BE50-0C930E8FB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8199" name="Freeform 138">
            <a:extLst>
              <a:ext uri="{FF2B5EF4-FFF2-40B4-BE49-F238E27FC236}">
                <a16:creationId xmlns:a16="http://schemas.microsoft.com/office/drawing/2014/main" id="{6E6C137A-36EA-6D44-9C06-A589239FB3D4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200" name="Freeform 139">
            <a:extLst>
              <a:ext uri="{FF2B5EF4-FFF2-40B4-BE49-F238E27FC236}">
                <a16:creationId xmlns:a16="http://schemas.microsoft.com/office/drawing/2014/main" id="{58E1274A-4D18-374B-A04E-86F6BEC3CCD1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201" name="Group 140">
            <a:extLst>
              <a:ext uri="{FF2B5EF4-FFF2-40B4-BE49-F238E27FC236}">
                <a16:creationId xmlns:a16="http://schemas.microsoft.com/office/drawing/2014/main" id="{113E848C-D80E-DD41-BC3E-EC50DE3FA95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438400"/>
            <a:ext cx="1319213" cy="246063"/>
            <a:chOff x="4800" y="1440"/>
            <a:chExt cx="831" cy="155"/>
          </a:xfrm>
        </p:grpSpPr>
        <p:sp>
          <p:nvSpPr>
            <p:cNvPr id="88288" name="Text Box 141">
              <a:extLst>
                <a:ext uri="{FF2B5EF4-FFF2-40B4-BE49-F238E27FC236}">
                  <a16:creationId xmlns:a16="http://schemas.microsoft.com/office/drawing/2014/main" id="{1C8BBBA6-FEDC-4A48-B329-168782201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8289" name="Line 142">
              <a:extLst>
                <a:ext uri="{FF2B5EF4-FFF2-40B4-BE49-F238E27FC236}">
                  <a16:creationId xmlns:a16="http://schemas.microsoft.com/office/drawing/2014/main" id="{0CA47AC9-5C26-A14E-B5B9-5B5923836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2159" name="Group 143">
            <a:extLst>
              <a:ext uri="{FF2B5EF4-FFF2-40B4-BE49-F238E27FC236}">
                <a16:creationId xmlns:a16="http://schemas.microsoft.com/office/drawing/2014/main" id="{376FF294-0041-4A43-A435-A84607E321FC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2209" name="Group 193">
            <a:extLst>
              <a:ext uri="{FF2B5EF4-FFF2-40B4-BE49-F238E27FC236}">
                <a16:creationId xmlns:a16="http://schemas.microsoft.com/office/drawing/2014/main" id="{AE766698-C288-CA4A-A725-3F9EE663676C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650000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8278" name="Text Box 219">
            <a:extLst>
              <a:ext uri="{FF2B5EF4-FFF2-40B4-BE49-F238E27FC236}">
                <a16:creationId xmlns:a16="http://schemas.microsoft.com/office/drawing/2014/main" id="{2E1FDA1A-58EE-5E46-9721-45E13DDDD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8279" name="Freeform 220">
            <a:extLst>
              <a:ext uri="{FF2B5EF4-FFF2-40B4-BE49-F238E27FC236}">
                <a16:creationId xmlns:a16="http://schemas.microsoft.com/office/drawing/2014/main" id="{E3CE4EE2-AEFB-CC48-8195-58514E1147FD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280" name="Text Box 221">
            <a:extLst>
              <a:ext uri="{FF2B5EF4-FFF2-40B4-BE49-F238E27FC236}">
                <a16:creationId xmlns:a16="http://schemas.microsoft.com/office/drawing/2014/main" id="{8F6D426B-0191-4149-A41A-36F83193B9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8281" name="Text Box 222">
            <a:extLst>
              <a:ext uri="{FF2B5EF4-FFF2-40B4-BE49-F238E27FC236}">
                <a16:creationId xmlns:a16="http://schemas.microsoft.com/office/drawing/2014/main" id="{4A015142-45E9-2046-BE02-C7C820E2F3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8282" name="Text Box 223">
            <a:extLst>
              <a:ext uri="{FF2B5EF4-FFF2-40B4-BE49-F238E27FC236}">
                <a16:creationId xmlns:a16="http://schemas.microsoft.com/office/drawing/2014/main" id="{D0EAE0B7-211C-4540-B57D-1C7B4E9B3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8283" name="Text Box 224">
            <a:extLst>
              <a:ext uri="{FF2B5EF4-FFF2-40B4-BE49-F238E27FC236}">
                <a16:creationId xmlns:a16="http://schemas.microsoft.com/office/drawing/2014/main" id="{C631502D-2856-0047-8FB0-8A509D0FC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8284" name="Group 225">
            <a:extLst>
              <a:ext uri="{FF2B5EF4-FFF2-40B4-BE49-F238E27FC236}">
                <a16:creationId xmlns:a16="http://schemas.microsoft.com/office/drawing/2014/main" id="{69E31AE7-93CB-A042-B595-14AEA122B53E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8286" name="Text Box 226">
              <a:extLst>
                <a:ext uri="{FF2B5EF4-FFF2-40B4-BE49-F238E27FC236}">
                  <a16:creationId xmlns:a16="http://schemas.microsoft.com/office/drawing/2014/main" id="{865101DF-BCE8-BA4A-8938-4BBA28573C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8287" name="Line 227">
              <a:extLst>
                <a:ext uri="{FF2B5EF4-FFF2-40B4-BE49-F238E27FC236}">
                  <a16:creationId xmlns:a16="http://schemas.microsoft.com/office/drawing/2014/main" id="{E57367ED-D1BE-4542-83B1-462CB3FB3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285" name="Text Box 228">
            <a:extLst>
              <a:ext uri="{FF2B5EF4-FFF2-40B4-BE49-F238E27FC236}">
                <a16:creationId xmlns:a16="http://schemas.microsoft.com/office/drawing/2014/main" id="{04AACD83-E241-E44B-8A46-0BF221E99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5927725"/>
            <a:ext cx="16811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1, 49400000, no exception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3042" name="Group 2">
            <a:extLst>
              <a:ext uri="{FF2B5EF4-FFF2-40B4-BE49-F238E27FC236}">
                <a16:creationId xmlns:a16="http://schemas.microsoft.com/office/drawing/2014/main" id="{7994F953-238A-1C4D-BF92-3A42CBBEF176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9217" name="Text Box 130">
            <a:extLst>
              <a:ext uri="{FF2B5EF4-FFF2-40B4-BE49-F238E27FC236}">
                <a16:creationId xmlns:a16="http://schemas.microsoft.com/office/drawing/2014/main" id="{66F8F372-D35A-9347-8759-1AFA4F1057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89218" name="Group 131">
            <a:extLst>
              <a:ext uri="{FF2B5EF4-FFF2-40B4-BE49-F238E27FC236}">
                <a16:creationId xmlns:a16="http://schemas.microsoft.com/office/drawing/2014/main" id="{88B81112-F261-1D4A-9ABD-6B937D129839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89315" name="Rectangle 132">
              <a:extLst>
                <a:ext uri="{FF2B5EF4-FFF2-40B4-BE49-F238E27FC236}">
                  <a16:creationId xmlns:a16="http://schemas.microsoft.com/office/drawing/2014/main" id="{AB10807A-1C60-F84E-87ED-A4A4E43A1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16" name="Text Box 133">
              <a:extLst>
                <a:ext uri="{FF2B5EF4-FFF2-40B4-BE49-F238E27FC236}">
                  <a16:creationId xmlns:a16="http://schemas.microsoft.com/office/drawing/2014/main" id="{289B32EC-88A9-9F49-BED0-98DA23832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89219" name="Line 134">
            <a:extLst>
              <a:ext uri="{FF2B5EF4-FFF2-40B4-BE49-F238E27FC236}">
                <a16:creationId xmlns:a16="http://schemas.microsoft.com/office/drawing/2014/main" id="{C8679FBE-9FA8-7946-8715-2391B468BC3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220" name="Line 135">
            <a:extLst>
              <a:ext uri="{FF2B5EF4-FFF2-40B4-BE49-F238E27FC236}">
                <a16:creationId xmlns:a16="http://schemas.microsoft.com/office/drawing/2014/main" id="{0DC0BE6D-31F6-3B45-BC91-FB955627A9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221" name="Freeform 136">
            <a:extLst>
              <a:ext uri="{FF2B5EF4-FFF2-40B4-BE49-F238E27FC236}">
                <a16:creationId xmlns:a16="http://schemas.microsoft.com/office/drawing/2014/main" id="{1EFF7629-CF7E-6E4E-BF27-CE63D4AE4223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222" name="Text Box 137">
            <a:extLst>
              <a:ext uri="{FF2B5EF4-FFF2-40B4-BE49-F238E27FC236}">
                <a16:creationId xmlns:a16="http://schemas.microsoft.com/office/drawing/2014/main" id="{4D7EFD72-2806-234E-9E1A-48D9FDD11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89223" name="Freeform 138">
            <a:extLst>
              <a:ext uri="{FF2B5EF4-FFF2-40B4-BE49-F238E27FC236}">
                <a16:creationId xmlns:a16="http://schemas.microsoft.com/office/drawing/2014/main" id="{D5ABCE97-BF7B-014C-8C0A-BED30578A94D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224" name="Freeform 139">
            <a:extLst>
              <a:ext uri="{FF2B5EF4-FFF2-40B4-BE49-F238E27FC236}">
                <a16:creationId xmlns:a16="http://schemas.microsoft.com/office/drawing/2014/main" id="{05457F28-CE49-7147-BE7B-F0B89044CC8B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225" name="Group 140">
            <a:extLst>
              <a:ext uri="{FF2B5EF4-FFF2-40B4-BE49-F238E27FC236}">
                <a16:creationId xmlns:a16="http://schemas.microsoft.com/office/drawing/2014/main" id="{BD542098-F7B4-C249-B7BC-C645B311511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651125"/>
            <a:ext cx="1319213" cy="246063"/>
            <a:chOff x="4800" y="1440"/>
            <a:chExt cx="831" cy="155"/>
          </a:xfrm>
        </p:grpSpPr>
        <p:sp>
          <p:nvSpPr>
            <p:cNvPr id="89313" name="Text Box 141">
              <a:extLst>
                <a:ext uri="{FF2B5EF4-FFF2-40B4-BE49-F238E27FC236}">
                  <a16:creationId xmlns:a16="http://schemas.microsoft.com/office/drawing/2014/main" id="{14AA6B85-E839-3846-A76E-0737EDBA6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89314" name="Line 142">
              <a:extLst>
                <a:ext uri="{FF2B5EF4-FFF2-40B4-BE49-F238E27FC236}">
                  <a16:creationId xmlns:a16="http://schemas.microsoft.com/office/drawing/2014/main" id="{99B1898E-0C42-6045-AFF0-9E6AACF35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3183" name="Group 143">
            <a:extLst>
              <a:ext uri="{FF2B5EF4-FFF2-40B4-BE49-F238E27FC236}">
                <a16:creationId xmlns:a16="http://schemas.microsoft.com/office/drawing/2014/main" id="{32DF5886-C324-2A48-A549-67DB0D557827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3233" name="Group 193">
            <a:extLst>
              <a:ext uri="{FF2B5EF4-FFF2-40B4-BE49-F238E27FC236}">
                <a16:creationId xmlns:a16="http://schemas.microsoft.com/office/drawing/2014/main" id="{4FAA81AD-05E9-ED4C-B50B-E2094C78C9B5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650000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9302" name="Text Box 219">
            <a:extLst>
              <a:ext uri="{FF2B5EF4-FFF2-40B4-BE49-F238E27FC236}">
                <a16:creationId xmlns:a16="http://schemas.microsoft.com/office/drawing/2014/main" id="{EE11FF9A-CD8F-784C-B2F3-FC566FC991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89303" name="Freeform 220">
            <a:extLst>
              <a:ext uri="{FF2B5EF4-FFF2-40B4-BE49-F238E27FC236}">
                <a16:creationId xmlns:a16="http://schemas.microsoft.com/office/drawing/2014/main" id="{72519890-111C-3646-99C5-368DE8194437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304" name="Text Box 221">
            <a:extLst>
              <a:ext uri="{FF2B5EF4-FFF2-40B4-BE49-F238E27FC236}">
                <a16:creationId xmlns:a16="http://schemas.microsoft.com/office/drawing/2014/main" id="{A49FD189-DAD5-2046-A359-77D10515B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89305" name="Text Box 222">
            <a:extLst>
              <a:ext uri="{FF2B5EF4-FFF2-40B4-BE49-F238E27FC236}">
                <a16:creationId xmlns:a16="http://schemas.microsoft.com/office/drawing/2014/main" id="{5535299F-FA58-4544-84EA-76652AC996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89306" name="Text Box 223">
            <a:extLst>
              <a:ext uri="{FF2B5EF4-FFF2-40B4-BE49-F238E27FC236}">
                <a16:creationId xmlns:a16="http://schemas.microsoft.com/office/drawing/2014/main" id="{E301C82B-FDD9-5547-9148-B85F78B658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89307" name="Text Box 224">
            <a:extLst>
              <a:ext uri="{FF2B5EF4-FFF2-40B4-BE49-F238E27FC236}">
                <a16:creationId xmlns:a16="http://schemas.microsoft.com/office/drawing/2014/main" id="{E1EC408E-372F-C24E-A607-FE39639FF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89308" name="Group 225">
            <a:extLst>
              <a:ext uri="{FF2B5EF4-FFF2-40B4-BE49-F238E27FC236}">
                <a16:creationId xmlns:a16="http://schemas.microsoft.com/office/drawing/2014/main" id="{5E984E14-C41E-4549-A714-7A389DD1B380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89311" name="Text Box 226">
              <a:extLst>
                <a:ext uri="{FF2B5EF4-FFF2-40B4-BE49-F238E27FC236}">
                  <a16:creationId xmlns:a16="http://schemas.microsoft.com/office/drawing/2014/main" id="{B7FAFAD4-2081-574F-96D0-C6F7FD743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89312" name="Line 227">
              <a:extLst>
                <a:ext uri="{FF2B5EF4-FFF2-40B4-BE49-F238E27FC236}">
                  <a16:creationId xmlns:a16="http://schemas.microsoft.com/office/drawing/2014/main" id="{0823C87B-9381-4A4A-B25F-83AA06B19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9309" name="Text Box 228">
            <a:extLst>
              <a:ext uri="{FF2B5EF4-FFF2-40B4-BE49-F238E27FC236}">
                <a16:creationId xmlns:a16="http://schemas.microsoft.com/office/drawing/2014/main" id="{0E9D7915-BE3B-4247-89E6-2C8317D64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6288" y="1292225"/>
            <a:ext cx="19875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Reg=R3, Tag=1, Val=49400000</a:t>
            </a:r>
          </a:p>
        </p:txBody>
      </p:sp>
      <p:sp>
        <p:nvSpPr>
          <p:cNvPr id="89310" name="Text Box 229">
            <a:extLst>
              <a:ext uri="{FF2B5EF4-FFF2-40B4-BE49-F238E27FC236}">
                <a16:creationId xmlns:a16="http://schemas.microsoft.com/office/drawing/2014/main" id="{0C97C29C-FE4B-A744-BEA6-B8777B44EC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2524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matches RF tag, so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4066" name="Group 2">
            <a:extLst>
              <a:ext uri="{FF2B5EF4-FFF2-40B4-BE49-F238E27FC236}">
                <a16:creationId xmlns:a16="http://schemas.microsoft.com/office/drawing/2014/main" id="{A5EB159E-C20B-8F4C-9836-306BB1034072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0241" name="Text Box 130">
            <a:extLst>
              <a:ext uri="{FF2B5EF4-FFF2-40B4-BE49-F238E27FC236}">
                <a16:creationId xmlns:a16="http://schemas.microsoft.com/office/drawing/2014/main" id="{CE182D3C-81B1-AD41-B167-48A50AFD22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0242" name="Group 131">
            <a:extLst>
              <a:ext uri="{FF2B5EF4-FFF2-40B4-BE49-F238E27FC236}">
                <a16:creationId xmlns:a16="http://schemas.microsoft.com/office/drawing/2014/main" id="{13A37E2B-B254-4643-A02B-1A7CDF34DF1B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0339" name="Rectangle 132">
              <a:extLst>
                <a:ext uri="{FF2B5EF4-FFF2-40B4-BE49-F238E27FC236}">
                  <a16:creationId xmlns:a16="http://schemas.microsoft.com/office/drawing/2014/main" id="{AACFA6B0-39C2-5A46-A33B-5D45C16EC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340" name="Text Box 133">
              <a:extLst>
                <a:ext uri="{FF2B5EF4-FFF2-40B4-BE49-F238E27FC236}">
                  <a16:creationId xmlns:a16="http://schemas.microsoft.com/office/drawing/2014/main" id="{9779F4B6-1B0F-AA42-8D9B-6214EB215D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0243" name="Line 134">
            <a:extLst>
              <a:ext uri="{FF2B5EF4-FFF2-40B4-BE49-F238E27FC236}">
                <a16:creationId xmlns:a16="http://schemas.microsoft.com/office/drawing/2014/main" id="{AC1290A1-7B3C-B74B-8E49-1531D2087E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244" name="Line 135">
            <a:extLst>
              <a:ext uri="{FF2B5EF4-FFF2-40B4-BE49-F238E27FC236}">
                <a16:creationId xmlns:a16="http://schemas.microsoft.com/office/drawing/2014/main" id="{5A2E6EC9-D128-A04C-AECD-EA60668A3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245" name="Freeform 136">
            <a:extLst>
              <a:ext uri="{FF2B5EF4-FFF2-40B4-BE49-F238E27FC236}">
                <a16:creationId xmlns:a16="http://schemas.microsoft.com/office/drawing/2014/main" id="{B2678717-94D8-0248-A030-9A7FC1A23A53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246" name="Text Box 137">
            <a:extLst>
              <a:ext uri="{FF2B5EF4-FFF2-40B4-BE49-F238E27FC236}">
                <a16:creationId xmlns:a16="http://schemas.microsoft.com/office/drawing/2014/main" id="{A62F5F02-49F6-CF4F-93AA-1A06770A6B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0247" name="Freeform 138">
            <a:extLst>
              <a:ext uri="{FF2B5EF4-FFF2-40B4-BE49-F238E27FC236}">
                <a16:creationId xmlns:a16="http://schemas.microsoft.com/office/drawing/2014/main" id="{3C097654-3782-2C45-A382-6870CE8E19C3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248" name="Freeform 139">
            <a:extLst>
              <a:ext uri="{FF2B5EF4-FFF2-40B4-BE49-F238E27FC236}">
                <a16:creationId xmlns:a16="http://schemas.microsoft.com/office/drawing/2014/main" id="{CF518D49-95FF-7043-A9B6-EF95A8C056DD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0249" name="Group 140">
            <a:extLst>
              <a:ext uri="{FF2B5EF4-FFF2-40B4-BE49-F238E27FC236}">
                <a16:creationId xmlns:a16="http://schemas.microsoft.com/office/drawing/2014/main" id="{044FC4F9-FF74-B648-9A70-B6BDCFCE00F0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879725"/>
            <a:ext cx="1319213" cy="246063"/>
            <a:chOff x="4800" y="1440"/>
            <a:chExt cx="831" cy="155"/>
          </a:xfrm>
        </p:grpSpPr>
        <p:sp>
          <p:nvSpPr>
            <p:cNvPr id="90337" name="Text Box 141">
              <a:extLst>
                <a:ext uri="{FF2B5EF4-FFF2-40B4-BE49-F238E27FC236}">
                  <a16:creationId xmlns:a16="http://schemas.microsoft.com/office/drawing/2014/main" id="{B776CEBD-6223-5D42-B472-86CB237FF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90338" name="Line 142">
              <a:extLst>
                <a:ext uri="{FF2B5EF4-FFF2-40B4-BE49-F238E27FC236}">
                  <a16:creationId xmlns:a16="http://schemas.microsoft.com/office/drawing/2014/main" id="{D99DF63A-9EE4-1147-9E9B-9B8E6293A3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4207" name="Group 143">
            <a:extLst>
              <a:ext uri="{FF2B5EF4-FFF2-40B4-BE49-F238E27FC236}">
                <a16:creationId xmlns:a16="http://schemas.microsoft.com/office/drawing/2014/main" id="{E3DECCF1-F66B-A740-8757-9216211FC286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4257" name="Group 193">
            <a:extLst>
              <a:ext uri="{FF2B5EF4-FFF2-40B4-BE49-F238E27FC236}">
                <a16:creationId xmlns:a16="http://schemas.microsoft.com/office/drawing/2014/main" id="{3C3C83D0-5EBE-C841-A128-3E3B8D8538B1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666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0326" name="Text Box 219">
            <a:extLst>
              <a:ext uri="{FF2B5EF4-FFF2-40B4-BE49-F238E27FC236}">
                <a16:creationId xmlns:a16="http://schemas.microsoft.com/office/drawing/2014/main" id="{0BAC2E2E-748A-E549-A899-43645B825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0327" name="Freeform 220">
            <a:extLst>
              <a:ext uri="{FF2B5EF4-FFF2-40B4-BE49-F238E27FC236}">
                <a16:creationId xmlns:a16="http://schemas.microsoft.com/office/drawing/2014/main" id="{6920D7DC-5875-F14E-AA52-A97C66F145DE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328" name="Text Box 221">
            <a:extLst>
              <a:ext uri="{FF2B5EF4-FFF2-40B4-BE49-F238E27FC236}">
                <a16:creationId xmlns:a16="http://schemas.microsoft.com/office/drawing/2014/main" id="{6A643421-0911-A144-B6F9-01CC7D9EB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0329" name="Text Box 222">
            <a:extLst>
              <a:ext uri="{FF2B5EF4-FFF2-40B4-BE49-F238E27FC236}">
                <a16:creationId xmlns:a16="http://schemas.microsoft.com/office/drawing/2014/main" id="{E552B64E-4537-6048-BEDF-15223C4D5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0330" name="Text Box 223">
            <a:extLst>
              <a:ext uri="{FF2B5EF4-FFF2-40B4-BE49-F238E27FC236}">
                <a16:creationId xmlns:a16="http://schemas.microsoft.com/office/drawing/2014/main" id="{0216D913-F51C-4342-B971-84B49E145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0331" name="Text Box 224">
            <a:extLst>
              <a:ext uri="{FF2B5EF4-FFF2-40B4-BE49-F238E27FC236}">
                <a16:creationId xmlns:a16="http://schemas.microsoft.com/office/drawing/2014/main" id="{98EBA598-43ED-3644-9F6B-60E96215D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0332" name="Group 225">
            <a:extLst>
              <a:ext uri="{FF2B5EF4-FFF2-40B4-BE49-F238E27FC236}">
                <a16:creationId xmlns:a16="http://schemas.microsoft.com/office/drawing/2014/main" id="{732C583D-E38A-B848-9F12-3CDE1231570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90335" name="Text Box 226">
              <a:extLst>
                <a:ext uri="{FF2B5EF4-FFF2-40B4-BE49-F238E27FC236}">
                  <a16:creationId xmlns:a16="http://schemas.microsoft.com/office/drawing/2014/main" id="{C7ABE188-3BE5-424B-89A9-8551C519E2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0336" name="Line 227">
              <a:extLst>
                <a:ext uri="{FF2B5EF4-FFF2-40B4-BE49-F238E27FC236}">
                  <a16:creationId xmlns:a16="http://schemas.microsoft.com/office/drawing/2014/main" id="{85CB1042-F3E9-0449-9A0A-8214E49AD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0333" name="Text Box 228">
            <a:extLst>
              <a:ext uri="{FF2B5EF4-FFF2-40B4-BE49-F238E27FC236}">
                <a16:creationId xmlns:a16="http://schemas.microsoft.com/office/drawing/2014/main" id="{1F0C7674-B3DC-9143-8AF0-88363BD50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6288" y="1292225"/>
            <a:ext cx="16351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Reg=R2, Tag=2, Val=666</a:t>
            </a:r>
          </a:p>
        </p:txBody>
      </p:sp>
      <p:sp>
        <p:nvSpPr>
          <p:cNvPr id="90334" name="Text Box 229">
            <a:extLst>
              <a:ext uri="{FF2B5EF4-FFF2-40B4-BE49-F238E27FC236}">
                <a16:creationId xmlns:a16="http://schemas.microsoft.com/office/drawing/2014/main" id="{EDDB1783-035D-6944-9209-F82CF5767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30876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does not match RF tag, don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5090" name="Group 2">
            <a:extLst>
              <a:ext uri="{FF2B5EF4-FFF2-40B4-BE49-F238E27FC236}">
                <a16:creationId xmlns:a16="http://schemas.microsoft.com/office/drawing/2014/main" id="{BA728199-816A-DC48-8F5A-73E637CB489E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1265" name="Text Box 130">
            <a:extLst>
              <a:ext uri="{FF2B5EF4-FFF2-40B4-BE49-F238E27FC236}">
                <a16:creationId xmlns:a16="http://schemas.microsoft.com/office/drawing/2014/main" id="{47B0FCBD-DF57-0045-86B7-395649D85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1266" name="Group 131">
            <a:extLst>
              <a:ext uri="{FF2B5EF4-FFF2-40B4-BE49-F238E27FC236}">
                <a16:creationId xmlns:a16="http://schemas.microsoft.com/office/drawing/2014/main" id="{7F41C7BE-814B-9948-ACA4-395B1E19D01C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1363" name="Rectangle 132">
              <a:extLst>
                <a:ext uri="{FF2B5EF4-FFF2-40B4-BE49-F238E27FC236}">
                  <a16:creationId xmlns:a16="http://schemas.microsoft.com/office/drawing/2014/main" id="{42879CD5-9BD2-6D4A-AEBF-079936C94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364" name="Text Box 133">
              <a:extLst>
                <a:ext uri="{FF2B5EF4-FFF2-40B4-BE49-F238E27FC236}">
                  <a16:creationId xmlns:a16="http://schemas.microsoft.com/office/drawing/2014/main" id="{619C2457-C716-E64E-9B7D-853766767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1267" name="Line 134">
            <a:extLst>
              <a:ext uri="{FF2B5EF4-FFF2-40B4-BE49-F238E27FC236}">
                <a16:creationId xmlns:a16="http://schemas.microsoft.com/office/drawing/2014/main" id="{3163854F-E3AB-4F45-82BA-D97DE8C3EA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268" name="Line 135">
            <a:extLst>
              <a:ext uri="{FF2B5EF4-FFF2-40B4-BE49-F238E27FC236}">
                <a16:creationId xmlns:a16="http://schemas.microsoft.com/office/drawing/2014/main" id="{A636DC88-5288-0144-97C6-BCC60FEA5C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269" name="Freeform 136">
            <a:extLst>
              <a:ext uri="{FF2B5EF4-FFF2-40B4-BE49-F238E27FC236}">
                <a16:creationId xmlns:a16="http://schemas.microsoft.com/office/drawing/2014/main" id="{DCB72A0D-F6AB-7D47-AFB1-7C4F8BC62F70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270" name="Text Box 137">
            <a:extLst>
              <a:ext uri="{FF2B5EF4-FFF2-40B4-BE49-F238E27FC236}">
                <a16:creationId xmlns:a16="http://schemas.microsoft.com/office/drawing/2014/main" id="{B3300E73-BBF1-384E-B37E-22D91A1F7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1271" name="Freeform 138">
            <a:extLst>
              <a:ext uri="{FF2B5EF4-FFF2-40B4-BE49-F238E27FC236}">
                <a16:creationId xmlns:a16="http://schemas.microsoft.com/office/drawing/2014/main" id="{D69567AD-AE0D-9443-88D0-7E0E590E4EAE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272" name="Freeform 139">
            <a:extLst>
              <a:ext uri="{FF2B5EF4-FFF2-40B4-BE49-F238E27FC236}">
                <a16:creationId xmlns:a16="http://schemas.microsoft.com/office/drawing/2014/main" id="{6700FD92-7DB6-B243-8609-AFD9B81F88F8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273" name="Group 140">
            <a:extLst>
              <a:ext uri="{FF2B5EF4-FFF2-40B4-BE49-F238E27FC236}">
                <a16:creationId xmlns:a16="http://schemas.microsoft.com/office/drawing/2014/main" id="{96B16A99-413F-3C45-B5EC-8727C6F0FA2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048000"/>
            <a:ext cx="1319213" cy="246063"/>
            <a:chOff x="4800" y="1440"/>
            <a:chExt cx="831" cy="155"/>
          </a:xfrm>
        </p:grpSpPr>
        <p:sp>
          <p:nvSpPr>
            <p:cNvPr id="91361" name="Text Box 141">
              <a:extLst>
                <a:ext uri="{FF2B5EF4-FFF2-40B4-BE49-F238E27FC236}">
                  <a16:creationId xmlns:a16="http://schemas.microsoft.com/office/drawing/2014/main" id="{98B2966D-360D-7247-A975-299D18911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91362" name="Line 142">
              <a:extLst>
                <a:ext uri="{FF2B5EF4-FFF2-40B4-BE49-F238E27FC236}">
                  <a16:creationId xmlns:a16="http://schemas.microsoft.com/office/drawing/2014/main" id="{2131E5F3-08CA-8E44-B3E7-D03310EA6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5231" name="Group 143">
            <a:extLst>
              <a:ext uri="{FF2B5EF4-FFF2-40B4-BE49-F238E27FC236}">
                <a16:creationId xmlns:a16="http://schemas.microsoft.com/office/drawing/2014/main" id="{CA8F6A51-D73F-7C4E-8B62-D74947424E30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5281" name="Group 193">
            <a:extLst>
              <a:ext uri="{FF2B5EF4-FFF2-40B4-BE49-F238E27FC236}">
                <a16:creationId xmlns:a16="http://schemas.microsoft.com/office/drawing/2014/main" id="{589B9551-28C7-5F45-81DE-5EF6EF694712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666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1350" name="Text Box 219">
            <a:extLst>
              <a:ext uri="{FF2B5EF4-FFF2-40B4-BE49-F238E27FC236}">
                <a16:creationId xmlns:a16="http://schemas.microsoft.com/office/drawing/2014/main" id="{CE44D31C-9362-934D-B307-50FD3DE72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1351" name="Freeform 220">
            <a:extLst>
              <a:ext uri="{FF2B5EF4-FFF2-40B4-BE49-F238E27FC236}">
                <a16:creationId xmlns:a16="http://schemas.microsoft.com/office/drawing/2014/main" id="{1824691D-6CE0-2E42-9415-4F8BFD303E41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352" name="Text Box 221">
            <a:extLst>
              <a:ext uri="{FF2B5EF4-FFF2-40B4-BE49-F238E27FC236}">
                <a16:creationId xmlns:a16="http://schemas.microsoft.com/office/drawing/2014/main" id="{D148986C-A026-DF47-9AC9-8155702BF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1353" name="Text Box 222">
            <a:extLst>
              <a:ext uri="{FF2B5EF4-FFF2-40B4-BE49-F238E27FC236}">
                <a16:creationId xmlns:a16="http://schemas.microsoft.com/office/drawing/2014/main" id="{77F91466-DB3A-7E4C-A895-117AD2FFC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1354" name="Text Box 223">
            <a:extLst>
              <a:ext uri="{FF2B5EF4-FFF2-40B4-BE49-F238E27FC236}">
                <a16:creationId xmlns:a16="http://schemas.microsoft.com/office/drawing/2014/main" id="{9FA06BB1-87AA-AC44-804F-2D7F8C710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1355" name="Text Box 224">
            <a:extLst>
              <a:ext uri="{FF2B5EF4-FFF2-40B4-BE49-F238E27FC236}">
                <a16:creationId xmlns:a16="http://schemas.microsoft.com/office/drawing/2014/main" id="{795A2099-B45B-184C-AAA9-D19CAEAF5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1356" name="Group 225">
            <a:extLst>
              <a:ext uri="{FF2B5EF4-FFF2-40B4-BE49-F238E27FC236}">
                <a16:creationId xmlns:a16="http://schemas.microsoft.com/office/drawing/2014/main" id="{94456FB2-5F80-7A46-A393-229F0101633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91359" name="Text Box 226">
              <a:extLst>
                <a:ext uri="{FF2B5EF4-FFF2-40B4-BE49-F238E27FC236}">
                  <a16:creationId xmlns:a16="http://schemas.microsoft.com/office/drawing/2014/main" id="{4D9DDAE7-1022-7D47-82F7-733DAD104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1360" name="Line 227">
              <a:extLst>
                <a:ext uri="{FF2B5EF4-FFF2-40B4-BE49-F238E27FC236}">
                  <a16:creationId xmlns:a16="http://schemas.microsoft.com/office/drawing/2014/main" id="{B25B54CE-4367-C845-B801-7FC530C5A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357" name="Text Box 228">
            <a:extLst>
              <a:ext uri="{FF2B5EF4-FFF2-40B4-BE49-F238E27FC236}">
                <a16:creationId xmlns:a16="http://schemas.microsoft.com/office/drawing/2014/main" id="{A4C4CC7C-CED5-C04D-94F7-F83ADD8D18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6288" y="1292225"/>
            <a:ext cx="16351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Reg=R1, Tag=3, Val=742</a:t>
            </a:r>
          </a:p>
        </p:txBody>
      </p:sp>
      <p:sp>
        <p:nvSpPr>
          <p:cNvPr id="91358" name="Text Box 229">
            <a:extLst>
              <a:ext uri="{FF2B5EF4-FFF2-40B4-BE49-F238E27FC236}">
                <a16:creationId xmlns:a16="http://schemas.microsoft.com/office/drawing/2014/main" id="{CBAA44AE-4A7D-4E4C-84BF-1F9883CFD6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2524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matches RF tag, so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6114" name="Group 2">
            <a:extLst>
              <a:ext uri="{FF2B5EF4-FFF2-40B4-BE49-F238E27FC236}">
                <a16:creationId xmlns:a16="http://schemas.microsoft.com/office/drawing/2014/main" id="{212601BA-2633-E549-A199-93E301104281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2289" name="Text Box 130">
            <a:extLst>
              <a:ext uri="{FF2B5EF4-FFF2-40B4-BE49-F238E27FC236}">
                <a16:creationId xmlns:a16="http://schemas.microsoft.com/office/drawing/2014/main" id="{2D153F83-980C-CD47-8040-80C408CD80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2290" name="Group 131">
            <a:extLst>
              <a:ext uri="{FF2B5EF4-FFF2-40B4-BE49-F238E27FC236}">
                <a16:creationId xmlns:a16="http://schemas.microsoft.com/office/drawing/2014/main" id="{33BCF822-1FEA-BE44-B2EE-1573B0644873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2387" name="Rectangle 132">
              <a:extLst>
                <a:ext uri="{FF2B5EF4-FFF2-40B4-BE49-F238E27FC236}">
                  <a16:creationId xmlns:a16="http://schemas.microsoft.com/office/drawing/2014/main" id="{859D25DF-2850-3049-BBEA-215DF530F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388" name="Text Box 133">
              <a:extLst>
                <a:ext uri="{FF2B5EF4-FFF2-40B4-BE49-F238E27FC236}">
                  <a16:creationId xmlns:a16="http://schemas.microsoft.com/office/drawing/2014/main" id="{B5B77A10-037F-084E-BF5E-93F3C0DF5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2291" name="Line 134">
            <a:extLst>
              <a:ext uri="{FF2B5EF4-FFF2-40B4-BE49-F238E27FC236}">
                <a16:creationId xmlns:a16="http://schemas.microsoft.com/office/drawing/2014/main" id="{60E9D3EE-9076-6B4E-A7CB-94A32C8416F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92" name="Line 135">
            <a:extLst>
              <a:ext uri="{FF2B5EF4-FFF2-40B4-BE49-F238E27FC236}">
                <a16:creationId xmlns:a16="http://schemas.microsoft.com/office/drawing/2014/main" id="{12968905-27D8-A149-9663-130C82D60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93" name="Freeform 136">
            <a:extLst>
              <a:ext uri="{FF2B5EF4-FFF2-40B4-BE49-F238E27FC236}">
                <a16:creationId xmlns:a16="http://schemas.microsoft.com/office/drawing/2014/main" id="{63A96D2A-C5ED-B649-8A93-11C46C43E457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94" name="Text Box 137">
            <a:extLst>
              <a:ext uri="{FF2B5EF4-FFF2-40B4-BE49-F238E27FC236}">
                <a16:creationId xmlns:a16="http://schemas.microsoft.com/office/drawing/2014/main" id="{9E3AE2BB-F132-314F-B26E-6BC4C3730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2295" name="Freeform 138">
            <a:extLst>
              <a:ext uri="{FF2B5EF4-FFF2-40B4-BE49-F238E27FC236}">
                <a16:creationId xmlns:a16="http://schemas.microsoft.com/office/drawing/2014/main" id="{41CF8142-B39C-C641-85ED-08520D4E2F72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96" name="Freeform 139">
            <a:extLst>
              <a:ext uri="{FF2B5EF4-FFF2-40B4-BE49-F238E27FC236}">
                <a16:creationId xmlns:a16="http://schemas.microsoft.com/office/drawing/2014/main" id="{6EFD697A-5582-D744-B9C3-EC65B6127649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297" name="Group 140">
            <a:extLst>
              <a:ext uri="{FF2B5EF4-FFF2-40B4-BE49-F238E27FC236}">
                <a16:creationId xmlns:a16="http://schemas.microsoft.com/office/drawing/2014/main" id="{269487AE-4F7E-D344-97FA-87DCC13C226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260725"/>
            <a:ext cx="1319213" cy="246063"/>
            <a:chOff x="4800" y="1440"/>
            <a:chExt cx="831" cy="155"/>
          </a:xfrm>
        </p:grpSpPr>
        <p:sp>
          <p:nvSpPr>
            <p:cNvPr id="92385" name="Text Box 141">
              <a:extLst>
                <a:ext uri="{FF2B5EF4-FFF2-40B4-BE49-F238E27FC236}">
                  <a16:creationId xmlns:a16="http://schemas.microsoft.com/office/drawing/2014/main" id="{506DC167-7A44-994D-9819-57E29F2E4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92386" name="Line 142">
              <a:extLst>
                <a:ext uri="{FF2B5EF4-FFF2-40B4-BE49-F238E27FC236}">
                  <a16:creationId xmlns:a16="http://schemas.microsoft.com/office/drawing/2014/main" id="{F7090FA6-820A-EB49-B0F7-541E41C570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6255" name="Group 143">
            <a:extLst>
              <a:ext uri="{FF2B5EF4-FFF2-40B4-BE49-F238E27FC236}">
                <a16:creationId xmlns:a16="http://schemas.microsoft.com/office/drawing/2014/main" id="{AC52D1EE-EDAF-3743-9F1D-3A4D13A551FE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6305" name="Group 193">
            <a:extLst>
              <a:ext uri="{FF2B5EF4-FFF2-40B4-BE49-F238E27FC236}">
                <a16:creationId xmlns:a16="http://schemas.microsoft.com/office/drawing/2014/main" id="{E8A4FF7F-DF4B-DB46-8B14-DA4FC3CB0866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-688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2374" name="Text Box 219">
            <a:extLst>
              <a:ext uri="{FF2B5EF4-FFF2-40B4-BE49-F238E27FC236}">
                <a16:creationId xmlns:a16="http://schemas.microsoft.com/office/drawing/2014/main" id="{BD6123CD-27C7-6E42-BAB9-69C4995DD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2375" name="Freeform 220">
            <a:extLst>
              <a:ext uri="{FF2B5EF4-FFF2-40B4-BE49-F238E27FC236}">
                <a16:creationId xmlns:a16="http://schemas.microsoft.com/office/drawing/2014/main" id="{12F473E4-A1BF-5741-8609-AE2CEE4560A7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376" name="Text Box 221">
            <a:extLst>
              <a:ext uri="{FF2B5EF4-FFF2-40B4-BE49-F238E27FC236}">
                <a16:creationId xmlns:a16="http://schemas.microsoft.com/office/drawing/2014/main" id="{B4126C56-38E5-764B-ABEC-7F9C488465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2377" name="Text Box 222">
            <a:extLst>
              <a:ext uri="{FF2B5EF4-FFF2-40B4-BE49-F238E27FC236}">
                <a16:creationId xmlns:a16="http://schemas.microsoft.com/office/drawing/2014/main" id="{8DA82272-E1D3-0D44-8BE5-52B4E08DF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2378" name="Text Box 223">
            <a:extLst>
              <a:ext uri="{FF2B5EF4-FFF2-40B4-BE49-F238E27FC236}">
                <a16:creationId xmlns:a16="http://schemas.microsoft.com/office/drawing/2014/main" id="{62F9DE5C-AFAE-B142-BEF3-B46F53882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2379" name="Text Box 224">
            <a:extLst>
              <a:ext uri="{FF2B5EF4-FFF2-40B4-BE49-F238E27FC236}">
                <a16:creationId xmlns:a16="http://schemas.microsoft.com/office/drawing/2014/main" id="{FAB67031-B6A4-1147-94DF-1BF8BFF92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2380" name="Group 225">
            <a:extLst>
              <a:ext uri="{FF2B5EF4-FFF2-40B4-BE49-F238E27FC236}">
                <a16:creationId xmlns:a16="http://schemas.microsoft.com/office/drawing/2014/main" id="{C601310B-0752-9F42-8CCD-0F7B9B996417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92383" name="Text Box 226">
              <a:extLst>
                <a:ext uri="{FF2B5EF4-FFF2-40B4-BE49-F238E27FC236}">
                  <a16:creationId xmlns:a16="http://schemas.microsoft.com/office/drawing/2014/main" id="{065AE5EF-578A-0E45-B49A-DF9B3211C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2384" name="Line 227">
              <a:extLst>
                <a:ext uri="{FF2B5EF4-FFF2-40B4-BE49-F238E27FC236}">
                  <a16:creationId xmlns:a16="http://schemas.microsoft.com/office/drawing/2014/main" id="{EAFCC39D-019C-5E42-88B8-A5E6CA188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381" name="Text Box 228">
            <a:extLst>
              <a:ext uri="{FF2B5EF4-FFF2-40B4-BE49-F238E27FC236}">
                <a16:creationId xmlns:a16="http://schemas.microsoft.com/office/drawing/2014/main" id="{56F6ED1B-40A3-C943-8A1D-397EAF716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6288" y="1292225"/>
            <a:ext cx="16779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Reg=R2, Tag=4, Val=-688</a:t>
            </a:r>
          </a:p>
        </p:txBody>
      </p:sp>
      <p:sp>
        <p:nvSpPr>
          <p:cNvPr id="92382" name="Text Box 229">
            <a:extLst>
              <a:ext uri="{FF2B5EF4-FFF2-40B4-BE49-F238E27FC236}">
                <a16:creationId xmlns:a16="http://schemas.microsoft.com/office/drawing/2014/main" id="{F05008A1-7CD2-724C-B78C-7000CE400F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2524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matches RF tag, so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7138" name="Group 2">
            <a:extLst>
              <a:ext uri="{FF2B5EF4-FFF2-40B4-BE49-F238E27FC236}">
                <a16:creationId xmlns:a16="http://schemas.microsoft.com/office/drawing/2014/main" id="{0C57896F-752B-504B-A8FC-3A1DC7C69D69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3313" name="Text Box 130">
            <a:extLst>
              <a:ext uri="{FF2B5EF4-FFF2-40B4-BE49-F238E27FC236}">
                <a16:creationId xmlns:a16="http://schemas.microsoft.com/office/drawing/2014/main" id="{4A07D91B-BF52-7B42-87FF-C236EA5A99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3314" name="Group 131">
            <a:extLst>
              <a:ext uri="{FF2B5EF4-FFF2-40B4-BE49-F238E27FC236}">
                <a16:creationId xmlns:a16="http://schemas.microsoft.com/office/drawing/2014/main" id="{7B7FAAF7-5EA0-1A46-8E29-0EE4F4EA29CB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3409" name="Rectangle 132">
              <a:extLst>
                <a:ext uri="{FF2B5EF4-FFF2-40B4-BE49-F238E27FC236}">
                  <a16:creationId xmlns:a16="http://schemas.microsoft.com/office/drawing/2014/main" id="{47EE7F7D-96B5-754E-B101-E4304FF57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410" name="Text Box 133">
              <a:extLst>
                <a:ext uri="{FF2B5EF4-FFF2-40B4-BE49-F238E27FC236}">
                  <a16:creationId xmlns:a16="http://schemas.microsoft.com/office/drawing/2014/main" id="{ED0F6112-F215-6547-AEDA-033E5FDCC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3315" name="Line 134">
            <a:extLst>
              <a:ext uri="{FF2B5EF4-FFF2-40B4-BE49-F238E27FC236}">
                <a16:creationId xmlns:a16="http://schemas.microsoft.com/office/drawing/2014/main" id="{C920DEC5-9CA5-8C4B-8CA5-19C1C7BA0D39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316" name="Line 135">
            <a:extLst>
              <a:ext uri="{FF2B5EF4-FFF2-40B4-BE49-F238E27FC236}">
                <a16:creationId xmlns:a16="http://schemas.microsoft.com/office/drawing/2014/main" id="{24EB942A-AA6D-A248-9ECB-7988065802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317" name="Freeform 136">
            <a:extLst>
              <a:ext uri="{FF2B5EF4-FFF2-40B4-BE49-F238E27FC236}">
                <a16:creationId xmlns:a16="http://schemas.microsoft.com/office/drawing/2014/main" id="{6FB6333B-0A13-8943-8ACB-F2B94958BA52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318" name="Text Box 137">
            <a:extLst>
              <a:ext uri="{FF2B5EF4-FFF2-40B4-BE49-F238E27FC236}">
                <a16:creationId xmlns:a16="http://schemas.microsoft.com/office/drawing/2014/main" id="{E9FC5394-6B6B-2E4E-B204-CD788FCF3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3319" name="Freeform 138">
            <a:extLst>
              <a:ext uri="{FF2B5EF4-FFF2-40B4-BE49-F238E27FC236}">
                <a16:creationId xmlns:a16="http://schemas.microsoft.com/office/drawing/2014/main" id="{AEE97C04-F3A0-4A4C-AA84-398347E1AEFE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320" name="Freeform 139">
            <a:extLst>
              <a:ext uri="{FF2B5EF4-FFF2-40B4-BE49-F238E27FC236}">
                <a16:creationId xmlns:a16="http://schemas.microsoft.com/office/drawing/2014/main" id="{56AAA990-AE80-3640-83B5-34D02823A88A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321" name="Text Box 140">
            <a:extLst>
              <a:ext uri="{FF2B5EF4-FFF2-40B4-BE49-F238E27FC236}">
                <a16:creationId xmlns:a16="http://schemas.microsoft.com/office/drawing/2014/main" id="{3291111E-AB0E-F747-B6D3-2B72A508BB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33528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aphicFrame>
        <p:nvGraphicFramePr>
          <p:cNvPr id="347277" name="Group 141">
            <a:extLst>
              <a:ext uri="{FF2B5EF4-FFF2-40B4-BE49-F238E27FC236}">
                <a16:creationId xmlns:a16="http://schemas.microsoft.com/office/drawing/2014/main" id="{C468C169-3DAD-6748-BA85-00490F2855FA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7327" name="Group 191">
            <a:extLst>
              <a:ext uri="{FF2B5EF4-FFF2-40B4-BE49-F238E27FC236}">
                <a16:creationId xmlns:a16="http://schemas.microsoft.com/office/drawing/2014/main" id="{42681666-DB08-564F-99B2-281D76CEAAD1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-688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49400000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3398" name="Text Box 217">
            <a:extLst>
              <a:ext uri="{FF2B5EF4-FFF2-40B4-BE49-F238E27FC236}">
                <a16:creationId xmlns:a16="http://schemas.microsoft.com/office/drawing/2014/main" id="{304D6F4A-58B0-BD4E-B78F-26CD388A5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3399" name="Freeform 218">
            <a:extLst>
              <a:ext uri="{FF2B5EF4-FFF2-40B4-BE49-F238E27FC236}">
                <a16:creationId xmlns:a16="http://schemas.microsoft.com/office/drawing/2014/main" id="{90D7A419-A540-F843-8195-A3C440A24D9C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400" name="Text Box 219">
            <a:extLst>
              <a:ext uri="{FF2B5EF4-FFF2-40B4-BE49-F238E27FC236}">
                <a16:creationId xmlns:a16="http://schemas.microsoft.com/office/drawing/2014/main" id="{34F20375-EC11-5746-BA16-DC0434A36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3401" name="Text Box 220">
            <a:extLst>
              <a:ext uri="{FF2B5EF4-FFF2-40B4-BE49-F238E27FC236}">
                <a16:creationId xmlns:a16="http://schemas.microsoft.com/office/drawing/2014/main" id="{D060086E-BCD4-774D-BEB7-F82D6A4A1C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3402" name="Text Box 221">
            <a:extLst>
              <a:ext uri="{FF2B5EF4-FFF2-40B4-BE49-F238E27FC236}">
                <a16:creationId xmlns:a16="http://schemas.microsoft.com/office/drawing/2014/main" id="{C7BE9A14-BA95-E446-ACFC-6D67204C3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3403" name="Text Box 222">
            <a:extLst>
              <a:ext uri="{FF2B5EF4-FFF2-40B4-BE49-F238E27FC236}">
                <a16:creationId xmlns:a16="http://schemas.microsoft.com/office/drawing/2014/main" id="{52F284C5-A5D4-A144-AF63-68E3F06A4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3404" name="Group 223">
            <a:extLst>
              <a:ext uri="{FF2B5EF4-FFF2-40B4-BE49-F238E27FC236}">
                <a16:creationId xmlns:a16="http://schemas.microsoft.com/office/drawing/2014/main" id="{1B059075-68C8-E446-B919-07C6987CFF40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93407" name="Text Box 224">
              <a:extLst>
                <a:ext uri="{FF2B5EF4-FFF2-40B4-BE49-F238E27FC236}">
                  <a16:creationId xmlns:a16="http://schemas.microsoft.com/office/drawing/2014/main" id="{4C768D9E-CB64-6A44-919E-6464ABC51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3408" name="Line 225">
              <a:extLst>
                <a:ext uri="{FF2B5EF4-FFF2-40B4-BE49-F238E27FC236}">
                  <a16:creationId xmlns:a16="http://schemas.microsoft.com/office/drawing/2014/main" id="{934F7050-9438-284C-BF70-9EB768E2ED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405" name="Text Box 226">
            <a:extLst>
              <a:ext uri="{FF2B5EF4-FFF2-40B4-BE49-F238E27FC236}">
                <a16:creationId xmlns:a16="http://schemas.microsoft.com/office/drawing/2014/main" id="{340C33AB-22CC-A84A-9E1D-53CD7BECB9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6288" y="1292225"/>
            <a:ext cx="1565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Reg=R0, Tag=5, Val=54</a:t>
            </a:r>
          </a:p>
        </p:txBody>
      </p:sp>
      <p:sp>
        <p:nvSpPr>
          <p:cNvPr id="93406" name="Text Box 227">
            <a:extLst>
              <a:ext uri="{FF2B5EF4-FFF2-40B4-BE49-F238E27FC236}">
                <a16:creationId xmlns:a16="http://schemas.microsoft.com/office/drawing/2014/main" id="{8A1F9C4F-C718-A647-902C-4DA5B2FE75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1524000"/>
            <a:ext cx="2524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tag matches RF tag, so set 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 RF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Note: commit value to register file state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2">
            <a:extLst>
              <a:ext uri="{FF2B5EF4-FFF2-40B4-BE49-F238E27FC236}">
                <a16:creationId xmlns:a16="http://schemas.microsoft.com/office/drawing/2014/main" id="{89B5DAE1-58C5-BD47-B6D5-653A2F8670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Now do scenario #2</a:t>
            </a:r>
          </a:p>
        </p:txBody>
      </p:sp>
      <p:sp>
        <p:nvSpPr>
          <p:cNvPr id="94210" name="Rectangle 3">
            <a:extLst>
              <a:ext uri="{FF2B5EF4-FFF2-40B4-BE49-F238E27FC236}">
                <a16:creationId xmlns:a16="http://schemas.microsoft.com/office/drawing/2014/main" id="{813BB269-1FBD-244B-9950-449E3875DC2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9186" name="Group 2">
            <a:extLst>
              <a:ext uri="{FF2B5EF4-FFF2-40B4-BE49-F238E27FC236}">
                <a16:creationId xmlns:a16="http://schemas.microsoft.com/office/drawing/2014/main" id="{D105ED24-01A1-A944-B0AB-54E9DEA1AFFB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5361" name="Text Box 130">
            <a:extLst>
              <a:ext uri="{FF2B5EF4-FFF2-40B4-BE49-F238E27FC236}">
                <a16:creationId xmlns:a16="http://schemas.microsoft.com/office/drawing/2014/main" id="{0FCEAD9C-2D5F-9C42-904E-918BD949EE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5362" name="Group 131">
            <a:extLst>
              <a:ext uri="{FF2B5EF4-FFF2-40B4-BE49-F238E27FC236}">
                <a16:creationId xmlns:a16="http://schemas.microsoft.com/office/drawing/2014/main" id="{FC7D92E9-4273-F94E-8335-7A4F4824771E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5458" name="Rectangle 132">
              <a:extLst>
                <a:ext uri="{FF2B5EF4-FFF2-40B4-BE49-F238E27FC236}">
                  <a16:creationId xmlns:a16="http://schemas.microsoft.com/office/drawing/2014/main" id="{15E6C05B-F333-B14B-B93F-D22B9A69B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59" name="Text Box 133">
              <a:extLst>
                <a:ext uri="{FF2B5EF4-FFF2-40B4-BE49-F238E27FC236}">
                  <a16:creationId xmlns:a16="http://schemas.microsoft.com/office/drawing/2014/main" id="{298ED082-BD6E-324B-AA45-84DB52AA6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5363" name="Line 134">
            <a:extLst>
              <a:ext uri="{FF2B5EF4-FFF2-40B4-BE49-F238E27FC236}">
                <a16:creationId xmlns:a16="http://schemas.microsoft.com/office/drawing/2014/main" id="{853FE361-E871-E245-9354-6980695AD92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364" name="Line 135">
            <a:extLst>
              <a:ext uri="{FF2B5EF4-FFF2-40B4-BE49-F238E27FC236}">
                <a16:creationId xmlns:a16="http://schemas.microsoft.com/office/drawing/2014/main" id="{5DC56250-CF48-4047-85C9-88007C722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365" name="Freeform 136">
            <a:extLst>
              <a:ext uri="{FF2B5EF4-FFF2-40B4-BE49-F238E27FC236}">
                <a16:creationId xmlns:a16="http://schemas.microsoft.com/office/drawing/2014/main" id="{0A3A9D4E-2A7A-E847-BA73-4057FE8BF68C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366" name="Text Box 137">
            <a:extLst>
              <a:ext uri="{FF2B5EF4-FFF2-40B4-BE49-F238E27FC236}">
                <a16:creationId xmlns:a16="http://schemas.microsoft.com/office/drawing/2014/main" id="{26C3CD1F-4976-474D-95A9-5E6F29B44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5367" name="Freeform 138">
            <a:extLst>
              <a:ext uri="{FF2B5EF4-FFF2-40B4-BE49-F238E27FC236}">
                <a16:creationId xmlns:a16="http://schemas.microsoft.com/office/drawing/2014/main" id="{8501F42E-8FB4-2545-983C-6343731B7634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368" name="Freeform 139">
            <a:extLst>
              <a:ext uri="{FF2B5EF4-FFF2-40B4-BE49-F238E27FC236}">
                <a16:creationId xmlns:a16="http://schemas.microsoft.com/office/drawing/2014/main" id="{2A64E94B-E146-854C-B7AF-A419703591C2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369" name="Group 140">
            <a:extLst>
              <a:ext uri="{FF2B5EF4-FFF2-40B4-BE49-F238E27FC236}">
                <a16:creationId xmlns:a16="http://schemas.microsoft.com/office/drawing/2014/main" id="{A26B09AE-22DC-2942-8EE4-9A3AE44E2A5A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438400"/>
            <a:ext cx="1319213" cy="246063"/>
            <a:chOff x="4800" y="1440"/>
            <a:chExt cx="831" cy="155"/>
          </a:xfrm>
        </p:grpSpPr>
        <p:sp>
          <p:nvSpPr>
            <p:cNvPr id="95456" name="Text Box 141">
              <a:extLst>
                <a:ext uri="{FF2B5EF4-FFF2-40B4-BE49-F238E27FC236}">
                  <a16:creationId xmlns:a16="http://schemas.microsoft.com/office/drawing/2014/main" id="{5F8EB2E3-6D3D-5F40-816B-7BA450807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440"/>
              <a:ext cx="34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HEAD</a:t>
              </a:r>
            </a:p>
          </p:txBody>
        </p:sp>
        <p:sp>
          <p:nvSpPr>
            <p:cNvPr id="95457" name="Line 142">
              <a:extLst>
                <a:ext uri="{FF2B5EF4-FFF2-40B4-BE49-F238E27FC236}">
                  <a16:creationId xmlns:a16="http://schemas.microsoft.com/office/drawing/2014/main" id="{73AB0D95-DB3C-C445-985F-8D649D068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524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49327" name="Group 143">
            <a:extLst>
              <a:ext uri="{FF2B5EF4-FFF2-40B4-BE49-F238E27FC236}">
                <a16:creationId xmlns:a16="http://schemas.microsoft.com/office/drawing/2014/main" id="{54CFB057-FC5C-5E4C-86DB-7F01FA2A4EFC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9377" name="Group 193">
            <a:extLst>
              <a:ext uri="{FF2B5EF4-FFF2-40B4-BE49-F238E27FC236}">
                <a16:creationId xmlns:a16="http://schemas.microsoft.com/office/drawing/2014/main" id="{96A2FE53-0B96-E844-914B-C7FFC606140C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650000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5446" name="Text Box 219">
            <a:extLst>
              <a:ext uri="{FF2B5EF4-FFF2-40B4-BE49-F238E27FC236}">
                <a16:creationId xmlns:a16="http://schemas.microsoft.com/office/drawing/2014/main" id="{77273B28-F8FA-BF41-BF95-6EE018856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5447" name="Freeform 220">
            <a:extLst>
              <a:ext uri="{FF2B5EF4-FFF2-40B4-BE49-F238E27FC236}">
                <a16:creationId xmlns:a16="http://schemas.microsoft.com/office/drawing/2014/main" id="{7EC67138-CCB4-C54F-86EB-B5ECF4E64305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448" name="Text Box 221">
            <a:extLst>
              <a:ext uri="{FF2B5EF4-FFF2-40B4-BE49-F238E27FC236}">
                <a16:creationId xmlns:a16="http://schemas.microsoft.com/office/drawing/2014/main" id="{64A8B14F-4FA7-D349-9C18-D6B724215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5449" name="Text Box 222">
            <a:extLst>
              <a:ext uri="{FF2B5EF4-FFF2-40B4-BE49-F238E27FC236}">
                <a16:creationId xmlns:a16="http://schemas.microsoft.com/office/drawing/2014/main" id="{DBC0F7F7-B8DB-AA44-BE49-37AD8C30CB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5450" name="Text Box 223">
            <a:extLst>
              <a:ext uri="{FF2B5EF4-FFF2-40B4-BE49-F238E27FC236}">
                <a16:creationId xmlns:a16="http://schemas.microsoft.com/office/drawing/2014/main" id="{4E6FBA9A-9429-ED49-9267-ECDD5EC9A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5451" name="Text Box 224">
            <a:extLst>
              <a:ext uri="{FF2B5EF4-FFF2-40B4-BE49-F238E27FC236}">
                <a16:creationId xmlns:a16="http://schemas.microsoft.com/office/drawing/2014/main" id="{53E11C10-946B-5D41-9147-1339ABF75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5452" name="Group 225">
            <a:extLst>
              <a:ext uri="{FF2B5EF4-FFF2-40B4-BE49-F238E27FC236}">
                <a16:creationId xmlns:a16="http://schemas.microsoft.com/office/drawing/2014/main" id="{48086D5D-554C-4D46-A6CF-5722DA87815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05200"/>
            <a:ext cx="1233488" cy="246063"/>
            <a:chOff x="4800" y="1718"/>
            <a:chExt cx="777" cy="155"/>
          </a:xfrm>
        </p:grpSpPr>
        <p:sp>
          <p:nvSpPr>
            <p:cNvPr id="95454" name="Text Box 226">
              <a:extLst>
                <a:ext uri="{FF2B5EF4-FFF2-40B4-BE49-F238E27FC236}">
                  <a16:creationId xmlns:a16="http://schemas.microsoft.com/office/drawing/2014/main" id="{F27BC96F-5F39-B34E-BAFB-5142C51FD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5455" name="Line 227">
              <a:extLst>
                <a:ext uri="{FF2B5EF4-FFF2-40B4-BE49-F238E27FC236}">
                  <a16:creationId xmlns:a16="http://schemas.microsoft.com/office/drawing/2014/main" id="{3D1662DA-DAF4-074C-90B2-1ECDFE107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453" name="Text Box 228">
            <a:extLst>
              <a:ext uri="{FF2B5EF4-FFF2-40B4-BE49-F238E27FC236}">
                <a16:creationId xmlns:a16="http://schemas.microsoft.com/office/drawing/2014/main" id="{3A997FC6-BA8F-B04F-BFF1-D62DC953B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625" y="5927725"/>
            <a:ext cx="8715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1, exception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0210" name="Group 2">
            <a:extLst>
              <a:ext uri="{FF2B5EF4-FFF2-40B4-BE49-F238E27FC236}">
                <a16:creationId xmlns:a16="http://schemas.microsoft.com/office/drawing/2014/main" id="{6DAE3B99-EA56-3B43-BDC6-39B92B878F59}"/>
              </a:ext>
            </a:extLst>
          </p:cNvPr>
          <p:cNvGraphicFramePr>
            <a:graphicFrameLocks noGrp="1"/>
          </p:cNvGraphicFramePr>
          <p:nvPr/>
        </p:nvGraphicFramePr>
        <p:xfrm>
          <a:off x="4173538" y="2085975"/>
          <a:ext cx="3446462" cy="3419482"/>
        </p:xfrm>
        <a:graphic>
          <a:graphicData uri="http://schemas.openxmlformats.org/drawingml/2006/table">
            <a:tbl>
              <a:tblPr/>
              <a:tblGrid>
                <a:gridCol w="3984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Result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Completed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650000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666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R1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742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R2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-688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R0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11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13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14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11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15</a:t>
                      </a:r>
                    </a:p>
                  </a:txBody>
                  <a:tcPr marL="45720" marR="45720" marT="45709" marB="4570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6385" name="Text Box 130">
            <a:extLst>
              <a:ext uri="{FF2B5EF4-FFF2-40B4-BE49-F238E27FC236}">
                <a16:creationId xmlns:a16="http://schemas.microsoft.com/office/drawing/2014/main" id="{8C01EB95-8DC9-5844-BC46-594060769C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57375"/>
            <a:ext cx="461962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ROB</a:t>
            </a:r>
          </a:p>
        </p:txBody>
      </p:sp>
      <p:grpSp>
        <p:nvGrpSpPr>
          <p:cNvPr id="96386" name="Group 131">
            <a:extLst>
              <a:ext uri="{FF2B5EF4-FFF2-40B4-BE49-F238E27FC236}">
                <a16:creationId xmlns:a16="http://schemas.microsoft.com/office/drawing/2014/main" id="{7F23978E-65B9-404B-A417-739E4BC39542}"/>
              </a:ext>
            </a:extLst>
          </p:cNvPr>
          <p:cNvGrpSpPr>
            <a:grpSpLocks/>
          </p:cNvGrpSpPr>
          <p:nvPr/>
        </p:nvGrpSpPr>
        <p:grpSpPr bwMode="auto">
          <a:xfrm>
            <a:off x="1670050" y="5180013"/>
            <a:ext cx="844550" cy="762000"/>
            <a:chOff x="2060" y="3216"/>
            <a:chExt cx="532" cy="480"/>
          </a:xfrm>
        </p:grpSpPr>
        <p:sp>
          <p:nvSpPr>
            <p:cNvPr id="96479" name="Rectangle 132">
              <a:extLst>
                <a:ext uri="{FF2B5EF4-FFF2-40B4-BE49-F238E27FC236}">
                  <a16:creationId xmlns:a16="http://schemas.microsoft.com/office/drawing/2014/main" id="{0B017C9A-BBC0-4C4B-ACBA-7F049571D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3216"/>
              <a:ext cx="532" cy="4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480" name="Text Box 133">
              <a:extLst>
                <a:ext uri="{FF2B5EF4-FFF2-40B4-BE49-F238E27FC236}">
                  <a16:creationId xmlns:a16="http://schemas.microsoft.com/office/drawing/2014/main" id="{93E575AA-32AF-5F49-90B9-5E7942302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3349"/>
              <a:ext cx="26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FUs</a:t>
              </a:r>
            </a:p>
          </p:txBody>
        </p:sp>
      </p:grpSp>
      <p:sp>
        <p:nvSpPr>
          <p:cNvPr id="96387" name="Line 134">
            <a:extLst>
              <a:ext uri="{FF2B5EF4-FFF2-40B4-BE49-F238E27FC236}">
                <a16:creationId xmlns:a16="http://schemas.microsoft.com/office/drawing/2014/main" id="{932A3E12-D399-4B41-BB33-1D8717C77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2370138"/>
            <a:ext cx="0" cy="677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388" name="Line 135">
            <a:extLst>
              <a:ext uri="{FF2B5EF4-FFF2-40B4-BE49-F238E27FC236}">
                <a16:creationId xmlns:a16="http://schemas.microsoft.com/office/drawing/2014/main" id="{E65C20BD-5787-CB4E-BB3E-4C9EC817618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4819650"/>
            <a:ext cx="0" cy="3714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389" name="Freeform 136">
            <a:extLst>
              <a:ext uri="{FF2B5EF4-FFF2-40B4-BE49-F238E27FC236}">
                <a16:creationId xmlns:a16="http://schemas.microsoft.com/office/drawing/2014/main" id="{8BB6E2FE-F8A6-CA4C-BB44-B17B638F1A5E}"/>
              </a:ext>
            </a:extLst>
          </p:cNvPr>
          <p:cNvSpPr>
            <a:spLocks/>
          </p:cNvSpPr>
          <p:nvPr/>
        </p:nvSpPr>
        <p:spPr bwMode="auto">
          <a:xfrm>
            <a:off x="381000" y="2743200"/>
            <a:ext cx="1676400" cy="3429000"/>
          </a:xfrm>
          <a:custGeom>
            <a:avLst/>
            <a:gdLst>
              <a:gd name="T0" fmla="*/ 2147483646 w 1056"/>
              <a:gd name="T1" fmla="*/ 2147483646 h 2160"/>
              <a:gd name="T2" fmla="*/ 2147483646 w 1056"/>
              <a:gd name="T3" fmla="*/ 2147483646 h 2160"/>
              <a:gd name="T4" fmla="*/ 0 w 1056"/>
              <a:gd name="T5" fmla="*/ 2147483646 h 2160"/>
              <a:gd name="T6" fmla="*/ 0 w 1056"/>
              <a:gd name="T7" fmla="*/ 0 h 2160"/>
              <a:gd name="T8" fmla="*/ 2147483646 w 1056"/>
              <a:gd name="T9" fmla="*/ 0 h 2160"/>
              <a:gd name="T10" fmla="*/ 2147483646 w 1056"/>
              <a:gd name="T11" fmla="*/ 2147483646 h 21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56" h="2160">
                <a:moveTo>
                  <a:pt x="1056" y="2016"/>
                </a:moveTo>
                <a:lnTo>
                  <a:pt x="1056" y="2160"/>
                </a:lnTo>
                <a:lnTo>
                  <a:pt x="0" y="2160"/>
                </a:lnTo>
                <a:lnTo>
                  <a:pt x="0" y="0"/>
                </a:lnTo>
                <a:lnTo>
                  <a:pt x="864" y="0"/>
                </a:lnTo>
                <a:lnTo>
                  <a:pt x="864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390" name="Text Box 137">
            <a:extLst>
              <a:ext uri="{FF2B5EF4-FFF2-40B4-BE49-F238E27FC236}">
                <a16:creationId xmlns:a16="http://schemas.microsoft.com/office/drawing/2014/main" id="{14883889-D488-F34E-A958-629AE8B5D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8563" y="990600"/>
            <a:ext cx="3556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RF</a:t>
            </a:r>
          </a:p>
        </p:txBody>
      </p:sp>
      <p:sp>
        <p:nvSpPr>
          <p:cNvPr id="96391" name="Freeform 138">
            <a:extLst>
              <a:ext uri="{FF2B5EF4-FFF2-40B4-BE49-F238E27FC236}">
                <a16:creationId xmlns:a16="http://schemas.microsoft.com/office/drawing/2014/main" id="{06642CE7-FA2C-104E-8551-8D1547E2B45C}"/>
              </a:ext>
            </a:extLst>
          </p:cNvPr>
          <p:cNvSpPr>
            <a:spLocks/>
          </p:cNvSpPr>
          <p:nvPr/>
        </p:nvSpPr>
        <p:spPr bwMode="auto">
          <a:xfrm>
            <a:off x="2057400" y="3886200"/>
            <a:ext cx="6013450" cy="2286000"/>
          </a:xfrm>
          <a:custGeom>
            <a:avLst/>
            <a:gdLst>
              <a:gd name="T0" fmla="*/ 0 w 4032"/>
              <a:gd name="T1" fmla="*/ 2147483646 h 1440"/>
              <a:gd name="T2" fmla="*/ 2147483646 w 4032"/>
              <a:gd name="T3" fmla="*/ 2147483646 h 1440"/>
              <a:gd name="T4" fmla="*/ 2147483646 w 4032"/>
              <a:gd name="T5" fmla="*/ 0 h 1440"/>
              <a:gd name="T6" fmla="*/ 2147483646 w 4032"/>
              <a:gd name="T7" fmla="*/ 0 h 14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32" h="1440">
                <a:moveTo>
                  <a:pt x="0" y="1440"/>
                </a:moveTo>
                <a:lnTo>
                  <a:pt x="4032" y="1440"/>
                </a:lnTo>
                <a:lnTo>
                  <a:pt x="4032" y="0"/>
                </a:lnTo>
                <a:lnTo>
                  <a:pt x="374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392" name="Freeform 139">
            <a:extLst>
              <a:ext uri="{FF2B5EF4-FFF2-40B4-BE49-F238E27FC236}">
                <a16:creationId xmlns:a16="http://schemas.microsoft.com/office/drawing/2014/main" id="{045DF9F3-3FB2-334A-B08E-C015508A3804}"/>
              </a:ext>
            </a:extLst>
          </p:cNvPr>
          <p:cNvSpPr>
            <a:spLocks/>
          </p:cNvSpPr>
          <p:nvPr/>
        </p:nvSpPr>
        <p:spPr bwMode="auto">
          <a:xfrm>
            <a:off x="2362200" y="2743200"/>
            <a:ext cx="1828800" cy="1143000"/>
          </a:xfrm>
          <a:custGeom>
            <a:avLst/>
            <a:gdLst>
              <a:gd name="T0" fmla="*/ 2147483646 w 1152"/>
              <a:gd name="T1" fmla="*/ 2147483646 h 720"/>
              <a:gd name="T2" fmla="*/ 2147483646 w 1152"/>
              <a:gd name="T3" fmla="*/ 2147483646 h 720"/>
              <a:gd name="T4" fmla="*/ 2147483646 w 1152"/>
              <a:gd name="T5" fmla="*/ 0 h 720"/>
              <a:gd name="T6" fmla="*/ 0 w 1152"/>
              <a:gd name="T7" fmla="*/ 0 h 720"/>
              <a:gd name="T8" fmla="*/ 0 w 1152"/>
              <a:gd name="T9" fmla="*/ 2147483646 h 7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52" h="720">
                <a:moveTo>
                  <a:pt x="1152" y="720"/>
                </a:moveTo>
                <a:lnTo>
                  <a:pt x="864" y="720"/>
                </a:lnTo>
                <a:lnTo>
                  <a:pt x="864" y="0"/>
                </a:lnTo>
                <a:lnTo>
                  <a:pt x="0" y="0"/>
                </a:lnTo>
                <a:lnTo>
                  <a:pt x="0" y="19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393" name="Text Box 140">
            <a:extLst>
              <a:ext uri="{FF2B5EF4-FFF2-40B4-BE49-F238E27FC236}">
                <a16:creationId xmlns:a16="http://schemas.microsoft.com/office/drawing/2014/main" id="{2B140AE4-EDD3-8C42-BDB0-399920FE1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2346325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graphicFrame>
        <p:nvGraphicFramePr>
          <p:cNvPr id="350349" name="Group 141">
            <a:extLst>
              <a:ext uri="{FF2B5EF4-FFF2-40B4-BE49-F238E27FC236}">
                <a16:creationId xmlns:a16="http://schemas.microsoft.com/office/drawing/2014/main" id="{694902FE-AE33-CD4C-9F44-AD2497BF3719}"/>
              </a:ext>
            </a:extLst>
          </p:cNvPr>
          <p:cNvGraphicFramePr>
            <a:graphicFrameLocks noGrp="1"/>
          </p:cNvGraphicFramePr>
          <p:nvPr/>
        </p:nvGraphicFramePr>
        <p:xfrm>
          <a:off x="762000" y="3048000"/>
          <a:ext cx="2667000" cy="1782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src1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ready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src2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tag/value</a:t>
                      </a: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55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  <a:sym typeface="Symbol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00" marB="457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50399" name="Group 191">
            <a:extLst>
              <a:ext uri="{FF2B5EF4-FFF2-40B4-BE49-F238E27FC236}">
                <a16:creationId xmlns:a16="http://schemas.microsoft.com/office/drawing/2014/main" id="{D0C6DBC0-6424-D842-AEA1-D8888C99442B}"/>
              </a:ext>
            </a:extLst>
          </p:cNvPr>
          <p:cNvGraphicFramePr>
            <a:graphicFrameLocks noGrp="1"/>
          </p:cNvGraphicFramePr>
          <p:nvPr/>
        </p:nvGraphicFramePr>
        <p:xfrm>
          <a:off x="1257300" y="1235075"/>
          <a:ext cx="1600200" cy="11430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 RF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tag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value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54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76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650000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</a:rPr>
                        <a:t>-99</a:t>
                      </a: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6470" name="Text Box 217">
            <a:extLst>
              <a:ext uri="{FF2B5EF4-FFF2-40B4-BE49-F238E27FC236}">
                <a16:creationId xmlns:a16="http://schemas.microsoft.com/office/drawing/2014/main" id="{0CFA08FA-ABDB-0D49-9878-95E4D060B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783138"/>
            <a:ext cx="8651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Reservation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Stations</a:t>
            </a:r>
          </a:p>
        </p:txBody>
      </p:sp>
      <p:sp>
        <p:nvSpPr>
          <p:cNvPr id="96471" name="Freeform 218">
            <a:extLst>
              <a:ext uri="{FF2B5EF4-FFF2-40B4-BE49-F238E27FC236}">
                <a16:creationId xmlns:a16="http://schemas.microsoft.com/office/drawing/2014/main" id="{F1497EE2-608A-7146-B9EC-9390C056FB50}"/>
              </a:ext>
            </a:extLst>
          </p:cNvPr>
          <p:cNvSpPr>
            <a:spLocks/>
          </p:cNvSpPr>
          <p:nvPr/>
        </p:nvSpPr>
        <p:spPr bwMode="auto">
          <a:xfrm>
            <a:off x="2057400" y="685800"/>
            <a:ext cx="3810000" cy="1371600"/>
          </a:xfrm>
          <a:custGeom>
            <a:avLst/>
            <a:gdLst>
              <a:gd name="T0" fmla="*/ 2147483646 w 2400"/>
              <a:gd name="T1" fmla="*/ 2147483646 h 864"/>
              <a:gd name="T2" fmla="*/ 2147483646 w 2400"/>
              <a:gd name="T3" fmla="*/ 0 h 864"/>
              <a:gd name="T4" fmla="*/ 0 w 2400"/>
              <a:gd name="T5" fmla="*/ 0 h 864"/>
              <a:gd name="T6" fmla="*/ 0 w 2400"/>
              <a:gd name="T7" fmla="*/ 2147483646 h 8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00" h="864">
                <a:moveTo>
                  <a:pt x="2400" y="864"/>
                </a:moveTo>
                <a:lnTo>
                  <a:pt x="2400" y="0"/>
                </a:lnTo>
                <a:lnTo>
                  <a:pt x="0" y="0"/>
                </a:lnTo>
                <a:lnTo>
                  <a:pt x="0" y="33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472" name="Text Box 219">
            <a:extLst>
              <a:ext uri="{FF2B5EF4-FFF2-40B4-BE49-F238E27FC236}">
                <a16:creationId xmlns:a16="http://schemas.microsoft.com/office/drawing/2014/main" id="{834578AA-7E4F-1147-A30D-C184AF6693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4478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R0</a:t>
            </a:r>
          </a:p>
        </p:txBody>
      </p:sp>
      <p:sp>
        <p:nvSpPr>
          <p:cNvPr id="96473" name="Text Box 220">
            <a:extLst>
              <a:ext uri="{FF2B5EF4-FFF2-40B4-BE49-F238E27FC236}">
                <a16:creationId xmlns:a16="http://schemas.microsoft.com/office/drawing/2014/main" id="{3E041F51-E81B-E344-A6EB-ABD82B3B18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6764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R1</a:t>
            </a:r>
          </a:p>
        </p:txBody>
      </p:sp>
      <p:sp>
        <p:nvSpPr>
          <p:cNvPr id="96474" name="Text Box 221">
            <a:extLst>
              <a:ext uri="{FF2B5EF4-FFF2-40B4-BE49-F238E27FC236}">
                <a16:creationId xmlns:a16="http://schemas.microsoft.com/office/drawing/2014/main" id="{352E4E86-1D28-1247-B794-580FB57CE4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1889125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R2</a:t>
            </a:r>
          </a:p>
        </p:txBody>
      </p:sp>
      <p:sp>
        <p:nvSpPr>
          <p:cNvPr id="96475" name="Text Box 222">
            <a:extLst>
              <a:ext uri="{FF2B5EF4-FFF2-40B4-BE49-F238E27FC236}">
                <a16:creationId xmlns:a16="http://schemas.microsoft.com/office/drawing/2014/main" id="{1AA0D8FB-4F66-814C-8606-8910CE29D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133600"/>
            <a:ext cx="3476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R3</a:t>
            </a:r>
          </a:p>
        </p:txBody>
      </p:sp>
      <p:grpSp>
        <p:nvGrpSpPr>
          <p:cNvPr id="96476" name="Group 223">
            <a:extLst>
              <a:ext uri="{FF2B5EF4-FFF2-40B4-BE49-F238E27FC236}">
                <a16:creationId xmlns:a16="http://schemas.microsoft.com/office/drawing/2014/main" id="{234BFE72-3082-564E-A209-5374BA7B506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514600"/>
            <a:ext cx="1233488" cy="246063"/>
            <a:chOff x="4800" y="1718"/>
            <a:chExt cx="777" cy="155"/>
          </a:xfrm>
        </p:grpSpPr>
        <p:sp>
          <p:nvSpPr>
            <p:cNvPr id="96477" name="Text Box 224">
              <a:extLst>
                <a:ext uri="{FF2B5EF4-FFF2-40B4-BE49-F238E27FC236}">
                  <a16:creationId xmlns:a16="http://schemas.microsoft.com/office/drawing/2014/main" id="{8A98ABC0-7648-9D41-BC9C-65F92DE16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1" y="1718"/>
              <a:ext cx="28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TAIL</a:t>
              </a:r>
            </a:p>
          </p:txBody>
        </p:sp>
        <p:sp>
          <p:nvSpPr>
            <p:cNvPr id="96478" name="Line 225">
              <a:extLst>
                <a:ext uri="{FF2B5EF4-FFF2-40B4-BE49-F238E27FC236}">
                  <a16:creationId xmlns:a16="http://schemas.microsoft.com/office/drawing/2014/main" id="{CEA1B3DF-DB46-BE44-9A28-39B290DB7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00" y="1776"/>
              <a:ext cx="491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Rectangle 2">
            <a:extLst>
              <a:ext uri="{FF2B5EF4-FFF2-40B4-BE49-F238E27FC236}">
                <a16:creationId xmlns:a16="http://schemas.microsoft.com/office/drawing/2014/main" id="{65E97524-9FC3-0848-AC8F-62DFB9B8EE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Handling Branch Mispredictions</a:t>
            </a:r>
          </a:p>
        </p:txBody>
      </p:sp>
      <p:sp>
        <p:nvSpPr>
          <p:cNvPr id="97282" name="Rectangle 3">
            <a:extLst>
              <a:ext uri="{FF2B5EF4-FFF2-40B4-BE49-F238E27FC236}">
                <a16:creationId xmlns:a16="http://schemas.microsoft.com/office/drawing/2014/main" id="{7C8561E7-4975-5648-A3A1-0D43D7D29F5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2400">
                <a:ea typeface="ＭＳ Ｐゴシック" panose="020B0600070205080204" pitchFamily="34" charset="-128"/>
              </a:rPr>
              <a:t>Branch mispredictions are like exceptions?</a:t>
            </a:r>
          </a:p>
          <a:p>
            <a:pPr lvl="1"/>
            <a:r>
              <a:rPr lang="en-US" altLang="en-US" sz="2000"/>
              <a:t>Yes and No</a:t>
            </a:r>
          </a:p>
          <a:p>
            <a:pPr lvl="1"/>
            <a:r>
              <a:rPr lang="en-US" altLang="en-US" sz="2000"/>
              <a:t>Handle exactly like exception (low performance)</a:t>
            </a:r>
          </a:p>
          <a:p>
            <a:pPr lvl="2"/>
            <a:r>
              <a:rPr lang="en-US" altLang="en-US" sz="1800"/>
              <a:t>Wait until mispredicted branch reaches head of ROB</a:t>
            </a:r>
          </a:p>
          <a:p>
            <a:pPr lvl="2"/>
            <a:r>
              <a:rPr lang="en-US" altLang="en-US" sz="1800"/>
              <a:t>Squash entire ROB, set all </a:t>
            </a:r>
            <a:r>
              <a:rPr lang="ja-JP" altLang="en-US" sz="1800">
                <a:latin typeface="Arial" panose="020B0604020202020204" pitchFamily="34" charset="0"/>
              </a:rPr>
              <a:t>“</a:t>
            </a:r>
            <a:r>
              <a:rPr lang="en-US" altLang="en-US" sz="1800"/>
              <a:t>In RF</a:t>
            </a:r>
            <a:r>
              <a:rPr lang="ja-JP" altLang="en-US" sz="1800">
                <a:latin typeface="Arial" panose="020B0604020202020204" pitchFamily="34" charset="0"/>
              </a:rPr>
              <a:t>”</a:t>
            </a:r>
            <a:r>
              <a:rPr lang="en-US" altLang="en-US" sz="1800"/>
              <a:t> bits</a:t>
            </a:r>
          </a:p>
          <a:p>
            <a:pPr lvl="2"/>
            <a:r>
              <a:rPr lang="en-US" altLang="en-US" sz="1800"/>
              <a:t>Restart along correct path, no problem</a:t>
            </a:r>
          </a:p>
          <a:p>
            <a:pPr lvl="2"/>
            <a:r>
              <a:rPr lang="en-US" altLang="en-US" sz="1800" i="1"/>
              <a:t>Delaying recovery until retirement is a big performance penalty</a:t>
            </a:r>
          </a:p>
          <a:p>
            <a:pPr lvl="1"/>
            <a:r>
              <a:rPr lang="en-US" altLang="en-US" sz="2000"/>
              <a:t>Better performance</a:t>
            </a:r>
          </a:p>
          <a:p>
            <a:pPr lvl="2"/>
            <a:r>
              <a:rPr lang="en-US" altLang="en-US" sz="1800"/>
              <a:t>Easy part: Squash bad instructions immediately by moving ROB tail pointer to just after branch entry</a:t>
            </a:r>
          </a:p>
          <a:p>
            <a:pPr lvl="2"/>
            <a:r>
              <a:rPr lang="en-US" altLang="en-US" sz="1800"/>
              <a:t>Hard part: Restore register file tags to their state before the branch so that renaming restarts correctly</a:t>
            </a:r>
          </a:p>
          <a:p>
            <a:pPr lvl="2"/>
            <a:r>
              <a:rPr lang="en-US" altLang="en-US" sz="1800"/>
              <a:t>How?  Checkpoint register file tags at every branch instruction.  Restore tags from checkpoint when misprediction detected.</a:t>
            </a:r>
          </a:p>
          <a:p>
            <a:endParaRPr lang="en-US" altLang="en-US" sz="240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>
            <a:extLst>
              <a:ext uri="{FF2B5EF4-FFF2-40B4-BE49-F238E27FC236}">
                <a16:creationId xmlns:a16="http://schemas.microsoft.com/office/drawing/2014/main" id="{76DEA23C-61C6-EB41-B47F-3A8A485C06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en-US">
                <a:ea typeface="ＭＳ Ｐゴシック" panose="020B0600070205080204" pitchFamily="34" charset="-128"/>
              </a:rPr>
              <a:t>Module 6.4: ILP 4, History Buffer, Future File, Memory Dependences and Ordering</a:t>
            </a:r>
          </a:p>
        </p:txBody>
      </p:sp>
      <p:sp>
        <p:nvSpPr>
          <p:cNvPr id="98306" name="Text Placeholder 2">
            <a:extLst>
              <a:ext uri="{FF2B5EF4-FFF2-40B4-BE49-F238E27FC236}">
                <a16:creationId xmlns:a16="http://schemas.microsoft.com/office/drawing/2014/main" id="{99F17AED-4322-284E-83E4-8677C86F36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A5617AC4-F1B3-F645-8DC6-4A72072CBB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99330" name="Content Placeholder 2">
            <a:extLst>
              <a:ext uri="{FF2B5EF4-FFF2-40B4-BE49-F238E27FC236}">
                <a16:creationId xmlns:a16="http://schemas.microsoft.com/office/drawing/2014/main" id="{590DFA8A-7F8A-2740-B1D4-9AF4ADD91ED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variations of ROB: history buffer and future file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how memory dependences are handled with OOO scheduling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History Buffer and Future File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Memory dependences: WAW, WAR, RAW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Handling loads and stores in the pipeline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Load forwarding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Memory disambiguation and its speculation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>
            <a:extLst>
              <a:ext uri="{FF2B5EF4-FFF2-40B4-BE49-F238E27FC236}">
                <a16:creationId xmlns:a16="http://schemas.microsoft.com/office/drawing/2014/main" id="{115FAED6-E23B-8A44-8333-231F792966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Historical Perspective</a:t>
            </a:r>
          </a:p>
        </p:txBody>
      </p:sp>
      <p:sp>
        <p:nvSpPr>
          <p:cNvPr id="100354" name="Content Placeholder 2">
            <a:extLst>
              <a:ext uri="{FF2B5EF4-FFF2-40B4-BE49-F238E27FC236}">
                <a16:creationId xmlns:a16="http://schemas.microsoft.com/office/drawing/2014/main" id="{3D478429-22A6-F146-A371-0B35690608B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1967: Tomasulo’s algorithm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~1985: history buffer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1985: Andre Pleszkun &amp; James E Smith invented reorder buffer and future file to support precise interrupt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1987: Guri Sohi showed reorder buffer could be used for renaming and supporting speculative execution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Rectangle 2">
            <a:extLst>
              <a:ext uri="{FF2B5EF4-FFF2-40B4-BE49-F238E27FC236}">
                <a16:creationId xmlns:a16="http://schemas.microsoft.com/office/drawing/2014/main" id="{FA755D62-D359-7647-8D11-29E667B0CD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History Buffer (HB)</a:t>
            </a:r>
          </a:p>
        </p:txBody>
      </p:sp>
      <p:sp>
        <p:nvSpPr>
          <p:cNvPr id="101378" name="Rectangle 3">
            <a:extLst>
              <a:ext uri="{FF2B5EF4-FFF2-40B4-BE49-F238E27FC236}">
                <a16:creationId xmlns:a16="http://schemas.microsoft.com/office/drawing/2014/main" id="{8DF22EA5-5B6A-FB43-A592-9369ABAECD8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Operation of HB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HB is a FIFO with head and tail pointer (like ROB)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dispatch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Reserve HB entry at tail, advance tail ptr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If instruction writes register Rx, read </a:t>
            </a:r>
            <a:r>
              <a:rPr lang="en-US" altLang="en-US" sz="1800" i="1"/>
              <a:t>old value</a:t>
            </a:r>
            <a:r>
              <a:rPr lang="en-US" altLang="en-US" sz="1800"/>
              <a:t> of Rx from register file and save it in the HB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execution/completion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Write register file when instruction completes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Updates occur out-of-order: </a:t>
            </a:r>
            <a:r>
              <a:rPr lang="ja-JP" altLang="en-US" sz="1800">
                <a:latin typeface="Arial" panose="020B0604020202020204" pitchFamily="34" charset="0"/>
              </a:rPr>
              <a:t>“</a:t>
            </a:r>
            <a:r>
              <a:rPr lang="en-US" altLang="en-US" sz="1800"/>
              <a:t>messy register file</a:t>
            </a:r>
            <a:r>
              <a:rPr lang="ja-JP" altLang="en-US" sz="1800">
                <a:latin typeface="Arial" panose="020B0604020202020204" pitchFamily="34" charset="0"/>
              </a:rPr>
              <a:t>”</a:t>
            </a:r>
            <a:r>
              <a:rPr lang="en-US" altLang="en-US" sz="1800"/>
              <a:t> (imprecise)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If instruction caused an exception, mark exception bit in the HB for offending instruction</a:t>
            </a:r>
          </a:p>
          <a:p>
            <a:pPr lvl="1">
              <a:lnSpc>
                <a:spcPct val="80000"/>
              </a:lnSpc>
            </a:pPr>
            <a:r>
              <a:rPr lang="en-US" altLang="en-US" sz="2000"/>
              <a:t>Instruction retire</a:t>
            </a:r>
          </a:p>
          <a:p>
            <a:pPr lvl="2">
              <a:lnSpc>
                <a:spcPct val="80000"/>
              </a:lnSpc>
            </a:pPr>
            <a:r>
              <a:rPr lang="en-US" altLang="en-US" sz="1800"/>
              <a:t>Check instruction at the head of the HB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completed, check exception bit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no exception, simply advance head ptr</a:t>
            </a:r>
          </a:p>
          <a:p>
            <a:pPr lvl="3">
              <a:lnSpc>
                <a:spcPct val="80000"/>
              </a:lnSpc>
            </a:pPr>
            <a:r>
              <a:rPr lang="en-US" altLang="en-US" sz="1600"/>
              <a:t>If exception, restore precise register file state using the saved values in HB – </a:t>
            </a:r>
            <a:r>
              <a:rPr lang="ja-JP" altLang="en-US" sz="1600">
                <a:latin typeface="Arial" panose="020B0604020202020204" pitchFamily="34" charset="0"/>
              </a:rPr>
              <a:t>“</a:t>
            </a:r>
            <a:r>
              <a:rPr lang="en-US" altLang="en-US" sz="1600"/>
              <a:t>undo</a:t>
            </a:r>
            <a:r>
              <a:rPr lang="ja-JP" altLang="en-US" sz="1600">
                <a:latin typeface="Arial" panose="020B0604020202020204" pitchFamily="34" charset="0"/>
              </a:rPr>
              <a:t>”</a:t>
            </a:r>
            <a:r>
              <a:rPr lang="en-US" altLang="en-US" sz="1600"/>
              <a:t> the speculative updates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2">
            <a:extLst>
              <a:ext uri="{FF2B5EF4-FFF2-40B4-BE49-F238E27FC236}">
                <a16:creationId xmlns:a16="http://schemas.microsoft.com/office/drawing/2014/main" id="{24CF597A-B8D6-E149-8B49-8E3903B3D4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History Buffer (cont.)</a:t>
            </a:r>
          </a:p>
        </p:txBody>
      </p:sp>
      <p:graphicFrame>
        <p:nvGraphicFramePr>
          <p:cNvPr id="352259" name="Group 3">
            <a:extLst>
              <a:ext uri="{FF2B5EF4-FFF2-40B4-BE49-F238E27FC236}">
                <a16:creationId xmlns:a16="http://schemas.microsoft.com/office/drawing/2014/main" id="{750AC1D2-B31C-1B4B-951A-28548ED68A64}"/>
              </a:ext>
            </a:extLst>
          </p:cNvPr>
          <p:cNvGraphicFramePr>
            <a:graphicFrameLocks noGrp="1"/>
          </p:cNvGraphicFramePr>
          <p:nvPr/>
        </p:nvGraphicFramePr>
        <p:xfrm>
          <a:off x="3124200" y="2743200"/>
          <a:ext cx="2514600" cy="2524121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094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Entry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Dest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OLD VALUE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fol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Exception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Valid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PC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3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60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50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sym typeface="Symbol" charset="0"/>
                        </a:rPr>
                        <a:t>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9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19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…</a:t>
                      </a:r>
                    </a:p>
                  </a:txBody>
                  <a:tcPr marL="45720" marR="45720" marT="45727" marB="4572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Symbo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45720" marR="45720" marT="45727" marB="4572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02495" name="Text Box 96">
            <a:extLst>
              <a:ext uri="{FF2B5EF4-FFF2-40B4-BE49-F238E27FC236}">
                <a16:creationId xmlns:a16="http://schemas.microsoft.com/office/drawing/2014/main" id="{57109D7C-82D7-D04A-8C50-32F105C29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514600"/>
            <a:ext cx="3619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HB</a:t>
            </a:r>
          </a:p>
        </p:txBody>
      </p:sp>
      <p:sp>
        <p:nvSpPr>
          <p:cNvPr id="102496" name="Text Box 97">
            <a:extLst>
              <a:ext uri="{FF2B5EF4-FFF2-40B4-BE49-F238E27FC236}">
                <a16:creationId xmlns:a16="http://schemas.microsoft.com/office/drawing/2014/main" id="{78066233-9BE8-B64A-A5EC-E9637B424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3657600"/>
            <a:ext cx="539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HEAD</a:t>
            </a:r>
          </a:p>
        </p:txBody>
      </p:sp>
      <p:sp>
        <p:nvSpPr>
          <p:cNvPr id="102497" name="Text Box 98">
            <a:extLst>
              <a:ext uri="{FF2B5EF4-FFF2-40B4-BE49-F238E27FC236}">
                <a16:creationId xmlns:a16="http://schemas.microsoft.com/office/drawing/2014/main" id="{82EEBBEF-EB0E-D542-8A65-8ADF72B3F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4495800"/>
            <a:ext cx="4540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TAIL</a:t>
            </a:r>
          </a:p>
        </p:txBody>
      </p:sp>
      <p:sp>
        <p:nvSpPr>
          <p:cNvPr id="102498" name="Line 99">
            <a:extLst>
              <a:ext uri="{FF2B5EF4-FFF2-40B4-BE49-F238E27FC236}">
                <a16:creationId xmlns:a16="http://schemas.microsoft.com/office/drawing/2014/main" id="{B4E3DF2B-53D0-8448-9817-471E771109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457200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99" name="Line 100">
            <a:extLst>
              <a:ext uri="{FF2B5EF4-FFF2-40B4-BE49-F238E27FC236}">
                <a16:creationId xmlns:a16="http://schemas.microsoft.com/office/drawing/2014/main" id="{F7097A01-63B6-A74F-909B-F14F82B9EB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373380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500" name="Group 101">
            <a:extLst>
              <a:ext uri="{FF2B5EF4-FFF2-40B4-BE49-F238E27FC236}">
                <a16:creationId xmlns:a16="http://schemas.microsoft.com/office/drawing/2014/main" id="{5CD3ACC4-2291-E047-9347-C16C8BFD3F9C}"/>
              </a:ext>
            </a:extLst>
          </p:cNvPr>
          <p:cNvGrpSpPr>
            <a:grpSpLocks/>
          </p:cNvGrpSpPr>
          <p:nvPr/>
        </p:nvGrpSpPr>
        <p:grpSpPr bwMode="auto">
          <a:xfrm>
            <a:off x="457200" y="1524000"/>
            <a:ext cx="1133475" cy="1008063"/>
            <a:chOff x="144" y="1104"/>
            <a:chExt cx="714" cy="635"/>
          </a:xfrm>
        </p:grpSpPr>
        <p:sp>
          <p:nvSpPr>
            <p:cNvPr id="102542" name="Text Box 102">
              <a:extLst>
                <a:ext uri="{FF2B5EF4-FFF2-40B4-BE49-F238E27FC236}">
                  <a16:creationId xmlns:a16="http://schemas.microsoft.com/office/drawing/2014/main" id="{3E4B8068-288B-E14B-9664-99D44AD59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104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F0</a:t>
              </a:r>
            </a:p>
          </p:txBody>
        </p:sp>
        <p:sp>
          <p:nvSpPr>
            <p:cNvPr id="102543" name="Text Box 103">
              <a:extLst>
                <a:ext uri="{FF2B5EF4-FFF2-40B4-BE49-F238E27FC236}">
                  <a16:creationId xmlns:a16="http://schemas.microsoft.com/office/drawing/2014/main" id="{A67CF156-42F0-5B4D-8861-D9CFD8CD4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200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F2</a:t>
              </a:r>
            </a:p>
          </p:txBody>
        </p:sp>
        <p:sp>
          <p:nvSpPr>
            <p:cNvPr id="102544" name="Text Box 104">
              <a:extLst>
                <a:ext uri="{FF2B5EF4-FFF2-40B4-BE49-F238E27FC236}">
                  <a16:creationId xmlns:a16="http://schemas.microsoft.com/office/drawing/2014/main" id="{34636E8E-5F49-2D44-A6FA-D11326F4D2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296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F4</a:t>
              </a:r>
            </a:p>
          </p:txBody>
        </p:sp>
        <p:sp>
          <p:nvSpPr>
            <p:cNvPr id="102545" name="Text Box 105">
              <a:extLst>
                <a:ext uri="{FF2B5EF4-FFF2-40B4-BE49-F238E27FC236}">
                  <a16:creationId xmlns:a16="http://schemas.microsoft.com/office/drawing/2014/main" id="{5E337150-2975-8A4F-A335-D944959F4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392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F6</a:t>
              </a:r>
            </a:p>
          </p:txBody>
        </p:sp>
        <p:sp>
          <p:nvSpPr>
            <p:cNvPr id="102546" name="Text Box 106">
              <a:extLst>
                <a:ext uri="{FF2B5EF4-FFF2-40B4-BE49-F238E27FC236}">
                  <a16:creationId xmlns:a16="http://schemas.microsoft.com/office/drawing/2014/main" id="{571DD8F4-13FC-A84A-9687-22DA414F5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488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F8</a:t>
              </a:r>
            </a:p>
          </p:txBody>
        </p:sp>
        <p:sp>
          <p:nvSpPr>
            <p:cNvPr id="102547" name="Text Box 107">
              <a:extLst>
                <a:ext uri="{FF2B5EF4-FFF2-40B4-BE49-F238E27FC236}">
                  <a16:creationId xmlns:a16="http://schemas.microsoft.com/office/drawing/2014/main" id="{57ECA75C-5E3C-FB45-B58A-AC9823AC6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" y="1584"/>
              <a:ext cx="25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F10</a:t>
              </a:r>
            </a:p>
          </p:txBody>
        </p:sp>
        <p:grpSp>
          <p:nvGrpSpPr>
            <p:cNvPr id="102548" name="Group 108">
              <a:extLst>
                <a:ext uri="{FF2B5EF4-FFF2-40B4-BE49-F238E27FC236}">
                  <a16:creationId xmlns:a16="http://schemas.microsoft.com/office/drawing/2014/main" id="{8005120F-7371-E847-A9BE-730BF421FE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" y="1138"/>
              <a:ext cx="480" cy="576"/>
              <a:chOff x="384" y="1152"/>
              <a:chExt cx="480" cy="576"/>
            </a:xfrm>
          </p:grpSpPr>
          <p:sp>
            <p:nvSpPr>
              <p:cNvPr id="102549" name="Rectangle 109">
                <a:extLst>
                  <a:ext uri="{FF2B5EF4-FFF2-40B4-BE49-F238E27FC236}">
                    <a16:creationId xmlns:a16="http://schemas.microsoft.com/office/drawing/2014/main" id="{F1F80053-DDE7-8941-9C6A-1387BBC6F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152"/>
                <a:ext cx="480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550" name="Line 110">
                <a:extLst>
                  <a:ext uri="{FF2B5EF4-FFF2-40B4-BE49-F238E27FC236}">
                    <a16:creationId xmlns:a16="http://schemas.microsoft.com/office/drawing/2014/main" id="{8E15633F-8BEC-314F-9811-71B18D7DB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632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1" name="Line 111">
                <a:extLst>
                  <a:ext uri="{FF2B5EF4-FFF2-40B4-BE49-F238E27FC236}">
                    <a16:creationId xmlns:a16="http://schemas.microsoft.com/office/drawing/2014/main" id="{98747E7C-CE64-724E-B3DE-DECFE69FD6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536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2" name="Line 112">
                <a:extLst>
                  <a:ext uri="{FF2B5EF4-FFF2-40B4-BE49-F238E27FC236}">
                    <a16:creationId xmlns:a16="http://schemas.microsoft.com/office/drawing/2014/main" id="{503681AA-E372-2B4C-A427-CFD40730CB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440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3" name="Line 113">
                <a:extLst>
                  <a:ext uri="{FF2B5EF4-FFF2-40B4-BE49-F238E27FC236}">
                    <a16:creationId xmlns:a16="http://schemas.microsoft.com/office/drawing/2014/main" id="{2EDEF345-2DC0-CC48-918F-E75E8607CC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344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54" name="Line 114">
                <a:extLst>
                  <a:ext uri="{FF2B5EF4-FFF2-40B4-BE49-F238E27FC236}">
                    <a16:creationId xmlns:a16="http://schemas.microsoft.com/office/drawing/2014/main" id="{4473D674-6DEA-4646-B409-4D58FE3E3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248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2501" name="Text Box 115">
            <a:extLst>
              <a:ext uri="{FF2B5EF4-FFF2-40B4-BE49-F238E27FC236}">
                <a16:creationId xmlns:a16="http://schemas.microsoft.com/office/drawing/2014/main" id="{14B85339-7040-5345-BC90-FCD4E4B1D7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1981200"/>
            <a:ext cx="325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102502" name="Text Box 116">
            <a:extLst>
              <a:ext uri="{FF2B5EF4-FFF2-40B4-BE49-F238E27FC236}">
                <a16:creationId xmlns:a16="http://schemas.microsoft.com/office/drawing/2014/main" id="{64E7B0E5-627A-F74C-AC1B-665C9F3DA9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133600"/>
            <a:ext cx="325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  <p:sp>
        <p:nvSpPr>
          <p:cNvPr id="102503" name="Text Box 117">
            <a:extLst>
              <a:ext uri="{FF2B5EF4-FFF2-40B4-BE49-F238E27FC236}">
                <a16:creationId xmlns:a16="http://schemas.microsoft.com/office/drawing/2014/main" id="{FF66F053-B9B1-A343-A476-E92001F91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95400"/>
            <a:ext cx="16589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Initial register file contents</a:t>
            </a:r>
          </a:p>
        </p:txBody>
      </p:sp>
      <p:sp>
        <p:nvSpPr>
          <p:cNvPr id="102504" name="AutoShape 118">
            <a:extLst>
              <a:ext uri="{FF2B5EF4-FFF2-40B4-BE49-F238E27FC236}">
                <a16:creationId xmlns:a16="http://schemas.microsoft.com/office/drawing/2014/main" id="{7B9F596A-339B-6F4A-8894-8FEB81659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810000"/>
            <a:ext cx="152400" cy="1600200"/>
          </a:xfrm>
          <a:prstGeom prst="upArrow">
            <a:avLst>
              <a:gd name="adj1" fmla="val 50000"/>
              <a:gd name="adj2" fmla="val 2625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2505" name="Text Box 119">
            <a:extLst>
              <a:ext uri="{FF2B5EF4-FFF2-40B4-BE49-F238E27FC236}">
                <a16:creationId xmlns:a16="http://schemas.microsoft.com/office/drawing/2014/main" id="{CF7671F0-4FDE-E845-B503-A59272D0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410200"/>
            <a:ext cx="16319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Recover register file state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from tail to head</a:t>
            </a:r>
          </a:p>
        </p:txBody>
      </p:sp>
      <p:sp>
        <p:nvSpPr>
          <p:cNvPr id="102506" name="Line 120">
            <a:extLst>
              <a:ext uri="{FF2B5EF4-FFF2-40B4-BE49-F238E27FC236}">
                <a16:creationId xmlns:a16="http://schemas.microsoft.com/office/drawing/2014/main" id="{A0E537F0-C6CF-2F49-942B-AB65D26C2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1295400"/>
            <a:ext cx="0" cy="4724400"/>
          </a:xfrm>
          <a:prstGeom prst="line">
            <a:avLst/>
          </a:prstGeom>
          <a:noFill/>
          <a:ln w="12700">
            <a:solidFill>
              <a:schemeClr val="tx1"/>
            </a:solidFill>
            <a:prstDash val="lg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507" name="Text Box 121">
            <a:extLst>
              <a:ext uri="{FF2B5EF4-FFF2-40B4-BE49-F238E27FC236}">
                <a16:creationId xmlns:a16="http://schemas.microsoft.com/office/drawing/2014/main" id="{0DB643EE-93D1-D542-993D-DC5FC297B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1295400"/>
            <a:ext cx="3303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HB and Register File when exception reaches at HEAD</a:t>
            </a:r>
          </a:p>
        </p:txBody>
      </p:sp>
      <p:grpSp>
        <p:nvGrpSpPr>
          <p:cNvPr id="102508" name="Group 122">
            <a:extLst>
              <a:ext uri="{FF2B5EF4-FFF2-40B4-BE49-F238E27FC236}">
                <a16:creationId xmlns:a16="http://schemas.microsoft.com/office/drawing/2014/main" id="{3E94A199-0574-FE4B-A391-06D991BEE51B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1524000"/>
            <a:ext cx="1133475" cy="1008063"/>
            <a:chOff x="2304" y="960"/>
            <a:chExt cx="714" cy="635"/>
          </a:xfrm>
        </p:grpSpPr>
        <p:sp>
          <p:nvSpPr>
            <p:cNvPr id="102527" name="Text Box 123">
              <a:extLst>
                <a:ext uri="{FF2B5EF4-FFF2-40B4-BE49-F238E27FC236}">
                  <a16:creationId xmlns:a16="http://schemas.microsoft.com/office/drawing/2014/main" id="{F8608B2B-77DB-7A45-8392-C654E1BCE2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960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F0</a:t>
              </a:r>
            </a:p>
          </p:txBody>
        </p:sp>
        <p:sp>
          <p:nvSpPr>
            <p:cNvPr id="102528" name="Text Box 124">
              <a:extLst>
                <a:ext uri="{FF2B5EF4-FFF2-40B4-BE49-F238E27FC236}">
                  <a16:creationId xmlns:a16="http://schemas.microsoft.com/office/drawing/2014/main" id="{CBC08CE7-3239-0D41-A0B1-CB19D6BB2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1056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F2</a:t>
              </a:r>
            </a:p>
          </p:txBody>
        </p:sp>
        <p:sp>
          <p:nvSpPr>
            <p:cNvPr id="102529" name="Text Box 125">
              <a:extLst>
                <a:ext uri="{FF2B5EF4-FFF2-40B4-BE49-F238E27FC236}">
                  <a16:creationId xmlns:a16="http://schemas.microsoft.com/office/drawing/2014/main" id="{18FF1A19-1059-574E-A44E-590F6EB495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1152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F4</a:t>
              </a:r>
            </a:p>
          </p:txBody>
        </p:sp>
        <p:sp>
          <p:nvSpPr>
            <p:cNvPr id="102530" name="Text Box 126">
              <a:extLst>
                <a:ext uri="{FF2B5EF4-FFF2-40B4-BE49-F238E27FC236}">
                  <a16:creationId xmlns:a16="http://schemas.microsoft.com/office/drawing/2014/main" id="{A14B4192-DBFB-9F43-9ECD-F59233DB61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1248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F6</a:t>
              </a:r>
            </a:p>
          </p:txBody>
        </p:sp>
        <p:sp>
          <p:nvSpPr>
            <p:cNvPr id="102531" name="Text Box 127">
              <a:extLst>
                <a:ext uri="{FF2B5EF4-FFF2-40B4-BE49-F238E27FC236}">
                  <a16:creationId xmlns:a16="http://schemas.microsoft.com/office/drawing/2014/main" id="{C5C7EB80-CFC2-9741-91AD-65A3F098A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1344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F8</a:t>
              </a:r>
            </a:p>
          </p:txBody>
        </p:sp>
        <p:sp>
          <p:nvSpPr>
            <p:cNvPr id="102532" name="Text Box 128">
              <a:extLst>
                <a:ext uri="{FF2B5EF4-FFF2-40B4-BE49-F238E27FC236}">
                  <a16:creationId xmlns:a16="http://schemas.microsoft.com/office/drawing/2014/main" id="{B03B360E-FC08-3C43-B0D1-675B5C953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440"/>
              <a:ext cx="25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F10</a:t>
              </a:r>
            </a:p>
          </p:txBody>
        </p:sp>
        <p:grpSp>
          <p:nvGrpSpPr>
            <p:cNvPr id="102533" name="Group 129">
              <a:extLst>
                <a:ext uri="{FF2B5EF4-FFF2-40B4-BE49-F238E27FC236}">
                  <a16:creationId xmlns:a16="http://schemas.microsoft.com/office/drawing/2014/main" id="{04BA584A-A325-384B-BCE5-A4E53A955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8" y="994"/>
              <a:ext cx="480" cy="576"/>
              <a:chOff x="384" y="1152"/>
              <a:chExt cx="480" cy="576"/>
            </a:xfrm>
          </p:grpSpPr>
          <p:sp>
            <p:nvSpPr>
              <p:cNvPr id="102536" name="Rectangle 130">
                <a:extLst>
                  <a:ext uri="{FF2B5EF4-FFF2-40B4-BE49-F238E27FC236}">
                    <a16:creationId xmlns:a16="http://schemas.microsoft.com/office/drawing/2014/main" id="{C6B11CB5-D20E-A14C-A713-89DC717FF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152"/>
                <a:ext cx="480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537" name="Line 131">
                <a:extLst>
                  <a:ext uri="{FF2B5EF4-FFF2-40B4-BE49-F238E27FC236}">
                    <a16:creationId xmlns:a16="http://schemas.microsoft.com/office/drawing/2014/main" id="{2332500B-2E04-C542-94AD-3E8F53DB4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632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8" name="Line 132">
                <a:extLst>
                  <a:ext uri="{FF2B5EF4-FFF2-40B4-BE49-F238E27FC236}">
                    <a16:creationId xmlns:a16="http://schemas.microsoft.com/office/drawing/2014/main" id="{CC8D0072-BAF4-A642-AF1A-552D6DCF6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536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9" name="Line 133">
                <a:extLst>
                  <a:ext uri="{FF2B5EF4-FFF2-40B4-BE49-F238E27FC236}">
                    <a16:creationId xmlns:a16="http://schemas.microsoft.com/office/drawing/2014/main" id="{2504C2DB-50AC-474C-9304-D888A60D1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440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0" name="Line 134">
                <a:extLst>
                  <a:ext uri="{FF2B5EF4-FFF2-40B4-BE49-F238E27FC236}">
                    <a16:creationId xmlns:a16="http://schemas.microsoft.com/office/drawing/2014/main" id="{A9828ACC-C10F-3842-996B-7141456E1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344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41" name="Line 135">
                <a:extLst>
                  <a:ext uri="{FF2B5EF4-FFF2-40B4-BE49-F238E27FC236}">
                    <a16:creationId xmlns:a16="http://schemas.microsoft.com/office/drawing/2014/main" id="{9DB950DB-FD05-9E47-BD89-B8561FEDC2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248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534" name="Text Box 136">
              <a:extLst>
                <a:ext uri="{FF2B5EF4-FFF2-40B4-BE49-F238E27FC236}">
                  <a16:creationId xmlns:a16="http://schemas.microsoft.com/office/drawing/2014/main" id="{AF1EC231-5A14-4A4C-8617-F984A8EC4E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1248"/>
              <a:ext cx="25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189</a:t>
              </a:r>
            </a:p>
          </p:txBody>
        </p:sp>
        <p:sp>
          <p:nvSpPr>
            <p:cNvPr id="102535" name="Text Box 137">
              <a:extLst>
                <a:ext uri="{FF2B5EF4-FFF2-40B4-BE49-F238E27FC236}">
                  <a16:creationId xmlns:a16="http://schemas.microsoft.com/office/drawing/2014/main" id="{B757F52D-0331-4C41-B9F7-5EB8077C7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8" y="1344"/>
              <a:ext cx="232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-23</a:t>
              </a:r>
            </a:p>
          </p:txBody>
        </p:sp>
      </p:grpSp>
      <p:sp>
        <p:nvSpPr>
          <p:cNvPr id="102509" name="Line 138">
            <a:extLst>
              <a:ext uri="{FF2B5EF4-FFF2-40B4-BE49-F238E27FC236}">
                <a16:creationId xmlns:a16="http://schemas.microsoft.com/office/drawing/2014/main" id="{3F736D69-4524-7F47-AFC7-CC216824FA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1200" y="1295400"/>
            <a:ext cx="0" cy="4724400"/>
          </a:xfrm>
          <a:prstGeom prst="line">
            <a:avLst/>
          </a:prstGeom>
          <a:noFill/>
          <a:ln w="12700">
            <a:solidFill>
              <a:schemeClr val="tx1"/>
            </a:solidFill>
            <a:prstDash val="lg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510" name="Text Box 139">
            <a:extLst>
              <a:ext uri="{FF2B5EF4-FFF2-40B4-BE49-F238E27FC236}">
                <a16:creationId xmlns:a16="http://schemas.microsoft.com/office/drawing/2014/main" id="{A1E17C01-D87B-804F-AE01-DD05B77E2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295400"/>
            <a:ext cx="24130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Restored (precise) register file contents</a:t>
            </a:r>
          </a:p>
        </p:txBody>
      </p:sp>
      <p:grpSp>
        <p:nvGrpSpPr>
          <p:cNvPr id="102511" name="Group 140">
            <a:extLst>
              <a:ext uri="{FF2B5EF4-FFF2-40B4-BE49-F238E27FC236}">
                <a16:creationId xmlns:a16="http://schemas.microsoft.com/office/drawing/2014/main" id="{81241F4E-9D7B-8545-92FF-63C3B20D575D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524000"/>
            <a:ext cx="1133475" cy="1008063"/>
            <a:chOff x="144" y="1104"/>
            <a:chExt cx="714" cy="635"/>
          </a:xfrm>
        </p:grpSpPr>
        <p:sp>
          <p:nvSpPr>
            <p:cNvPr id="102514" name="Text Box 141">
              <a:extLst>
                <a:ext uri="{FF2B5EF4-FFF2-40B4-BE49-F238E27FC236}">
                  <a16:creationId xmlns:a16="http://schemas.microsoft.com/office/drawing/2014/main" id="{80BD000D-48C1-794E-9BE7-2E0AEFE2D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104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F0</a:t>
              </a:r>
            </a:p>
          </p:txBody>
        </p:sp>
        <p:sp>
          <p:nvSpPr>
            <p:cNvPr id="102515" name="Text Box 142">
              <a:extLst>
                <a:ext uri="{FF2B5EF4-FFF2-40B4-BE49-F238E27FC236}">
                  <a16:creationId xmlns:a16="http://schemas.microsoft.com/office/drawing/2014/main" id="{FD631C61-510E-234B-BDC1-0CE99EA4D2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200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F2</a:t>
              </a:r>
            </a:p>
          </p:txBody>
        </p:sp>
        <p:sp>
          <p:nvSpPr>
            <p:cNvPr id="102516" name="Text Box 143">
              <a:extLst>
                <a:ext uri="{FF2B5EF4-FFF2-40B4-BE49-F238E27FC236}">
                  <a16:creationId xmlns:a16="http://schemas.microsoft.com/office/drawing/2014/main" id="{B61436DC-B4C7-6948-BB37-313C9C5DE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296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F4</a:t>
              </a:r>
            </a:p>
          </p:txBody>
        </p:sp>
        <p:sp>
          <p:nvSpPr>
            <p:cNvPr id="102517" name="Text Box 144">
              <a:extLst>
                <a:ext uri="{FF2B5EF4-FFF2-40B4-BE49-F238E27FC236}">
                  <a16:creationId xmlns:a16="http://schemas.microsoft.com/office/drawing/2014/main" id="{8C825AB9-3CF7-D642-A854-C1CEF562E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392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F6</a:t>
              </a:r>
            </a:p>
          </p:txBody>
        </p:sp>
        <p:sp>
          <p:nvSpPr>
            <p:cNvPr id="102518" name="Text Box 145">
              <a:extLst>
                <a:ext uri="{FF2B5EF4-FFF2-40B4-BE49-F238E27FC236}">
                  <a16:creationId xmlns:a16="http://schemas.microsoft.com/office/drawing/2014/main" id="{4F90AEAF-3847-D044-AFED-798DC606B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1488"/>
              <a:ext cx="21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F8</a:t>
              </a:r>
            </a:p>
          </p:txBody>
        </p:sp>
        <p:sp>
          <p:nvSpPr>
            <p:cNvPr id="102519" name="Text Box 146">
              <a:extLst>
                <a:ext uri="{FF2B5EF4-FFF2-40B4-BE49-F238E27FC236}">
                  <a16:creationId xmlns:a16="http://schemas.microsoft.com/office/drawing/2014/main" id="{758FDA5C-5646-114F-A4FA-8AE8E21CE7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" y="1584"/>
              <a:ext cx="25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F10</a:t>
              </a:r>
            </a:p>
          </p:txBody>
        </p:sp>
        <p:grpSp>
          <p:nvGrpSpPr>
            <p:cNvPr id="102520" name="Group 147">
              <a:extLst>
                <a:ext uri="{FF2B5EF4-FFF2-40B4-BE49-F238E27FC236}">
                  <a16:creationId xmlns:a16="http://schemas.microsoft.com/office/drawing/2014/main" id="{FDCB2EFD-FA81-0B49-ADCE-3020FE5476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" y="1138"/>
              <a:ext cx="480" cy="576"/>
              <a:chOff x="384" y="1152"/>
              <a:chExt cx="480" cy="576"/>
            </a:xfrm>
          </p:grpSpPr>
          <p:sp>
            <p:nvSpPr>
              <p:cNvPr id="102521" name="Rectangle 148">
                <a:extLst>
                  <a:ext uri="{FF2B5EF4-FFF2-40B4-BE49-F238E27FC236}">
                    <a16:creationId xmlns:a16="http://schemas.microsoft.com/office/drawing/2014/main" id="{785A468F-BC35-114C-B057-C426FE58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1152"/>
                <a:ext cx="480" cy="57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 wrap="none" anchor="ctr"/>
              <a:lstStyle>
                <a:lvl1pPr>
                  <a:spcBef>
                    <a:spcPts val="688"/>
                  </a:spcBef>
                  <a:buClr>
                    <a:srgbClr val="FFC000"/>
                  </a:buClr>
                  <a:buSzPct val="100000"/>
                  <a:buFont typeface="Wingdings" pitchFamily="2" charset="2"/>
                  <a:buChar char=""/>
                  <a:defRPr sz="2800">
                    <a:solidFill>
                      <a:srgbClr val="000000"/>
                    </a:solidFill>
                    <a:latin typeface="Garamond" panose="02020404030301010803" pitchFamily="18" charset="0"/>
                    <a:ea typeface="ＭＳ Ｐゴシック" panose="020B0600070205080204" pitchFamily="34" charset="-128"/>
                    <a:cs typeface="HG Mincho Light J" charset="0"/>
                  </a:defRPr>
                </a:lvl1pPr>
                <a:lvl2pPr marL="742950" indent="-28575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–"/>
                  <a:defRPr sz="2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2pPr>
                <a:lvl3pPr marL="1143000" indent="-228600">
                  <a:spcBef>
                    <a:spcPts val="5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buChar char="•"/>
                  <a:defRPr sz="20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3pPr>
                <a:lvl4pPr marL="16002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Wingdings" pitchFamily="2" charset="2"/>
                  <a:defRPr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4pPr>
                <a:lvl5pPr marL="2057400" indent="-228600">
                  <a:spcBef>
                    <a:spcPts val="488"/>
                  </a:spcBef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5pPr>
                <a:lvl6pPr marL="25146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6pPr>
                <a:lvl7pPr marL="29718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7pPr>
                <a:lvl8pPr marL="34290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8pPr>
                <a:lvl9pPr marL="3886200" indent="-228600" eaLnBrk="0" fontAlgn="base" hangingPunct="0">
                  <a:spcBef>
                    <a:spcPts val="488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panose="02020603050405020304" pitchFamily="18" charset="0"/>
                  <a:defRPr sz="1400">
                    <a:solidFill>
                      <a:srgbClr val="000000"/>
                    </a:solidFill>
                    <a:latin typeface="Garamond" panose="02020404030301010803" pitchFamily="18" charset="0"/>
                    <a:ea typeface="HG Mincho Light J" charset="0"/>
                    <a:cs typeface="HG Mincho Light J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522" name="Line 149">
                <a:extLst>
                  <a:ext uri="{FF2B5EF4-FFF2-40B4-BE49-F238E27FC236}">
                    <a16:creationId xmlns:a16="http://schemas.microsoft.com/office/drawing/2014/main" id="{F3EF6E58-2FCC-5E45-96C2-658E315237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632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3" name="Line 150">
                <a:extLst>
                  <a:ext uri="{FF2B5EF4-FFF2-40B4-BE49-F238E27FC236}">
                    <a16:creationId xmlns:a16="http://schemas.microsoft.com/office/drawing/2014/main" id="{03175DD8-17B0-7D4B-8B51-7F052238D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536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4" name="Line 151">
                <a:extLst>
                  <a:ext uri="{FF2B5EF4-FFF2-40B4-BE49-F238E27FC236}">
                    <a16:creationId xmlns:a16="http://schemas.microsoft.com/office/drawing/2014/main" id="{304DDED5-8054-D24B-AFD1-EC25272A7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440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5" name="Line 152">
                <a:extLst>
                  <a:ext uri="{FF2B5EF4-FFF2-40B4-BE49-F238E27FC236}">
                    <a16:creationId xmlns:a16="http://schemas.microsoft.com/office/drawing/2014/main" id="{014F3581-5F80-DA49-A2C2-27B53C8A6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344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6" name="Line 153">
                <a:extLst>
                  <a:ext uri="{FF2B5EF4-FFF2-40B4-BE49-F238E27FC236}">
                    <a16:creationId xmlns:a16="http://schemas.microsoft.com/office/drawing/2014/main" id="{66FB7507-934B-9F41-8D4F-DE04FDA4EA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" y="1248"/>
                <a:ext cx="48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2512" name="Text Box 154">
            <a:extLst>
              <a:ext uri="{FF2B5EF4-FFF2-40B4-BE49-F238E27FC236}">
                <a16:creationId xmlns:a16="http://schemas.microsoft.com/office/drawing/2014/main" id="{8415849E-644A-B844-A3B4-DFE1FB957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1981200"/>
            <a:ext cx="325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102513" name="Text Box 155">
            <a:extLst>
              <a:ext uri="{FF2B5EF4-FFF2-40B4-BE49-F238E27FC236}">
                <a16:creationId xmlns:a16="http://schemas.microsoft.com/office/drawing/2014/main" id="{A8E64A9A-72CB-774C-89DC-A7773ECC3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2133600"/>
            <a:ext cx="325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Rectangle 2">
            <a:extLst>
              <a:ext uri="{FF2B5EF4-FFF2-40B4-BE49-F238E27FC236}">
                <a16:creationId xmlns:a16="http://schemas.microsoft.com/office/drawing/2014/main" id="{6F4EAB02-835E-CC41-BF61-5714510D62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>
                <a:ea typeface="ＭＳ Ｐゴシック" panose="020B0600070205080204" pitchFamily="34" charset="-128"/>
              </a:rPr>
              <a:t>Precise Tomasulo Pipeline with HB</a:t>
            </a:r>
          </a:p>
        </p:txBody>
      </p:sp>
      <p:grpSp>
        <p:nvGrpSpPr>
          <p:cNvPr id="103426" name="Group 3">
            <a:extLst>
              <a:ext uri="{FF2B5EF4-FFF2-40B4-BE49-F238E27FC236}">
                <a16:creationId xmlns:a16="http://schemas.microsoft.com/office/drawing/2014/main" id="{998B5A0A-0255-2946-9332-2C872EDE1BA3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1331913"/>
            <a:ext cx="4064000" cy="4114800"/>
            <a:chOff x="144" y="816"/>
            <a:chExt cx="2560" cy="2592"/>
          </a:xfrm>
        </p:grpSpPr>
        <p:sp>
          <p:nvSpPr>
            <p:cNvPr id="103427" name="Text Box 4">
              <a:extLst>
                <a:ext uri="{FF2B5EF4-FFF2-40B4-BE49-F238E27FC236}">
                  <a16:creationId xmlns:a16="http://schemas.microsoft.com/office/drawing/2014/main" id="{4954D9CF-608E-D943-94CB-177526B1F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" y="816"/>
              <a:ext cx="142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Update state out-of-order: imprecise!</a:t>
              </a:r>
            </a:p>
          </p:txBody>
        </p:sp>
        <p:sp>
          <p:nvSpPr>
            <p:cNvPr id="103428" name="Rectangle 5">
              <a:extLst>
                <a:ext uri="{FF2B5EF4-FFF2-40B4-BE49-F238E27FC236}">
                  <a16:creationId xmlns:a16="http://schemas.microsoft.com/office/drawing/2014/main" id="{A1299845-201D-6048-B6C7-CB37A5324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632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429" name="Text Box 6">
              <a:extLst>
                <a:ext uri="{FF2B5EF4-FFF2-40B4-BE49-F238E27FC236}">
                  <a16:creationId xmlns:a16="http://schemas.microsoft.com/office/drawing/2014/main" id="{ECC271F9-9781-F141-91EF-602EBBED0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1680"/>
              <a:ext cx="4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Register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File</a:t>
              </a:r>
            </a:p>
          </p:txBody>
        </p:sp>
        <p:sp>
          <p:nvSpPr>
            <p:cNvPr id="103430" name="Rectangle 7">
              <a:extLst>
                <a:ext uri="{FF2B5EF4-FFF2-40B4-BE49-F238E27FC236}">
                  <a16:creationId xmlns:a16="http://schemas.microsoft.com/office/drawing/2014/main" id="{C369834E-2F58-EF46-845E-03D92712F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256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431" name="Line 8">
              <a:extLst>
                <a:ext uri="{FF2B5EF4-FFF2-40B4-BE49-F238E27FC236}">
                  <a16:creationId xmlns:a16="http://schemas.microsoft.com/office/drawing/2014/main" id="{FFFDCCD7-6B7D-CB4C-A54B-AB7C19112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352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2" name="Line 9">
              <a:extLst>
                <a:ext uri="{FF2B5EF4-FFF2-40B4-BE49-F238E27FC236}">
                  <a16:creationId xmlns:a16="http://schemas.microsoft.com/office/drawing/2014/main" id="{C2CB8344-43AB-FF48-823C-640545C76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448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3" name="Line 10">
              <a:extLst>
                <a:ext uri="{FF2B5EF4-FFF2-40B4-BE49-F238E27FC236}">
                  <a16:creationId xmlns:a16="http://schemas.microsoft.com/office/drawing/2014/main" id="{496D1532-0851-0743-B313-BFA226F84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544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4" name="Text Box 11">
              <a:extLst>
                <a:ext uri="{FF2B5EF4-FFF2-40B4-BE49-F238E27FC236}">
                  <a16:creationId xmlns:a16="http://schemas.microsoft.com/office/drawing/2014/main" id="{6490A272-90C4-6441-9DE2-BDB61560E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352"/>
              <a:ext cx="5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103435" name="Rectangle 12">
              <a:extLst>
                <a:ext uri="{FF2B5EF4-FFF2-40B4-BE49-F238E27FC236}">
                  <a16:creationId xmlns:a16="http://schemas.microsoft.com/office/drawing/2014/main" id="{E9A9310C-C2C0-CE40-9975-2905C537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880"/>
              <a:ext cx="576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436" name="Text Box 13">
              <a:extLst>
                <a:ext uri="{FF2B5EF4-FFF2-40B4-BE49-F238E27FC236}">
                  <a16:creationId xmlns:a16="http://schemas.microsoft.com/office/drawing/2014/main" id="{7C95AB5D-5633-B740-A8AC-19107C17A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2928"/>
              <a:ext cx="48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Functional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Units</a:t>
              </a:r>
            </a:p>
          </p:txBody>
        </p:sp>
        <p:sp>
          <p:nvSpPr>
            <p:cNvPr id="103437" name="Line 14">
              <a:extLst>
                <a:ext uri="{FF2B5EF4-FFF2-40B4-BE49-F238E27FC236}">
                  <a16:creationId xmlns:a16="http://schemas.microsoft.com/office/drawing/2014/main" id="{0A66DF9B-6931-AB45-82A6-8B0413B5D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2016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8" name="Line 15">
              <a:extLst>
                <a:ext uri="{FF2B5EF4-FFF2-40B4-BE49-F238E27FC236}">
                  <a16:creationId xmlns:a16="http://schemas.microsoft.com/office/drawing/2014/main" id="{5A845578-4272-B84F-A473-148A3F15E0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96" y="2640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9" name="Line 16">
              <a:extLst>
                <a:ext uri="{FF2B5EF4-FFF2-40B4-BE49-F238E27FC236}">
                  <a16:creationId xmlns:a16="http://schemas.microsoft.com/office/drawing/2014/main" id="{F579700C-2F49-2244-A186-C661C3BBA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3216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0" name="Line 17">
              <a:extLst>
                <a:ext uri="{FF2B5EF4-FFF2-40B4-BE49-F238E27FC236}">
                  <a16:creationId xmlns:a16="http://schemas.microsoft.com/office/drawing/2014/main" id="{71CE0219-E9B8-6845-976B-16107BEE5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" y="3408"/>
              <a:ext cx="52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1" name="Line 18">
              <a:extLst>
                <a:ext uri="{FF2B5EF4-FFF2-40B4-BE49-F238E27FC236}">
                  <a16:creationId xmlns:a16="http://schemas.microsoft.com/office/drawing/2014/main" id="{697445E5-19BC-C949-A396-64DC058348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2112"/>
              <a:ext cx="0" cy="12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2" name="Line 19">
              <a:extLst>
                <a:ext uri="{FF2B5EF4-FFF2-40B4-BE49-F238E27FC236}">
                  <a16:creationId xmlns:a16="http://schemas.microsoft.com/office/drawing/2014/main" id="{484103BC-5123-B34B-B9AE-B7988040B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2112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3" name="Line 20">
              <a:extLst>
                <a:ext uri="{FF2B5EF4-FFF2-40B4-BE49-F238E27FC236}">
                  <a16:creationId xmlns:a16="http://schemas.microsoft.com/office/drawing/2014/main" id="{D5D9E895-39ED-2B46-9A04-5FA452649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11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4" name="Line 21">
              <a:extLst>
                <a:ext uri="{FF2B5EF4-FFF2-40B4-BE49-F238E27FC236}">
                  <a16:creationId xmlns:a16="http://schemas.microsoft.com/office/drawing/2014/main" id="{AA380472-BD6A-D841-92DF-BEC3113CA7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1488"/>
              <a:ext cx="0" cy="6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5" name="Line 22">
              <a:extLst>
                <a:ext uri="{FF2B5EF4-FFF2-40B4-BE49-F238E27FC236}">
                  <a16:creationId xmlns:a16="http://schemas.microsoft.com/office/drawing/2014/main" id="{64FE1403-E3C8-8340-91D2-BD4A9A622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1488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6" name="Line 23">
              <a:extLst>
                <a:ext uri="{FF2B5EF4-FFF2-40B4-BE49-F238E27FC236}">
                  <a16:creationId xmlns:a16="http://schemas.microsoft.com/office/drawing/2014/main" id="{F881D6B9-4EE1-1F46-A53B-07DEF59C5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488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7" name="Text Box 24">
              <a:extLst>
                <a:ext uri="{FF2B5EF4-FFF2-40B4-BE49-F238E27FC236}">
                  <a16:creationId xmlns:a16="http://schemas.microsoft.com/office/drawing/2014/main" id="{7CF37D71-55D8-E74B-B0B1-06CBD3595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2" y="211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103448" name="Text Box 25">
              <a:extLst>
                <a:ext uri="{FF2B5EF4-FFF2-40B4-BE49-F238E27FC236}">
                  <a16:creationId xmlns:a16="http://schemas.microsoft.com/office/drawing/2014/main" id="{E1075128-852C-BF47-A0B4-33ABCFEED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2112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103449" name="AutoShape 26">
              <a:extLst>
                <a:ext uri="{FF2B5EF4-FFF2-40B4-BE49-F238E27FC236}">
                  <a16:creationId xmlns:a16="http://schemas.microsoft.com/office/drawing/2014/main" id="{BA7803AA-933C-B94E-919D-83085F5500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911974">
              <a:off x="547" y="933"/>
              <a:ext cx="162" cy="567"/>
            </a:xfrm>
            <a:prstGeom prst="downArrow">
              <a:avLst>
                <a:gd name="adj1" fmla="val 50000"/>
                <a:gd name="adj2" fmla="val 875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450" name="Rectangle 27">
              <a:extLst>
                <a:ext uri="{FF2B5EF4-FFF2-40B4-BE49-F238E27FC236}">
                  <a16:creationId xmlns:a16="http://schemas.microsoft.com/office/drawing/2014/main" id="{6C5AE456-64CA-F54A-8438-CFBCFC4CE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2352"/>
              <a:ext cx="336" cy="81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HB</a:t>
              </a:r>
            </a:p>
          </p:txBody>
        </p:sp>
        <p:sp>
          <p:nvSpPr>
            <p:cNvPr id="103451" name="Line 28">
              <a:extLst>
                <a:ext uri="{FF2B5EF4-FFF2-40B4-BE49-F238E27FC236}">
                  <a16:creationId xmlns:a16="http://schemas.microsoft.com/office/drawing/2014/main" id="{F0F34882-64C3-2041-93E1-DE9E0D435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2016"/>
              <a:ext cx="0" cy="9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2" name="Line 29">
              <a:extLst>
                <a:ext uri="{FF2B5EF4-FFF2-40B4-BE49-F238E27FC236}">
                  <a16:creationId xmlns:a16="http://schemas.microsoft.com/office/drawing/2014/main" id="{9464D5AF-C074-6A42-BD81-E55C9CBCE0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2112"/>
              <a:ext cx="6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3" name="Line 30">
              <a:extLst>
                <a:ext uri="{FF2B5EF4-FFF2-40B4-BE49-F238E27FC236}">
                  <a16:creationId xmlns:a16="http://schemas.microsoft.com/office/drawing/2014/main" id="{E2F9B1C1-5FEF-574E-9C1D-D8E106E3F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11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4" name="Line 31">
              <a:extLst>
                <a:ext uri="{FF2B5EF4-FFF2-40B4-BE49-F238E27FC236}">
                  <a16:creationId xmlns:a16="http://schemas.microsoft.com/office/drawing/2014/main" id="{ED465186-DBB8-424E-A46D-D2F52DDDC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16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5" name="Line 32">
              <a:extLst>
                <a:ext uri="{FF2B5EF4-FFF2-40B4-BE49-F238E27FC236}">
                  <a16:creationId xmlns:a16="http://schemas.microsoft.com/office/drawing/2014/main" id="{DF2EA993-D982-0C45-A18E-E1432EEF62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408"/>
              <a:ext cx="38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6" name="Line 33">
              <a:extLst>
                <a:ext uri="{FF2B5EF4-FFF2-40B4-BE49-F238E27FC236}">
                  <a16:creationId xmlns:a16="http://schemas.microsoft.com/office/drawing/2014/main" id="{CC1AF6E3-CAD1-FA44-997D-A3B2B701FE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6" y="1488"/>
              <a:ext cx="0" cy="192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7" name="Line 34">
              <a:extLst>
                <a:ext uri="{FF2B5EF4-FFF2-40B4-BE49-F238E27FC236}">
                  <a16:creationId xmlns:a16="http://schemas.microsoft.com/office/drawing/2014/main" id="{A31E3344-83EB-124B-8DF1-32748F7CE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488"/>
              <a:ext cx="105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8" name="Line 35">
              <a:extLst>
                <a:ext uri="{FF2B5EF4-FFF2-40B4-BE49-F238E27FC236}">
                  <a16:creationId xmlns:a16="http://schemas.microsoft.com/office/drawing/2014/main" id="{788E68B1-4E11-874A-BDED-9E90AFFF8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488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9" name="AutoShape 36">
              <a:extLst>
                <a:ext uri="{FF2B5EF4-FFF2-40B4-BE49-F238E27FC236}">
                  <a16:creationId xmlns:a16="http://schemas.microsoft.com/office/drawing/2014/main" id="{D9B4746C-21CE-7B47-8013-81B2BA3B9F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6815">
              <a:off x="1536" y="1200"/>
              <a:ext cx="162" cy="279"/>
            </a:xfrm>
            <a:prstGeom prst="downArrow">
              <a:avLst>
                <a:gd name="adj1" fmla="val 50000"/>
                <a:gd name="adj2" fmla="val 43056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460" name="Text Box 37">
              <a:extLst>
                <a:ext uri="{FF2B5EF4-FFF2-40B4-BE49-F238E27FC236}">
                  <a16:creationId xmlns:a16="http://schemas.microsoft.com/office/drawing/2014/main" id="{BC09D3A3-FED0-7C46-9A15-73FFB8DF2D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1056"/>
              <a:ext cx="145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Restore state (slowly) upon exception</a:t>
              </a:r>
            </a:p>
          </p:txBody>
        </p:sp>
        <p:sp>
          <p:nvSpPr>
            <p:cNvPr id="103461" name="Text Box 38">
              <a:extLst>
                <a:ext uri="{FF2B5EF4-FFF2-40B4-BE49-F238E27FC236}">
                  <a16:creationId xmlns:a16="http://schemas.microsoft.com/office/drawing/2014/main" id="{5CA46687-F678-CB4E-8F68-B144D4FC54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7" y="1991"/>
              <a:ext cx="100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EXTRA RF READ PORT</a:t>
              </a:r>
            </a:p>
          </p:txBody>
        </p:sp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2">
            <a:extLst>
              <a:ext uri="{FF2B5EF4-FFF2-40B4-BE49-F238E27FC236}">
                <a16:creationId xmlns:a16="http://schemas.microsoft.com/office/drawing/2014/main" id="{50C097DF-54D5-B44F-B74D-75E502F653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HB analysis</a:t>
            </a:r>
          </a:p>
        </p:txBody>
      </p:sp>
      <p:sp>
        <p:nvSpPr>
          <p:cNvPr id="104450" name="Rectangle 3">
            <a:extLst>
              <a:ext uri="{FF2B5EF4-FFF2-40B4-BE49-F238E27FC236}">
                <a16:creationId xmlns:a16="http://schemas.microsoft.com/office/drawing/2014/main" id="{93C5D907-8D8F-FC40-A853-F5F18F8A4D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Advantages</a:t>
            </a:r>
          </a:p>
          <a:p>
            <a:pPr lvl="1"/>
            <a:r>
              <a:rPr lang="en-US" altLang="en-US"/>
              <a:t>Unlike ROB, no extra bypass is needed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Disadvantages</a:t>
            </a:r>
          </a:p>
          <a:p>
            <a:pPr lvl="1"/>
            <a:r>
              <a:rPr lang="en-US" altLang="en-US"/>
              <a:t>Add another RF read port, for reading </a:t>
            </a:r>
            <a:r>
              <a:rPr lang="en-US" altLang="en-US" i="1"/>
              <a:t>destination</a:t>
            </a:r>
            <a:r>
              <a:rPr lang="en-US" altLang="en-US"/>
              <a:t> register (getting old value)</a:t>
            </a:r>
          </a:p>
          <a:p>
            <a:pPr lvl="1"/>
            <a:r>
              <a:rPr lang="en-US" altLang="en-US"/>
              <a:t>Slow exception handling</a:t>
            </a:r>
          </a:p>
          <a:p>
            <a:pPr lvl="2"/>
            <a:r>
              <a:rPr lang="en-US" altLang="en-US"/>
              <a:t>Restore precise values serially from HB to RF</a:t>
            </a:r>
          </a:p>
          <a:p>
            <a:pPr lvl="2"/>
            <a:r>
              <a:rPr lang="en-US" altLang="en-US"/>
              <a:t>Then jump to trap handler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Rectangle 2">
            <a:extLst>
              <a:ext uri="{FF2B5EF4-FFF2-40B4-BE49-F238E27FC236}">
                <a16:creationId xmlns:a16="http://schemas.microsoft.com/office/drawing/2014/main" id="{D9DE3AEA-F8D2-144C-AAD4-1BC086E6C2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Future File (FF)</a:t>
            </a:r>
          </a:p>
        </p:txBody>
      </p:sp>
      <p:sp>
        <p:nvSpPr>
          <p:cNvPr id="105474" name="Rectangle 3">
            <a:extLst>
              <a:ext uri="{FF2B5EF4-FFF2-40B4-BE49-F238E27FC236}">
                <a16:creationId xmlns:a16="http://schemas.microsoft.com/office/drawing/2014/main" id="{851793A2-93B3-754F-BBEF-A03467BE70E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457200" indent="-457200"/>
            <a:r>
              <a:rPr lang="en-US" altLang="en-US">
                <a:ea typeface="ＭＳ Ｐゴシック" panose="020B0600070205080204" pitchFamily="34" charset="-128"/>
              </a:rPr>
              <a:t>FF operation</a:t>
            </a:r>
          </a:p>
          <a:p>
            <a:pPr marL="971550" lvl="1" indent="-342900"/>
            <a:r>
              <a:rPr lang="en-US" altLang="en-US"/>
              <a:t>Maintain two register files</a:t>
            </a:r>
          </a:p>
          <a:p>
            <a:pPr marL="1600200" lvl="2" indent="-342900">
              <a:buFont typeface="Symbol" pitchFamily="2" charset="2"/>
              <a:buAutoNum type="arabicPeriod"/>
            </a:pPr>
            <a:r>
              <a:rPr lang="en-US" altLang="en-US"/>
              <a:t>Future (</a:t>
            </a:r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messy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r>
              <a:rPr lang="en-US" altLang="en-US"/>
              <a:t>) register file – imprecise Tomasulo pipeline is unchanged, future register file updated OOO</a:t>
            </a:r>
          </a:p>
          <a:p>
            <a:pPr marL="1600200" lvl="2" indent="-342900">
              <a:buFont typeface="Symbol" pitchFamily="2" charset="2"/>
              <a:buAutoNum type="arabicPeriod"/>
            </a:pPr>
            <a:r>
              <a:rPr lang="en-US" altLang="en-US"/>
              <a:t>A separate, architectural register file is updated in-order by a reorder buffer</a:t>
            </a:r>
          </a:p>
          <a:p>
            <a:pPr marL="971550" lvl="1" indent="-342900"/>
            <a:r>
              <a:rPr lang="en-US" altLang="en-US"/>
              <a:t>Exception handling</a:t>
            </a:r>
          </a:p>
          <a:p>
            <a:pPr marL="1600200" lvl="2" indent="-342900"/>
            <a:r>
              <a:rPr lang="en-US" altLang="en-US"/>
              <a:t>The architectural register file always contains precise state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2">
            <a:extLst>
              <a:ext uri="{FF2B5EF4-FFF2-40B4-BE49-F238E27FC236}">
                <a16:creationId xmlns:a16="http://schemas.microsoft.com/office/drawing/2014/main" id="{27AA7F3F-8B22-4349-AD6F-82ACC26B60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>
                <a:ea typeface="ＭＳ Ｐゴシック" panose="020B0600070205080204" pitchFamily="34" charset="-128"/>
              </a:rPr>
              <a:t>Precise Tomasulo Pipeline with FF</a:t>
            </a:r>
          </a:p>
        </p:txBody>
      </p:sp>
      <p:grpSp>
        <p:nvGrpSpPr>
          <p:cNvPr id="106498" name="Group 3">
            <a:extLst>
              <a:ext uri="{FF2B5EF4-FFF2-40B4-BE49-F238E27FC236}">
                <a16:creationId xmlns:a16="http://schemas.microsoft.com/office/drawing/2014/main" id="{16455658-91A4-9645-8A67-16244C55C5A5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905000"/>
            <a:ext cx="2819400" cy="3048000"/>
            <a:chOff x="1344" y="1536"/>
            <a:chExt cx="1776" cy="1920"/>
          </a:xfrm>
        </p:grpSpPr>
        <p:sp>
          <p:nvSpPr>
            <p:cNvPr id="106499" name="Rectangle 4">
              <a:extLst>
                <a:ext uri="{FF2B5EF4-FFF2-40B4-BE49-F238E27FC236}">
                  <a16:creationId xmlns:a16="http://schemas.microsoft.com/office/drawing/2014/main" id="{2F5AF490-013D-FD4E-A4C1-6021DE488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680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Future File</a:t>
              </a:r>
            </a:p>
          </p:txBody>
        </p:sp>
        <p:sp>
          <p:nvSpPr>
            <p:cNvPr id="106500" name="Rectangle 5">
              <a:extLst>
                <a:ext uri="{FF2B5EF4-FFF2-40B4-BE49-F238E27FC236}">
                  <a16:creationId xmlns:a16="http://schemas.microsoft.com/office/drawing/2014/main" id="{BFDF37E9-031B-7D43-BA2C-8D30BAF48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304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501" name="Line 6">
              <a:extLst>
                <a:ext uri="{FF2B5EF4-FFF2-40B4-BE49-F238E27FC236}">
                  <a16:creationId xmlns:a16="http://schemas.microsoft.com/office/drawing/2014/main" id="{C30ED70B-1974-DC4A-8C01-95080B296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400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2" name="Line 7">
              <a:extLst>
                <a:ext uri="{FF2B5EF4-FFF2-40B4-BE49-F238E27FC236}">
                  <a16:creationId xmlns:a16="http://schemas.microsoft.com/office/drawing/2014/main" id="{CE8313F9-56E0-5844-9BBC-3FCC74E297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496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3" name="Line 8">
              <a:extLst>
                <a:ext uri="{FF2B5EF4-FFF2-40B4-BE49-F238E27FC236}">
                  <a16:creationId xmlns:a16="http://schemas.microsoft.com/office/drawing/2014/main" id="{3CC8C1FA-5D11-8A4C-BFA1-8C1CACC59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2592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4" name="Text Box 9">
              <a:extLst>
                <a:ext uri="{FF2B5EF4-FFF2-40B4-BE49-F238E27FC236}">
                  <a16:creationId xmlns:a16="http://schemas.microsoft.com/office/drawing/2014/main" id="{243E175E-6A6F-EF4D-9BC0-014AEFC35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2400"/>
              <a:ext cx="5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Reservation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Stations</a:t>
              </a:r>
            </a:p>
          </p:txBody>
        </p:sp>
        <p:sp>
          <p:nvSpPr>
            <p:cNvPr id="106505" name="Rectangle 10">
              <a:extLst>
                <a:ext uri="{FF2B5EF4-FFF2-40B4-BE49-F238E27FC236}">
                  <a16:creationId xmlns:a16="http://schemas.microsoft.com/office/drawing/2014/main" id="{826C0091-95C2-D24C-B709-5B5FD5AC5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928"/>
              <a:ext cx="576" cy="33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506" name="Text Box 11">
              <a:extLst>
                <a:ext uri="{FF2B5EF4-FFF2-40B4-BE49-F238E27FC236}">
                  <a16:creationId xmlns:a16="http://schemas.microsoft.com/office/drawing/2014/main" id="{3077DA9A-8215-964D-BCA6-95EE36164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2976"/>
              <a:ext cx="487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Functional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Units</a:t>
              </a:r>
            </a:p>
          </p:txBody>
        </p:sp>
        <p:sp>
          <p:nvSpPr>
            <p:cNvPr id="106507" name="Line 12">
              <a:extLst>
                <a:ext uri="{FF2B5EF4-FFF2-40B4-BE49-F238E27FC236}">
                  <a16:creationId xmlns:a16="http://schemas.microsoft.com/office/drawing/2014/main" id="{FF55B02C-24C0-604E-9317-276A79179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206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8" name="Line 13">
              <a:extLst>
                <a:ext uri="{FF2B5EF4-FFF2-40B4-BE49-F238E27FC236}">
                  <a16:creationId xmlns:a16="http://schemas.microsoft.com/office/drawing/2014/main" id="{EA7B4E94-3212-4A41-9BD4-8ED81B070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2" y="2688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9" name="Line 14">
              <a:extLst>
                <a:ext uri="{FF2B5EF4-FFF2-40B4-BE49-F238E27FC236}">
                  <a16:creationId xmlns:a16="http://schemas.microsoft.com/office/drawing/2014/main" id="{5DCD3537-5C93-774E-B45E-C1E25F4A2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264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0" name="Line 15">
              <a:extLst>
                <a:ext uri="{FF2B5EF4-FFF2-40B4-BE49-F238E27FC236}">
                  <a16:creationId xmlns:a16="http://schemas.microsoft.com/office/drawing/2014/main" id="{6BBABADB-8E83-CE45-9EE2-1D0C49D02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456"/>
              <a:ext cx="12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1" name="Line 16">
              <a:extLst>
                <a:ext uri="{FF2B5EF4-FFF2-40B4-BE49-F238E27FC236}">
                  <a16:creationId xmlns:a16="http://schemas.microsoft.com/office/drawing/2014/main" id="{7E481AE2-8E7D-E641-9ED0-6CC80B7612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784"/>
              <a:ext cx="0" cy="67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2" name="Line 17">
              <a:extLst>
                <a:ext uri="{FF2B5EF4-FFF2-40B4-BE49-F238E27FC236}">
                  <a16:creationId xmlns:a16="http://schemas.microsoft.com/office/drawing/2014/main" id="{1FD26A3C-E5E8-E646-B098-04A3C9C21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160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3" name="Text Box 18">
              <a:extLst>
                <a:ext uri="{FF2B5EF4-FFF2-40B4-BE49-F238E27FC236}">
                  <a16:creationId xmlns:a16="http://schemas.microsoft.com/office/drawing/2014/main" id="{56223CB0-0DA1-D647-9EC2-98438213E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" y="216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106514" name="Text Box 19">
              <a:extLst>
                <a:ext uri="{FF2B5EF4-FFF2-40B4-BE49-F238E27FC236}">
                  <a16:creationId xmlns:a16="http://schemas.microsoft.com/office/drawing/2014/main" id="{93F14509-8139-7B4D-892E-4E7F8EAC6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0" y="2160"/>
              <a:ext cx="11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515" name="Rectangle 20">
              <a:extLst>
                <a:ext uri="{FF2B5EF4-FFF2-40B4-BE49-F238E27FC236}">
                  <a16:creationId xmlns:a16="http://schemas.microsoft.com/office/drawing/2014/main" id="{827F512B-5FC9-6948-9072-175C207EE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2256"/>
              <a:ext cx="288" cy="100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ROB</a:t>
              </a:r>
            </a:p>
          </p:txBody>
        </p:sp>
        <p:sp>
          <p:nvSpPr>
            <p:cNvPr id="106516" name="Line 21">
              <a:extLst>
                <a:ext uri="{FF2B5EF4-FFF2-40B4-BE49-F238E27FC236}">
                  <a16:creationId xmlns:a16="http://schemas.microsoft.com/office/drawing/2014/main" id="{0653D022-3466-CF4C-9062-6D979A709C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80" y="2784"/>
              <a:ext cx="2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7" name="Line 22">
              <a:extLst>
                <a:ext uri="{FF2B5EF4-FFF2-40B4-BE49-F238E27FC236}">
                  <a16:creationId xmlns:a16="http://schemas.microsoft.com/office/drawing/2014/main" id="{F6E2A376-A2A0-FE4F-A778-EFC83ED65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3456"/>
              <a:ext cx="52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8" name="Line 23">
              <a:extLst>
                <a:ext uri="{FF2B5EF4-FFF2-40B4-BE49-F238E27FC236}">
                  <a16:creationId xmlns:a16="http://schemas.microsoft.com/office/drawing/2014/main" id="{A1ECF73D-86A2-A846-9F22-D4692D42A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4" y="2160"/>
              <a:ext cx="0" cy="12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9" name="Line 24">
              <a:extLst>
                <a:ext uri="{FF2B5EF4-FFF2-40B4-BE49-F238E27FC236}">
                  <a16:creationId xmlns:a16="http://schemas.microsoft.com/office/drawing/2014/main" id="{5AB6E84A-40E1-2B41-AF6B-A06B5457F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2160"/>
              <a:ext cx="33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0" name="Text Box 25">
              <a:extLst>
                <a:ext uri="{FF2B5EF4-FFF2-40B4-BE49-F238E27FC236}">
                  <a16:creationId xmlns:a16="http://schemas.microsoft.com/office/drawing/2014/main" id="{32566C57-0483-084A-8E9D-727F64734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2160"/>
              <a:ext cx="16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106521" name="Line 26">
              <a:extLst>
                <a:ext uri="{FF2B5EF4-FFF2-40B4-BE49-F238E27FC236}">
                  <a16:creationId xmlns:a16="http://schemas.microsoft.com/office/drawing/2014/main" id="{D2683013-6758-7A4B-BE4C-0BF702F54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153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2" name="Line 27">
              <a:extLst>
                <a:ext uri="{FF2B5EF4-FFF2-40B4-BE49-F238E27FC236}">
                  <a16:creationId xmlns:a16="http://schemas.microsoft.com/office/drawing/2014/main" id="{A3CB4279-43FE-9C40-BB47-010403456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4" y="1536"/>
              <a:ext cx="0" cy="6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3" name="Line 28">
              <a:extLst>
                <a:ext uri="{FF2B5EF4-FFF2-40B4-BE49-F238E27FC236}">
                  <a16:creationId xmlns:a16="http://schemas.microsoft.com/office/drawing/2014/main" id="{6375D514-2778-534E-82E6-656DB33D8B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1536"/>
              <a:ext cx="52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4" name="Rectangle 29">
              <a:extLst>
                <a:ext uri="{FF2B5EF4-FFF2-40B4-BE49-F238E27FC236}">
                  <a16:creationId xmlns:a16="http://schemas.microsoft.com/office/drawing/2014/main" id="{FE251CFA-7877-A34C-A8B4-852AB6079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680"/>
              <a:ext cx="576" cy="3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wrap="none" anchor="ctr"/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Architectural File</a:t>
              </a:r>
            </a:p>
          </p:txBody>
        </p:sp>
        <p:sp>
          <p:nvSpPr>
            <p:cNvPr id="106525" name="Line 30">
              <a:extLst>
                <a:ext uri="{FF2B5EF4-FFF2-40B4-BE49-F238E27FC236}">
                  <a16:creationId xmlns:a16="http://schemas.microsoft.com/office/drawing/2014/main" id="{7A8C061B-DE76-F446-A95E-AEC23DB4F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6" y="2064"/>
              <a:ext cx="0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6" name="Text Box 31">
              <a:extLst>
                <a:ext uri="{FF2B5EF4-FFF2-40B4-BE49-F238E27FC236}">
                  <a16:creationId xmlns:a16="http://schemas.microsoft.com/office/drawing/2014/main" id="{0CCCBD4A-897A-4544-AFF9-321F52D5E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1872"/>
              <a:ext cx="51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(imprecise)</a:t>
              </a:r>
            </a:p>
          </p:txBody>
        </p:sp>
        <p:sp>
          <p:nvSpPr>
            <p:cNvPr id="106527" name="Text Box 32">
              <a:extLst>
                <a:ext uri="{FF2B5EF4-FFF2-40B4-BE49-F238E27FC236}">
                  <a16:creationId xmlns:a16="http://schemas.microsoft.com/office/drawing/2014/main" id="{FD6A247D-2C81-2343-A006-E7B6EA1A6C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1872"/>
              <a:ext cx="430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88"/>
                </a:spcBef>
                <a:buClr>
                  <a:srgbClr val="FFC000"/>
                </a:buClr>
                <a:buSzPct val="100000"/>
                <a:buFont typeface="Wingdings" pitchFamily="2" charset="2"/>
                <a:buChar char=""/>
                <a:defRPr sz="2800">
                  <a:solidFill>
                    <a:srgbClr val="000000"/>
                  </a:solidFill>
                  <a:latin typeface="Garamond" panose="02020404030301010803" pitchFamily="18" charset="0"/>
                  <a:ea typeface="ＭＳ Ｐゴシック" panose="020B0600070205080204" pitchFamily="34" charset="-128"/>
                  <a:cs typeface="HG Mincho Light J" charset="0"/>
                </a:defRPr>
              </a:lvl1pPr>
              <a:lvl2pPr marL="742950" indent="-28575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–"/>
                <a:defRPr sz="2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2pPr>
              <a:lvl3pPr marL="1143000" indent="-228600">
                <a:spcBef>
                  <a:spcPts val="5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buChar char="•"/>
                <a:defRPr sz="20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3pPr>
              <a:lvl4pPr marL="16002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Wingdings" pitchFamily="2" charset="2"/>
                <a:defRPr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4pPr>
              <a:lvl5pPr marL="2057400" indent="-228600">
                <a:spcBef>
                  <a:spcPts val="488"/>
                </a:spcBef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5pPr>
              <a:lvl6pPr marL="25146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6pPr>
              <a:lvl7pPr marL="29718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7pPr>
              <a:lvl8pPr marL="34290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8pPr>
              <a:lvl9pPr marL="3886200" indent="-228600" eaLnBrk="0" fontAlgn="base" hangingPunct="0">
                <a:spcBef>
                  <a:spcPts val="488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defRPr sz="1400">
                  <a:solidFill>
                    <a:srgbClr val="000000"/>
                  </a:solidFill>
                  <a:latin typeface="Garamond" panose="02020404030301010803" pitchFamily="18" charset="0"/>
                  <a:ea typeface="HG Mincho Light J" charset="0"/>
                  <a:cs typeface="HG Mincho Light J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  <a:cs typeface="Arial" panose="020B0604020202020204" pitchFamily="34" charset="0"/>
                </a:rPr>
                <a:t>(precise)</a:t>
              </a:r>
            </a:p>
          </p:txBody>
        </p:sp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Rectangle 2">
            <a:extLst>
              <a:ext uri="{FF2B5EF4-FFF2-40B4-BE49-F238E27FC236}">
                <a16:creationId xmlns:a16="http://schemas.microsoft.com/office/drawing/2014/main" id="{266D096A-33B9-5B43-A614-2B27C9CC3F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FF analysis</a:t>
            </a:r>
          </a:p>
        </p:txBody>
      </p:sp>
      <p:sp>
        <p:nvSpPr>
          <p:cNvPr id="107522" name="Rectangle 3">
            <a:extLst>
              <a:ext uri="{FF2B5EF4-FFF2-40B4-BE49-F238E27FC236}">
                <a16:creationId xmlns:a16="http://schemas.microsoft.com/office/drawing/2014/main" id="{21D06D3D-5D8E-CD4D-9E77-AC2B606817A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Advantages</a:t>
            </a:r>
          </a:p>
          <a:p>
            <a:pPr lvl="1"/>
            <a:r>
              <a:rPr lang="en-US" altLang="en-US"/>
              <a:t>Unlike ROB, no extra bypass is needed</a:t>
            </a:r>
          </a:p>
          <a:p>
            <a:pPr lvl="1"/>
            <a:r>
              <a:rPr lang="en-US" altLang="en-US"/>
              <a:t>Unlike HB, no extra register file read port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Disadvantages</a:t>
            </a:r>
          </a:p>
          <a:p>
            <a:pPr lvl="1"/>
            <a:r>
              <a:rPr lang="en-US" altLang="en-US"/>
              <a:t>Slow exception handling (like HB): copy architectural file to future file, then call trap handler</a:t>
            </a:r>
          </a:p>
          <a:p>
            <a:pPr lvl="1"/>
            <a:r>
              <a:rPr lang="en-US" altLang="en-US"/>
              <a:t>Chip area overhead (2 register files instead of 1)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53A526-97D6-C547-9444-6CB03AFE19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en-US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Recall Memory Dependences…</a:t>
            </a:r>
          </a:p>
        </p:txBody>
      </p:sp>
      <p:sp>
        <p:nvSpPr>
          <p:cNvPr id="108546" name="Content Placeholder 2">
            <a:extLst>
              <a:ext uri="{FF2B5EF4-FFF2-40B4-BE49-F238E27FC236}">
                <a16:creationId xmlns:a16="http://schemas.microsoft.com/office/drawing/2014/main" id="{D17DAC18-75CD-BD42-934A-F1C9A26B648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Dependences occur not just between register addresses, but also memory addresses: Memory Dependences, e.g.</a:t>
            </a:r>
          </a:p>
          <a:p>
            <a:pPr marL="742950" lvl="1"/>
            <a:r>
              <a:rPr lang="en-US" altLang="en-US"/>
              <a:t>A: ST R1, [R2]	// Mem[R2] &lt;- R1</a:t>
            </a:r>
          </a:p>
          <a:p>
            <a:pPr marL="742950" lvl="1"/>
            <a:r>
              <a:rPr lang="en-US" altLang="en-US"/>
              <a:t>B: LD R3, [R2]	// R3 &lt;- Mem[R2]</a:t>
            </a:r>
          </a:p>
          <a:p>
            <a:pPr marL="742950" lvl="1"/>
            <a:r>
              <a:rPr lang="en-US" altLang="en-US"/>
              <a:t>C: LD R5, 10[R4]	// R5 &lt;- Mem[R4+10]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B is dependent on A, but is C dependent on A?</a:t>
            </a:r>
          </a:p>
          <a:p>
            <a:pPr marL="742950" lvl="1"/>
            <a:r>
              <a:rPr lang="en-US" altLang="en-US"/>
              <a:t>True dependent if R4+10 = R2</a:t>
            </a:r>
          </a:p>
          <a:p>
            <a:pPr marL="742950" lvl="1"/>
            <a:r>
              <a:rPr lang="en-US" altLang="en-US"/>
              <a:t>Not dependent if R4+10 != R2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Memory dependences are harder to detect because they are based on register values (instead of register IDs)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2">
            <a:extLst>
              <a:ext uri="{FF2B5EF4-FFF2-40B4-BE49-F238E27FC236}">
                <a16:creationId xmlns:a16="http://schemas.microsoft.com/office/drawing/2014/main" id="{BFDFDAC6-E5FD-2C45-B424-16F4FF575F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Memory Data Dependences</a:t>
            </a:r>
          </a:p>
        </p:txBody>
      </p:sp>
      <p:sp>
        <p:nvSpPr>
          <p:cNvPr id="109570" name="Rectangle 3">
            <a:extLst>
              <a:ext uri="{FF2B5EF4-FFF2-40B4-BE49-F238E27FC236}">
                <a16:creationId xmlns:a16="http://schemas.microsoft.com/office/drawing/2014/main" id="{32921B8C-3FFF-3749-846F-9370462630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Types of Dependences</a:t>
            </a:r>
          </a:p>
          <a:p>
            <a:pPr lvl="2">
              <a:buFont typeface="Times New Roman" panose="02020603050405020304" pitchFamily="18" charset="0"/>
              <a:buNone/>
            </a:pPr>
            <a:r>
              <a:rPr lang="en-US" altLang="en-US" b="1" u="sng">
                <a:solidFill>
                  <a:srgbClr val="0033CC"/>
                </a:solidFill>
                <a:latin typeface="Helvetica" pitchFamily="2" charset="0"/>
              </a:rPr>
              <a:t>WAW			WAR			RAW</a:t>
            </a:r>
            <a:endParaRPr lang="en-US" altLang="en-US" b="1">
              <a:solidFill>
                <a:srgbClr val="0033CC"/>
              </a:solidFill>
              <a:latin typeface="Helvetica" pitchFamily="2" charset="0"/>
            </a:endParaRPr>
          </a:p>
          <a:p>
            <a:pPr lvl="2">
              <a:buFont typeface="Times New Roman" panose="02020603050405020304" pitchFamily="18" charset="0"/>
              <a:buNone/>
            </a:pPr>
            <a:r>
              <a:rPr lang="en-US" altLang="en-US" b="1">
                <a:solidFill>
                  <a:srgbClr val="0033CC"/>
                </a:solidFill>
                <a:latin typeface="Helvetica" pitchFamily="2" charset="0"/>
              </a:rPr>
              <a:t>store X		load X			store X</a:t>
            </a:r>
            <a:endParaRPr lang="en-US" altLang="en-US">
              <a:solidFill>
                <a:srgbClr val="0033CC"/>
              </a:solidFill>
              <a:latin typeface="Helvetica" pitchFamily="2" charset="0"/>
            </a:endParaRPr>
          </a:p>
          <a:p>
            <a:pPr lvl="2">
              <a:spcBef>
                <a:spcPts val="1000"/>
              </a:spcBef>
              <a:buFont typeface="Times New Roman" panose="02020603050405020304" pitchFamily="18" charset="0"/>
              <a:buNone/>
            </a:pPr>
            <a:r>
              <a:rPr lang="en-US" altLang="en-US" b="1">
                <a:solidFill>
                  <a:srgbClr val="0033CC"/>
                </a:solidFill>
                <a:latin typeface="Helvetica" pitchFamily="2" charset="0"/>
              </a:rPr>
              <a:t>:				:			:</a:t>
            </a:r>
            <a:endParaRPr lang="en-US" altLang="en-US">
              <a:solidFill>
                <a:srgbClr val="0033CC"/>
              </a:solidFill>
              <a:latin typeface="Helvetica" pitchFamily="2" charset="0"/>
            </a:endParaRPr>
          </a:p>
          <a:p>
            <a:pPr lvl="2">
              <a:spcBef>
                <a:spcPts val="1000"/>
              </a:spcBef>
              <a:buFont typeface="Times New Roman" panose="02020603050405020304" pitchFamily="18" charset="0"/>
              <a:buNone/>
            </a:pPr>
            <a:r>
              <a:rPr lang="en-US" altLang="en-US" b="1">
                <a:solidFill>
                  <a:srgbClr val="0033CC"/>
                </a:solidFill>
                <a:latin typeface="Helvetica" pitchFamily="2" charset="0"/>
              </a:rPr>
              <a:t>store X		store X		load X</a:t>
            </a:r>
            <a:endParaRPr lang="en-US" altLang="en-US">
              <a:solidFill>
                <a:srgbClr val="0033CC"/>
              </a:solidFill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Differences vs. register dependences</a:t>
            </a:r>
          </a:p>
          <a:p>
            <a:pPr lvl="1"/>
            <a:r>
              <a:rPr lang="en-US" altLang="en-US"/>
              <a:t>It depends on register contents, not register IDs</a:t>
            </a:r>
          </a:p>
          <a:p>
            <a:pPr lvl="1"/>
            <a:r>
              <a:rPr lang="en-US" altLang="en-US"/>
              <a:t>Renaming cannot be done at hardware (expensive to do in compiler) </a:t>
            </a:r>
          </a:p>
          <a:p>
            <a:pPr lvl="1"/>
            <a:r>
              <a:rPr lang="en-US" altLang="en-US"/>
              <a:t>Affected by choice of memory consistency</a:t>
            </a:r>
          </a:p>
          <a:p>
            <a:pPr lvl="1"/>
            <a:endParaRPr lang="en-US" altLang="en-US"/>
          </a:p>
          <a:p>
            <a:pPr>
              <a:buFontTx/>
              <a:buNone/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  <p:transition spd="slow"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2">
            <a:extLst>
              <a:ext uri="{FF2B5EF4-FFF2-40B4-BE49-F238E27FC236}">
                <a16:creationId xmlns:a16="http://schemas.microsoft.com/office/drawing/2014/main" id="{90EB9109-1C66-BD43-BC9E-4F1B35A6FE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Memory Dependency</a:t>
            </a:r>
          </a:p>
        </p:txBody>
      </p:sp>
      <p:sp>
        <p:nvSpPr>
          <p:cNvPr id="110594" name="Rectangle 3">
            <a:extLst>
              <a:ext uri="{FF2B5EF4-FFF2-40B4-BE49-F238E27FC236}">
                <a16:creationId xmlns:a16="http://schemas.microsoft.com/office/drawing/2014/main" id="{168656F5-FF6D-AD48-BB4E-E615F0B29D9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spcBef>
                <a:spcPts val="1200"/>
              </a:spcBef>
            </a:pPr>
            <a:r>
              <a:rPr lang="en-US" altLang="en-US">
                <a:ea typeface="ＭＳ Ｐゴシック" panose="020B0600070205080204" pitchFamily="34" charset="-128"/>
              </a:rPr>
              <a:t>Stores are released to cache </a:t>
            </a:r>
            <a:r>
              <a:rPr lang="en-US" altLang="en-US">
                <a:solidFill>
                  <a:srgbClr val="FF0000"/>
                </a:solidFill>
                <a:ea typeface="ＭＳ Ｐゴシック" panose="020B0600070205080204" pitchFamily="34" charset="-128"/>
              </a:rPr>
              <a:t>in order </a:t>
            </a:r>
          </a:p>
          <a:p>
            <a:pPr lvl="1">
              <a:spcBef>
                <a:spcPts val="1200"/>
              </a:spcBef>
            </a:pPr>
            <a:r>
              <a:rPr lang="en-US" altLang="en-US"/>
              <a:t>This preserves sequential (in-order) state in cache/memory (so that recovery from exceptions is possible) </a:t>
            </a:r>
            <a:endParaRPr lang="en-US" altLang="en-US">
              <a:solidFill>
                <a:srgbClr val="0000FF"/>
              </a:solidFill>
            </a:endParaRPr>
          </a:p>
          <a:p>
            <a:pPr lvl="1">
              <a:spcBef>
                <a:spcPts val="1200"/>
              </a:spcBef>
            </a:pPr>
            <a:r>
              <a:rPr lang="en-US" altLang="en-US"/>
              <a:t>This takes care of output dependences</a:t>
            </a:r>
          </a:p>
          <a:p>
            <a:pPr>
              <a:spcBef>
                <a:spcPts val="1200"/>
              </a:spcBef>
            </a:pPr>
            <a:r>
              <a:rPr lang="en-US" altLang="en-US">
                <a:ea typeface="ＭＳ Ｐゴシック" panose="020B0600070205080204" pitchFamily="34" charset="-128"/>
              </a:rPr>
              <a:t>L</a:t>
            </a:r>
            <a:r>
              <a:rPr lang="en-US" altLang="en-US">
                <a:solidFill>
                  <a:schemeClr val="tx1"/>
                </a:solidFill>
                <a:ea typeface="ＭＳ Ｐゴシック" panose="020B0600070205080204" pitchFamily="34" charset="-128"/>
              </a:rPr>
              <a:t>oads access the cache </a:t>
            </a:r>
            <a:r>
              <a:rPr lang="en-US" altLang="en-US">
                <a:solidFill>
                  <a:srgbClr val="FF0000"/>
                </a:solidFill>
                <a:ea typeface="ＭＳ Ｐゴシック" panose="020B0600070205080204" pitchFamily="34" charset="-128"/>
              </a:rPr>
              <a:t>out of order </a:t>
            </a:r>
          </a:p>
          <a:p>
            <a:pPr lvl="1">
              <a:spcBef>
                <a:spcPts val="1200"/>
              </a:spcBef>
            </a:pPr>
            <a:r>
              <a:rPr lang="en-US" altLang="en-US"/>
              <a:t>with respect to each other</a:t>
            </a:r>
          </a:p>
          <a:p>
            <a:pPr lvl="1">
              <a:spcBef>
                <a:spcPts val="1200"/>
              </a:spcBef>
            </a:pPr>
            <a:r>
              <a:rPr lang="en-US" altLang="en-US"/>
              <a:t>with respect to previous, pending, </a:t>
            </a:r>
            <a:r>
              <a:rPr lang="en-US" altLang="en-US" i="1"/>
              <a:t>independent</a:t>
            </a:r>
            <a:r>
              <a:rPr lang="en-US" altLang="en-US"/>
              <a:t> stores </a:t>
            </a:r>
          </a:p>
          <a:p>
            <a:pPr lvl="1">
              <a:spcBef>
                <a:spcPts val="1200"/>
              </a:spcBef>
            </a:pPr>
            <a:r>
              <a:rPr lang="en-US" altLang="en-US"/>
              <a:t>But not with respect to previous, pending, </a:t>
            </a:r>
            <a:r>
              <a:rPr lang="en-US" altLang="en-US" i="1"/>
              <a:t>dependent</a:t>
            </a:r>
            <a:r>
              <a:rPr lang="en-US" altLang="en-US"/>
              <a:t> stores</a:t>
            </a:r>
          </a:p>
          <a:p>
            <a:pPr>
              <a:spcBef>
                <a:spcPts val="1200"/>
              </a:spcBef>
            </a:pPr>
            <a:r>
              <a:rPr lang="en-US" altLang="en-US">
                <a:ea typeface="ＭＳ Ｐゴシック" panose="020B0600070205080204" pitchFamily="34" charset="-128"/>
              </a:rPr>
              <a:t>A load/store </a:t>
            </a:r>
            <a:r>
              <a:rPr lang="en-US" altLang="en-US">
                <a:solidFill>
                  <a:srgbClr val="FF0000"/>
                </a:solidFill>
                <a:ea typeface="ＭＳ Ｐゴシック" panose="020B0600070205080204" pitchFamily="34" charset="-128"/>
              </a:rPr>
              <a:t>aliases</a:t>
            </a:r>
            <a:r>
              <a:rPr lang="en-US" altLang="en-US">
                <a:ea typeface="ＭＳ Ｐゴシック" panose="020B0600070205080204" pitchFamily="34" charset="-128"/>
              </a:rPr>
              <a:t> with another load/store if their effective addresses match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  <p:transition spd="slow"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Title 1">
            <a:extLst>
              <a:ext uri="{FF2B5EF4-FFF2-40B4-BE49-F238E27FC236}">
                <a16:creationId xmlns:a16="http://schemas.microsoft.com/office/drawing/2014/main" id="{378A6F36-4BC3-5843-80A6-8217B5D784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How Loads and Stores are Handled</a:t>
            </a:r>
          </a:p>
        </p:txBody>
      </p:sp>
      <p:sp>
        <p:nvSpPr>
          <p:cNvPr id="112642" name="Content Placeholder 2">
            <a:extLst>
              <a:ext uri="{FF2B5EF4-FFF2-40B4-BE49-F238E27FC236}">
                <a16:creationId xmlns:a16="http://schemas.microsoft.com/office/drawing/2014/main" id="{32E87E8E-7C58-DC4A-AFD9-965EC1243BA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Store</a:t>
            </a:r>
          </a:p>
          <a:p>
            <a:pPr lvl="1"/>
            <a:r>
              <a:rPr lang="en-US" altLang="en-US"/>
              <a:t>D stage: place on store reservation station</a:t>
            </a:r>
          </a:p>
          <a:p>
            <a:pPr lvl="1"/>
            <a:r>
              <a:rPr lang="en-US" altLang="en-US"/>
              <a:t>EX stage: compute effective address of store</a:t>
            </a:r>
          </a:p>
          <a:p>
            <a:pPr lvl="1"/>
            <a:r>
              <a:rPr lang="en-US" altLang="en-US"/>
              <a:t>RE stage: place in store buffer (to be release to cache)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Load</a:t>
            </a:r>
          </a:p>
          <a:p>
            <a:pPr lvl="1"/>
            <a:r>
              <a:rPr lang="en-US" altLang="en-US"/>
              <a:t>D stage: place on load reservation station</a:t>
            </a:r>
          </a:p>
          <a:p>
            <a:pPr lvl="1"/>
            <a:r>
              <a:rPr lang="en-US" altLang="en-US"/>
              <a:t>EX stage: compute effective address of load</a:t>
            </a:r>
          </a:p>
          <a:p>
            <a:pPr lvl="1"/>
            <a:r>
              <a:rPr lang="en-US" altLang="en-US"/>
              <a:t>MEM stage: </a:t>
            </a:r>
          </a:p>
          <a:p>
            <a:pPr lvl="2"/>
            <a:r>
              <a:rPr lang="en-US" altLang="en-US"/>
              <a:t>Check store buffer for dependences. If any, get data (</a:t>
            </a:r>
            <a:r>
              <a:rPr lang="en-US" altLang="en-US">
                <a:solidFill>
                  <a:srgbClr val="FF0000"/>
                </a:solidFill>
              </a:rPr>
              <a:t>load forwarding</a:t>
            </a:r>
            <a:r>
              <a:rPr lang="en-US" altLang="en-US"/>
              <a:t>)</a:t>
            </a:r>
          </a:p>
          <a:p>
            <a:pPr lvl="2"/>
            <a:r>
              <a:rPr lang="en-US" altLang="en-US"/>
              <a:t>If none, get data from cache (</a:t>
            </a:r>
            <a:r>
              <a:rPr lang="en-US" altLang="en-US">
                <a:solidFill>
                  <a:srgbClr val="FF0000"/>
                </a:solidFill>
              </a:rPr>
              <a:t>load bypassing</a:t>
            </a:r>
            <a:r>
              <a:rPr lang="en-US" altLang="en-US">
                <a:solidFill>
                  <a:schemeClr val="tx1"/>
                </a:solidFill>
              </a:rPr>
              <a:t>, load bypasses older store</a:t>
            </a:r>
            <a:r>
              <a:rPr lang="en-US" altLang="en-US"/>
              <a:t>)</a:t>
            </a:r>
          </a:p>
          <a:p>
            <a:pPr lvl="2"/>
            <a:r>
              <a:rPr lang="en-US" altLang="en-US"/>
              <a:t>If it can’t be determined, </a:t>
            </a:r>
            <a:r>
              <a:rPr lang="en-US" altLang="en-US" i="1"/>
              <a:t>stall it </a:t>
            </a:r>
            <a:r>
              <a:rPr lang="en-US" altLang="en-US"/>
              <a:t>or </a:t>
            </a:r>
            <a:r>
              <a:rPr lang="en-US" altLang="en-US" i="1"/>
              <a:t>speculate </a:t>
            </a:r>
            <a:r>
              <a:rPr lang="en-US" altLang="en-US"/>
              <a:t>(</a:t>
            </a:r>
            <a:r>
              <a:rPr lang="en-US" altLang="en-US">
                <a:solidFill>
                  <a:srgbClr val="FF0000"/>
                </a:solidFill>
              </a:rPr>
              <a:t>memory dependence speculation</a:t>
            </a:r>
            <a:r>
              <a:rPr lang="en-US" altLang="en-US"/>
              <a:t>)</a:t>
            </a:r>
          </a:p>
          <a:p>
            <a:pPr lvl="2"/>
            <a:endParaRPr lang="en-US" altLang="en-US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Rectangle 2">
            <a:extLst>
              <a:ext uri="{FF2B5EF4-FFF2-40B4-BE49-F238E27FC236}">
                <a16:creationId xmlns:a16="http://schemas.microsoft.com/office/drawing/2014/main" id="{5455E683-91B1-6C44-BDA0-8478FC50C5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Load Forwarding</a:t>
            </a:r>
          </a:p>
        </p:txBody>
      </p:sp>
      <p:pic>
        <p:nvPicPr>
          <p:cNvPr id="113666" name="Picture 4" descr="she70647_0535">
            <a:extLst>
              <a:ext uri="{FF2B5EF4-FFF2-40B4-BE49-F238E27FC236}">
                <a16:creationId xmlns:a16="http://schemas.microsoft.com/office/drawing/2014/main" id="{955DD5D6-DFFB-5F43-915B-C4EC83AF15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295400"/>
            <a:ext cx="6477000" cy="412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Rectangle 2">
            <a:extLst>
              <a:ext uri="{FF2B5EF4-FFF2-40B4-BE49-F238E27FC236}">
                <a16:creationId xmlns:a16="http://schemas.microsoft.com/office/drawing/2014/main" id="{1BB91276-EF18-9A41-8AF5-01AC077E1F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>
                <a:ea typeface="ＭＳ Ｐゴシック" panose="020B0600070205080204" pitchFamily="34" charset="-128"/>
              </a:rPr>
              <a:t>Memory Disambiguation Speculation</a:t>
            </a:r>
          </a:p>
        </p:txBody>
      </p:sp>
      <p:sp>
        <p:nvSpPr>
          <p:cNvPr id="114690" name="Rectangle 3">
            <a:extLst>
              <a:ext uri="{FF2B5EF4-FFF2-40B4-BE49-F238E27FC236}">
                <a16:creationId xmlns:a16="http://schemas.microsoft.com/office/drawing/2014/main" id="{687483C3-F6F7-914A-B9FE-99BAA6C756C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What if aliases are rare?</a:t>
            </a:r>
          </a:p>
          <a:p>
            <a:pPr lvl="1">
              <a:buFontTx/>
              <a:buAutoNum type="arabicPeriod"/>
            </a:pPr>
            <a:r>
              <a:rPr lang="en-US" altLang="en-US"/>
              <a:t>Loads don’t wait for addresses of all prior stores</a:t>
            </a:r>
          </a:p>
          <a:p>
            <a:pPr lvl="1">
              <a:buFontTx/>
              <a:buAutoNum type="arabicPeriod"/>
            </a:pPr>
            <a:r>
              <a:rPr lang="en-US" altLang="en-US"/>
              <a:t>Full address comparison of stores that are ready</a:t>
            </a:r>
          </a:p>
          <a:p>
            <a:pPr lvl="1">
              <a:buFontTx/>
              <a:buAutoNum type="arabicPeriod"/>
            </a:pPr>
            <a:r>
              <a:rPr lang="en-US" altLang="en-US"/>
              <a:t>Bypass if no match, forward if match</a:t>
            </a:r>
          </a:p>
          <a:p>
            <a:pPr lvl="1">
              <a:buFontTx/>
              <a:buAutoNum type="arabicPeriod"/>
            </a:pPr>
            <a:r>
              <a:rPr lang="en-US" altLang="en-US"/>
              <a:t>Check all store addresses when they commit</a:t>
            </a:r>
          </a:p>
          <a:p>
            <a:pPr lvl="2">
              <a:buFontTx/>
              <a:buChar char="–"/>
            </a:pPr>
            <a:r>
              <a:rPr lang="en-US" altLang="en-US" sz="2400"/>
              <a:t>No matching loads – speculation was correct</a:t>
            </a:r>
          </a:p>
          <a:p>
            <a:pPr lvl="2">
              <a:buFontTx/>
              <a:buChar char="–"/>
            </a:pPr>
            <a:r>
              <a:rPr lang="en-US" altLang="en-US" sz="2400"/>
              <a:t>Matching unbypassed load – incorrect speculation</a:t>
            </a:r>
          </a:p>
          <a:p>
            <a:pPr lvl="1">
              <a:buFontTx/>
              <a:buAutoNum type="arabicPeriod"/>
            </a:pPr>
            <a:r>
              <a:rPr lang="en-US" altLang="en-US"/>
              <a:t>Replay starting from incorrect load</a:t>
            </a:r>
          </a:p>
          <a:p>
            <a:endParaRPr lang="en-US" altLang="en-US" sz="140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  <p:transition spd="slow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Rectangle 2">
            <a:extLst>
              <a:ext uri="{FF2B5EF4-FFF2-40B4-BE49-F238E27FC236}">
                <a16:creationId xmlns:a16="http://schemas.microsoft.com/office/drawing/2014/main" id="{96D81B38-84BF-D547-AADA-09A3E285F0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Speculative Memory Disambiguation</a:t>
            </a:r>
          </a:p>
        </p:txBody>
      </p:sp>
      <p:pic>
        <p:nvPicPr>
          <p:cNvPr id="115714" name="Picture 4" descr="she70647_0536">
            <a:extLst>
              <a:ext uri="{FF2B5EF4-FFF2-40B4-BE49-F238E27FC236}">
                <a16:creationId xmlns:a16="http://schemas.microsoft.com/office/drawing/2014/main" id="{0BAE84A4-0C68-D34B-A9F7-1186803C36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447800"/>
            <a:ext cx="6553200" cy="409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Rectangle 2">
            <a:extLst>
              <a:ext uri="{FF2B5EF4-FFF2-40B4-BE49-F238E27FC236}">
                <a16:creationId xmlns:a16="http://schemas.microsoft.com/office/drawing/2014/main" id="{1195A4C8-DB22-BC4F-859B-8145D67780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Use of Prediction</a:t>
            </a:r>
          </a:p>
        </p:txBody>
      </p:sp>
      <p:sp>
        <p:nvSpPr>
          <p:cNvPr id="116738" name="Rectangle 3">
            <a:extLst>
              <a:ext uri="{FF2B5EF4-FFF2-40B4-BE49-F238E27FC236}">
                <a16:creationId xmlns:a16="http://schemas.microsoft.com/office/drawing/2014/main" id="{D18853C4-DC59-AC46-884D-4EBFD7160F8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295400"/>
            <a:ext cx="7772400" cy="4343400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If aliases are rare: static prediction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Predict no alias every time</a:t>
            </a:r>
          </a:p>
          <a:p>
            <a:pPr lvl="2">
              <a:lnSpc>
                <a:spcPct val="90000"/>
              </a:lnSpc>
            </a:pPr>
            <a:r>
              <a:rPr lang="en-US" altLang="en-US"/>
              <a:t>Why even implement forwarding? PowerPC 620 doesn’t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Pay misprediction penalty rarely</a:t>
            </a:r>
          </a:p>
          <a:p>
            <a:pPr>
              <a:lnSpc>
                <a:spcPct val="9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If aliases are more frequent: dynamic prediction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Use PHT-like history table for loads</a:t>
            </a:r>
          </a:p>
          <a:p>
            <a:pPr lvl="2">
              <a:lnSpc>
                <a:spcPct val="90000"/>
              </a:lnSpc>
            </a:pPr>
            <a:r>
              <a:rPr lang="en-US" altLang="en-US"/>
              <a:t>If alias predicted: delay load</a:t>
            </a:r>
          </a:p>
          <a:p>
            <a:pPr lvl="2">
              <a:lnSpc>
                <a:spcPct val="90000"/>
              </a:lnSpc>
            </a:pPr>
            <a:r>
              <a:rPr lang="en-US" altLang="en-US"/>
              <a:t>If aliased pair predicted: forward from store to load</a:t>
            </a:r>
          </a:p>
          <a:p>
            <a:pPr lvl="3">
              <a:lnSpc>
                <a:spcPct val="90000"/>
              </a:lnSpc>
            </a:pPr>
            <a:r>
              <a:rPr lang="en-US" altLang="en-US"/>
              <a:t>More difficult to predict pair [store sets, Alpha 21264]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Pay misprediction penalty rarely</a:t>
            </a:r>
          </a:p>
          <a:p>
            <a:pPr>
              <a:lnSpc>
                <a:spcPct val="90000"/>
              </a:lnSpc>
            </a:pPr>
            <a:r>
              <a:rPr lang="en-US" altLang="en-US" sz="2400">
                <a:ea typeface="ＭＳ Ｐゴシック" panose="020B0600070205080204" pitchFamily="34" charset="-128"/>
              </a:rPr>
              <a:t>Memory cloaking [Moshovos, Sohi]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Predict load/store pair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Directly copy store data register to load target register</a:t>
            </a:r>
          </a:p>
          <a:p>
            <a:pPr lvl="1">
              <a:lnSpc>
                <a:spcPct val="90000"/>
              </a:lnSpc>
            </a:pPr>
            <a:r>
              <a:rPr lang="en-US" altLang="en-US" sz="2000"/>
              <a:t>Reduce data transfer latency to absolute minimum</a:t>
            </a:r>
          </a:p>
        </p:txBody>
      </p:sp>
    </p:spTree>
  </p:cSld>
  <p:clrMapOvr>
    <a:masterClrMapping/>
  </p:clrMapOvr>
  <p:transition spd="slow"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Title 1">
            <a:extLst>
              <a:ext uri="{FF2B5EF4-FFF2-40B4-BE49-F238E27FC236}">
                <a16:creationId xmlns:a16="http://schemas.microsoft.com/office/drawing/2014/main" id="{4B0DC508-B348-154F-A700-9C4479649D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en-US">
                <a:ea typeface="ＭＳ Ｐゴシック" panose="020B0600070205080204" pitchFamily="34" charset="-128"/>
              </a:rPr>
              <a:t>Module 6.5: Superscalar and the Limit of ILP</a:t>
            </a:r>
          </a:p>
        </p:txBody>
      </p:sp>
      <p:sp>
        <p:nvSpPr>
          <p:cNvPr id="117762" name="Text Placeholder 2">
            <a:extLst>
              <a:ext uri="{FF2B5EF4-FFF2-40B4-BE49-F238E27FC236}">
                <a16:creationId xmlns:a16="http://schemas.microsoft.com/office/drawing/2014/main" id="{91BB025B-9257-C84F-984B-035B6DF6F0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Title 1">
            <a:extLst>
              <a:ext uri="{FF2B5EF4-FFF2-40B4-BE49-F238E27FC236}">
                <a16:creationId xmlns:a16="http://schemas.microsoft.com/office/drawing/2014/main" id="{AAAF14F2-46CF-C74E-AEAB-CD6BF55672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118786" name="Content Placeholder 2">
            <a:extLst>
              <a:ext uri="{FF2B5EF4-FFF2-40B4-BE49-F238E27FC236}">
                <a16:creationId xmlns:a16="http://schemas.microsoft.com/office/drawing/2014/main" id="{12AC0B50-D5EC-7340-8B57-0909BF61D52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the limit of pipelining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the concept and challenges of superscalar processing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the complexity of superscalar implementation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The limit of pipelining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Superscalar concept and what each pipeline stage must do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Techniques to support superscalar processing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Superscalar implementation complexity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2">
            <a:extLst>
              <a:ext uri="{FF2B5EF4-FFF2-40B4-BE49-F238E27FC236}">
                <a16:creationId xmlns:a16="http://schemas.microsoft.com/office/drawing/2014/main" id="{DB423BB6-BC93-A542-89C0-F31054513B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Limits of Pipelining</a:t>
            </a:r>
          </a:p>
        </p:txBody>
      </p:sp>
      <p:sp>
        <p:nvSpPr>
          <p:cNvPr id="119810" name="Rectangle 3">
            <a:extLst>
              <a:ext uri="{FF2B5EF4-FFF2-40B4-BE49-F238E27FC236}">
                <a16:creationId xmlns:a16="http://schemas.microsoft.com/office/drawing/2014/main" id="{5FBAA727-443F-A347-92F4-E56242817A6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 lnSpcReduction="10000"/>
          </a:bodyPr>
          <a:lstStyle/>
          <a:p>
            <a:pPr marL="457200" indent="-457200"/>
            <a:r>
              <a:rPr lang="en-US" altLang="en-US" sz="2400">
                <a:ea typeface="ＭＳ Ｐゴシック" panose="020B0600070205080204" pitchFamily="34" charset="-128"/>
              </a:rPr>
              <a:t>CPU_time = IC x CPI x CT</a:t>
            </a:r>
          </a:p>
          <a:p>
            <a:pPr marL="457200" indent="-457200"/>
            <a:r>
              <a:rPr lang="en-US" altLang="en-US" sz="2400">
                <a:ea typeface="ＭＳ Ｐゴシック" panose="020B0600070205080204" pitchFamily="34" charset="-128"/>
              </a:rPr>
              <a:t>Scalar pipelining</a:t>
            </a:r>
          </a:p>
          <a:p>
            <a:pPr marL="971550" lvl="1" indent="-342900"/>
            <a:r>
              <a:rPr lang="en-US" altLang="en-US" sz="2000"/>
              <a:t>CPI </a:t>
            </a:r>
            <a:r>
              <a:rPr lang="en-US" altLang="en-US" sz="2000">
                <a:sym typeface="Symbol" pitchFamily="2" charset="2"/>
              </a:rPr>
              <a:t> 1	(Flynn</a:t>
            </a:r>
            <a:r>
              <a:rPr lang="ja-JP" altLang="en-US" sz="2000">
                <a:latin typeface="Arial" panose="020B0604020202020204" pitchFamily="34" charset="0"/>
                <a:sym typeface="Symbol" pitchFamily="2" charset="2"/>
              </a:rPr>
              <a:t>’</a:t>
            </a:r>
            <a:r>
              <a:rPr lang="en-US" altLang="en-US" sz="2000">
                <a:sym typeface="Symbol" pitchFamily="2" charset="2"/>
              </a:rPr>
              <a:t>s bottleneck)</a:t>
            </a:r>
          </a:p>
          <a:p>
            <a:pPr marL="971550" lvl="1" indent="-342900"/>
            <a:r>
              <a:rPr lang="en-US" altLang="en-US" sz="2000">
                <a:latin typeface="Symbol" pitchFamily="2" charset="2"/>
                <a:sym typeface="Symbol" pitchFamily="2" charset="2"/>
              </a:rPr>
              <a:t> </a:t>
            </a:r>
            <a:r>
              <a:rPr lang="en-US" altLang="en-US" sz="2000">
                <a:sym typeface="Symbol" pitchFamily="2" charset="2"/>
              </a:rPr>
              <a:t>reduce CT further, increase instructions per </a:t>
            </a:r>
            <a:r>
              <a:rPr lang="en-US" altLang="en-US" sz="2000" i="1">
                <a:sym typeface="Symbol" pitchFamily="2" charset="2"/>
              </a:rPr>
              <a:t>second</a:t>
            </a:r>
          </a:p>
          <a:p>
            <a:pPr marL="457200" indent="-457200"/>
            <a:r>
              <a:rPr lang="en-US" altLang="en-US" sz="2400">
                <a:ea typeface="ＭＳ Ｐゴシック" panose="020B0600070205080204" pitchFamily="34" charset="-128"/>
                <a:sym typeface="Symbol" pitchFamily="2" charset="2"/>
              </a:rPr>
              <a:t>Problem: limits of pipelining</a:t>
            </a:r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 sz="2000">
                <a:sym typeface="Symbol" pitchFamily="2" charset="2"/>
              </a:rPr>
              <a:t>Latch overhead and clock skew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 sz="1800">
                <a:sym typeface="Symbol" pitchFamily="2" charset="2"/>
              </a:rPr>
              <a:t>Overhead becomes a larger component of cycle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 sz="1800">
                <a:sym typeface="Symbol" pitchFamily="2" charset="2"/>
              </a:rPr>
              <a:t>Pipelining eventually becomes inefficient</a:t>
            </a:r>
          </a:p>
          <a:p>
            <a:pPr marL="1600200" lvl="2" indent="-342900">
              <a:buFont typeface="Wingdings" pitchFamily="2" charset="2"/>
              <a:buChar char="§"/>
            </a:pPr>
            <a:r>
              <a:rPr lang="en-US" altLang="en-US" sz="1800">
                <a:sym typeface="Symbol" pitchFamily="2" charset="2"/>
              </a:rPr>
              <a:t>Diminishing returns</a:t>
            </a:r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 sz="2000">
                <a:sym typeface="Symbol" pitchFamily="2" charset="2"/>
              </a:rPr>
              <a:t>Can only break logic up so far</a:t>
            </a:r>
          </a:p>
          <a:p>
            <a:pPr marL="971550" lvl="1" indent="-342900">
              <a:buFont typeface="Wingdings" pitchFamily="2" charset="2"/>
              <a:buAutoNum type="arabicPeriod"/>
            </a:pPr>
            <a:r>
              <a:rPr lang="en-US" altLang="en-US" sz="2000">
                <a:sym typeface="Symbol" pitchFamily="2" charset="2"/>
              </a:rPr>
              <a:t>Pipelining is ineffective when there are dependences</a:t>
            </a:r>
          </a:p>
          <a:p>
            <a:pPr marL="1600200" lvl="2" indent="-342900">
              <a:buFontTx/>
              <a:buChar char="•"/>
            </a:pPr>
            <a:r>
              <a:rPr lang="en-US" altLang="en-US" sz="1800">
                <a:sym typeface="Symbol" pitchFamily="2" charset="2"/>
              </a:rPr>
              <a:t>Ex: Can pipeline L1 cache but it still takes X ns to get data out.  An instruction that needs that data must wait X ns regardless of how fast you make the clock and how many stages there are.</a:t>
            </a:r>
          </a:p>
          <a:p>
            <a:pPr marL="457200" indent="-457200"/>
            <a:endParaRPr lang="en-US" altLang="en-US" sz="2400">
              <a:ea typeface="ＭＳ Ｐゴシック" panose="020B0600070205080204" pitchFamily="34" charset="-128"/>
              <a:sym typeface="Symbol" pitchFamily="2" charset="2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Rectangle 2">
            <a:extLst>
              <a:ext uri="{FF2B5EF4-FFF2-40B4-BE49-F238E27FC236}">
                <a16:creationId xmlns:a16="http://schemas.microsoft.com/office/drawing/2014/main" id="{891BCA82-34D5-4248-BB7C-A3F8EF02E7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Superscalar processing</a:t>
            </a:r>
          </a:p>
        </p:txBody>
      </p:sp>
      <p:sp>
        <p:nvSpPr>
          <p:cNvPr id="120834" name="Rectangle 3">
            <a:extLst>
              <a:ext uri="{FF2B5EF4-FFF2-40B4-BE49-F238E27FC236}">
                <a16:creationId xmlns:a16="http://schemas.microsoft.com/office/drawing/2014/main" id="{86F1C024-94E3-6F48-971B-E66BCFBDCB5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scalar = 1 instruction/cycle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superscalar: N instructions/cycle</a:t>
            </a:r>
          </a:p>
          <a:p>
            <a:pPr lvl="1"/>
            <a:r>
              <a:rPr lang="en-US" altLang="en-US"/>
              <a:t>Increase </a:t>
            </a:r>
            <a:r>
              <a:rPr lang="en-US" altLang="en-US" i="1"/>
              <a:t>bandwidth</a:t>
            </a:r>
            <a:r>
              <a:rPr lang="en-US" altLang="en-US"/>
              <a:t> at each stage of the pipeline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Formal definitions versus popular usage</a:t>
            </a:r>
          </a:p>
          <a:p>
            <a:pPr lvl="1"/>
            <a:r>
              <a:rPr lang="en-US" altLang="en-US" sz="1600"/>
              <a:t>Formal: superscalar applies to any multiple-issue machine</a:t>
            </a:r>
          </a:p>
          <a:p>
            <a:pPr lvl="1"/>
            <a:r>
              <a:rPr lang="en-US" altLang="en-US" sz="1600"/>
              <a:t>Popular: superscalar also implies dynamic scheduling</a:t>
            </a:r>
          </a:p>
          <a:p>
            <a:pPr lvl="1"/>
            <a:r>
              <a:rPr lang="en-US" altLang="en-US" sz="1600"/>
              <a:t>Statically scheduled, multiple-issue machines are popularly called VLIW – </a:t>
            </a:r>
            <a:r>
              <a:rPr lang="ja-JP" altLang="en-US" sz="1600">
                <a:latin typeface="Arial" panose="020B0604020202020204" pitchFamily="34" charset="0"/>
              </a:rPr>
              <a:t>“</a:t>
            </a:r>
            <a:r>
              <a:rPr lang="en-US" altLang="en-US" sz="1600"/>
              <a:t>very long instruction word</a:t>
            </a:r>
            <a:r>
              <a:rPr lang="ja-JP" altLang="en-US" sz="1600">
                <a:latin typeface="Arial" panose="020B0604020202020204" pitchFamily="34" charset="0"/>
              </a:rPr>
              <a:t>”</a:t>
            </a:r>
            <a:r>
              <a:rPr lang="en-US" altLang="en-US" sz="1600"/>
              <a:t> </a:t>
            </a:r>
          </a:p>
          <a:p>
            <a:pPr lvl="2"/>
            <a:r>
              <a:rPr lang="en-US" altLang="en-US" sz="1600"/>
              <a:t>compiler groups multiple independent instructions into a larger package</a:t>
            </a:r>
          </a:p>
        </p:txBody>
      </p:sp>
      <p:graphicFrame>
        <p:nvGraphicFramePr>
          <p:cNvPr id="360452" name="Group 4">
            <a:extLst>
              <a:ext uri="{FF2B5EF4-FFF2-40B4-BE49-F238E27FC236}">
                <a16:creationId xmlns:a16="http://schemas.microsoft.com/office/drawing/2014/main" id="{A2820526-847C-F34B-92AE-A9CF4090998C}"/>
              </a:ext>
            </a:extLst>
          </p:cNvPr>
          <p:cNvGraphicFramePr>
            <a:graphicFrameLocks noGrp="1"/>
          </p:cNvGraphicFramePr>
          <p:nvPr/>
        </p:nvGraphicFramePr>
        <p:xfrm>
          <a:off x="2514600" y="2971800"/>
          <a:ext cx="2867025" cy="1041402"/>
        </p:xfrm>
        <a:graphic>
          <a:graphicData uri="http://schemas.openxmlformats.org/drawingml/2006/table">
            <a:tbl>
              <a:tblPr/>
              <a:tblGrid>
                <a:gridCol w="409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73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46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3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46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3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IF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ID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MEM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97AD906B-CDBC-C14C-BE02-2D2CE59980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How to Get to Superscalar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FAC03C9-C6A4-4149-8660-253F378E67C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dirty="0" err="1"/>
              <a:t>Inorder</a:t>
            </a:r>
            <a:r>
              <a:rPr lang="en-US" dirty="0"/>
              <a:t> scalar -&gt; </a:t>
            </a:r>
            <a:r>
              <a:rPr lang="en-US" dirty="0" err="1"/>
              <a:t>inorder</a:t>
            </a:r>
            <a:r>
              <a:rPr lang="en-US" dirty="0"/>
              <a:t> superscalar</a:t>
            </a:r>
          </a:p>
          <a:p>
            <a:pPr>
              <a:defRPr/>
            </a:pPr>
            <a:endParaRPr lang="en-US" dirty="0"/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  <a:p>
            <a:pPr>
              <a:defRPr/>
            </a:pPr>
            <a:r>
              <a:rPr lang="en-US" dirty="0"/>
              <a:t>OOO scalar -&gt; OOO superscalar</a:t>
            </a:r>
          </a:p>
        </p:txBody>
      </p:sp>
      <p:pic>
        <p:nvPicPr>
          <p:cNvPr id="121859" name="Picture 6">
            <a:extLst>
              <a:ext uri="{FF2B5EF4-FFF2-40B4-BE49-F238E27FC236}">
                <a16:creationId xmlns:a16="http://schemas.microsoft.com/office/drawing/2014/main" id="{FD55E5A1-A4D3-2347-958B-30144970F2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3429000"/>
            <a:ext cx="6697663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1860" name="Picture 7">
            <a:extLst>
              <a:ext uri="{FF2B5EF4-FFF2-40B4-BE49-F238E27FC236}">
                <a16:creationId xmlns:a16="http://schemas.microsoft.com/office/drawing/2014/main" id="{D49BAB9D-782B-F64F-BB3C-E49C7AA8A6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1828800"/>
            <a:ext cx="4648200" cy="1065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Rectangle 2">
            <a:extLst>
              <a:ext uri="{FF2B5EF4-FFF2-40B4-BE49-F238E27FC236}">
                <a16:creationId xmlns:a16="http://schemas.microsoft.com/office/drawing/2014/main" id="{6844DB13-00CF-B345-B9F3-B4EF5185A1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New complexity</a:t>
            </a:r>
          </a:p>
        </p:txBody>
      </p:sp>
      <p:sp>
        <p:nvSpPr>
          <p:cNvPr id="122882" name="Rectangle 3">
            <a:extLst>
              <a:ext uri="{FF2B5EF4-FFF2-40B4-BE49-F238E27FC236}">
                <a16:creationId xmlns:a16="http://schemas.microsoft.com/office/drawing/2014/main" id="{7F5662A5-B1BA-0A46-A7EE-837CA442E57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2000">
                <a:ea typeface="ＭＳ Ｐゴシック" panose="020B0600070205080204" pitchFamily="34" charset="-128"/>
              </a:rPr>
              <a:t>IF</a:t>
            </a:r>
          </a:p>
          <a:p>
            <a:pPr lvl="1"/>
            <a:r>
              <a:rPr lang="en-US" altLang="en-US" sz="1600"/>
              <a:t>Parallel access to I$</a:t>
            </a:r>
          </a:p>
          <a:p>
            <a:pPr lvl="1"/>
            <a:r>
              <a:rPr lang="en-US" altLang="en-US" sz="1600"/>
              <a:t>Instruction alignment issues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ID</a:t>
            </a:r>
          </a:p>
          <a:p>
            <a:pPr lvl="1"/>
            <a:r>
              <a:rPr lang="en-US" altLang="en-US" sz="1600"/>
              <a:t>Parallel register access: highly multi-ported register file</a:t>
            </a:r>
          </a:p>
          <a:p>
            <a:pPr lvl="1"/>
            <a:r>
              <a:rPr lang="en-US" altLang="en-US" sz="1600"/>
              <a:t>RAW hazard </a:t>
            </a:r>
            <a:r>
              <a:rPr lang="en-US" altLang="en-US" sz="1600" i="1"/>
              <a:t>cross-checks</a:t>
            </a:r>
            <a:r>
              <a:rPr lang="en-US" altLang="en-US" sz="1600"/>
              <a:t> required</a:t>
            </a:r>
          </a:p>
          <a:p>
            <a:pPr lvl="2"/>
            <a:r>
              <a:rPr lang="en-US" altLang="en-US" sz="1600"/>
              <a:t>Renaming/dependence checking now more complex than RF lookup</a:t>
            </a:r>
          </a:p>
          <a:p>
            <a:pPr lvl="2"/>
            <a:r>
              <a:rPr lang="en-US" altLang="en-US" sz="1600"/>
              <a:t>Must also check prior instructions in fetch group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IS/EX</a:t>
            </a:r>
          </a:p>
          <a:p>
            <a:pPr lvl="1"/>
            <a:r>
              <a:rPr lang="en-US" altLang="en-US" sz="1600"/>
              <a:t>Parallel execution: replicate datapaths, FUs, etc.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MEM</a:t>
            </a:r>
          </a:p>
          <a:p>
            <a:pPr lvl="1"/>
            <a:r>
              <a:rPr lang="en-US" altLang="en-US" sz="1600"/>
              <a:t>&gt; 1 per cycle? If so, multi-ported D$</a:t>
            </a:r>
          </a:p>
          <a:p>
            <a:r>
              <a:rPr lang="en-US" altLang="en-US" sz="2000">
                <a:ea typeface="ＭＳ Ｐゴシック" panose="020B0600070205080204" pitchFamily="34" charset="-128"/>
              </a:rPr>
              <a:t>WB</a:t>
            </a:r>
          </a:p>
          <a:p>
            <a:pPr lvl="1"/>
            <a:r>
              <a:rPr lang="en-US" altLang="en-US" sz="1600"/>
              <a:t>Many result buses (bypasses) and register file write ports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2">
            <a:extLst>
              <a:ext uri="{FF2B5EF4-FFF2-40B4-BE49-F238E27FC236}">
                <a16:creationId xmlns:a16="http://schemas.microsoft.com/office/drawing/2014/main" id="{6A1D8251-CC7D-8A4B-934D-B0A896B0FC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>
                <a:ea typeface="ＭＳ Ｐゴシック" panose="020B0600070205080204" pitchFamily="34" charset="-128"/>
              </a:rPr>
              <a:t>Superscalar complexity and cycle time</a:t>
            </a:r>
          </a:p>
        </p:txBody>
      </p:sp>
      <p:sp>
        <p:nvSpPr>
          <p:cNvPr id="123906" name="Rectangle 3">
            <a:extLst>
              <a:ext uri="{FF2B5EF4-FFF2-40B4-BE49-F238E27FC236}">
                <a16:creationId xmlns:a16="http://schemas.microsoft.com/office/drawing/2014/main" id="{5878B0CF-E35A-E94E-AD70-85A6E9D0073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1600">
                <a:ea typeface="ＭＳ Ｐゴシック" panose="020B0600070205080204" pitchFamily="34" charset="-128"/>
              </a:rPr>
              <a:t>The IPC / CT trade-off</a:t>
            </a:r>
          </a:p>
          <a:p>
            <a:pPr lvl="1"/>
            <a:r>
              <a:rPr lang="en-US" altLang="en-US" sz="1800"/>
              <a:t>Increasing superscalar complexity can hurt cycle time</a:t>
            </a:r>
          </a:p>
          <a:p>
            <a:pPr lvl="1"/>
            <a:r>
              <a:rPr lang="en-US" altLang="en-US" sz="1800"/>
              <a:t>Microarchitect must balance instr. per cycle (IPC) and cycle time (CT) to achieve best overall performance</a:t>
            </a:r>
          </a:p>
          <a:p>
            <a:r>
              <a:rPr lang="en-US" altLang="en-US" sz="1600">
                <a:ea typeface="ＭＳ Ｐゴシック" panose="020B0600070205080204" pitchFamily="34" charset="-128"/>
              </a:rPr>
              <a:t>Where complexity (potentially) impacts cycle time</a:t>
            </a:r>
          </a:p>
        </p:txBody>
      </p:sp>
      <p:sp>
        <p:nvSpPr>
          <p:cNvPr id="123907" name="Rectangle 4">
            <a:extLst>
              <a:ext uri="{FF2B5EF4-FFF2-40B4-BE49-F238E27FC236}">
                <a16:creationId xmlns:a16="http://schemas.microsoft.com/office/drawing/2014/main" id="{15929F03-C592-074A-B94C-BE6BCD212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2971800"/>
            <a:ext cx="1143000" cy="609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Fetch Unit</a:t>
            </a:r>
          </a:p>
        </p:txBody>
      </p:sp>
      <p:sp>
        <p:nvSpPr>
          <p:cNvPr id="123908" name="AutoShape 5">
            <a:extLst>
              <a:ext uri="{FF2B5EF4-FFF2-40B4-BE49-F238E27FC236}">
                <a16:creationId xmlns:a16="http://schemas.microsoft.com/office/drawing/2014/main" id="{B6A4648A-8364-CE48-BB5A-F8E383285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200400"/>
            <a:ext cx="685800" cy="228600"/>
          </a:xfrm>
          <a:prstGeom prst="lef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09" name="Text Box 6">
            <a:extLst>
              <a:ext uri="{FF2B5EF4-FFF2-40B4-BE49-F238E27FC236}">
                <a16:creationId xmlns:a16="http://schemas.microsoft.com/office/drawing/2014/main" id="{9E588E1A-0DAE-7A42-A6BA-0B65593FA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4525" y="3182938"/>
            <a:ext cx="51323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Interleaved I$ for good fetch bandwidth requires extra shift/alignment logic (more later).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I$ / branch predictor performance critical for superscalar: larger I$/predictor is slower.</a:t>
            </a:r>
          </a:p>
        </p:txBody>
      </p:sp>
      <p:sp>
        <p:nvSpPr>
          <p:cNvPr id="123910" name="Rectangle 7">
            <a:extLst>
              <a:ext uri="{FF2B5EF4-FFF2-40B4-BE49-F238E27FC236}">
                <a16:creationId xmlns:a16="http://schemas.microsoft.com/office/drawing/2014/main" id="{9F026465-6C4F-9243-AA76-BC619A591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3886200"/>
            <a:ext cx="1143000" cy="609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Dependence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checking /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renaming /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File reads</a:t>
            </a:r>
          </a:p>
        </p:txBody>
      </p:sp>
      <p:sp>
        <p:nvSpPr>
          <p:cNvPr id="123911" name="Rectangle 8">
            <a:extLst>
              <a:ext uri="{FF2B5EF4-FFF2-40B4-BE49-F238E27FC236}">
                <a16:creationId xmlns:a16="http://schemas.microsoft.com/office/drawing/2014/main" id="{4E0FA424-F288-7F41-AB03-A19B6CD8C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886200"/>
            <a:ext cx="685800" cy="609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File</a:t>
            </a:r>
          </a:p>
        </p:txBody>
      </p:sp>
      <p:sp>
        <p:nvSpPr>
          <p:cNvPr id="123912" name="AutoShape 9">
            <a:extLst>
              <a:ext uri="{FF2B5EF4-FFF2-40B4-BE49-F238E27FC236}">
                <a16:creationId xmlns:a16="http://schemas.microsoft.com/office/drawing/2014/main" id="{8C256FD6-9478-5C41-A87C-B938E2B54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114800"/>
            <a:ext cx="685800" cy="228600"/>
          </a:xfrm>
          <a:prstGeom prst="lef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13" name="Text Box 10">
            <a:extLst>
              <a:ext uri="{FF2B5EF4-FFF2-40B4-BE49-F238E27FC236}">
                <a16:creationId xmlns:a16="http://schemas.microsoft.com/office/drawing/2014/main" id="{67DD1124-93BE-AD46-8E93-3A7413E8C9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4525" y="4021138"/>
            <a:ext cx="55816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Must cross-check dependences among newly-fetched instructions – increases rename latency.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Highly multi-ported register file increases register file read latency.</a:t>
            </a:r>
          </a:p>
        </p:txBody>
      </p:sp>
      <p:sp>
        <p:nvSpPr>
          <p:cNvPr id="123914" name="Rectangle 11">
            <a:extLst>
              <a:ext uri="{FF2B5EF4-FFF2-40B4-BE49-F238E27FC236}">
                <a16:creationId xmlns:a16="http://schemas.microsoft.com/office/drawing/2014/main" id="{52F398E8-0725-FF45-81E1-8C70EB7FD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4800600"/>
            <a:ext cx="1143000" cy="609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Scheduling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Window</a:t>
            </a:r>
          </a:p>
        </p:txBody>
      </p:sp>
      <p:sp>
        <p:nvSpPr>
          <p:cNvPr id="123915" name="AutoShape 12">
            <a:extLst>
              <a:ext uri="{FF2B5EF4-FFF2-40B4-BE49-F238E27FC236}">
                <a16:creationId xmlns:a16="http://schemas.microsoft.com/office/drawing/2014/main" id="{218C38AE-735A-374F-8671-6A9C8430B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953000"/>
            <a:ext cx="685800" cy="228600"/>
          </a:xfrm>
          <a:prstGeom prst="lef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16" name="Text Box 13">
            <a:extLst>
              <a:ext uri="{FF2B5EF4-FFF2-40B4-BE49-F238E27FC236}">
                <a16:creationId xmlns:a16="http://schemas.microsoft.com/office/drawing/2014/main" id="{A178D9DF-D1C5-1E44-8AC9-6D3FBC341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4800600"/>
            <a:ext cx="5062538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Exposing more parallelism requires LARGE window (e.g., 64-entry or 128-entry ROB)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Superscalar means high issue rate (multiple instructions issued per cycle)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issue latency 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  <a:sym typeface="Symbol" pitchFamily="2" charset="2"/>
              </a:rPr>
              <a:t>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 WINDOW SIZE 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  <a:sym typeface="Symbol" pitchFamily="2" charset="2"/>
              </a:rPr>
              <a:t>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 ISSUE RATE</a:t>
            </a:r>
          </a:p>
        </p:txBody>
      </p:sp>
      <p:sp>
        <p:nvSpPr>
          <p:cNvPr id="123917" name="AutoShape 14">
            <a:extLst>
              <a:ext uri="{FF2B5EF4-FFF2-40B4-BE49-F238E27FC236}">
                <a16:creationId xmlns:a16="http://schemas.microsoft.com/office/drawing/2014/main" id="{6740BE4D-520B-C948-A2BB-1C8A7A709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495800"/>
            <a:ext cx="152400" cy="304800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18" name="AutoShape 15">
            <a:extLst>
              <a:ext uri="{FF2B5EF4-FFF2-40B4-BE49-F238E27FC236}">
                <a16:creationId xmlns:a16="http://schemas.microsoft.com/office/drawing/2014/main" id="{6FD8501F-88C4-0547-9FC9-13B2EFC08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3581400"/>
            <a:ext cx="152400" cy="304800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19" name="AutoShape 16">
            <a:extLst>
              <a:ext uri="{FF2B5EF4-FFF2-40B4-BE49-F238E27FC236}">
                <a16:creationId xmlns:a16="http://schemas.microsoft.com/office/drawing/2014/main" id="{A021E093-0715-C34E-A794-9BD52866E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5410200"/>
            <a:ext cx="152400" cy="304800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20" name="Rectangle 17">
            <a:extLst>
              <a:ext uri="{FF2B5EF4-FFF2-40B4-BE49-F238E27FC236}">
                <a16:creationId xmlns:a16="http://schemas.microsoft.com/office/drawing/2014/main" id="{F6515653-863A-4D43-9A42-9955E1C52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5715000"/>
            <a:ext cx="1143000" cy="381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FUs</a:t>
            </a:r>
          </a:p>
        </p:txBody>
      </p:sp>
      <p:sp>
        <p:nvSpPr>
          <p:cNvPr id="123921" name="Line 18">
            <a:extLst>
              <a:ext uri="{FF2B5EF4-FFF2-40B4-BE49-F238E27FC236}">
                <a16:creationId xmlns:a16="http://schemas.microsoft.com/office/drawing/2014/main" id="{BA3A0FBE-6D01-0641-BF2D-1C2B147EC0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800" y="60960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2" name="Line 19">
            <a:extLst>
              <a:ext uri="{FF2B5EF4-FFF2-40B4-BE49-F238E27FC236}">
                <a16:creationId xmlns:a16="http://schemas.microsoft.com/office/drawing/2014/main" id="{D21135F3-42F0-8D4B-8DE5-D0C49FEAD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6096000"/>
            <a:ext cx="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3" name="Line 20">
            <a:extLst>
              <a:ext uri="{FF2B5EF4-FFF2-40B4-BE49-F238E27FC236}">
                <a16:creationId xmlns:a16="http://schemas.microsoft.com/office/drawing/2014/main" id="{F9B31495-E79C-BE4B-8A46-A4ACE373DB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" y="6248400"/>
            <a:ext cx="1143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4" name="Line 21">
            <a:extLst>
              <a:ext uri="{FF2B5EF4-FFF2-40B4-BE49-F238E27FC236}">
                <a16:creationId xmlns:a16="http://schemas.microsoft.com/office/drawing/2014/main" id="{C83CC48E-5435-BE48-BDB3-7A81FD318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" y="6324600"/>
            <a:ext cx="1219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5" name="AutoShape 22">
            <a:extLst>
              <a:ext uri="{FF2B5EF4-FFF2-40B4-BE49-F238E27FC236}">
                <a16:creationId xmlns:a16="http://schemas.microsoft.com/office/drawing/2014/main" id="{9448732D-5799-2343-A713-D99616DB7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88" y="4987925"/>
            <a:ext cx="663575" cy="206375"/>
          </a:xfrm>
          <a:prstGeom prst="rightArrow">
            <a:avLst>
              <a:gd name="adj1" fmla="val 50000"/>
              <a:gd name="adj2" fmla="val 80385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26" name="AutoShape 23">
            <a:extLst>
              <a:ext uri="{FF2B5EF4-FFF2-40B4-BE49-F238E27FC236}">
                <a16:creationId xmlns:a16="http://schemas.microsoft.com/office/drawing/2014/main" id="{5BFEAEB6-52A9-0E4E-AF56-36274A8D0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495800"/>
            <a:ext cx="152400" cy="1828800"/>
          </a:xfrm>
          <a:prstGeom prst="upArrow">
            <a:avLst>
              <a:gd name="adj1" fmla="val 50000"/>
              <a:gd name="adj2" fmla="val 30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27" name="AutoShape 24">
            <a:extLst>
              <a:ext uri="{FF2B5EF4-FFF2-40B4-BE49-F238E27FC236}">
                <a16:creationId xmlns:a16="http://schemas.microsoft.com/office/drawing/2014/main" id="{13B077B2-31B1-BE40-94BC-13A3CB41A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4114800"/>
            <a:ext cx="228600" cy="152400"/>
          </a:xfrm>
          <a:prstGeom prst="rightArrow">
            <a:avLst>
              <a:gd name="adj1" fmla="val 50000"/>
              <a:gd name="adj2" fmla="val 375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28" name="AutoShape 25">
            <a:extLst>
              <a:ext uri="{FF2B5EF4-FFF2-40B4-BE49-F238E27FC236}">
                <a16:creationId xmlns:a16="http://schemas.microsoft.com/office/drawing/2014/main" id="{69C4BBD2-FB05-1D4A-9816-F00244F69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5791200"/>
            <a:ext cx="685800" cy="228600"/>
          </a:xfrm>
          <a:prstGeom prst="lef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29" name="Text Box 26">
            <a:extLst>
              <a:ext uri="{FF2B5EF4-FFF2-40B4-BE49-F238E27FC236}">
                <a16:creationId xmlns:a16="http://schemas.microsoft.com/office/drawing/2014/main" id="{AEAF1CE2-B346-0247-8D27-0407098F88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562600"/>
            <a:ext cx="46958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 u="sng">
                <a:latin typeface="Arial" panose="020B0604020202020204" pitchFamily="34" charset="0"/>
                <a:cs typeface="Arial" panose="020B0604020202020204" pitchFamily="34" charset="0"/>
              </a:rPr>
              <a:t>Many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altLang="en-US" sz="1000" u="sng">
                <a:latin typeface="Arial" panose="020B0604020202020204" pitchFamily="34" charset="0"/>
                <a:cs typeface="Arial" panose="020B0604020202020204" pitchFamily="34" charset="0"/>
              </a:rPr>
              <a:t>long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 bypasses.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Wire delay is not scaling as well as transistor delay in future technologies.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Bypasses are becoming a cycle time problem.</a:t>
            </a:r>
          </a:p>
        </p:txBody>
      </p:sp>
      <p:sp>
        <p:nvSpPr>
          <p:cNvPr id="123930" name="Text Box 27">
            <a:extLst>
              <a:ext uri="{FF2B5EF4-FFF2-40B4-BE49-F238E27FC236}">
                <a16:creationId xmlns:a16="http://schemas.microsoft.com/office/drawing/2014/main" id="{38EDCE0D-8A50-C045-9521-A225554B2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825" y="4978400"/>
            <a:ext cx="5889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bypass</a:t>
            </a:r>
          </a:p>
        </p:txBody>
      </p:sp>
      <p:sp>
        <p:nvSpPr>
          <p:cNvPr id="123931" name="Text Box 28">
            <a:extLst>
              <a:ext uri="{FF2B5EF4-FFF2-40B4-BE49-F238E27FC236}">
                <a16:creationId xmlns:a16="http://schemas.microsoft.com/office/drawing/2014/main" id="{B3D7A4FE-C012-F446-BD52-472A25CE8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4495800"/>
            <a:ext cx="8318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DISPATCH</a:t>
            </a:r>
          </a:p>
        </p:txBody>
      </p:sp>
      <p:sp>
        <p:nvSpPr>
          <p:cNvPr id="123932" name="Text Box 29">
            <a:extLst>
              <a:ext uri="{FF2B5EF4-FFF2-40B4-BE49-F238E27FC236}">
                <a16:creationId xmlns:a16="http://schemas.microsoft.com/office/drawing/2014/main" id="{C51440BF-8B1D-CE42-B390-509AD12C01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5410200"/>
            <a:ext cx="5683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ISSUE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Rectangle 2">
            <a:extLst>
              <a:ext uri="{FF2B5EF4-FFF2-40B4-BE49-F238E27FC236}">
                <a16:creationId xmlns:a16="http://schemas.microsoft.com/office/drawing/2014/main" id="{49BFE54C-756E-404D-9FA0-1DE375C375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Superscalar evolution</a:t>
            </a:r>
          </a:p>
        </p:txBody>
      </p:sp>
      <p:sp>
        <p:nvSpPr>
          <p:cNvPr id="124930" name="Rectangle 3">
            <a:extLst>
              <a:ext uri="{FF2B5EF4-FFF2-40B4-BE49-F238E27FC236}">
                <a16:creationId xmlns:a16="http://schemas.microsoft.com/office/drawing/2014/main" id="{387C35D0-786B-F34F-939F-E2DFE0CD06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Historical perspective</a:t>
            </a:r>
          </a:p>
          <a:p>
            <a:pPr lvl="1"/>
            <a:r>
              <a:rPr lang="en-US" altLang="en-US"/>
              <a:t>1 integer + 1 floating-point</a:t>
            </a:r>
          </a:p>
          <a:p>
            <a:pPr lvl="1"/>
            <a:r>
              <a:rPr lang="en-US" altLang="en-US"/>
              <a:t>Any 2 instructions</a:t>
            </a:r>
          </a:p>
          <a:p>
            <a:pPr lvl="1"/>
            <a:r>
              <a:rPr lang="en-US" altLang="en-US"/>
              <a:t>Any 4 instructions</a:t>
            </a:r>
          </a:p>
          <a:p>
            <a:pPr lvl="1"/>
            <a:r>
              <a:rPr lang="en-US" altLang="en-US"/>
              <a:t>Any </a:t>
            </a:r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n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r>
              <a:rPr lang="en-US" altLang="en-US"/>
              <a:t> instructions?  How far?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Rectangle 2">
            <a:extLst>
              <a:ext uri="{FF2B5EF4-FFF2-40B4-BE49-F238E27FC236}">
                <a16:creationId xmlns:a16="http://schemas.microsoft.com/office/drawing/2014/main" id="{EF471895-368E-1143-B1C4-618272ADE7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800">
                <a:ea typeface="ＭＳ Ｐゴシック" panose="020B0600070205080204" pitchFamily="34" charset="-128"/>
              </a:rPr>
              <a:t>High-bandwidth instruction fetching</a:t>
            </a:r>
          </a:p>
        </p:txBody>
      </p:sp>
      <p:sp>
        <p:nvSpPr>
          <p:cNvPr id="125954" name="Rectangle 3">
            <a:extLst>
              <a:ext uri="{FF2B5EF4-FFF2-40B4-BE49-F238E27FC236}">
                <a16:creationId xmlns:a16="http://schemas.microsoft.com/office/drawing/2014/main" id="{52716ACD-2DE0-A54B-915B-7AD866E2F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2057400"/>
            <a:ext cx="1828800" cy="2133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55" name="Freeform 4">
            <a:extLst>
              <a:ext uri="{FF2B5EF4-FFF2-40B4-BE49-F238E27FC236}">
                <a16:creationId xmlns:a16="http://schemas.microsoft.com/office/drawing/2014/main" id="{859AC346-A4B3-B54D-8BF3-3213A2F033A7}"/>
              </a:ext>
            </a:extLst>
          </p:cNvPr>
          <p:cNvSpPr>
            <a:spLocks/>
          </p:cNvSpPr>
          <p:nvPr/>
        </p:nvSpPr>
        <p:spPr bwMode="auto">
          <a:xfrm>
            <a:off x="2290763" y="3200400"/>
            <a:ext cx="869950" cy="617538"/>
          </a:xfrm>
          <a:custGeom>
            <a:avLst/>
            <a:gdLst>
              <a:gd name="T0" fmla="*/ 0 w 548"/>
              <a:gd name="T1" fmla="*/ 2147483646 h 389"/>
              <a:gd name="T2" fmla="*/ 2147483646 w 548"/>
              <a:gd name="T3" fmla="*/ 2147483646 h 389"/>
              <a:gd name="T4" fmla="*/ 2147483646 w 548"/>
              <a:gd name="T5" fmla="*/ 2147483646 h 389"/>
              <a:gd name="T6" fmla="*/ 2147483646 w 548"/>
              <a:gd name="T7" fmla="*/ 0 h 38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48" h="389">
                <a:moveTo>
                  <a:pt x="0" y="389"/>
                </a:moveTo>
                <a:cubicBezTo>
                  <a:pt x="14" y="357"/>
                  <a:pt x="18" y="233"/>
                  <a:pt x="96" y="192"/>
                </a:cubicBezTo>
                <a:cubicBezTo>
                  <a:pt x="174" y="151"/>
                  <a:pt x="395" y="175"/>
                  <a:pt x="470" y="143"/>
                </a:cubicBezTo>
                <a:cubicBezTo>
                  <a:pt x="545" y="111"/>
                  <a:pt x="532" y="30"/>
                  <a:pt x="548" y="0"/>
                </a:cubicBezTo>
              </a:path>
            </a:pathLst>
          </a:custGeom>
          <a:noFill/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6" name="Text Box 5">
            <a:extLst>
              <a:ext uri="{FF2B5EF4-FFF2-40B4-BE49-F238E27FC236}">
                <a16:creationId xmlns:a16="http://schemas.microsoft.com/office/drawing/2014/main" id="{11681F26-3718-3A40-8DBE-36E1051D2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3733800"/>
            <a:ext cx="19764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branch into </a:t>
            </a: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middle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 of cache line</a:t>
            </a:r>
          </a:p>
        </p:txBody>
      </p:sp>
      <p:sp>
        <p:nvSpPr>
          <p:cNvPr id="125957" name="Rectangle 6">
            <a:extLst>
              <a:ext uri="{FF2B5EF4-FFF2-40B4-BE49-F238E27FC236}">
                <a16:creationId xmlns:a16="http://schemas.microsoft.com/office/drawing/2014/main" id="{5A76A1F5-3C0C-6645-A8C2-AF568F83F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28956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58" name="Rectangle 7">
            <a:extLst>
              <a:ext uri="{FF2B5EF4-FFF2-40B4-BE49-F238E27FC236}">
                <a16:creationId xmlns:a16="http://schemas.microsoft.com/office/drawing/2014/main" id="{74F088FE-0DB3-4E47-878C-31B7D76CD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8956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59" name="Rectangle 8">
            <a:extLst>
              <a:ext uri="{FF2B5EF4-FFF2-40B4-BE49-F238E27FC236}">
                <a16:creationId xmlns:a16="http://schemas.microsoft.com/office/drawing/2014/main" id="{AD4442CA-0766-AB4D-89C4-D4C581E96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28956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60" name="Rectangle 9">
            <a:extLst>
              <a:ext uri="{FF2B5EF4-FFF2-40B4-BE49-F238E27FC236}">
                <a16:creationId xmlns:a16="http://schemas.microsoft.com/office/drawing/2014/main" id="{ACD7E048-6463-CC4F-A4B4-2FF4F2D63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28956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61" name="Line 10">
            <a:extLst>
              <a:ext uri="{FF2B5EF4-FFF2-40B4-BE49-F238E27FC236}">
                <a16:creationId xmlns:a16="http://schemas.microsoft.com/office/drawing/2014/main" id="{70C6CD99-BFDD-9D49-9EDD-75EBE5BA5C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00" y="4191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2" name="Line 11">
            <a:extLst>
              <a:ext uri="{FF2B5EF4-FFF2-40B4-BE49-F238E27FC236}">
                <a16:creationId xmlns:a16="http://schemas.microsoft.com/office/drawing/2014/main" id="{0B88E75D-FDF9-DD4D-A238-2E24BC337E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0" y="4191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3" name="Line 12">
            <a:extLst>
              <a:ext uri="{FF2B5EF4-FFF2-40B4-BE49-F238E27FC236}">
                <a16:creationId xmlns:a16="http://schemas.microsoft.com/office/drawing/2014/main" id="{A9BBEEF1-391D-984E-9B58-9D357496C9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4191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4" name="Line 13">
            <a:extLst>
              <a:ext uri="{FF2B5EF4-FFF2-40B4-BE49-F238E27FC236}">
                <a16:creationId xmlns:a16="http://schemas.microsoft.com/office/drawing/2014/main" id="{4CDB6C56-9D38-4C40-9BC0-5370488377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1400" y="41910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5" name="Rectangle 14">
            <a:extLst>
              <a:ext uri="{FF2B5EF4-FFF2-40B4-BE49-F238E27FC236}">
                <a16:creationId xmlns:a16="http://schemas.microsoft.com/office/drawing/2014/main" id="{D3580097-FF98-B741-B070-559EDED0C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4572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66" name="Rectangle 15">
            <a:extLst>
              <a:ext uri="{FF2B5EF4-FFF2-40B4-BE49-F238E27FC236}">
                <a16:creationId xmlns:a16="http://schemas.microsoft.com/office/drawing/2014/main" id="{1D9AB099-3FCF-E54D-9803-1B1C11A4F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4572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67" name="Text Box 16">
            <a:extLst>
              <a:ext uri="{FF2B5EF4-FFF2-40B4-BE49-F238E27FC236}">
                <a16:creationId xmlns:a16="http://schemas.microsoft.com/office/drawing/2014/main" id="{80B310E8-BE88-5F45-ABCB-CFC3787CA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029200"/>
            <a:ext cx="21288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Average fetch bandwidth &lt; 4/cycle</a:t>
            </a:r>
          </a:p>
        </p:txBody>
      </p:sp>
      <p:sp>
        <p:nvSpPr>
          <p:cNvPr id="125968" name="Line 17">
            <a:extLst>
              <a:ext uri="{FF2B5EF4-FFF2-40B4-BE49-F238E27FC236}">
                <a16:creationId xmlns:a16="http://schemas.microsoft.com/office/drawing/2014/main" id="{432D20C1-46DC-DF4B-A36D-9F1E8A5ABD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1295400"/>
            <a:ext cx="0" cy="47244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9" name="Rectangle 18">
            <a:extLst>
              <a:ext uri="{FF2B5EF4-FFF2-40B4-BE49-F238E27FC236}">
                <a16:creationId xmlns:a16="http://schemas.microsoft.com/office/drawing/2014/main" id="{4D1E1DFC-86C5-CF4A-A773-9C65FA895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2057400"/>
            <a:ext cx="1828800" cy="2133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0" name="Rectangle 19">
            <a:extLst>
              <a:ext uri="{FF2B5EF4-FFF2-40B4-BE49-F238E27FC236}">
                <a16:creationId xmlns:a16="http://schemas.microsoft.com/office/drawing/2014/main" id="{6213FC70-7A84-7143-9D6C-D12076DA4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28956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1" name="Rectangle 20">
            <a:extLst>
              <a:ext uri="{FF2B5EF4-FFF2-40B4-BE49-F238E27FC236}">
                <a16:creationId xmlns:a16="http://schemas.microsoft.com/office/drawing/2014/main" id="{B22404A6-52EF-FA45-83C9-077C5B6E5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28956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2" name="Rectangle 21">
            <a:extLst>
              <a:ext uri="{FF2B5EF4-FFF2-40B4-BE49-F238E27FC236}">
                <a16:creationId xmlns:a16="http://schemas.microsoft.com/office/drawing/2014/main" id="{17FB46E5-D414-A24E-B7EA-52841454C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8956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3" name="Rectangle 22">
            <a:extLst>
              <a:ext uri="{FF2B5EF4-FFF2-40B4-BE49-F238E27FC236}">
                <a16:creationId xmlns:a16="http://schemas.microsoft.com/office/drawing/2014/main" id="{78993A7F-5650-024F-BE16-1C283BA38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8956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4" name="Rectangle 23">
            <a:extLst>
              <a:ext uri="{FF2B5EF4-FFF2-40B4-BE49-F238E27FC236}">
                <a16:creationId xmlns:a16="http://schemas.microsoft.com/office/drawing/2014/main" id="{A578865E-A3A9-564B-871B-1CB351474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2004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75" name="Rectangle 24">
            <a:extLst>
              <a:ext uri="{FF2B5EF4-FFF2-40B4-BE49-F238E27FC236}">
                <a16:creationId xmlns:a16="http://schemas.microsoft.com/office/drawing/2014/main" id="{3519EEF4-2C46-9046-BDF2-8C876B9BB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32004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76" name="Rectangle 25">
            <a:extLst>
              <a:ext uri="{FF2B5EF4-FFF2-40B4-BE49-F238E27FC236}">
                <a16:creationId xmlns:a16="http://schemas.microsoft.com/office/drawing/2014/main" id="{02FC6C2B-F159-394C-9FBF-5D8899869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32004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77" name="Rectangle 26">
            <a:extLst>
              <a:ext uri="{FF2B5EF4-FFF2-40B4-BE49-F238E27FC236}">
                <a16:creationId xmlns:a16="http://schemas.microsoft.com/office/drawing/2014/main" id="{522670B0-5F65-0844-B329-264F154CC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32004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78" name="AutoShape 27">
            <a:extLst>
              <a:ext uri="{FF2B5EF4-FFF2-40B4-BE49-F238E27FC236}">
                <a16:creationId xmlns:a16="http://schemas.microsoft.com/office/drawing/2014/main" id="{D4987719-E9D2-9A4A-B39D-990C61F3D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2971800"/>
            <a:ext cx="457200" cy="152400"/>
          </a:xfrm>
          <a:prstGeom prst="righ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5979" name="AutoShape 28">
            <a:extLst>
              <a:ext uri="{FF2B5EF4-FFF2-40B4-BE49-F238E27FC236}">
                <a16:creationId xmlns:a16="http://schemas.microsoft.com/office/drawing/2014/main" id="{AB71D832-2364-5947-BCC4-41BD37649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3276600"/>
            <a:ext cx="457200" cy="152400"/>
          </a:xfrm>
          <a:prstGeom prst="rightArrow">
            <a:avLst>
              <a:gd name="adj1" fmla="val 50000"/>
              <a:gd name="adj2" fmla="val 75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0" name="Rectangle 29">
            <a:extLst>
              <a:ext uri="{FF2B5EF4-FFF2-40B4-BE49-F238E27FC236}">
                <a16:creationId xmlns:a16="http://schemas.microsoft.com/office/drawing/2014/main" id="{42067823-A632-DC4F-A359-D91FF9493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44958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1" name="Rectangle 30">
            <a:extLst>
              <a:ext uri="{FF2B5EF4-FFF2-40B4-BE49-F238E27FC236}">
                <a16:creationId xmlns:a16="http://schemas.microsoft.com/office/drawing/2014/main" id="{971D3698-B5C2-D041-9BFF-D1E265FF6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4958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2" name="Rectangle 31">
            <a:extLst>
              <a:ext uri="{FF2B5EF4-FFF2-40B4-BE49-F238E27FC236}">
                <a16:creationId xmlns:a16="http://schemas.microsoft.com/office/drawing/2014/main" id="{DB1DEAF3-154B-7749-90B5-B5B22E8B8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44958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3" name="Rectangle 32">
            <a:extLst>
              <a:ext uri="{FF2B5EF4-FFF2-40B4-BE49-F238E27FC236}">
                <a16:creationId xmlns:a16="http://schemas.microsoft.com/office/drawing/2014/main" id="{64450751-F824-724B-BD06-E3EC77EA8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44958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4" name="Rectangle 33">
            <a:extLst>
              <a:ext uri="{FF2B5EF4-FFF2-40B4-BE49-F238E27FC236}">
                <a16:creationId xmlns:a16="http://schemas.microsoft.com/office/drawing/2014/main" id="{419B38E3-E369-734B-82DB-9C697B951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44958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5" name="Rectangle 34">
            <a:extLst>
              <a:ext uri="{FF2B5EF4-FFF2-40B4-BE49-F238E27FC236}">
                <a16:creationId xmlns:a16="http://schemas.microsoft.com/office/drawing/2014/main" id="{5D2C8885-30EA-DA47-B771-674290E16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4958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6" name="Rectangle 35">
            <a:extLst>
              <a:ext uri="{FF2B5EF4-FFF2-40B4-BE49-F238E27FC236}">
                <a16:creationId xmlns:a16="http://schemas.microsoft.com/office/drawing/2014/main" id="{9D103636-53FE-DA48-A1B9-5D860FEDC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44958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7" name="Rectangle 36">
            <a:extLst>
              <a:ext uri="{FF2B5EF4-FFF2-40B4-BE49-F238E27FC236}">
                <a16:creationId xmlns:a16="http://schemas.microsoft.com/office/drawing/2014/main" id="{3E1A815C-A40F-0F41-B3EA-F42D35C6E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0" y="4495800"/>
            <a:ext cx="4572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8" name="AutoShape 37">
            <a:extLst>
              <a:ext uri="{FF2B5EF4-FFF2-40B4-BE49-F238E27FC236}">
                <a16:creationId xmlns:a16="http://schemas.microsoft.com/office/drawing/2014/main" id="{E4CE7A3D-0D15-C449-9246-06F8361E6780}"/>
              </a:ext>
            </a:extLst>
          </p:cNvPr>
          <p:cNvSpPr>
            <a:spLocks noChangeArrowheads="1"/>
          </p:cNvSpPr>
          <p:nvPr/>
        </p:nvSpPr>
        <p:spPr bwMode="auto">
          <a:xfrm rot="2669756">
            <a:off x="5486400" y="4191000"/>
            <a:ext cx="152400" cy="304800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89" name="AutoShape 38">
            <a:extLst>
              <a:ext uri="{FF2B5EF4-FFF2-40B4-BE49-F238E27FC236}">
                <a16:creationId xmlns:a16="http://schemas.microsoft.com/office/drawing/2014/main" id="{E8022A7E-689F-4F48-801B-9A7CBC84E827}"/>
              </a:ext>
            </a:extLst>
          </p:cNvPr>
          <p:cNvSpPr>
            <a:spLocks noChangeArrowheads="1"/>
          </p:cNvSpPr>
          <p:nvPr/>
        </p:nvSpPr>
        <p:spPr bwMode="auto">
          <a:xfrm rot="18930244" flipH="1">
            <a:off x="6705600" y="4191000"/>
            <a:ext cx="152400" cy="304800"/>
          </a:xfrm>
          <a:prstGeom prst="downArrow">
            <a:avLst>
              <a:gd name="adj1" fmla="val 50000"/>
              <a:gd name="adj2" fmla="val 500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90" name="Text Box 39">
            <a:extLst>
              <a:ext uri="{FF2B5EF4-FFF2-40B4-BE49-F238E27FC236}">
                <a16:creationId xmlns:a16="http://schemas.microsoft.com/office/drawing/2014/main" id="{C141218F-0DED-0D47-A136-C8D59FA8E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715000"/>
            <a:ext cx="3835400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Dual-port the I$ in order to read out two </a:t>
            </a:r>
            <a:r>
              <a:rPr lang="en-US" altLang="en-US" sz="1000" i="1">
                <a:latin typeface="Arial" panose="020B0604020202020204" pitchFamily="34" charset="0"/>
                <a:cs typeface="Arial" panose="020B0604020202020204" pitchFamily="34" charset="0"/>
              </a:rPr>
              <a:t>consecutive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 cache lines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Merge needed instructions together to get 4/cycle bandwidth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EXPENSIVE: true dual-porting increases area quadratically</a:t>
            </a:r>
          </a:p>
        </p:txBody>
      </p:sp>
      <p:sp>
        <p:nvSpPr>
          <p:cNvPr id="125991" name="AutoShape 40">
            <a:extLst>
              <a:ext uri="{FF2B5EF4-FFF2-40B4-BE49-F238E27FC236}">
                <a16:creationId xmlns:a16="http://schemas.microsoft.com/office/drawing/2014/main" id="{489E2E16-B000-B944-A525-812EE0BB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876800"/>
            <a:ext cx="152400" cy="381000"/>
          </a:xfrm>
          <a:prstGeom prst="downArrow">
            <a:avLst>
              <a:gd name="adj1" fmla="val 50000"/>
              <a:gd name="adj2" fmla="val 6250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92" name="Rectangle 41">
            <a:extLst>
              <a:ext uri="{FF2B5EF4-FFF2-40B4-BE49-F238E27FC236}">
                <a16:creationId xmlns:a16="http://schemas.microsoft.com/office/drawing/2014/main" id="{5A9A6790-A568-A143-87E2-2886DDB27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334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93" name="Rectangle 42">
            <a:extLst>
              <a:ext uri="{FF2B5EF4-FFF2-40B4-BE49-F238E27FC236}">
                <a16:creationId xmlns:a16="http://schemas.microsoft.com/office/drawing/2014/main" id="{284C6F3A-4B2E-DD4A-8089-75B1148FA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5334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94" name="Rectangle 43">
            <a:extLst>
              <a:ext uri="{FF2B5EF4-FFF2-40B4-BE49-F238E27FC236}">
                <a16:creationId xmlns:a16="http://schemas.microsoft.com/office/drawing/2014/main" id="{080EDE08-0BD1-C540-A8E4-259F51962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5334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5995" name="Rectangle 44">
            <a:extLst>
              <a:ext uri="{FF2B5EF4-FFF2-40B4-BE49-F238E27FC236}">
                <a16:creationId xmlns:a16="http://schemas.microsoft.com/office/drawing/2014/main" id="{6BBDD9D5-C791-5E4D-B096-B82DE6EE8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5334000"/>
            <a:ext cx="457200" cy="3048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Rectangle 2">
            <a:extLst>
              <a:ext uri="{FF2B5EF4-FFF2-40B4-BE49-F238E27FC236}">
                <a16:creationId xmlns:a16="http://schemas.microsoft.com/office/drawing/2014/main" id="{8B0E2004-143C-104B-8774-0B45F17485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800">
                <a:ea typeface="ＭＳ Ｐゴシック" panose="020B0600070205080204" pitchFamily="34" charset="-128"/>
              </a:rPr>
              <a:t>Inexpensive dual-porting: interleaving</a:t>
            </a:r>
          </a:p>
        </p:txBody>
      </p:sp>
      <p:sp>
        <p:nvSpPr>
          <p:cNvPr id="126978" name="Rectangle 3">
            <a:extLst>
              <a:ext uri="{FF2B5EF4-FFF2-40B4-BE49-F238E27FC236}">
                <a16:creationId xmlns:a16="http://schemas.microsoft.com/office/drawing/2014/main" id="{E2DB8F17-BA76-F749-A0F0-6D87B821F9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Realization</a:t>
            </a:r>
          </a:p>
          <a:p>
            <a:pPr lvl="1"/>
            <a:r>
              <a:rPr lang="en-US" altLang="en-US"/>
              <a:t>Don</a:t>
            </a:r>
            <a:r>
              <a:rPr lang="ja-JP" altLang="en-US">
                <a:latin typeface="Arial" panose="020B0604020202020204" pitchFamily="34" charset="0"/>
              </a:rPr>
              <a:t>’</a:t>
            </a:r>
            <a:r>
              <a:rPr lang="en-US" altLang="en-US"/>
              <a:t>t need to read out </a:t>
            </a:r>
            <a:r>
              <a:rPr lang="en-US" altLang="en-US" i="1"/>
              <a:t>any</a:t>
            </a:r>
            <a:r>
              <a:rPr lang="en-US" altLang="en-US"/>
              <a:t> two cache lines</a:t>
            </a:r>
          </a:p>
          <a:p>
            <a:pPr lvl="1"/>
            <a:r>
              <a:rPr lang="en-US" altLang="en-US"/>
              <a:t>Just need to read out two </a:t>
            </a:r>
            <a:r>
              <a:rPr lang="en-US" altLang="en-US" i="1"/>
              <a:t>consecutive</a:t>
            </a:r>
            <a:r>
              <a:rPr lang="en-US" altLang="en-US"/>
              <a:t> cache lines</a:t>
            </a:r>
          </a:p>
          <a:p>
            <a:pPr lvl="1"/>
            <a:r>
              <a:rPr lang="en-US" altLang="en-US"/>
              <a:t>Split cache into two banks: one bank holds even addresses, other holds odd addresses</a:t>
            </a:r>
          </a:p>
          <a:p>
            <a:pPr lvl="1"/>
            <a:r>
              <a:rPr lang="en-US" altLang="en-US"/>
              <a:t>This is called </a:t>
            </a:r>
            <a:r>
              <a:rPr lang="en-US" altLang="en-US" u="sng"/>
              <a:t>2-way interleaving</a:t>
            </a:r>
            <a:r>
              <a:rPr lang="en-US" altLang="en-US"/>
              <a:t> or </a:t>
            </a:r>
            <a:r>
              <a:rPr lang="en-US" altLang="en-US" u="sng"/>
              <a:t>banking</a:t>
            </a:r>
          </a:p>
          <a:p>
            <a:pPr lvl="1"/>
            <a:r>
              <a:rPr lang="en-US" altLang="en-US"/>
              <a:t>Guarantees fetching full cache line worth of instructions (if branch not encountered first!)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Rectangle 2">
            <a:extLst>
              <a:ext uri="{FF2B5EF4-FFF2-40B4-BE49-F238E27FC236}">
                <a16:creationId xmlns:a16="http://schemas.microsoft.com/office/drawing/2014/main" id="{6D305F58-B0D4-0349-90F1-F9A9875BD1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Interleaving (cont.)</a:t>
            </a:r>
          </a:p>
        </p:txBody>
      </p:sp>
      <p:sp>
        <p:nvSpPr>
          <p:cNvPr id="128002" name="Rectangle 3">
            <a:extLst>
              <a:ext uri="{FF2B5EF4-FFF2-40B4-BE49-F238E27FC236}">
                <a16:creationId xmlns:a16="http://schemas.microsoft.com/office/drawing/2014/main" id="{DFF65778-4FB2-1D4E-B7EA-3189864D2B9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Simplified IBM POWER solution</a:t>
            </a:r>
          </a:p>
        </p:txBody>
      </p:sp>
      <p:sp>
        <p:nvSpPr>
          <p:cNvPr id="128003" name="Rectangle 4">
            <a:extLst>
              <a:ext uri="{FF2B5EF4-FFF2-40B4-BE49-F238E27FC236}">
                <a16:creationId xmlns:a16="http://schemas.microsoft.com/office/drawing/2014/main" id="{67FB8904-7958-0A41-BDBB-40AB579D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981200"/>
            <a:ext cx="19050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8004" name="Rectangle 5">
            <a:extLst>
              <a:ext uri="{FF2B5EF4-FFF2-40B4-BE49-F238E27FC236}">
                <a16:creationId xmlns:a16="http://schemas.microsoft.com/office/drawing/2014/main" id="{F5209047-A27B-1945-BB15-7362421DE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1981200"/>
            <a:ext cx="6096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set</a:t>
            </a:r>
          </a:p>
        </p:txBody>
      </p:sp>
      <p:sp>
        <p:nvSpPr>
          <p:cNvPr id="128005" name="Rectangle 6">
            <a:extLst>
              <a:ext uri="{FF2B5EF4-FFF2-40B4-BE49-F238E27FC236}">
                <a16:creationId xmlns:a16="http://schemas.microsoft.com/office/drawing/2014/main" id="{BFC4A358-D9C9-6E4B-A901-56EBA1187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2590800"/>
            <a:ext cx="2286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+1</a:t>
            </a:r>
          </a:p>
        </p:txBody>
      </p:sp>
      <p:sp>
        <p:nvSpPr>
          <p:cNvPr id="128006" name="Freeform 7">
            <a:extLst>
              <a:ext uri="{FF2B5EF4-FFF2-40B4-BE49-F238E27FC236}">
                <a16:creationId xmlns:a16="http://schemas.microsoft.com/office/drawing/2014/main" id="{114E9B8E-0531-5B4D-B1F9-1D335FBA54B0}"/>
              </a:ext>
            </a:extLst>
          </p:cNvPr>
          <p:cNvSpPr>
            <a:spLocks/>
          </p:cNvSpPr>
          <p:nvPr/>
        </p:nvSpPr>
        <p:spPr bwMode="auto">
          <a:xfrm>
            <a:off x="3505200" y="3200400"/>
            <a:ext cx="381000" cy="152400"/>
          </a:xfrm>
          <a:custGeom>
            <a:avLst/>
            <a:gdLst>
              <a:gd name="T0" fmla="*/ 0 w 240"/>
              <a:gd name="T1" fmla="*/ 0 h 96"/>
              <a:gd name="T2" fmla="*/ 2147483646 w 240"/>
              <a:gd name="T3" fmla="*/ 2147483646 h 96"/>
              <a:gd name="T4" fmla="*/ 2147483646 w 240"/>
              <a:gd name="T5" fmla="*/ 2147483646 h 96"/>
              <a:gd name="T6" fmla="*/ 2147483646 w 240"/>
              <a:gd name="T7" fmla="*/ 0 h 96"/>
              <a:gd name="T8" fmla="*/ 0 w 240"/>
              <a:gd name="T9" fmla="*/ 0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96">
                <a:moveTo>
                  <a:pt x="0" y="0"/>
                </a:moveTo>
                <a:lnTo>
                  <a:pt x="48" y="96"/>
                </a:lnTo>
                <a:lnTo>
                  <a:pt x="192" y="96"/>
                </a:lnTo>
                <a:lnTo>
                  <a:pt x="24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en-US"/>
          </a:p>
        </p:txBody>
      </p:sp>
      <p:sp>
        <p:nvSpPr>
          <p:cNvPr id="128007" name="Text Box 8">
            <a:extLst>
              <a:ext uri="{FF2B5EF4-FFF2-40B4-BE49-F238E27FC236}">
                <a16:creationId xmlns:a16="http://schemas.microsoft.com/office/drawing/2014/main" id="{8824A3B4-36BB-F04B-8816-6881B5497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1981200"/>
            <a:ext cx="3619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PC</a:t>
            </a:r>
          </a:p>
        </p:txBody>
      </p:sp>
      <p:sp>
        <p:nvSpPr>
          <p:cNvPr id="128008" name="Freeform 9">
            <a:extLst>
              <a:ext uri="{FF2B5EF4-FFF2-40B4-BE49-F238E27FC236}">
                <a16:creationId xmlns:a16="http://schemas.microsoft.com/office/drawing/2014/main" id="{8E1B46BE-3A5E-714A-B604-A75B5F8B14F2}"/>
              </a:ext>
            </a:extLst>
          </p:cNvPr>
          <p:cNvSpPr>
            <a:spLocks/>
          </p:cNvSpPr>
          <p:nvPr/>
        </p:nvSpPr>
        <p:spPr bwMode="auto">
          <a:xfrm>
            <a:off x="4876800" y="3200400"/>
            <a:ext cx="381000" cy="152400"/>
          </a:xfrm>
          <a:custGeom>
            <a:avLst/>
            <a:gdLst>
              <a:gd name="T0" fmla="*/ 0 w 240"/>
              <a:gd name="T1" fmla="*/ 0 h 96"/>
              <a:gd name="T2" fmla="*/ 2147483646 w 240"/>
              <a:gd name="T3" fmla="*/ 2147483646 h 96"/>
              <a:gd name="T4" fmla="*/ 2147483646 w 240"/>
              <a:gd name="T5" fmla="*/ 2147483646 h 96"/>
              <a:gd name="T6" fmla="*/ 2147483646 w 240"/>
              <a:gd name="T7" fmla="*/ 0 h 96"/>
              <a:gd name="T8" fmla="*/ 0 w 240"/>
              <a:gd name="T9" fmla="*/ 0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96">
                <a:moveTo>
                  <a:pt x="0" y="0"/>
                </a:moveTo>
                <a:lnTo>
                  <a:pt x="48" y="96"/>
                </a:lnTo>
                <a:lnTo>
                  <a:pt x="192" y="96"/>
                </a:lnTo>
                <a:lnTo>
                  <a:pt x="24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en-US"/>
          </a:p>
        </p:txBody>
      </p:sp>
      <p:sp>
        <p:nvSpPr>
          <p:cNvPr id="128009" name="Rectangle 10">
            <a:extLst>
              <a:ext uri="{FF2B5EF4-FFF2-40B4-BE49-F238E27FC236}">
                <a16:creationId xmlns:a16="http://schemas.microsoft.com/office/drawing/2014/main" id="{DC6D4214-9A9E-544D-B26B-54D19F4BE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3581400"/>
            <a:ext cx="990600" cy="1143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Even Sets</a:t>
            </a:r>
          </a:p>
        </p:txBody>
      </p:sp>
      <p:sp>
        <p:nvSpPr>
          <p:cNvPr id="128010" name="Rectangle 11">
            <a:extLst>
              <a:ext uri="{FF2B5EF4-FFF2-40B4-BE49-F238E27FC236}">
                <a16:creationId xmlns:a16="http://schemas.microsoft.com/office/drawing/2014/main" id="{B3F59467-E6D7-984E-A0BB-DB8ECA36E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581400"/>
            <a:ext cx="990600" cy="1143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Odd Sets</a:t>
            </a:r>
          </a:p>
        </p:txBody>
      </p:sp>
      <p:sp>
        <p:nvSpPr>
          <p:cNvPr id="128011" name="Line 12">
            <a:extLst>
              <a:ext uri="{FF2B5EF4-FFF2-40B4-BE49-F238E27FC236}">
                <a16:creationId xmlns:a16="http://schemas.microsoft.com/office/drawing/2014/main" id="{60E05831-3CC1-1742-B8C8-83708DFB98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28194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2" name="Line 13">
            <a:extLst>
              <a:ext uri="{FF2B5EF4-FFF2-40B4-BE49-F238E27FC236}">
                <a16:creationId xmlns:a16="http://schemas.microsoft.com/office/drawing/2014/main" id="{85A2E6FF-8C8B-EF4C-B43F-B52825552F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3048000"/>
            <a:ext cx="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3" name="Line 14">
            <a:extLst>
              <a:ext uri="{FF2B5EF4-FFF2-40B4-BE49-F238E27FC236}">
                <a16:creationId xmlns:a16="http://schemas.microsoft.com/office/drawing/2014/main" id="{15DE2BC0-FF9B-CA4D-82C6-84EC50984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1400" y="2362200"/>
            <a:ext cx="0" cy="838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4" name="Line 15">
            <a:extLst>
              <a:ext uri="{FF2B5EF4-FFF2-40B4-BE49-F238E27FC236}">
                <a16:creationId xmlns:a16="http://schemas.microsoft.com/office/drawing/2014/main" id="{D5CAA0BA-03A6-9F4B-842B-0EB6000571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048000"/>
            <a:ext cx="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5" name="Line 16">
            <a:extLst>
              <a:ext uri="{FF2B5EF4-FFF2-40B4-BE49-F238E27FC236}">
                <a16:creationId xmlns:a16="http://schemas.microsoft.com/office/drawing/2014/main" id="{40326C63-FD6D-F443-AFE4-CBCC9D9F40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600" y="2362200"/>
            <a:ext cx="0" cy="838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6" name="Line 17">
            <a:extLst>
              <a:ext uri="{FF2B5EF4-FFF2-40B4-BE49-F238E27FC236}">
                <a16:creationId xmlns:a16="http://schemas.microsoft.com/office/drawing/2014/main" id="{2A39621A-5D18-D04F-BA22-098A95580EC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22098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7" name="Line 18">
            <a:extLst>
              <a:ext uri="{FF2B5EF4-FFF2-40B4-BE49-F238E27FC236}">
                <a16:creationId xmlns:a16="http://schemas.microsoft.com/office/drawing/2014/main" id="{85DE2B30-2BA3-A742-83EE-935F0348AC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1400" y="2362200"/>
            <a:ext cx="1600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8" name="Line 19">
            <a:extLst>
              <a:ext uri="{FF2B5EF4-FFF2-40B4-BE49-F238E27FC236}">
                <a16:creationId xmlns:a16="http://schemas.microsoft.com/office/drawing/2014/main" id="{E8BE6433-6FC1-6A43-85FA-3D85D075C0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3048000"/>
            <a:ext cx="1143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9" name="Line 20">
            <a:extLst>
              <a:ext uri="{FF2B5EF4-FFF2-40B4-BE49-F238E27FC236}">
                <a16:creationId xmlns:a16="http://schemas.microsoft.com/office/drawing/2014/main" id="{B5066B32-93AF-5246-96AF-7F55A41FD4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33528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0" name="Line 21">
            <a:extLst>
              <a:ext uri="{FF2B5EF4-FFF2-40B4-BE49-F238E27FC236}">
                <a16:creationId xmlns:a16="http://schemas.microsoft.com/office/drawing/2014/main" id="{786BE6B3-30D5-E740-83E4-F5E0FD91C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33528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1" name="Rectangle 22">
            <a:extLst>
              <a:ext uri="{FF2B5EF4-FFF2-40B4-BE49-F238E27FC236}">
                <a16:creationId xmlns:a16="http://schemas.microsoft.com/office/drawing/2014/main" id="{44B1A1B2-2F67-7948-BFED-BA1E4CE1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953000"/>
            <a:ext cx="23622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8 instructions</a:t>
            </a:r>
          </a:p>
        </p:txBody>
      </p:sp>
      <p:sp>
        <p:nvSpPr>
          <p:cNvPr id="128022" name="Line 23">
            <a:extLst>
              <a:ext uri="{FF2B5EF4-FFF2-40B4-BE49-F238E27FC236}">
                <a16:creationId xmlns:a16="http://schemas.microsoft.com/office/drawing/2014/main" id="{338849B0-FC08-DD43-BAE6-940477F75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47244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3" name="Line 24">
            <a:extLst>
              <a:ext uri="{FF2B5EF4-FFF2-40B4-BE49-F238E27FC236}">
                <a16:creationId xmlns:a16="http://schemas.microsoft.com/office/drawing/2014/main" id="{86AE59E7-A4B9-D443-AD8E-22BBD94284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47244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4" name="Freeform 25">
            <a:extLst>
              <a:ext uri="{FF2B5EF4-FFF2-40B4-BE49-F238E27FC236}">
                <a16:creationId xmlns:a16="http://schemas.microsoft.com/office/drawing/2014/main" id="{D788F59D-5BC6-5F41-B23A-D22BE0C2106B}"/>
              </a:ext>
            </a:extLst>
          </p:cNvPr>
          <p:cNvSpPr>
            <a:spLocks/>
          </p:cNvSpPr>
          <p:nvPr/>
        </p:nvSpPr>
        <p:spPr bwMode="auto">
          <a:xfrm>
            <a:off x="3200400" y="5410200"/>
            <a:ext cx="2362200" cy="228600"/>
          </a:xfrm>
          <a:custGeom>
            <a:avLst/>
            <a:gdLst>
              <a:gd name="T0" fmla="*/ 0 w 240"/>
              <a:gd name="T1" fmla="*/ 0 h 96"/>
              <a:gd name="T2" fmla="*/ 2147483646 w 240"/>
              <a:gd name="T3" fmla="*/ 2147483646 h 96"/>
              <a:gd name="T4" fmla="*/ 2147483646 w 240"/>
              <a:gd name="T5" fmla="*/ 2147483646 h 96"/>
              <a:gd name="T6" fmla="*/ 2147483646 w 240"/>
              <a:gd name="T7" fmla="*/ 0 h 96"/>
              <a:gd name="T8" fmla="*/ 0 w 240"/>
              <a:gd name="T9" fmla="*/ 0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96">
                <a:moveTo>
                  <a:pt x="0" y="0"/>
                </a:moveTo>
                <a:lnTo>
                  <a:pt x="48" y="96"/>
                </a:lnTo>
                <a:lnTo>
                  <a:pt x="192" y="96"/>
                </a:lnTo>
                <a:lnTo>
                  <a:pt x="24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en-US"/>
          </a:p>
        </p:txBody>
      </p:sp>
      <p:sp>
        <p:nvSpPr>
          <p:cNvPr id="128025" name="Text Box 26">
            <a:extLst>
              <a:ext uri="{FF2B5EF4-FFF2-40B4-BE49-F238E27FC236}">
                <a16:creationId xmlns:a16="http://schemas.microsoft.com/office/drawing/2014/main" id="{D6AD5708-A295-EA40-B57C-92573CC2E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5410200"/>
            <a:ext cx="11223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align/switch mux</a:t>
            </a:r>
          </a:p>
        </p:txBody>
      </p:sp>
      <p:sp>
        <p:nvSpPr>
          <p:cNvPr id="128026" name="Rectangle 27">
            <a:extLst>
              <a:ext uri="{FF2B5EF4-FFF2-40B4-BE49-F238E27FC236}">
                <a16:creationId xmlns:a16="http://schemas.microsoft.com/office/drawing/2014/main" id="{61DD9CC4-6C83-3744-AB9D-DBF020B33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867400"/>
            <a:ext cx="990600" cy="2286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4 instructions</a:t>
            </a:r>
          </a:p>
        </p:txBody>
      </p:sp>
      <p:sp>
        <p:nvSpPr>
          <p:cNvPr id="128027" name="Line 28">
            <a:extLst>
              <a:ext uri="{FF2B5EF4-FFF2-40B4-BE49-F238E27FC236}">
                <a16:creationId xmlns:a16="http://schemas.microsoft.com/office/drawing/2014/main" id="{F031DE0B-3D78-CF47-BE80-23AF481F913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51816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8" name="Line 29">
            <a:extLst>
              <a:ext uri="{FF2B5EF4-FFF2-40B4-BE49-F238E27FC236}">
                <a16:creationId xmlns:a16="http://schemas.microsoft.com/office/drawing/2014/main" id="{D23DC6F2-B373-CF4E-B48E-2031445EE4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5638800"/>
            <a:ext cx="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9" name="Text Box 31">
            <a:extLst>
              <a:ext uri="{FF2B5EF4-FFF2-40B4-BE49-F238E27FC236}">
                <a16:creationId xmlns:a16="http://schemas.microsoft.com/office/drawing/2014/main" id="{DD931F5B-1015-5E4B-94CB-9E8016B42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3886200"/>
            <a:ext cx="2039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Total cache size hasn</a:t>
            </a:r>
            <a:r>
              <a:rPr lang="ja-JP" altLang="en-US" sz="1000"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t changed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(1 bank = ½ cache)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2">
            <a:extLst>
              <a:ext uri="{FF2B5EF4-FFF2-40B4-BE49-F238E27FC236}">
                <a16:creationId xmlns:a16="http://schemas.microsoft.com/office/drawing/2014/main" id="{AB19405C-B22F-3D4D-B9D4-EDB467B149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Dispatch and Renaming</a:t>
            </a:r>
          </a:p>
        </p:txBody>
      </p:sp>
      <p:sp>
        <p:nvSpPr>
          <p:cNvPr id="129026" name="Rectangle 3">
            <a:extLst>
              <a:ext uri="{FF2B5EF4-FFF2-40B4-BE49-F238E27FC236}">
                <a16:creationId xmlns:a16="http://schemas.microsoft.com/office/drawing/2014/main" id="{181CA4DC-6F60-F94B-BC2A-1DF06D80C64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Dependence checking must be done across instructions that are dispatched in the same cycle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Illustration [Palacharla95]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Checking dependences between N instructions: O(N^2)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  <p:pic>
        <p:nvPicPr>
          <p:cNvPr id="129027" name="Picture 1">
            <a:extLst>
              <a:ext uri="{FF2B5EF4-FFF2-40B4-BE49-F238E27FC236}">
                <a16:creationId xmlns:a16="http://schemas.microsoft.com/office/drawing/2014/main" id="{7AAB19B0-00E3-4A4C-9F5C-1FCD4777F0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2971800"/>
            <a:ext cx="4343400" cy="2312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Rectangle 2">
            <a:extLst>
              <a:ext uri="{FF2B5EF4-FFF2-40B4-BE49-F238E27FC236}">
                <a16:creationId xmlns:a16="http://schemas.microsoft.com/office/drawing/2014/main" id="{89B99F68-CF86-F742-9880-BB13DCD5EB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Issue</a:t>
            </a:r>
          </a:p>
        </p:txBody>
      </p:sp>
      <p:sp>
        <p:nvSpPr>
          <p:cNvPr id="130050" name="Rectangle 3">
            <a:extLst>
              <a:ext uri="{FF2B5EF4-FFF2-40B4-BE49-F238E27FC236}">
                <a16:creationId xmlns:a16="http://schemas.microsoft.com/office/drawing/2014/main" id="{07123E9A-116D-204B-B3E8-8CC4EBA0E8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Issue Logic</a:t>
            </a:r>
          </a:p>
        </p:txBody>
      </p:sp>
      <p:pic>
        <p:nvPicPr>
          <p:cNvPr id="130051" name="Picture 8">
            <a:extLst>
              <a:ext uri="{FF2B5EF4-FFF2-40B4-BE49-F238E27FC236}">
                <a16:creationId xmlns:a16="http://schemas.microsoft.com/office/drawing/2014/main" id="{09C62F50-6BF5-1B4A-8B38-8AE1EA165A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6888" y="2057400"/>
            <a:ext cx="3363912" cy="402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Rectangle 2">
            <a:extLst>
              <a:ext uri="{FF2B5EF4-FFF2-40B4-BE49-F238E27FC236}">
                <a16:creationId xmlns:a16="http://schemas.microsoft.com/office/drawing/2014/main" id="{52B9E56D-4563-AA4A-865C-8F27987E28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Issue</a:t>
            </a:r>
          </a:p>
        </p:txBody>
      </p:sp>
      <p:sp>
        <p:nvSpPr>
          <p:cNvPr id="131074" name="Rectangle 3">
            <a:extLst>
              <a:ext uri="{FF2B5EF4-FFF2-40B4-BE49-F238E27FC236}">
                <a16:creationId xmlns:a16="http://schemas.microsoft.com/office/drawing/2014/main" id="{303083F5-FAF6-9D4C-829A-8BC60C3D30C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Wakeup logic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Figures’ source: Palacharla98, Smith&amp;Sohi95</a:t>
            </a:r>
          </a:p>
        </p:txBody>
      </p:sp>
      <p:pic>
        <p:nvPicPr>
          <p:cNvPr id="131075" name="Picture 5">
            <a:extLst>
              <a:ext uri="{FF2B5EF4-FFF2-40B4-BE49-F238E27FC236}">
                <a16:creationId xmlns:a16="http://schemas.microsoft.com/office/drawing/2014/main" id="{E0D1AF14-5969-C14C-AE98-8EE76BEB8C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2819400"/>
            <a:ext cx="3851275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076" name="Picture 7">
            <a:extLst>
              <a:ext uri="{FF2B5EF4-FFF2-40B4-BE49-F238E27FC236}">
                <a16:creationId xmlns:a16="http://schemas.microsoft.com/office/drawing/2014/main" id="{9866EB16-44D0-3644-BAC8-BA4C14BA1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3048000"/>
            <a:ext cx="3352800" cy="291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Title 1">
            <a:extLst>
              <a:ext uri="{FF2B5EF4-FFF2-40B4-BE49-F238E27FC236}">
                <a16:creationId xmlns:a16="http://schemas.microsoft.com/office/drawing/2014/main" id="{224215E5-2B14-B54F-94CF-EF9AA80826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Issue</a:t>
            </a:r>
          </a:p>
        </p:txBody>
      </p:sp>
      <p:sp>
        <p:nvSpPr>
          <p:cNvPr id="132098" name="Content Placeholder 2">
            <a:extLst>
              <a:ext uri="{FF2B5EF4-FFF2-40B4-BE49-F238E27FC236}">
                <a16:creationId xmlns:a16="http://schemas.microsoft.com/office/drawing/2014/main" id="{A78836F8-750C-434D-A053-D3B05F5FDFF0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Select logic</a:t>
            </a:r>
          </a:p>
        </p:txBody>
      </p:sp>
      <p:pic>
        <p:nvPicPr>
          <p:cNvPr id="132099" name="Picture 5">
            <a:extLst>
              <a:ext uri="{FF2B5EF4-FFF2-40B4-BE49-F238E27FC236}">
                <a16:creationId xmlns:a16="http://schemas.microsoft.com/office/drawing/2014/main" id="{4B1A7156-4B8F-0845-8D8D-02A77DC11E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981200"/>
            <a:ext cx="3810000" cy="310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100" name="Picture 6">
            <a:extLst>
              <a:ext uri="{FF2B5EF4-FFF2-40B4-BE49-F238E27FC236}">
                <a16:creationId xmlns:a16="http://schemas.microsoft.com/office/drawing/2014/main" id="{06F2A144-6AEF-B244-B4C2-2A01AC0244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600" y="2057400"/>
            <a:ext cx="3352800" cy="299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2">
            <a:extLst>
              <a:ext uri="{FF2B5EF4-FFF2-40B4-BE49-F238E27FC236}">
                <a16:creationId xmlns:a16="http://schemas.microsoft.com/office/drawing/2014/main" id="{4AE49E9E-FE8C-4C48-95A3-3DC39F9488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Execute</a:t>
            </a:r>
          </a:p>
        </p:txBody>
      </p:sp>
      <p:sp>
        <p:nvSpPr>
          <p:cNvPr id="133122" name="Rectangle 3">
            <a:extLst>
              <a:ext uri="{FF2B5EF4-FFF2-40B4-BE49-F238E27FC236}">
                <a16:creationId xmlns:a16="http://schemas.microsoft.com/office/drawing/2014/main" id="{3A83C3C2-639A-6648-9E7F-0C919EFA6DE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Multiple functional units are needed, more units increase the bypass network complexity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Alternative: pipeline the functional unit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  <p:pic>
        <p:nvPicPr>
          <p:cNvPr id="133123" name="Picture 2">
            <a:extLst>
              <a:ext uri="{FF2B5EF4-FFF2-40B4-BE49-F238E27FC236}">
                <a16:creationId xmlns:a16="http://schemas.microsoft.com/office/drawing/2014/main" id="{5EFD0AC9-7D2F-8B42-9753-1BBA234C37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2743200"/>
            <a:ext cx="3581400" cy="343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24" name="Picture 4">
            <a:extLst>
              <a:ext uri="{FF2B5EF4-FFF2-40B4-BE49-F238E27FC236}">
                <a16:creationId xmlns:a16="http://schemas.microsoft.com/office/drawing/2014/main" id="{4FF6D9EB-AA80-2246-8049-FB843FE037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8800" y="3429000"/>
            <a:ext cx="3048000" cy="1249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Rectangle 2">
            <a:extLst>
              <a:ext uri="{FF2B5EF4-FFF2-40B4-BE49-F238E27FC236}">
                <a16:creationId xmlns:a16="http://schemas.microsoft.com/office/drawing/2014/main" id="{074FAF8B-5CB3-F745-A1A4-95AF5650BE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Retirement of Load vs. Store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B8D23B7C-ACE7-864B-82DE-D8EB520CFE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Recall Memory dependences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Store Queue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Load Queue</a:t>
            </a:r>
          </a:p>
        </p:txBody>
      </p:sp>
      <p:pic>
        <p:nvPicPr>
          <p:cNvPr id="134147" name="Picture 1">
            <a:extLst>
              <a:ext uri="{FF2B5EF4-FFF2-40B4-BE49-F238E27FC236}">
                <a16:creationId xmlns:a16="http://schemas.microsoft.com/office/drawing/2014/main" id="{609A71D9-FDE7-E941-9200-FD6C25C964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743200"/>
            <a:ext cx="5440363" cy="284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Title 1">
            <a:extLst>
              <a:ext uri="{FF2B5EF4-FFF2-40B4-BE49-F238E27FC236}">
                <a16:creationId xmlns:a16="http://schemas.microsoft.com/office/drawing/2014/main" id="{F441268D-0036-3247-96D7-BB1D173D30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Conclusions</a:t>
            </a:r>
          </a:p>
        </p:txBody>
      </p:sp>
      <p:sp>
        <p:nvSpPr>
          <p:cNvPr id="149506" name="Content Placeholder 2">
            <a:extLst>
              <a:ext uri="{FF2B5EF4-FFF2-40B4-BE49-F238E27FC236}">
                <a16:creationId xmlns:a16="http://schemas.microsoft.com/office/drawing/2014/main" id="{9663F1C1-D51B-6641-9CBC-78FF9211BC5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Superscalar width increases the complexity of most OOO structures at least quadratically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Title 1">
            <a:extLst>
              <a:ext uri="{FF2B5EF4-FFF2-40B4-BE49-F238E27FC236}">
                <a16:creationId xmlns:a16="http://schemas.microsoft.com/office/drawing/2014/main" id="{CBAAF19F-F43E-964F-94EA-A91C26EA4F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en-US">
                <a:ea typeface="ＭＳ Ｐゴシック" panose="020B0600070205080204" pitchFamily="34" charset="-128"/>
              </a:rPr>
              <a:t>Module 6.6: ILP 6 - Compilation for Superscalar Execution</a:t>
            </a:r>
          </a:p>
        </p:txBody>
      </p:sp>
      <p:sp>
        <p:nvSpPr>
          <p:cNvPr id="135170" name="Text Placeholder 2">
            <a:extLst>
              <a:ext uri="{FF2B5EF4-FFF2-40B4-BE49-F238E27FC236}">
                <a16:creationId xmlns:a16="http://schemas.microsoft.com/office/drawing/2014/main" id="{A6DD7102-5EF6-F441-A922-BD511999A39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Title 1">
            <a:extLst>
              <a:ext uri="{FF2B5EF4-FFF2-40B4-BE49-F238E27FC236}">
                <a16:creationId xmlns:a16="http://schemas.microsoft.com/office/drawing/2014/main" id="{454EF915-920D-444A-AD66-89A3CB2848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 and Outline</a:t>
            </a:r>
          </a:p>
        </p:txBody>
      </p:sp>
      <p:sp>
        <p:nvSpPr>
          <p:cNvPr id="136194" name="Content Placeholder 2">
            <a:extLst>
              <a:ext uri="{FF2B5EF4-FFF2-40B4-BE49-F238E27FC236}">
                <a16:creationId xmlns:a16="http://schemas.microsoft.com/office/drawing/2014/main" id="{54A72BB4-49DC-3D4C-A047-9D808295B71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Objectives: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static vs. dynamic instruction scheduling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local and global scheduling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Understand various optimizations that help ILP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Outline: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Differences between static and dynamic scheduling and how they interact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Local vs. global scheduling</a:t>
            </a:r>
          </a:p>
          <a:p>
            <a:pPr lvl="1"/>
            <a:r>
              <a:rPr lang="en-US" altLang="en-US">
                <a:ea typeface="ＭＳ Ｐゴシック" panose="020B0600070205080204" pitchFamily="34" charset="-128"/>
              </a:rPr>
              <a:t>Loop unrolling, software pipelining, trace scheduling, and predication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2">
            <a:extLst>
              <a:ext uri="{FF2B5EF4-FFF2-40B4-BE49-F238E27FC236}">
                <a16:creationId xmlns:a16="http://schemas.microsoft.com/office/drawing/2014/main" id="{03FB29EB-73AF-2341-9176-10878A9B06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Static Scheduling</a:t>
            </a:r>
          </a:p>
        </p:txBody>
      </p:sp>
      <p:sp>
        <p:nvSpPr>
          <p:cNvPr id="137218" name="Rectangle 3">
            <a:extLst>
              <a:ext uri="{FF2B5EF4-FFF2-40B4-BE49-F238E27FC236}">
                <a16:creationId xmlns:a16="http://schemas.microsoft.com/office/drawing/2014/main" id="{47CAFD02-EE63-7C4E-A296-DEDEE5BC281D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altLang="en-US">
                <a:ea typeface="ＭＳ Ｐゴシック" panose="020B0600070205080204" pitchFamily="34" charset="-128"/>
              </a:rPr>
              <a:t>Have compiler re-order code to improve performance</a:t>
            </a:r>
          </a:p>
          <a:p>
            <a:pPr>
              <a:lnSpc>
                <a:spcPct val="80000"/>
              </a:lnSpc>
            </a:pPr>
            <a:r>
              <a:rPr lang="en-US" altLang="en-US">
                <a:ea typeface="ＭＳ Ｐゴシック" panose="020B0600070205080204" pitchFamily="34" charset="-128"/>
              </a:rPr>
              <a:t>Concepts covered</a:t>
            </a:r>
          </a:p>
          <a:p>
            <a:pPr lvl="1">
              <a:lnSpc>
                <a:spcPct val="80000"/>
              </a:lnSpc>
            </a:pPr>
            <a:r>
              <a:rPr lang="en-US" altLang="en-US"/>
              <a:t>A comparison of static and dynamic scheduling 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Each has advantages/disadvantages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Bottom line: find good combination of the two</a:t>
            </a:r>
          </a:p>
          <a:p>
            <a:pPr lvl="1">
              <a:lnSpc>
                <a:spcPct val="80000"/>
              </a:lnSpc>
            </a:pPr>
            <a:r>
              <a:rPr lang="en-US" altLang="en-US"/>
              <a:t>Support for high-performance static scheduling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Register pressure: large architectural register file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Branches: compile-time region formation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Ambiguous memory dependences: speculative loads</a:t>
            </a:r>
          </a:p>
          <a:p>
            <a:pPr lvl="1">
              <a:lnSpc>
                <a:spcPct val="80000"/>
              </a:lnSpc>
            </a:pPr>
            <a:r>
              <a:rPr lang="en-US" altLang="en-US"/>
              <a:t>Static scheduling techniques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Local scheduling (within a basic block)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Loop unrolling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Software pipelining (modulo scheduling)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Trace scheduling</a:t>
            </a:r>
          </a:p>
          <a:p>
            <a:pPr lvl="2">
              <a:lnSpc>
                <a:spcPct val="80000"/>
              </a:lnSpc>
            </a:pPr>
            <a:r>
              <a:rPr lang="en-US" altLang="en-US"/>
              <a:t>Predication</a:t>
            </a:r>
          </a:p>
          <a:p>
            <a:pPr lvl="1">
              <a:lnSpc>
                <a:spcPct val="80000"/>
              </a:lnSpc>
            </a:pPr>
            <a:endParaRPr lang="en-US" altLang="en-US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Rectangle 2">
            <a:extLst>
              <a:ext uri="{FF2B5EF4-FFF2-40B4-BE49-F238E27FC236}">
                <a16:creationId xmlns:a16="http://schemas.microsoft.com/office/drawing/2014/main" id="{59665EEE-1FEE-394C-9E00-9222AF95B2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Static / Dynamic Scheduling</a:t>
            </a:r>
          </a:p>
        </p:txBody>
      </p:sp>
      <p:sp>
        <p:nvSpPr>
          <p:cNvPr id="124930" name="Rectangle 3">
            <a:extLst>
              <a:ext uri="{FF2B5EF4-FFF2-40B4-BE49-F238E27FC236}">
                <a16:creationId xmlns:a16="http://schemas.microsoft.com/office/drawing/2014/main" id="{F100D2E9-C913-A245-84DF-5F67A97E6FEB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Dynamic</a:t>
            </a:r>
          </a:p>
          <a:p>
            <a:pPr>
              <a:defRPr/>
            </a:pPr>
            <a:endParaRPr lang="en-US" altLang="en-US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  <a:defRPr/>
            </a:pPr>
            <a:endParaRPr lang="en-US" altLang="en-US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>
              <a:defRPr/>
            </a:pPr>
            <a:endParaRPr lang="en-US" altLang="en-US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>
              <a:defRPr/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Static</a:t>
            </a:r>
          </a:p>
        </p:txBody>
      </p:sp>
      <p:sp>
        <p:nvSpPr>
          <p:cNvPr id="138243" name="Text Box 4">
            <a:extLst>
              <a:ext uri="{FF2B5EF4-FFF2-40B4-BE49-F238E27FC236}">
                <a16:creationId xmlns:a16="http://schemas.microsoft.com/office/drawing/2014/main" id="{308313D7-1D7E-C14C-B3D3-EB20047F2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286000"/>
            <a:ext cx="17430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moderately scheduled code</a:t>
            </a:r>
          </a:p>
        </p:txBody>
      </p:sp>
      <p:sp>
        <p:nvSpPr>
          <p:cNvPr id="138244" name="Rectangle 5">
            <a:extLst>
              <a:ext uri="{FF2B5EF4-FFF2-40B4-BE49-F238E27FC236}">
                <a16:creationId xmlns:a16="http://schemas.microsoft.com/office/drawing/2014/main" id="{8FCE3C89-F27E-124A-A380-6EDB409AC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20574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45" name="Rectangle 6">
            <a:extLst>
              <a:ext uri="{FF2B5EF4-FFF2-40B4-BE49-F238E27FC236}">
                <a16:creationId xmlns:a16="http://schemas.microsoft.com/office/drawing/2014/main" id="{AAF4C86A-42EA-3D45-9322-302996B9B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057400"/>
            <a:ext cx="990600" cy="8382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dynamically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re-order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instructions</a:t>
            </a:r>
          </a:p>
        </p:txBody>
      </p:sp>
      <p:sp>
        <p:nvSpPr>
          <p:cNvPr id="138246" name="Rectangle 7">
            <a:extLst>
              <a:ext uri="{FF2B5EF4-FFF2-40B4-BE49-F238E27FC236}">
                <a16:creationId xmlns:a16="http://schemas.microsoft.com/office/drawing/2014/main" id="{67E90974-B743-C049-95DE-751F2F4A2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648200"/>
            <a:ext cx="990600" cy="8382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statically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re-order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instructions</a:t>
            </a:r>
          </a:p>
        </p:txBody>
      </p:sp>
      <p:sp>
        <p:nvSpPr>
          <p:cNvPr id="138247" name="Line 8">
            <a:extLst>
              <a:ext uri="{FF2B5EF4-FFF2-40B4-BE49-F238E27FC236}">
                <a16:creationId xmlns:a16="http://schemas.microsoft.com/office/drawing/2014/main" id="{85F0AF05-DFE8-5543-BDCF-B66C69F21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1336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48" name="Line 9">
            <a:extLst>
              <a:ext uri="{FF2B5EF4-FFF2-40B4-BE49-F238E27FC236}">
                <a16:creationId xmlns:a16="http://schemas.microsoft.com/office/drawing/2014/main" id="{CC2F6679-8B98-4D49-97E5-1438C2A386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3622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49" name="Line 10">
            <a:extLst>
              <a:ext uri="{FF2B5EF4-FFF2-40B4-BE49-F238E27FC236}">
                <a16:creationId xmlns:a16="http://schemas.microsoft.com/office/drawing/2014/main" id="{A6C7E31A-3FF6-1742-9E03-88FD54A82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5908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0" name="Line 11">
            <a:extLst>
              <a:ext uri="{FF2B5EF4-FFF2-40B4-BE49-F238E27FC236}">
                <a16:creationId xmlns:a16="http://schemas.microsoft.com/office/drawing/2014/main" id="{AEF7A13B-8E60-6B4F-BD51-F0D6FF888AE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8194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1" name="Rectangle 12">
            <a:extLst>
              <a:ext uri="{FF2B5EF4-FFF2-40B4-BE49-F238E27FC236}">
                <a16:creationId xmlns:a16="http://schemas.microsoft.com/office/drawing/2014/main" id="{5EC07FF5-BBF6-F045-B68E-D276E8369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22860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52" name="Rectangle 13">
            <a:extLst>
              <a:ext uri="{FF2B5EF4-FFF2-40B4-BE49-F238E27FC236}">
                <a16:creationId xmlns:a16="http://schemas.microsoft.com/office/drawing/2014/main" id="{B05E4ECA-1410-3C44-A1D2-B9612EA5C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25146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53" name="Rectangle 14">
            <a:extLst>
              <a:ext uri="{FF2B5EF4-FFF2-40B4-BE49-F238E27FC236}">
                <a16:creationId xmlns:a16="http://schemas.microsoft.com/office/drawing/2014/main" id="{B27F6EF9-07BE-E044-9569-9E4FDDB68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27432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54" name="Line 15">
            <a:extLst>
              <a:ext uri="{FF2B5EF4-FFF2-40B4-BE49-F238E27FC236}">
                <a16:creationId xmlns:a16="http://schemas.microsoft.com/office/drawing/2014/main" id="{3719A5DC-1C9E-FB43-9246-F8462D3105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1524000"/>
            <a:ext cx="0" cy="18288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5" name="Line 16">
            <a:extLst>
              <a:ext uri="{FF2B5EF4-FFF2-40B4-BE49-F238E27FC236}">
                <a16:creationId xmlns:a16="http://schemas.microsoft.com/office/drawing/2014/main" id="{7CB123AA-9CAC-8D49-BA30-E6AD68DEF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2438400"/>
            <a:ext cx="609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6" name="Line 17">
            <a:extLst>
              <a:ext uri="{FF2B5EF4-FFF2-40B4-BE49-F238E27FC236}">
                <a16:creationId xmlns:a16="http://schemas.microsoft.com/office/drawing/2014/main" id="{8C8469D8-BC87-1A4E-8D15-65DFDA5AA31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4114800"/>
            <a:ext cx="0" cy="18288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7" name="Text Box 18">
            <a:extLst>
              <a:ext uri="{FF2B5EF4-FFF2-40B4-BE49-F238E27FC236}">
                <a16:creationId xmlns:a16="http://schemas.microsoft.com/office/drawing/2014/main" id="{917B2D35-4445-E04E-A250-925574EA1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4876800"/>
            <a:ext cx="17430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moderately scheduled code</a:t>
            </a:r>
          </a:p>
        </p:txBody>
      </p:sp>
      <p:sp>
        <p:nvSpPr>
          <p:cNvPr id="138258" name="Rectangle 19">
            <a:extLst>
              <a:ext uri="{FF2B5EF4-FFF2-40B4-BE49-F238E27FC236}">
                <a16:creationId xmlns:a16="http://schemas.microsoft.com/office/drawing/2014/main" id="{CEE894D8-279B-C547-BED0-7164C0829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46482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59" name="Line 20">
            <a:extLst>
              <a:ext uri="{FF2B5EF4-FFF2-40B4-BE49-F238E27FC236}">
                <a16:creationId xmlns:a16="http://schemas.microsoft.com/office/drawing/2014/main" id="{1115B6AF-24D2-924B-B505-4B9D96D645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7244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60" name="Line 21">
            <a:extLst>
              <a:ext uri="{FF2B5EF4-FFF2-40B4-BE49-F238E27FC236}">
                <a16:creationId xmlns:a16="http://schemas.microsoft.com/office/drawing/2014/main" id="{66E7A451-2C4E-0144-8A2A-EBB595EC40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9530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61" name="Line 22">
            <a:extLst>
              <a:ext uri="{FF2B5EF4-FFF2-40B4-BE49-F238E27FC236}">
                <a16:creationId xmlns:a16="http://schemas.microsoft.com/office/drawing/2014/main" id="{2B35D378-E4E6-6D4A-8CDF-28CCFEF31F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51816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62" name="Line 23">
            <a:extLst>
              <a:ext uri="{FF2B5EF4-FFF2-40B4-BE49-F238E27FC236}">
                <a16:creationId xmlns:a16="http://schemas.microsoft.com/office/drawing/2014/main" id="{8ED4FA0B-E93A-3249-82B9-D79BB09CE6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54102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63" name="Rectangle 24">
            <a:extLst>
              <a:ext uri="{FF2B5EF4-FFF2-40B4-BE49-F238E27FC236}">
                <a16:creationId xmlns:a16="http://schemas.microsoft.com/office/drawing/2014/main" id="{BC17DA18-28EA-2949-A708-7FD3C5B21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48768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64" name="Rectangle 25">
            <a:extLst>
              <a:ext uri="{FF2B5EF4-FFF2-40B4-BE49-F238E27FC236}">
                <a16:creationId xmlns:a16="http://schemas.microsoft.com/office/drawing/2014/main" id="{8A2A9B24-86DB-E742-8FAB-011F4FF79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51054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65" name="Rectangle 26">
            <a:extLst>
              <a:ext uri="{FF2B5EF4-FFF2-40B4-BE49-F238E27FC236}">
                <a16:creationId xmlns:a16="http://schemas.microsoft.com/office/drawing/2014/main" id="{C3D6A10F-9AA7-C546-85E4-0371071D9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5334000"/>
            <a:ext cx="3048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</a:t>
            </a:r>
          </a:p>
        </p:txBody>
      </p:sp>
      <p:sp>
        <p:nvSpPr>
          <p:cNvPr id="138266" name="Line 27">
            <a:extLst>
              <a:ext uri="{FF2B5EF4-FFF2-40B4-BE49-F238E27FC236}">
                <a16:creationId xmlns:a16="http://schemas.microsoft.com/office/drawing/2014/main" id="{63BDABD5-5BC7-B448-90AD-F219404D4E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5029200"/>
            <a:ext cx="609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67" name="AutoShape 28">
            <a:extLst>
              <a:ext uri="{FF2B5EF4-FFF2-40B4-BE49-F238E27FC236}">
                <a16:creationId xmlns:a16="http://schemas.microsoft.com/office/drawing/2014/main" id="{53BF518E-AE8D-1B48-A10E-FE83833DCB89}"/>
              </a:ext>
            </a:extLst>
          </p:cNvPr>
          <p:cNvSpPr>
            <a:spLocks/>
          </p:cNvSpPr>
          <p:nvPr/>
        </p:nvSpPr>
        <p:spPr bwMode="auto">
          <a:xfrm rot="5400000">
            <a:off x="4419600" y="2362200"/>
            <a:ext cx="152400" cy="3352800"/>
          </a:xfrm>
          <a:prstGeom prst="leftBrace">
            <a:avLst>
              <a:gd name="adj1" fmla="val 183333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8268" name="AutoShape 29">
            <a:extLst>
              <a:ext uri="{FF2B5EF4-FFF2-40B4-BE49-F238E27FC236}">
                <a16:creationId xmlns:a16="http://schemas.microsoft.com/office/drawing/2014/main" id="{ED3B924E-B81B-0740-9AED-CE499B6418B3}"/>
              </a:ext>
            </a:extLst>
          </p:cNvPr>
          <p:cNvSpPr>
            <a:spLocks/>
          </p:cNvSpPr>
          <p:nvPr/>
        </p:nvSpPr>
        <p:spPr bwMode="auto">
          <a:xfrm rot="5400000">
            <a:off x="6629400" y="3733800"/>
            <a:ext cx="152400" cy="609600"/>
          </a:xfrm>
          <a:prstGeom prst="leftBrace">
            <a:avLst>
              <a:gd name="adj1" fmla="val 33333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8269" name="AutoShape 30">
            <a:extLst>
              <a:ext uri="{FF2B5EF4-FFF2-40B4-BE49-F238E27FC236}">
                <a16:creationId xmlns:a16="http://schemas.microsoft.com/office/drawing/2014/main" id="{F0C579B5-DF01-C147-AD99-0643481045A8}"/>
              </a:ext>
            </a:extLst>
          </p:cNvPr>
          <p:cNvSpPr>
            <a:spLocks/>
          </p:cNvSpPr>
          <p:nvPr/>
        </p:nvSpPr>
        <p:spPr bwMode="auto">
          <a:xfrm rot="5400000">
            <a:off x="3619500" y="723900"/>
            <a:ext cx="152400" cy="2057400"/>
          </a:xfrm>
          <a:prstGeom prst="leftBrace">
            <a:avLst>
              <a:gd name="adj1" fmla="val 112500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8270" name="AutoShape 31">
            <a:extLst>
              <a:ext uri="{FF2B5EF4-FFF2-40B4-BE49-F238E27FC236}">
                <a16:creationId xmlns:a16="http://schemas.microsoft.com/office/drawing/2014/main" id="{832BDF78-9996-E64F-8313-69833F3534B5}"/>
              </a:ext>
            </a:extLst>
          </p:cNvPr>
          <p:cNvSpPr>
            <a:spLocks/>
          </p:cNvSpPr>
          <p:nvPr/>
        </p:nvSpPr>
        <p:spPr bwMode="auto">
          <a:xfrm rot="5400000">
            <a:off x="5829300" y="723900"/>
            <a:ext cx="152400" cy="2057400"/>
          </a:xfrm>
          <a:prstGeom prst="leftBrace">
            <a:avLst>
              <a:gd name="adj1" fmla="val 112500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8271" name="Text Box 32">
            <a:extLst>
              <a:ext uri="{FF2B5EF4-FFF2-40B4-BE49-F238E27FC236}">
                <a16:creationId xmlns:a16="http://schemas.microsoft.com/office/drawing/2014/main" id="{B52B3A01-E815-CF4B-82B3-CB59059B2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3733800"/>
            <a:ext cx="6683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compiler</a:t>
            </a:r>
          </a:p>
        </p:txBody>
      </p:sp>
      <p:sp>
        <p:nvSpPr>
          <p:cNvPr id="138272" name="Text Box 33">
            <a:extLst>
              <a:ext uri="{FF2B5EF4-FFF2-40B4-BE49-F238E27FC236}">
                <a16:creationId xmlns:a16="http://schemas.microsoft.com/office/drawing/2014/main" id="{64CA5E3E-5AA7-3346-9636-14E2361ED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3733800"/>
            <a:ext cx="7175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hardware</a:t>
            </a:r>
          </a:p>
        </p:txBody>
      </p:sp>
      <p:sp>
        <p:nvSpPr>
          <p:cNvPr id="138273" name="Text Box 34">
            <a:extLst>
              <a:ext uri="{FF2B5EF4-FFF2-40B4-BE49-F238E27FC236}">
                <a16:creationId xmlns:a16="http://schemas.microsoft.com/office/drawing/2014/main" id="{1B4BFA68-3E00-D741-9435-1875503CCC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1447800"/>
            <a:ext cx="6683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compiler</a:t>
            </a:r>
          </a:p>
        </p:txBody>
      </p:sp>
      <p:sp>
        <p:nvSpPr>
          <p:cNvPr id="138274" name="Text Box 35">
            <a:extLst>
              <a:ext uri="{FF2B5EF4-FFF2-40B4-BE49-F238E27FC236}">
                <a16:creationId xmlns:a16="http://schemas.microsoft.com/office/drawing/2014/main" id="{43FE006C-0CE6-E14F-B8BB-CEA1EB3B9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1447800"/>
            <a:ext cx="7175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hardware</a:t>
            </a:r>
          </a:p>
        </p:txBody>
      </p:sp>
      <p:sp>
        <p:nvSpPr>
          <p:cNvPr id="138275" name="Text Box 36">
            <a:extLst>
              <a:ext uri="{FF2B5EF4-FFF2-40B4-BE49-F238E27FC236}">
                <a16:creationId xmlns:a16="http://schemas.microsoft.com/office/drawing/2014/main" id="{9C5BEEEB-F735-DC43-AF6C-AA89F70B0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657600"/>
            <a:ext cx="1001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VLIW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PROCESSOR</a:t>
            </a:r>
          </a:p>
        </p:txBody>
      </p:sp>
      <p:sp>
        <p:nvSpPr>
          <p:cNvPr id="138276" name="Text Box 37">
            <a:extLst>
              <a:ext uri="{FF2B5EF4-FFF2-40B4-BE49-F238E27FC236}">
                <a16:creationId xmlns:a16="http://schemas.microsoft.com/office/drawing/2014/main" id="{3856F0E5-7580-4544-A0E4-10783584CB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1295400"/>
            <a:ext cx="11366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SUPERSCALAR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PROCESSOR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Rectangle 2">
            <a:extLst>
              <a:ext uri="{FF2B5EF4-FFF2-40B4-BE49-F238E27FC236}">
                <a16:creationId xmlns:a16="http://schemas.microsoft.com/office/drawing/2014/main" id="{2C3010EA-3325-1D47-B920-467CE56FEE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Local scheduling</a:t>
            </a:r>
          </a:p>
        </p:txBody>
      </p:sp>
      <p:sp>
        <p:nvSpPr>
          <p:cNvPr id="139266" name="Rectangle 3">
            <a:extLst>
              <a:ext uri="{FF2B5EF4-FFF2-40B4-BE49-F238E27FC236}">
                <a16:creationId xmlns:a16="http://schemas.microsoft.com/office/drawing/2014/main" id="{9225DD9E-1A3E-9A4A-8D44-6C6FE19C5F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Local scheduling = basic block scheduling</a:t>
            </a:r>
          </a:p>
          <a:p>
            <a:pPr lvl="1"/>
            <a:r>
              <a:rPr lang="en-US" altLang="en-US"/>
              <a:t>(+) simple: no speculation (no region formation)</a:t>
            </a:r>
          </a:p>
          <a:p>
            <a:pPr lvl="1"/>
            <a:r>
              <a:rPr lang="en-US" altLang="en-US"/>
              <a:t>(-) limited parallelism (usually &lt; 2)</a:t>
            </a:r>
          </a:p>
          <a:p>
            <a:r>
              <a:rPr lang="en-US" altLang="en-US">
                <a:ea typeface="ＭＳ Ｐゴシック" panose="020B0600070205080204" pitchFamily="34" charset="-128"/>
              </a:rPr>
              <a:t>Example</a:t>
            </a:r>
          </a:p>
        </p:txBody>
      </p:sp>
      <p:sp>
        <p:nvSpPr>
          <p:cNvPr id="139267" name="Text Box 4">
            <a:extLst>
              <a:ext uri="{FF2B5EF4-FFF2-40B4-BE49-F238E27FC236}">
                <a16:creationId xmlns:a16="http://schemas.microsoft.com/office/drawing/2014/main" id="{0BAD956D-384E-0F49-860A-FC2A4D49C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3657600"/>
            <a:ext cx="205740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39268" name="Text Box 5">
            <a:extLst>
              <a:ext uri="{FF2B5EF4-FFF2-40B4-BE49-F238E27FC236}">
                <a16:creationId xmlns:a16="http://schemas.microsoft.com/office/drawing/2014/main" id="{612D48EA-F304-924D-890F-295787F7D5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3657600"/>
            <a:ext cx="2209800" cy="1169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-8(R1)     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39269" name="Text Box 6">
            <a:extLst>
              <a:ext uri="{FF2B5EF4-FFF2-40B4-BE49-F238E27FC236}">
                <a16:creationId xmlns:a16="http://schemas.microsoft.com/office/drawing/2014/main" id="{C7AF5C37-5FDC-4C4E-815E-F57B96F8FF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657600"/>
            <a:ext cx="21336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	(stall)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-8(R1)            </a:t>
            </a:r>
          </a:p>
        </p:txBody>
      </p:sp>
      <p:sp>
        <p:nvSpPr>
          <p:cNvPr id="139270" name="Text Box 7">
            <a:extLst>
              <a:ext uri="{FF2B5EF4-FFF2-40B4-BE49-F238E27FC236}">
                <a16:creationId xmlns:a16="http://schemas.microsoft.com/office/drawing/2014/main" id="{546A40AE-41B8-6341-B186-AF958D822F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4600" y="4800600"/>
            <a:ext cx="19065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Assumes delayed branch</a:t>
            </a:r>
          </a:p>
        </p:txBody>
      </p:sp>
      <p:sp>
        <p:nvSpPr>
          <p:cNvPr id="139271" name="AutoShape 8">
            <a:extLst>
              <a:ext uri="{FF2B5EF4-FFF2-40B4-BE49-F238E27FC236}">
                <a16:creationId xmlns:a16="http://schemas.microsoft.com/office/drawing/2014/main" id="{522E0C74-D3A4-434D-AE89-47099ACD8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953000"/>
            <a:ext cx="228600" cy="533400"/>
          </a:xfrm>
          <a:prstGeom prst="upArrow">
            <a:avLst>
              <a:gd name="adj1" fmla="val 50000"/>
              <a:gd name="adj2" fmla="val 58333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</p:txBody>
      </p:sp>
      <p:sp>
        <p:nvSpPr>
          <p:cNvPr id="139272" name="Text Box 9">
            <a:extLst>
              <a:ext uri="{FF2B5EF4-FFF2-40B4-BE49-F238E27FC236}">
                <a16:creationId xmlns:a16="http://schemas.microsoft.com/office/drawing/2014/main" id="{C614F168-68B8-6C45-9E19-25B84A455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2450" y="5638800"/>
            <a:ext cx="13271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7 cycles/iteration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Rectangle 2">
            <a:extLst>
              <a:ext uri="{FF2B5EF4-FFF2-40B4-BE49-F238E27FC236}">
                <a16:creationId xmlns:a16="http://schemas.microsoft.com/office/drawing/2014/main" id="{EE414071-636C-0848-BFE2-4D6DF4580F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Loop Unrolling</a:t>
            </a:r>
          </a:p>
        </p:txBody>
      </p:sp>
      <p:sp>
        <p:nvSpPr>
          <p:cNvPr id="140290" name="Rectangle 3">
            <a:extLst>
              <a:ext uri="{FF2B5EF4-FFF2-40B4-BE49-F238E27FC236}">
                <a16:creationId xmlns:a16="http://schemas.microsoft.com/office/drawing/2014/main" id="{4EE61EDE-B415-4441-B54E-7ECF462EE2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Unroll the loop (e.g., four times)</a:t>
            </a:r>
          </a:p>
        </p:txBody>
      </p:sp>
      <p:sp>
        <p:nvSpPr>
          <p:cNvPr id="140291" name="Text Box 4">
            <a:extLst>
              <a:ext uri="{FF2B5EF4-FFF2-40B4-BE49-F238E27FC236}">
                <a16:creationId xmlns:a16="http://schemas.microsoft.com/office/drawing/2014/main" id="{2BCD2DA6-8856-414C-9D95-CE79DE64D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2209800"/>
            <a:ext cx="2057400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40292" name="Text Box 5">
            <a:extLst>
              <a:ext uri="{FF2B5EF4-FFF2-40B4-BE49-F238E27FC236}">
                <a16:creationId xmlns:a16="http://schemas.microsoft.com/office/drawing/2014/main" id="{A0FED2A0-C29E-7D45-8B86-5722A96EF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286000"/>
            <a:ext cx="2133600" cy="224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F6, 8(R1)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F8, F6,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F8, 8(R1)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F10, 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F12, F10,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F12, 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F14, 24(R1)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F16, F14,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F16, 24(R1)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32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40293" name="Text Box 6">
            <a:extLst>
              <a:ext uri="{FF2B5EF4-FFF2-40B4-BE49-F238E27FC236}">
                <a16:creationId xmlns:a16="http://schemas.microsoft.com/office/drawing/2014/main" id="{0B283EEC-6AD6-7648-A86E-81769295A1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029200"/>
            <a:ext cx="17621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More registers needed!</a:t>
            </a:r>
          </a:p>
        </p:txBody>
      </p:sp>
      <p:sp>
        <p:nvSpPr>
          <p:cNvPr id="140294" name="Text Box 7">
            <a:extLst>
              <a:ext uri="{FF2B5EF4-FFF2-40B4-BE49-F238E27FC236}">
                <a16:creationId xmlns:a16="http://schemas.microsoft.com/office/drawing/2014/main" id="{8D33386F-CF48-CB44-A6BA-4FA909B9D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486400"/>
            <a:ext cx="50387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Benefits: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Less dynamic instruction overhead (SUB/BNEZ)</a:t>
            </a:r>
          </a:p>
          <a:p>
            <a:pPr>
              <a:spcBef>
                <a:spcPct val="0"/>
              </a:spcBef>
              <a:buClrTx/>
              <a:buSzTx/>
              <a:buFontTx/>
              <a:buChar char="•"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Less branches =&gt; larger basic block: can reschedule operations easier</a:t>
            </a:r>
          </a:p>
        </p:txBody>
      </p:sp>
      <p:sp>
        <p:nvSpPr>
          <p:cNvPr id="140295" name="Text Box 8">
            <a:extLst>
              <a:ext uri="{FF2B5EF4-FFF2-40B4-BE49-F238E27FC236}">
                <a16:creationId xmlns:a16="http://schemas.microsoft.com/office/drawing/2014/main" id="{DE90980A-D697-F749-98FE-729A04DF9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2286000"/>
            <a:ext cx="2133600" cy="224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F6, 8(R1)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F10, 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LD   F14, 24(R1)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F8, F6,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F12, F10,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F16, F14,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F8, 8(R1)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F12, 16(R1)     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F16, 24(R1)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32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40296" name="AutoShape 9">
            <a:extLst>
              <a:ext uri="{FF2B5EF4-FFF2-40B4-BE49-F238E27FC236}">
                <a16:creationId xmlns:a16="http://schemas.microsoft.com/office/drawing/2014/main" id="{32FBC6E0-8FA1-B94F-B58A-B840804A2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495800"/>
            <a:ext cx="228600" cy="533400"/>
          </a:xfrm>
          <a:prstGeom prst="upArrow">
            <a:avLst>
              <a:gd name="adj1" fmla="val 50000"/>
              <a:gd name="adj2" fmla="val 58333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</p:txBody>
      </p:sp>
      <p:sp>
        <p:nvSpPr>
          <p:cNvPr id="140297" name="Text Box 10">
            <a:extLst>
              <a:ext uri="{FF2B5EF4-FFF2-40B4-BE49-F238E27FC236}">
                <a16:creationId xmlns:a16="http://schemas.microsoft.com/office/drawing/2014/main" id="{A01E8ADC-205B-6544-826D-7208765DA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5029200"/>
            <a:ext cx="1617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14 cycles/4 iterations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  <a:cs typeface="Arial" panose="020B0604020202020204" pitchFamily="34" charset="0"/>
              </a:rPr>
              <a:t>(3.5 cycles/iteration)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2">
            <a:extLst>
              <a:ext uri="{FF2B5EF4-FFF2-40B4-BE49-F238E27FC236}">
                <a16:creationId xmlns:a16="http://schemas.microsoft.com/office/drawing/2014/main" id="{74B68F30-DF64-424F-AD99-15655E3257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Loop Unrolling</a:t>
            </a:r>
          </a:p>
        </p:txBody>
      </p:sp>
      <p:sp>
        <p:nvSpPr>
          <p:cNvPr id="141314" name="Rectangle 3">
            <a:extLst>
              <a:ext uri="{FF2B5EF4-FFF2-40B4-BE49-F238E27FC236}">
                <a16:creationId xmlns:a16="http://schemas.microsoft.com/office/drawing/2014/main" id="{4384239D-39E9-3648-A438-05751B1791E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Positives/negatives</a:t>
            </a:r>
          </a:p>
          <a:p>
            <a:pPr lvl="1"/>
            <a:r>
              <a:rPr lang="en-US" altLang="en-US"/>
              <a:t>(+) larger block for scheduling</a:t>
            </a:r>
          </a:p>
          <a:p>
            <a:pPr lvl="1"/>
            <a:r>
              <a:rPr lang="en-US" altLang="en-US"/>
              <a:t>(+) reduces branch frequency</a:t>
            </a:r>
          </a:p>
          <a:p>
            <a:pPr lvl="1"/>
            <a:r>
              <a:rPr lang="en-US" altLang="en-US"/>
              <a:t>(+) reduces dynamic instruction count (loop overhead)</a:t>
            </a:r>
          </a:p>
          <a:p>
            <a:pPr lvl="1"/>
            <a:r>
              <a:rPr lang="en-US" altLang="en-US"/>
              <a:t>(-) expands code size</a:t>
            </a:r>
          </a:p>
          <a:p>
            <a:pPr lvl="1"/>
            <a:r>
              <a:rPr lang="en-US" altLang="en-US"/>
              <a:t>(-) have to handle excess iterations (</a:t>
            </a:r>
            <a:r>
              <a:rPr lang="ja-JP" altLang="en-US">
                <a:latin typeface="Arial" panose="020B0604020202020204" pitchFamily="34" charset="0"/>
              </a:rPr>
              <a:t>“</a:t>
            </a:r>
            <a:r>
              <a:rPr lang="en-US" altLang="en-US"/>
              <a:t>strip mining</a:t>
            </a:r>
            <a:r>
              <a:rPr lang="ja-JP" altLang="en-US">
                <a:latin typeface="Arial" panose="020B0604020202020204" pitchFamily="34" charset="0"/>
              </a:rPr>
              <a:t>”</a:t>
            </a:r>
            <a:r>
              <a:rPr lang="en-US" altLang="en-US"/>
              <a:t>)</a:t>
            </a:r>
          </a:p>
          <a:p>
            <a:pPr lvl="1"/>
            <a:endParaRPr lang="en-US" altLang="en-US"/>
          </a:p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Rectangle 2">
            <a:extLst>
              <a:ext uri="{FF2B5EF4-FFF2-40B4-BE49-F238E27FC236}">
                <a16:creationId xmlns:a16="http://schemas.microsoft.com/office/drawing/2014/main" id="{CC480750-7A73-B14C-9B6D-897893CA9E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Software Pipelining</a:t>
            </a:r>
          </a:p>
        </p:txBody>
      </p:sp>
      <p:sp>
        <p:nvSpPr>
          <p:cNvPr id="142338" name="Rectangle 3">
            <a:extLst>
              <a:ext uri="{FF2B5EF4-FFF2-40B4-BE49-F238E27FC236}">
                <a16:creationId xmlns:a16="http://schemas.microsoft.com/office/drawing/2014/main" id="{FED91437-477E-C94F-A229-AD1253123A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Treat dependent operations in a loop as a pipeline</a:t>
            </a:r>
          </a:p>
          <a:p>
            <a:pPr lvl="1"/>
            <a:r>
              <a:rPr lang="en-US" altLang="en-US"/>
              <a:t>LD(i) -&gt; ADDD(i) -&gt; SD(i)</a:t>
            </a:r>
          </a:p>
          <a:p>
            <a:pPr lvl="1"/>
            <a:r>
              <a:rPr lang="en-US" altLang="en-US"/>
              <a:t>Hide latencies by placing different stages in successive iterations</a:t>
            </a:r>
          </a:p>
          <a:p>
            <a:pPr lvl="2"/>
            <a:r>
              <a:rPr lang="en-US" altLang="en-US"/>
              <a:t>LD(i) goes in first iteration</a:t>
            </a:r>
          </a:p>
          <a:p>
            <a:pPr lvl="2"/>
            <a:r>
              <a:rPr lang="en-US" altLang="en-US"/>
              <a:t>ADDD(i) goes in second iteration</a:t>
            </a:r>
          </a:p>
          <a:p>
            <a:pPr lvl="2"/>
            <a:r>
              <a:rPr lang="en-US" altLang="en-US"/>
              <a:t>SD(i) goes in third iteration</a:t>
            </a:r>
          </a:p>
          <a:p>
            <a:pPr lvl="2"/>
            <a:r>
              <a:rPr lang="en-US" altLang="en-US"/>
              <a:t>Stated another way: LD(i), ADDD(i-1), SD(i-2) go in the same iteration</a:t>
            </a:r>
          </a:p>
        </p:txBody>
      </p:sp>
      <p:sp>
        <p:nvSpPr>
          <p:cNvPr id="142339" name="Text Box 4">
            <a:extLst>
              <a:ext uri="{FF2B5EF4-FFF2-40B4-BE49-F238E27FC236}">
                <a16:creationId xmlns:a16="http://schemas.microsoft.com/office/drawing/2014/main" id="{30BED22A-72DC-3443-88B7-1E34C6520F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4724400"/>
            <a:ext cx="22098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for (i=1; i&lt;=N; i++) {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// a[i] = a[i] + k;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load a[i]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add a[i]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store a[i]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}</a:t>
            </a:r>
          </a:p>
        </p:txBody>
      </p:sp>
      <p:sp>
        <p:nvSpPr>
          <p:cNvPr id="142340" name="Text Box 5">
            <a:extLst>
              <a:ext uri="{FF2B5EF4-FFF2-40B4-BE49-F238E27FC236}">
                <a16:creationId xmlns:a16="http://schemas.microsoft.com/office/drawing/2014/main" id="{2CD034BC-8D68-5B4F-A301-80BB32333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4572000"/>
            <a:ext cx="2362200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START-UP-BLOCK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for (i=3; i&lt;=N; i++) {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load a[i]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add a[i-1]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store a[i-2]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FINISH-UP-BLOCK</a:t>
            </a:r>
          </a:p>
        </p:txBody>
      </p:sp>
      <p:graphicFrame>
        <p:nvGraphicFramePr>
          <p:cNvPr id="372742" name="Group 6">
            <a:extLst>
              <a:ext uri="{FF2B5EF4-FFF2-40B4-BE49-F238E27FC236}">
                <a16:creationId xmlns:a16="http://schemas.microsoft.com/office/drawing/2014/main" id="{D5218755-5DFB-4848-A586-7699494CFDE2}"/>
              </a:ext>
            </a:extLst>
          </p:cNvPr>
          <p:cNvGraphicFramePr>
            <a:graphicFrameLocks noGrp="1"/>
          </p:cNvGraphicFramePr>
          <p:nvPr/>
        </p:nvGraphicFramePr>
        <p:xfrm>
          <a:off x="4724400" y="4648200"/>
          <a:ext cx="3860800" cy="1011238"/>
        </p:xfrm>
        <a:graphic>
          <a:graphicData uri="http://schemas.openxmlformats.org/drawingml/2006/table">
            <a:tbl>
              <a:tblPr/>
              <a:tblGrid>
                <a:gridCol w="596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8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502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START-UP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(prologue)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LOOP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FINISH-UP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(epilogue)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085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load</a:t>
                      </a:r>
                    </a:p>
                  </a:txBody>
                  <a:tcPr marL="45720" marR="45720" marT="45760" marB="4576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a[2]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a[3]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a[i]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926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marL="45720" marR="45720" marT="45760" marB="4576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a[2]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a[i-1]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a[N-1]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085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store</a:t>
                      </a:r>
                    </a:p>
                  </a:txBody>
                  <a:tcPr marL="45720" marR="45720" marT="45760" marB="4576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urier" charset="0"/>
                        <a:ea typeface="ＭＳ Ｐゴシック" charset="0"/>
                      </a:endParaRP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a[i-2]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a[N-2]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a[N-1]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" charset="0"/>
                          <a:ea typeface="ＭＳ Ｐゴシック" charset="0"/>
                        </a:rPr>
                        <a:t>a[N]</a:t>
                      </a:r>
                    </a:p>
                  </a:txBody>
                  <a:tcPr marL="45720" marR="45720" marT="45760" marB="4576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2">
            <a:extLst>
              <a:ext uri="{FF2B5EF4-FFF2-40B4-BE49-F238E27FC236}">
                <a16:creationId xmlns:a16="http://schemas.microsoft.com/office/drawing/2014/main" id="{7D31A025-3D51-8444-82EC-A7577A4595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Software Pipelining</a:t>
            </a:r>
          </a:p>
        </p:txBody>
      </p:sp>
      <p:sp>
        <p:nvSpPr>
          <p:cNvPr id="143362" name="Rectangle 3">
            <a:extLst>
              <a:ext uri="{FF2B5EF4-FFF2-40B4-BE49-F238E27FC236}">
                <a16:creationId xmlns:a16="http://schemas.microsoft.com/office/drawing/2014/main" id="{27E2E04E-DA10-3E49-BB3F-CDE3D944B34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Assembly code version</a:t>
            </a:r>
          </a:p>
        </p:txBody>
      </p:sp>
      <p:sp>
        <p:nvSpPr>
          <p:cNvPr id="143363" name="Text Box 4">
            <a:extLst>
              <a:ext uri="{FF2B5EF4-FFF2-40B4-BE49-F238E27FC236}">
                <a16:creationId xmlns:a16="http://schemas.microsoft.com/office/drawing/2014/main" id="{A0173DA0-F25F-2F4D-8502-CBF489DA8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2286000"/>
            <a:ext cx="20574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SD   F4,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BNE  R1, xxx, Loop</a:t>
            </a:r>
          </a:p>
        </p:txBody>
      </p:sp>
      <p:sp>
        <p:nvSpPr>
          <p:cNvPr id="143364" name="AutoShape 5">
            <a:extLst>
              <a:ext uri="{FF2B5EF4-FFF2-40B4-BE49-F238E27FC236}">
                <a16:creationId xmlns:a16="http://schemas.microsoft.com/office/drawing/2014/main" id="{C17A5E91-47B7-C948-B69B-621FB1A40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2514600"/>
            <a:ext cx="533400" cy="304800"/>
          </a:xfrm>
          <a:prstGeom prst="rightArrow">
            <a:avLst>
              <a:gd name="adj1" fmla="val 50000"/>
              <a:gd name="adj2" fmla="val 4375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365" name="Text Box 6">
            <a:extLst>
              <a:ext uri="{FF2B5EF4-FFF2-40B4-BE49-F238E27FC236}">
                <a16:creationId xmlns:a16="http://schemas.microsoft.com/office/drawing/2014/main" id="{C0FE142B-C560-3D45-980C-2D4070B5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2286000"/>
            <a:ext cx="2209800" cy="283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START: 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Loop:   SD   F4, -16(R1)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LD   F0, 0(R1)     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BNE  R1, xxx, Loop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FINISH: SD   F4, -16(R1)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  R1, R1, 8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SD   F4, -16(R1) </a:t>
            </a:r>
          </a:p>
        </p:txBody>
      </p:sp>
      <p:sp>
        <p:nvSpPr>
          <p:cNvPr id="143366" name="AutoShape 7">
            <a:extLst>
              <a:ext uri="{FF2B5EF4-FFF2-40B4-BE49-F238E27FC236}">
                <a16:creationId xmlns:a16="http://schemas.microsoft.com/office/drawing/2014/main" id="{6ACF89D9-5984-0641-BBD1-6D5A6371B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2590800"/>
            <a:ext cx="533400" cy="304800"/>
          </a:xfrm>
          <a:prstGeom prst="rightArrow">
            <a:avLst>
              <a:gd name="adj1" fmla="val 50000"/>
              <a:gd name="adj2" fmla="val 4375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367" name="Text Box 8">
            <a:extLst>
              <a:ext uri="{FF2B5EF4-FFF2-40B4-BE49-F238E27FC236}">
                <a16:creationId xmlns:a16="http://schemas.microsoft.com/office/drawing/2014/main" id="{11E7B827-39F6-8F4E-98D4-0F5AC7846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2286000"/>
            <a:ext cx="22098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START:  LD   F0, 0(R1)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ADDD F4, F0, F2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LD   F0, 8(R1)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  R1, R1, 16</a:t>
            </a:r>
          </a:p>
        </p:txBody>
      </p:sp>
      <p:sp>
        <p:nvSpPr>
          <p:cNvPr id="143368" name="AutoShape 9">
            <a:extLst>
              <a:ext uri="{FF2B5EF4-FFF2-40B4-BE49-F238E27FC236}">
                <a16:creationId xmlns:a16="http://schemas.microsoft.com/office/drawing/2014/main" id="{0A232FBA-D71F-9B45-BEA4-93419E50D85C}"/>
              </a:ext>
            </a:extLst>
          </p:cNvPr>
          <p:cNvSpPr>
            <a:spLocks/>
          </p:cNvSpPr>
          <p:nvPr/>
        </p:nvSpPr>
        <p:spPr bwMode="auto">
          <a:xfrm>
            <a:off x="5105400" y="2209800"/>
            <a:ext cx="228600" cy="1066800"/>
          </a:xfrm>
          <a:prstGeom prst="rightBrace">
            <a:avLst>
              <a:gd name="adj1" fmla="val 38889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369" name="Text Box 10">
            <a:extLst>
              <a:ext uri="{FF2B5EF4-FFF2-40B4-BE49-F238E27FC236}">
                <a16:creationId xmlns:a16="http://schemas.microsoft.com/office/drawing/2014/main" id="{655B9195-45CE-1943-9B4A-0147D4CAB8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4267200"/>
            <a:ext cx="22098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FINISH: SD   F4, -16(R1)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ADDD F4, F0, F2       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     SD   F4, -8(R1) </a:t>
            </a:r>
          </a:p>
        </p:txBody>
      </p:sp>
      <p:sp>
        <p:nvSpPr>
          <p:cNvPr id="143370" name="AutoShape 11">
            <a:extLst>
              <a:ext uri="{FF2B5EF4-FFF2-40B4-BE49-F238E27FC236}">
                <a16:creationId xmlns:a16="http://schemas.microsoft.com/office/drawing/2014/main" id="{63E9DD63-5D3C-E043-81F1-53E7951EEE0B}"/>
              </a:ext>
            </a:extLst>
          </p:cNvPr>
          <p:cNvSpPr>
            <a:spLocks/>
          </p:cNvSpPr>
          <p:nvPr/>
        </p:nvSpPr>
        <p:spPr bwMode="auto">
          <a:xfrm>
            <a:off x="5105400" y="4343400"/>
            <a:ext cx="152400" cy="762000"/>
          </a:xfrm>
          <a:prstGeom prst="rightBrace">
            <a:avLst>
              <a:gd name="adj1" fmla="val 41667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371" name="AutoShape 12">
            <a:extLst>
              <a:ext uri="{FF2B5EF4-FFF2-40B4-BE49-F238E27FC236}">
                <a16:creationId xmlns:a16="http://schemas.microsoft.com/office/drawing/2014/main" id="{9C4F02FC-48B8-D043-A4A0-70683CBA5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4572000"/>
            <a:ext cx="533400" cy="304800"/>
          </a:xfrm>
          <a:prstGeom prst="rightArrow">
            <a:avLst>
              <a:gd name="adj1" fmla="val 50000"/>
              <a:gd name="adj2" fmla="val 43750"/>
            </a:avLst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Rectangle 2">
            <a:extLst>
              <a:ext uri="{FF2B5EF4-FFF2-40B4-BE49-F238E27FC236}">
                <a16:creationId xmlns:a16="http://schemas.microsoft.com/office/drawing/2014/main" id="{ADEFF954-E051-C94A-9D34-D0290CC037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Software Pipelining</a:t>
            </a:r>
          </a:p>
        </p:txBody>
      </p:sp>
      <p:sp>
        <p:nvSpPr>
          <p:cNvPr id="144386" name="Rectangle 3">
            <a:extLst>
              <a:ext uri="{FF2B5EF4-FFF2-40B4-BE49-F238E27FC236}">
                <a16:creationId xmlns:a16="http://schemas.microsoft.com/office/drawing/2014/main" id="{E7EE866E-7866-834B-B19D-93F173AB688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Positives/negatives</a:t>
            </a:r>
          </a:p>
          <a:p>
            <a:pPr lvl="1"/>
            <a:r>
              <a:rPr lang="en-US" altLang="en-US"/>
              <a:t>(+) no dependences in loop body</a:t>
            </a:r>
          </a:p>
          <a:p>
            <a:pPr lvl="1"/>
            <a:r>
              <a:rPr lang="en-US" altLang="en-US"/>
              <a:t>(+) same effect as loop unrolling (hide latencies), but don</a:t>
            </a:r>
            <a:r>
              <a:rPr lang="ja-JP" altLang="en-US">
                <a:latin typeface="Arial" panose="020B0604020202020204" pitchFamily="34" charset="0"/>
              </a:rPr>
              <a:t>’</a:t>
            </a:r>
            <a:r>
              <a:rPr lang="en-US" altLang="en-US"/>
              <a:t>t need to replicate iterations (code size)</a:t>
            </a:r>
          </a:p>
          <a:p>
            <a:pPr lvl="1"/>
            <a:r>
              <a:rPr lang="en-US" altLang="en-US"/>
              <a:t>(-) still have extra code for prologue/epilogue (pipeline fill/drain)</a:t>
            </a:r>
          </a:p>
          <a:p>
            <a:pPr lvl="1"/>
            <a:r>
              <a:rPr lang="en-US" altLang="en-US"/>
              <a:t>(-) does not reduce branch frequency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2">
            <a:extLst>
              <a:ext uri="{FF2B5EF4-FFF2-40B4-BE49-F238E27FC236}">
                <a16:creationId xmlns:a16="http://schemas.microsoft.com/office/drawing/2014/main" id="{3A38FC4F-4065-3543-BB3A-F971B8A8EC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Trace Scheduling</a:t>
            </a:r>
          </a:p>
        </p:txBody>
      </p:sp>
      <p:sp>
        <p:nvSpPr>
          <p:cNvPr id="145410" name="Rectangle 3">
            <a:extLst>
              <a:ext uri="{FF2B5EF4-FFF2-40B4-BE49-F238E27FC236}">
                <a16:creationId xmlns:a16="http://schemas.microsoft.com/office/drawing/2014/main" id="{173471E8-B1FA-F746-AAAA-27D278B753E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Select most common path – a trace</a:t>
            </a:r>
          </a:p>
          <a:p>
            <a:pPr lvl="1"/>
            <a:r>
              <a:rPr lang="en-US" altLang="en-US"/>
              <a:t>Use profiling to select a trace</a:t>
            </a:r>
          </a:p>
          <a:p>
            <a:pPr lvl="1"/>
            <a:r>
              <a:rPr lang="en-US" altLang="en-US"/>
              <a:t>Allows global scheduling, i.e., scheduling across branches</a:t>
            </a:r>
          </a:p>
          <a:p>
            <a:pPr lvl="1"/>
            <a:r>
              <a:rPr lang="en-US" altLang="en-US"/>
              <a:t>This is speculation because schedule assumes certain path through region</a:t>
            </a:r>
          </a:p>
          <a:p>
            <a:pPr lvl="1"/>
            <a:r>
              <a:rPr lang="en-US" altLang="en-US"/>
              <a:t>If trace is wrong (other paths taken), execute  repair code</a:t>
            </a:r>
          </a:p>
        </p:txBody>
      </p:sp>
      <p:sp>
        <p:nvSpPr>
          <p:cNvPr id="145411" name="Text Box 4">
            <a:extLst>
              <a:ext uri="{FF2B5EF4-FFF2-40B4-BE49-F238E27FC236}">
                <a16:creationId xmlns:a16="http://schemas.microsoft.com/office/drawing/2014/main" id="{6AADB786-FA15-7547-B6B0-2DB191855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4545013"/>
            <a:ext cx="2711450" cy="1169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b[i] = `old</a:t>
            </a:r>
            <a:r>
              <a:rPr lang="ja-JP" altLang="en-US" sz="1000">
                <a:latin typeface="Courier" pitchFamily="2" charset="0"/>
              </a:rPr>
              <a:t>’</a:t>
            </a: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a[i]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if (a[i] &gt; 0) then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b[i] = `new</a:t>
            </a:r>
            <a:r>
              <a:rPr lang="ja-JP" altLang="en-US" sz="1000">
                <a:latin typeface="Courier" pitchFamily="2" charset="0"/>
              </a:rPr>
              <a:t>’</a:t>
            </a:r>
            <a:r>
              <a:rPr lang="en-US" altLang="en-US" sz="1000">
                <a:latin typeface="Courier" pitchFamily="2" charset="0"/>
              </a:rPr>
              <a:t>    // common case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else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X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c[i] =</a:t>
            </a:r>
          </a:p>
        </p:txBody>
      </p:sp>
      <p:sp>
        <p:nvSpPr>
          <p:cNvPr id="145412" name="Text Box 5">
            <a:extLst>
              <a:ext uri="{FF2B5EF4-FFF2-40B4-BE49-F238E27FC236}">
                <a16:creationId xmlns:a16="http://schemas.microsoft.com/office/drawing/2014/main" id="{A1CE020F-8CA5-FF4D-A656-219183678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264025"/>
            <a:ext cx="19478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Trace to be scheduled</a:t>
            </a:r>
          </a:p>
        </p:txBody>
      </p:sp>
      <p:sp>
        <p:nvSpPr>
          <p:cNvPr id="145413" name="Text Box 6">
            <a:extLst>
              <a:ext uri="{FF2B5EF4-FFF2-40B4-BE49-F238E27FC236}">
                <a16:creationId xmlns:a16="http://schemas.microsoft.com/office/drawing/2014/main" id="{842AE55E-4D79-5B4A-961B-7BFF8298D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0325" y="4554538"/>
            <a:ext cx="1841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5414" name="Text Box 7">
            <a:extLst>
              <a:ext uri="{FF2B5EF4-FFF2-40B4-BE49-F238E27FC236}">
                <a16:creationId xmlns:a16="http://schemas.microsoft.com/office/drawing/2014/main" id="{CD3ECFB4-6C8F-FC48-9775-056168FF2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4621213"/>
            <a:ext cx="20320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b[i] = `old</a:t>
            </a:r>
            <a:r>
              <a:rPr lang="ja-JP" altLang="en-US" sz="1000">
                <a:latin typeface="Courier" pitchFamily="2" charset="0"/>
              </a:rPr>
              <a:t>’</a:t>
            </a: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a[i]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b[i] = `new</a:t>
            </a:r>
            <a:r>
              <a:rPr lang="ja-JP" altLang="en-US" sz="1000">
                <a:latin typeface="Courier" pitchFamily="2" charset="0"/>
              </a:rPr>
              <a:t>’</a:t>
            </a:r>
            <a:r>
              <a:rPr lang="en-US" altLang="en-US" sz="1000">
                <a:latin typeface="Courier" pitchFamily="2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c[i]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if (a[i] &lt;= 0) goto 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B:</a:t>
            </a:r>
          </a:p>
        </p:txBody>
      </p:sp>
      <p:sp>
        <p:nvSpPr>
          <p:cNvPr id="145415" name="Text Box 8">
            <a:extLst>
              <a:ext uri="{FF2B5EF4-FFF2-40B4-BE49-F238E27FC236}">
                <a16:creationId xmlns:a16="http://schemas.microsoft.com/office/drawing/2014/main" id="{D0FDF81F-BE73-7449-BF8A-28ECA9FE7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4621213"/>
            <a:ext cx="2089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A: restore old b[i]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X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maybe recalculate c[i]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goto B</a:t>
            </a:r>
          </a:p>
        </p:txBody>
      </p:sp>
      <p:sp>
        <p:nvSpPr>
          <p:cNvPr id="145416" name="Text Box 9">
            <a:extLst>
              <a:ext uri="{FF2B5EF4-FFF2-40B4-BE49-F238E27FC236}">
                <a16:creationId xmlns:a16="http://schemas.microsoft.com/office/drawing/2014/main" id="{6D79B46B-B91C-0340-AA00-68616A7A4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264025"/>
            <a:ext cx="1149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Repair code</a:t>
            </a:r>
          </a:p>
        </p:txBody>
      </p:sp>
      <p:sp>
        <p:nvSpPr>
          <p:cNvPr id="145417" name="Text Box 10">
            <a:extLst>
              <a:ext uri="{FF2B5EF4-FFF2-40B4-BE49-F238E27FC236}">
                <a16:creationId xmlns:a16="http://schemas.microsoft.com/office/drawing/2014/main" id="{07D8EB59-0C45-6346-A469-BAEF687F3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264025"/>
            <a:ext cx="12398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Original code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Rectangle 2">
            <a:extLst>
              <a:ext uri="{FF2B5EF4-FFF2-40B4-BE49-F238E27FC236}">
                <a16:creationId xmlns:a16="http://schemas.microsoft.com/office/drawing/2014/main" id="{6EC64D48-88AF-844A-955D-2C8A0A8C0F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Predication</a:t>
            </a:r>
          </a:p>
        </p:txBody>
      </p:sp>
      <p:sp>
        <p:nvSpPr>
          <p:cNvPr id="146434" name="Rectangle 3">
            <a:extLst>
              <a:ext uri="{FF2B5EF4-FFF2-40B4-BE49-F238E27FC236}">
                <a16:creationId xmlns:a16="http://schemas.microsoft.com/office/drawing/2014/main" id="{3AE9A2D1-A693-4243-B7B8-2ACFF566725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sz="1800">
                <a:ea typeface="ＭＳ Ｐゴシック" panose="020B0600070205080204" pitchFamily="34" charset="-128"/>
              </a:rPr>
              <a:t>ISA role</a:t>
            </a:r>
          </a:p>
          <a:p>
            <a:pPr lvl="1"/>
            <a:r>
              <a:rPr lang="en-US" altLang="en-US" sz="1600"/>
              <a:t>Provide predicate registers</a:t>
            </a:r>
          </a:p>
          <a:p>
            <a:pPr lvl="1"/>
            <a:r>
              <a:rPr lang="en-US" altLang="en-US" sz="1600"/>
              <a:t>Provide predicate-setting instructions (e.g., compare)</a:t>
            </a:r>
          </a:p>
          <a:p>
            <a:pPr lvl="1"/>
            <a:r>
              <a:rPr lang="en-US" altLang="en-US" sz="1600"/>
              <a:t>Subset of opcodes can be guarded with predicates</a:t>
            </a:r>
          </a:p>
          <a:p>
            <a:r>
              <a:rPr lang="en-US" altLang="en-US" sz="1800">
                <a:ea typeface="ＭＳ Ｐゴシック" panose="020B0600070205080204" pitchFamily="34" charset="-128"/>
              </a:rPr>
              <a:t>Compiler role</a:t>
            </a:r>
          </a:p>
          <a:p>
            <a:pPr lvl="1"/>
            <a:r>
              <a:rPr lang="en-US" altLang="en-US" sz="1600"/>
              <a:t>Replace branch with predicate computation</a:t>
            </a:r>
          </a:p>
          <a:p>
            <a:pPr lvl="1"/>
            <a:r>
              <a:rPr lang="en-US" altLang="en-US" sz="1600"/>
              <a:t>Guard alternate paths with &lt;predicate&gt; and &lt;!predicate&gt;</a:t>
            </a:r>
          </a:p>
          <a:p>
            <a:r>
              <a:rPr lang="en-US" altLang="en-US" sz="1800">
                <a:ea typeface="ＭＳ Ｐゴシック" panose="020B0600070205080204" pitchFamily="34" charset="-128"/>
              </a:rPr>
              <a:t>Hardware role</a:t>
            </a:r>
          </a:p>
          <a:p>
            <a:pPr lvl="1"/>
            <a:r>
              <a:rPr lang="en-US" altLang="en-US" sz="1600"/>
              <a:t>Execute all predicated code, i.e., both paths after a branch</a:t>
            </a:r>
          </a:p>
          <a:p>
            <a:pPr lvl="1"/>
            <a:r>
              <a:rPr lang="en-US" altLang="en-US" sz="1600"/>
              <a:t>Do not commit either path until predicate is known</a:t>
            </a:r>
          </a:p>
          <a:p>
            <a:pPr lvl="1"/>
            <a:r>
              <a:rPr lang="en-US" altLang="en-US" sz="1600"/>
              <a:t>Conditionally commit or squash, depending on predicate</a:t>
            </a:r>
          </a:p>
        </p:txBody>
      </p:sp>
      <p:sp>
        <p:nvSpPr>
          <p:cNvPr id="146435" name="Text Box 4">
            <a:extLst>
              <a:ext uri="{FF2B5EF4-FFF2-40B4-BE49-F238E27FC236}">
                <a16:creationId xmlns:a16="http://schemas.microsoft.com/office/drawing/2014/main" id="{23100618-5152-B544-98BD-D12DB4A016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3688" y="5307013"/>
            <a:ext cx="2711450" cy="1169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b[i] = `old</a:t>
            </a:r>
            <a:r>
              <a:rPr lang="ja-JP" altLang="en-US" sz="1000">
                <a:latin typeface="Courier" pitchFamily="2" charset="0"/>
              </a:rPr>
              <a:t>’</a:t>
            </a: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a[i]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if (a[i] &gt; 0) then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b[i] = `new</a:t>
            </a:r>
            <a:r>
              <a:rPr lang="ja-JP" altLang="en-US" sz="1000">
                <a:latin typeface="Courier" pitchFamily="2" charset="0"/>
              </a:rPr>
              <a:t>’</a:t>
            </a:r>
            <a:r>
              <a:rPr lang="en-US" altLang="en-US" sz="1000">
                <a:latin typeface="Courier" pitchFamily="2" charset="0"/>
              </a:rPr>
              <a:t>    // common case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else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   X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c[i] =</a:t>
            </a:r>
          </a:p>
        </p:txBody>
      </p:sp>
      <p:sp>
        <p:nvSpPr>
          <p:cNvPr id="146436" name="Text Box 5">
            <a:extLst>
              <a:ext uri="{FF2B5EF4-FFF2-40B4-BE49-F238E27FC236}">
                <a16:creationId xmlns:a16="http://schemas.microsoft.com/office/drawing/2014/main" id="{62F3AFFB-959B-F547-97A0-980F29F5B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3688" y="5078413"/>
            <a:ext cx="1239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Original code</a:t>
            </a:r>
          </a:p>
        </p:txBody>
      </p:sp>
      <p:sp>
        <p:nvSpPr>
          <p:cNvPr id="146437" name="Text Box 6">
            <a:extLst>
              <a:ext uri="{FF2B5EF4-FFF2-40B4-BE49-F238E27FC236}">
                <a16:creationId xmlns:a16="http://schemas.microsoft.com/office/drawing/2014/main" id="{C180BB04-B28F-514B-A46A-FB883E5548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16488" y="5307013"/>
            <a:ext cx="1865312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b[i] = `old</a:t>
            </a:r>
            <a:r>
              <a:rPr lang="ja-JP" altLang="en-US" sz="1000">
                <a:latin typeface="Courier" pitchFamily="2" charset="0"/>
              </a:rPr>
              <a:t>’</a:t>
            </a: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a[i] =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pred1 = (a[i] &gt; 0)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&lt; pred1&gt;: b[i] = `new</a:t>
            </a:r>
            <a:r>
              <a:rPr lang="ja-JP" altLang="en-US" sz="1000">
                <a:latin typeface="Courier" pitchFamily="2" charset="0"/>
              </a:rPr>
              <a:t>’</a:t>
            </a:r>
            <a:endParaRPr lang="en-US" altLang="en-US" sz="1000">
              <a:latin typeface="Courier" pitchFamily="2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&lt;!pred1&gt;: X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c[i] =</a:t>
            </a:r>
          </a:p>
        </p:txBody>
      </p:sp>
      <p:sp>
        <p:nvSpPr>
          <p:cNvPr id="146438" name="Text Box 7">
            <a:extLst>
              <a:ext uri="{FF2B5EF4-FFF2-40B4-BE49-F238E27FC236}">
                <a16:creationId xmlns:a16="http://schemas.microsoft.com/office/drawing/2014/main" id="{3AFA6336-DD22-2544-A1E0-12A51BA59D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16488" y="5078413"/>
            <a:ext cx="14795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Predicated code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Rectangle 2">
            <a:extLst>
              <a:ext uri="{FF2B5EF4-FFF2-40B4-BE49-F238E27FC236}">
                <a16:creationId xmlns:a16="http://schemas.microsoft.com/office/drawing/2014/main" id="{AE2BD596-737C-124E-A809-23FF523F4F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Predication</a:t>
            </a:r>
          </a:p>
        </p:txBody>
      </p:sp>
      <p:sp>
        <p:nvSpPr>
          <p:cNvPr id="147458" name="Rectangle 3">
            <a:extLst>
              <a:ext uri="{FF2B5EF4-FFF2-40B4-BE49-F238E27FC236}">
                <a16:creationId xmlns:a16="http://schemas.microsoft.com/office/drawing/2014/main" id="{9B6F2509-1F46-B746-884E-054AA6D9846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sz="2000" dirty="0">
                <a:ea typeface="ＭＳ Ｐゴシック" panose="020B0600070205080204" pitchFamily="34" charset="-128"/>
              </a:rPr>
              <a:t>Positives/negatives</a:t>
            </a:r>
          </a:p>
          <a:p>
            <a:pPr lvl="1"/>
            <a:r>
              <a:rPr lang="en-US" altLang="en-US" sz="1600" dirty="0"/>
              <a:t>(+) Larger scheduling scope </a:t>
            </a:r>
            <a:r>
              <a:rPr lang="en-US" altLang="en-US" sz="1600" i="1" dirty="0"/>
              <a:t>without</a:t>
            </a:r>
            <a:r>
              <a:rPr lang="en-US" altLang="en-US" sz="1600" dirty="0"/>
              <a:t> speculation</a:t>
            </a:r>
          </a:p>
          <a:p>
            <a:pPr lvl="1"/>
            <a:r>
              <a:rPr lang="en-US" altLang="en-US" sz="1600" dirty="0"/>
              <a:t>(-) ISA extensions; opcode pressure, extra register specifier</a:t>
            </a:r>
          </a:p>
          <a:p>
            <a:pPr lvl="1"/>
            <a:r>
              <a:rPr lang="en-US" altLang="en-US" sz="1600" dirty="0"/>
              <a:t>(-) May degrade performance if over-commit fetch/execute resources</a:t>
            </a:r>
          </a:p>
          <a:p>
            <a:pPr lvl="1"/>
            <a:r>
              <a:rPr lang="en-US" altLang="en-US" sz="1600" dirty="0"/>
              <a:t>(-) Convert control dependence to data dependence</a:t>
            </a:r>
          </a:p>
          <a:p>
            <a:pPr lvl="2"/>
            <a:r>
              <a:rPr lang="en-US" altLang="en-US" sz="1600" dirty="0"/>
              <a:t>Does this really fix the branch problem?</a:t>
            </a:r>
          </a:p>
          <a:p>
            <a:pPr lvl="2"/>
            <a:r>
              <a:rPr lang="en-US" altLang="en-US" sz="1600" dirty="0"/>
              <a:t>Not predicting control flow delays resolving register dependences</a:t>
            </a:r>
          </a:p>
          <a:p>
            <a:pPr lvl="2"/>
            <a:r>
              <a:rPr lang="en-US" altLang="en-US" sz="1600" dirty="0"/>
              <a:t>Can lengthen schedule </a:t>
            </a:r>
            <a:r>
              <a:rPr lang="en-US" altLang="en-US" sz="1600" dirty="0" err="1"/>
              <a:t>w.r.t.</a:t>
            </a:r>
            <a:r>
              <a:rPr lang="en-US" altLang="en-US" sz="1600" dirty="0"/>
              <a:t> trace scheduling</a:t>
            </a:r>
          </a:p>
          <a:p>
            <a:r>
              <a:rPr lang="en-US" altLang="en-US" sz="2000" dirty="0">
                <a:ea typeface="ＭＳ Ｐゴシック" panose="020B0600070205080204" pitchFamily="34" charset="-128"/>
              </a:rPr>
              <a:t>Above discussion is simplified</a:t>
            </a:r>
          </a:p>
          <a:p>
            <a:pPr lvl="1"/>
            <a:r>
              <a:rPr lang="en-US" altLang="en-US" sz="1600" dirty="0"/>
              <a:t>Predication issues are much, much more complex…</a:t>
            </a:r>
          </a:p>
          <a:p>
            <a:pPr lvl="1"/>
            <a:r>
              <a:rPr lang="en-US" altLang="en-US" sz="1600" dirty="0"/>
              <a:t>Complicating matters:</a:t>
            </a:r>
          </a:p>
          <a:p>
            <a:pPr lvl="2"/>
            <a:r>
              <a:rPr lang="en-US" altLang="en-US" sz="1600" dirty="0"/>
              <a:t>S/W: trace scheduling, predication, superblocks, </a:t>
            </a:r>
            <a:r>
              <a:rPr lang="en-US" altLang="en-US" sz="1600" dirty="0" err="1"/>
              <a:t>hyperblocks</a:t>
            </a:r>
            <a:r>
              <a:rPr lang="en-US" altLang="en-US" sz="1600" dirty="0"/>
              <a:t>, </a:t>
            </a:r>
            <a:r>
              <a:rPr lang="en-US" altLang="en-US" sz="1600" dirty="0" err="1"/>
              <a:t>treegions</a:t>
            </a:r>
            <a:r>
              <a:rPr lang="en-US" altLang="en-US" sz="1600" dirty="0"/>
              <a:t>, …</a:t>
            </a:r>
          </a:p>
          <a:p>
            <a:pPr lvl="2"/>
            <a:r>
              <a:rPr lang="en-US" altLang="en-US" sz="1600" dirty="0"/>
              <a:t>H/W: selective multi-path execution, control independence, …</a:t>
            </a:r>
          </a:p>
          <a:p>
            <a:pPr lvl="1"/>
            <a:endParaRPr lang="en-US" altLang="en-US" sz="1600" dirty="0"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2">
            <a:extLst>
              <a:ext uri="{FF2B5EF4-FFF2-40B4-BE49-F238E27FC236}">
                <a16:creationId xmlns:a16="http://schemas.microsoft.com/office/drawing/2014/main" id="{5E20D7EF-FAB8-254C-BD87-C357D8411C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CDC-6600 example</a:t>
            </a:r>
          </a:p>
        </p:txBody>
      </p:sp>
      <p:graphicFrame>
        <p:nvGraphicFramePr>
          <p:cNvPr id="284675" name="Group 3">
            <a:extLst>
              <a:ext uri="{FF2B5EF4-FFF2-40B4-BE49-F238E27FC236}">
                <a16:creationId xmlns:a16="http://schemas.microsoft.com/office/drawing/2014/main" id="{3952C9D6-F939-364B-A7D9-BDB9A177F19D}"/>
              </a:ext>
            </a:extLst>
          </p:cNvPr>
          <p:cNvGraphicFramePr>
            <a:graphicFrameLocks noGrp="1"/>
          </p:cNvGraphicFramePr>
          <p:nvPr/>
        </p:nvGraphicFramePr>
        <p:xfrm>
          <a:off x="2743200" y="1676400"/>
          <a:ext cx="4953000" cy="1600200"/>
        </p:xfrm>
        <a:graphic>
          <a:graphicData uri="http://schemas.openxmlformats.org/drawingml/2006/table">
            <a:tbl>
              <a:tblPr/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6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8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DISPATCH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ISSUE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EXECUTE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WRITE RESULT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5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Wingdings" charset="0"/>
                          <a:ea typeface="ＭＳ Ｐゴシック" charset="0"/>
                        </a:rPr>
                        <a:t>x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1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620" name="Text Box 45">
            <a:extLst>
              <a:ext uri="{FF2B5EF4-FFF2-40B4-BE49-F238E27FC236}">
                <a16:creationId xmlns:a16="http://schemas.microsoft.com/office/drawing/2014/main" id="{76424EE9-F9CD-3E4A-9C10-346FCB9AD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05000"/>
            <a:ext cx="1524000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F6 , 34(R2)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LD    F2 , 45(R3)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MULTD F0 , F2, F4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SUBD  F8 , F6, F2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DIVD  F10, F0, F6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000">
                <a:latin typeface="Courier" pitchFamily="2" charset="0"/>
              </a:rPr>
              <a:t>ADDD  F6 , F8, F2</a:t>
            </a:r>
          </a:p>
        </p:txBody>
      </p:sp>
      <p:sp>
        <p:nvSpPr>
          <p:cNvPr id="24621" name="Text Box 46">
            <a:extLst>
              <a:ext uri="{FF2B5EF4-FFF2-40B4-BE49-F238E27FC236}">
                <a16:creationId xmlns:a16="http://schemas.microsoft.com/office/drawing/2014/main" id="{2D8E1772-3AF8-4041-9E1C-DD5B5EFFA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600200"/>
            <a:ext cx="13112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Instruction</a:t>
            </a:r>
            <a:r>
              <a:rPr lang="en-US" altLang="en-US" sz="1000">
                <a:latin typeface="Courier" pitchFamily="2" charset="0"/>
              </a:rPr>
              <a:t> Status</a:t>
            </a:r>
          </a:p>
        </p:txBody>
      </p:sp>
      <p:sp>
        <p:nvSpPr>
          <p:cNvPr id="24622" name="Text Box 47">
            <a:extLst>
              <a:ext uri="{FF2B5EF4-FFF2-40B4-BE49-F238E27FC236}">
                <a16:creationId xmlns:a16="http://schemas.microsoft.com/office/drawing/2014/main" id="{A0418D71-42A3-E24B-8136-BF7952B8E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657600"/>
            <a:ext cx="14319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Functional Unit Status</a:t>
            </a:r>
          </a:p>
        </p:txBody>
      </p:sp>
      <p:graphicFrame>
        <p:nvGraphicFramePr>
          <p:cNvPr id="284720" name="Group 48">
            <a:extLst>
              <a:ext uri="{FF2B5EF4-FFF2-40B4-BE49-F238E27FC236}">
                <a16:creationId xmlns:a16="http://schemas.microsoft.com/office/drawing/2014/main" id="{A6D763EE-7252-BD47-A254-3B282DF92558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3886200"/>
          <a:ext cx="6096000" cy="1373188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FU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busy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op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Q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j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</a:t>
                      </a:r>
                      <a:r>
                        <a:rPr kumimoji="0" lang="en-US" sz="10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LD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R3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SUBD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no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yes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84799" name="Group 127">
            <a:extLst>
              <a:ext uri="{FF2B5EF4-FFF2-40B4-BE49-F238E27FC236}">
                <a16:creationId xmlns:a16="http://schemas.microsoft.com/office/drawing/2014/main" id="{8F244383-B963-E04F-87A8-CAC9FD057F15}"/>
              </a:ext>
            </a:extLst>
          </p:cNvPr>
          <p:cNvGraphicFramePr>
            <a:graphicFrameLocks noGrp="1"/>
          </p:cNvGraphicFramePr>
          <p:nvPr/>
        </p:nvGraphicFramePr>
        <p:xfrm>
          <a:off x="1600200" y="5715000"/>
          <a:ext cx="6095999" cy="457200"/>
        </p:xfrm>
        <a:graphic>
          <a:graphicData uri="http://schemas.openxmlformats.org/drawingml/2006/table">
            <a:tbl>
              <a:tblPr/>
              <a:tblGrid>
                <a:gridCol w="87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708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F6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F8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F10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F12</a:t>
                      </a:r>
                      <a:endParaRPr kumimoji="0" lang="en-US" sz="10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4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MULT1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ADD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r>
                        <a:rPr kumimoji="0" 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DIV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0000"/>
                        <a:buFont typeface="ZapfDingbats" charset="0"/>
                        <a:buNone/>
                        <a:tabLst/>
                      </a:pPr>
                      <a:endParaRPr kumimoji="0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4728" name="Text Box 153">
            <a:extLst>
              <a:ext uri="{FF2B5EF4-FFF2-40B4-BE49-F238E27FC236}">
                <a16:creationId xmlns:a16="http://schemas.microsoft.com/office/drawing/2014/main" id="{8782A309-6C24-E541-9783-DF12A40DB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486400"/>
            <a:ext cx="14541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88"/>
              </a:spcBef>
              <a:buClr>
                <a:srgbClr val="FFC000"/>
              </a:buClr>
              <a:buSzPct val="100000"/>
              <a:buFont typeface="Wingdings" pitchFamily="2" charset="2"/>
              <a:buChar char=""/>
              <a:defRPr sz="2800">
                <a:solidFill>
                  <a:srgbClr val="000000"/>
                </a:solidFill>
                <a:latin typeface="Garamond" panose="02020404030301010803" pitchFamily="18" charset="0"/>
                <a:ea typeface="ＭＳ Ｐゴシック" panose="020B0600070205080204" pitchFamily="34" charset="-128"/>
                <a:cs typeface="HG Mincho Light J" charset="0"/>
              </a:defRPr>
            </a:lvl1pPr>
            <a:lvl2pPr marL="742950" indent="-28575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–"/>
              <a:defRPr sz="2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2pPr>
            <a:lvl3pPr marL="1143000" indent="-228600">
              <a:spcBef>
                <a:spcPts val="5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buChar char="•"/>
              <a:defRPr sz="20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3pPr>
            <a:lvl4pPr marL="1600200" indent="-228600">
              <a:spcBef>
                <a:spcPts val="488"/>
              </a:spcBef>
              <a:buClr>
                <a:srgbClr val="000000"/>
              </a:buClr>
              <a:buSzPct val="100000"/>
              <a:buFont typeface="Wingdings" pitchFamily="2" charset="2"/>
              <a:defRPr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4pPr>
            <a:lvl5pPr marL="2057400" indent="-228600">
              <a:spcBef>
                <a:spcPts val="488"/>
              </a:spcBef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5pPr>
            <a:lvl6pPr marL="25146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6pPr>
            <a:lvl7pPr marL="29718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7pPr>
            <a:lvl8pPr marL="34290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8pPr>
            <a:lvl9pPr marL="3886200" indent="-228600" eaLnBrk="0" fontAlgn="base" hangingPunct="0">
              <a:spcBef>
                <a:spcPts val="488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defRPr sz="1400">
                <a:solidFill>
                  <a:srgbClr val="000000"/>
                </a:solidFill>
                <a:latin typeface="Garamond" panose="02020404030301010803" pitchFamily="18" charset="0"/>
                <a:ea typeface="HG Mincho Light J" charset="0"/>
                <a:cs typeface="HG Mincho Light J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latin typeface="Arial" panose="020B0604020202020204" pitchFamily="34" charset="0"/>
                <a:cs typeface="Arial" panose="020B0604020202020204" pitchFamily="34" charset="0"/>
              </a:rPr>
              <a:t>Register Result Status</a:t>
            </a:r>
          </a:p>
        </p:txBody>
      </p:sp>
    </p:spTree>
    <p:extLst>
      <p:ext uri="{BB962C8B-B14F-4D97-AF65-F5344CB8AC3E}">
        <p14:creationId xmlns:p14="http://schemas.microsoft.com/office/powerpoint/2010/main" val="1055036591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Clarity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Clarity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hade val="86000"/>
                <a:satMod val="140000"/>
              </a:schemeClr>
            </a:gs>
            <a:gs pos="45000">
              <a:schemeClr val="phClr">
                <a:tint val="48000"/>
                <a:satMod val="150000"/>
              </a:schemeClr>
            </a:gs>
            <a:gs pos="100000">
              <a:schemeClr val="phClr">
                <a:tint val="28000"/>
                <a:satMod val="160000"/>
              </a:schemeClr>
            </a:gs>
          </a:gsLst>
          <a:path path="circle">
            <a:fillToRect l="100000" t="100000" r="100000" b="100000"/>
          </a:path>
        </a:gradFill>
        <a:gradFill rotWithShape="1">
          <a:gsLst>
            <a:gs pos="0">
              <a:schemeClr val="phClr">
                <a:shade val="70000"/>
                <a:satMod val="150000"/>
              </a:schemeClr>
            </a:gs>
            <a:gs pos="34000">
              <a:schemeClr val="phClr">
                <a:shade val="70000"/>
                <a:satMod val="140000"/>
              </a:schemeClr>
            </a:gs>
            <a:gs pos="70000">
              <a:schemeClr val="phClr">
                <a:tint val="100000"/>
                <a:shade val="90000"/>
                <a:satMod val="140000"/>
              </a:schemeClr>
            </a:gs>
            <a:gs pos="100000">
              <a:schemeClr val="phClr">
                <a:tint val="100000"/>
                <a:shade val="100000"/>
                <a:satMod val="100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26425" cap="flat" cmpd="sng" algn="ctr">
          <a:solidFill>
            <a:schemeClr val="phClr"/>
          </a:solidFill>
          <a:prstDash val="solid"/>
        </a:ln>
        <a:ln w="4445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5100000"/>
            </a:lightRig>
          </a:scene3d>
          <a:sp3d contourW="6350">
            <a:bevelT w="29210" h="12700"/>
            <a:contourClr>
              <a:schemeClr val="phClr">
                <a:shade val="30000"/>
                <a:satMod val="13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85000"/>
                <a:satMod val="180000"/>
              </a:schemeClr>
            </a:gs>
            <a:gs pos="40000">
              <a:schemeClr val="phClr">
                <a:tint val="95000"/>
                <a:shade val="85000"/>
                <a:satMod val="150000"/>
              </a:schemeClr>
            </a:gs>
            <a:gs pos="100000">
              <a:schemeClr val="phClr">
                <a:shade val="45000"/>
                <a:satMod val="200000"/>
              </a:schemeClr>
            </a:gs>
          </a:gsLst>
          <a:lin ang="5400000" scaled="0"/>
        </a:gradFill>
        <a:blipFill rotWithShape="1">
          <a:blip xmlns:r="http://schemas.openxmlformats.org/officeDocument/2006/relationships" r:embed="rId1">
            <a:duotone>
              <a:schemeClr val="phClr">
                <a:shade val="55000"/>
              </a:schemeClr>
              <a:schemeClr val="phClr">
                <a:tint val="97000"/>
                <a:satMod val="95000"/>
              </a:schemeClr>
            </a:duotone>
          </a:blip>
          <a:tile tx="0" ty="0" sx="70000" sy="70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Clarity</Template>
  <TotalTime>38022</TotalTime>
  <Words>12556</Words>
  <Application>Microsoft Macintosh PowerPoint</Application>
  <PresentationFormat>On-screen Show (4:3)</PresentationFormat>
  <Paragraphs>4891</Paragraphs>
  <Slides>146</Slides>
  <Notes>25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146</vt:i4>
      </vt:variant>
    </vt:vector>
  </HeadingPairs>
  <TitlesOfParts>
    <vt:vector size="159" baseType="lpstr">
      <vt:lpstr>ＭＳ Ｐゴシック</vt:lpstr>
      <vt:lpstr>Times</vt:lpstr>
      <vt:lpstr>ZapfDingbats</vt:lpstr>
      <vt:lpstr>Arial</vt:lpstr>
      <vt:lpstr>Calibri</vt:lpstr>
      <vt:lpstr>Courier</vt:lpstr>
      <vt:lpstr>Helvetica</vt:lpstr>
      <vt:lpstr>Roboto</vt:lpstr>
      <vt:lpstr>Symbol</vt:lpstr>
      <vt:lpstr>Tahoma</vt:lpstr>
      <vt:lpstr>Times New Roman</vt:lpstr>
      <vt:lpstr>Wingdings</vt:lpstr>
      <vt:lpstr>Clarity</vt:lpstr>
      <vt:lpstr>PowerPoint Presentation</vt:lpstr>
      <vt:lpstr>Objectives and Outline</vt:lpstr>
      <vt:lpstr>Module 6.1: Overview And CDC-6600 (scoreboarding)</vt:lpstr>
      <vt:lpstr>Objectives and Outline</vt:lpstr>
      <vt:lpstr>Overview</vt:lpstr>
      <vt:lpstr>True data dependences</vt:lpstr>
      <vt:lpstr>Dynamic scheduling</vt:lpstr>
      <vt:lpstr>Pipeline modification</vt:lpstr>
      <vt:lpstr>Pipeline modification</vt:lpstr>
      <vt:lpstr>Pipeline modification</vt:lpstr>
      <vt:lpstr>High-level view</vt:lpstr>
      <vt:lpstr>Early dynamically scheduled machines</vt:lpstr>
      <vt:lpstr>CDC-6600 (DLX version)</vt:lpstr>
      <vt:lpstr>Aside: Warning – H&amp;P naming</vt:lpstr>
      <vt:lpstr>CDC-6600 (DLX version)</vt:lpstr>
      <vt:lpstr>Scoreboard</vt:lpstr>
      <vt:lpstr>Running example</vt:lpstr>
      <vt:lpstr>CDC-6600 example</vt:lpstr>
      <vt:lpstr>CDC-6600 example</vt:lpstr>
      <vt:lpstr>CDC-6600 example</vt:lpstr>
      <vt:lpstr>CDC-6600 example</vt:lpstr>
      <vt:lpstr>CDC-6600 example</vt:lpstr>
      <vt:lpstr>CDC-6600 example</vt:lpstr>
      <vt:lpstr>CDC-6600 example</vt:lpstr>
      <vt:lpstr>CDC-6600 example</vt:lpstr>
      <vt:lpstr>Remaining bottlenecks</vt:lpstr>
      <vt:lpstr>Module 6.2: OoO execution (Tomasulo’s algorithm)</vt:lpstr>
      <vt:lpstr>RECAP: CDC-6600 example</vt:lpstr>
      <vt:lpstr>Objectives and Outline</vt:lpstr>
      <vt:lpstr>Tomasulo’s Algorithm</vt:lpstr>
      <vt:lpstr>Key aspects of Tomasulo’s Alg.</vt:lpstr>
      <vt:lpstr>Other differences with CDC</vt:lpstr>
      <vt:lpstr>360/91 FP unit (DLX version)</vt:lpstr>
      <vt:lpstr>Tomasulo’s Alg. (DLX version)</vt:lpstr>
      <vt:lpstr>Four stages (cont…)</vt:lpstr>
      <vt:lpstr>Register renaming</vt:lpstr>
      <vt:lpstr>Register renaming</vt:lpstr>
      <vt:lpstr>How (Tomasulo) renaming works (1)</vt:lpstr>
      <vt:lpstr>(2)</vt:lpstr>
      <vt:lpstr>(3)</vt:lpstr>
      <vt:lpstr>(4)</vt:lpstr>
      <vt:lpstr>(5)</vt:lpstr>
      <vt:lpstr>(6) Second load completes 1st</vt:lpstr>
      <vt:lpstr>(7)</vt:lpstr>
      <vt:lpstr>PowerPoint Presentation</vt:lpstr>
      <vt:lpstr>Aside: CDC-6600 example</vt:lpstr>
      <vt:lpstr>Tomasulo vs. Scoreboard</vt:lpstr>
      <vt:lpstr>Further study…</vt:lpstr>
      <vt:lpstr>Module 6.3: Precise Interrupt and Reorder Buffer</vt:lpstr>
      <vt:lpstr>Objectives and Outline</vt:lpstr>
      <vt:lpstr>Precise interrupts</vt:lpstr>
      <vt:lpstr>Interrupts</vt:lpstr>
      <vt:lpstr>Classifying Interrupts</vt:lpstr>
      <vt:lpstr>Classifying Interrupts (cont.)</vt:lpstr>
      <vt:lpstr>Handling interrupts</vt:lpstr>
      <vt:lpstr>Handling interrupts (cont.)</vt:lpstr>
      <vt:lpstr>Handling interrupts (cont.)</vt:lpstr>
      <vt:lpstr>OOO-execution and interrupts</vt:lpstr>
      <vt:lpstr>Solutions</vt:lpstr>
      <vt:lpstr>Reorder Buffer (ROB)</vt:lpstr>
      <vt:lpstr>New stage: Retire (RE)</vt:lpstr>
      <vt:lpstr>Reorder Buffer (cont.)</vt:lpstr>
      <vt:lpstr>Precise Tomasulo Pipeline with ROB</vt:lpstr>
      <vt:lpstr>ROB requires bypass</vt:lpstr>
      <vt:lpstr>PowerPoint Presentation</vt:lpstr>
      <vt:lpstr>Example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Two scenarios next…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Now do scenario #2</vt:lpstr>
      <vt:lpstr>PowerPoint Presentation</vt:lpstr>
      <vt:lpstr>PowerPoint Presentation</vt:lpstr>
      <vt:lpstr>Handling Branch Mispredictions</vt:lpstr>
      <vt:lpstr>Module 6.4: ILP 4, History Buffer, Future File, Memory Dependences and Ordering</vt:lpstr>
      <vt:lpstr>Objectives and Outline</vt:lpstr>
      <vt:lpstr>Historical Perspective</vt:lpstr>
      <vt:lpstr>History Buffer (HB)</vt:lpstr>
      <vt:lpstr>History Buffer (cont.)</vt:lpstr>
      <vt:lpstr>Precise Tomasulo Pipeline with HB</vt:lpstr>
      <vt:lpstr>HB analysis</vt:lpstr>
      <vt:lpstr>Future File (FF)</vt:lpstr>
      <vt:lpstr>Precise Tomasulo Pipeline with FF</vt:lpstr>
      <vt:lpstr>FF analysis</vt:lpstr>
      <vt:lpstr>Recall Memory Dependences…</vt:lpstr>
      <vt:lpstr>Memory Data Dependences</vt:lpstr>
      <vt:lpstr>Memory Dependency</vt:lpstr>
      <vt:lpstr>How Loads and Stores are Handled</vt:lpstr>
      <vt:lpstr>Load Forwarding</vt:lpstr>
      <vt:lpstr>Memory Disambiguation Speculation</vt:lpstr>
      <vt:lpstr>Speculative Memory Disambiguation</vt:lpstr>
      <vt:lpstr>Use of Prediction</vt:lpstr>
      <vt:lpstr>Module 6.5: Superscalar and the Limit of ILP</vt:lpstr>
      <vt:lpstr>Objectives and Outline</vt:lpstr>
      <vt:lpstr>Limits of Pipelining</vt:lpstr>
      <vt:lpstr>Superscalar processing</vt:lpstr>
      <vt:lpstr>How to Get to Superscalar</vt:lpstr>
      <vt:lpstr>New complexity</vt:lpstr>
      <vt:lpstr>Superscalar complexity and cycle time</vt:lpstr>
      <vt:lpstr>Superscalar evolution</vt:lpstr>
      <vt:lpstr>High-bandwidth instruction fetching</vt:lpstr>
      <vt:lpstr>Inexpensive dual-porting: interleaving</vt:lpstr>
      <vt:lpstr>Interleaving (cont.)</vt:lpstr>
      <vt:lpstr>Dispatch and Renaming</vt:lpstr>
      <vt:lpstr>Issue</vt:lpstr>
      <vt:lpstr>Issue</vt:lpstr>
      <vt:lpstr>Issue</vt:lpstr>
      <vt:lpstr>Execute</vt:lpstr>
      <vt:lpstr>Retirement of Load vs. Store</vt:lpstr>
      <vt:lpstr>Conclusions</vt:lpstr>
      <vt:lpstr>Module 6.6: ILP 6 - Compilation for Superscalar Execution</vt:lpstr>
      <vt:lpstr>Objectives and Outline</vt:lpstr>
      <vt:lpstr>Static Scheduling</vt:lpstr>
      <vt:lpstr>Static / Dynamic Scheduling</vt:lpstr>
      <vt:lpstr>Local scheduling</vt:lpstr>
      <vt:lpstr>Loop Unrolling</vt:lpstr>
      <vt:lpstr>Loop Unrolling</vt:lpstr>
      <vt:lpstr>Software Pipelining</vt:lpstr>
      <vt:lpstr>Software Pipelining</vt:lpstr>
      <vt:lpstr>Software Pipelining</vt:lpstr>
      <vt:lpstr>Trace Scheduling</vt:lpstr>
      <vt:lpstr>Predication</vt:lpstr>
      <vt:lpstr>Predication</vt:lpstr>
      <vt:lpstr>CDC-6600 example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Logic Design</dc:title>
  <dc:creator>Sarah</dc:creator>
  <cp:lastModifiedBy>Jongouk Choi</cp:lastModifiedBy>
  <cp:revision>144</cp:revision>
  <dcterms:created xsi:type="dcterms:W3CDTF">2013-08-25T15:09:28Z</dcterms:created>
  <dcterms:modified xsi:type="dcterms:W3CDTF">2026-03-30T20:32:28Z</dcterms:modified>
</cp:coreProperties>
</file>
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775" r:id="rId2"/>
    <p:sldId id="6216" r:id="rId3"/>
    <p:sldId id="6211" r:id="rId4"/>
    <p:sldId id="782" r:id="rId5"/>
    <p:sldId id="6230" r:id="rId6"/>
    <p:sldId id="6218" r:id="rId7"/>
    <p:sldId id="6214" r:id="rId8"/>
    <p:sldId id="261" r:id="rId9"/>
    <p:sldId id="264" r:id="rId10"/>
    <p:sldId id="6191" r:id="rId11"/>
    <p:sldId id="6192" r:id="rId12"/>
    <p:sldId id="6193" r:id="rId13"/>
    <p:sldId id="6195" r:id="rId14"/>
    <p:sldId id="785" r:id="rId15"/>
    <p:sldId id="786" r:id="rId16"/>
    <p:sldId id="787" r:id="rId17"/>
    <p:sldId id="6231" r:id="rId18"/>
    <p:sldId id="6232" r:id="rId19"/>
    <p:sldId id="260" r:id="rId20"/>
    <p:sldId id="6196" r:id="rId21"/>
    <p:sldId id="6197" r:id="rId22"/>
    <p:sldId id="6198" r:id="rId23"/>
    <p:sldId id="6194" r:id="rId24"/>
    <p:sldId id="788" r:id="rId25"/>
    <p:sldId id="6199" r:id="rId26"/>
    <p:sldId id="6200" r:id="rId27"/>
    <p:sldId id="6212" r:id="rId28"/>
    <p:sldId id="6201" r:id="rId29"/>
    <p:sldId id="762" r:id="rId30"/>
    <p:sldId id="292" r:id="rId31"/>
    <p:sldId id="6202" r:id="rId32"/>
    <p:sldId id="763" r:id="rId33"/>
    <p:sldId id="6203" r:id="rId34"/>
    <p:sldId id="764" r:id="rId35"/>
    <p:sldId id="765" r:id="rId36"/>
    <p:sldId id="297" r:id="rId37"/>
    <p:sldId id="6204" r:id="rId38"/>
    <p:sldId id="266" r:id="rId39"/>
    <p:sldId id="6205" r:id="rId40"/>
    <p:sldId id="6213" r:id="rId41"/>
    <p:sldId id="6227" r:id="rId42"/>
    <p:sldId id="6228" r:id="rId43"/>
    <p:sldId id="6229" r:id="rId44"/>
    <p:sldId id="774" r:id="rId45"/>
    <p:sldId id="692" r:id="rId46"/>
    <p:sldId id="6208" r:id="rId47"/>
    <p:sldId id="694" r:id="rId48"/>
    <p:sldId id="685" r:id="rId49"/>
    <p:sldId id="696" r:id="rId50"/>
    <p:sldId id="689" r:id="rId51"/>
    <p:sldId id="698" r:id="rId52"/>
    <p:sldId id="700" r:id="rId53"/>
    <p:sldId id="688" r:id="rId54"/>
    <p:sldId id="6186" r:id="rId55"/>
    <p:sldId id="6215" r:id="rId56"/>
    <p:sldId id="6219" r:id="rId57"/>
    <p:sldId id="699" r:id="rId58"/>
    <p:sldId id="771" r:id="rId59"/>
    <p:sldId id="6209"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76986"/>
  </p:normalViewPr>
  <p:slideViewPr>
    <p:cSldViewPr>
      <p:cViewPr varScale="1">
        <p:scale>
          <a:sx n="96" d="100"/>
          <a:sy n="96" d="100"/>
        </p:scale>
        <p:origin x="1616" y="176"/>
      </p:cViewPr>
      <p:guideLst>
        <p:guide orient="horz" pos="2160"/>
        <p:guide pos="2880"/>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D608DC-8D6E-4521-83A1-1679D4D138BF}" type="datetimeFigureOut">
              <a:rPr lang="en-US" smtClean="0"/>
              <a:t>2/2/26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B38D67-2875-4081-97FB-ED7B2AD29D1C}" type="slidenum">
              <a:rPr lang="en-US" smtClean="0"/>
              <a:t>‹#›</a:t>
            </a:fld>
            <a:endParaRPr lang="en-US"/>
          </a:p>
        </p:txBody>
      </p:sp>
    </p:spTree>
    <p:extLst>
      <p:ext uri="{BB962C8B-B14F-4D97-AF65-F5344CB8AC3E}">
        <p14:creationId xmlns:p14="http://schemas.microsoft.com/office/powerpoint/2010/main" val="1044045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1</a:t>
            </a:fld>
            <a:endParaRPr lang="en-US"/>
          </a:p>
        </p:txBody>
      </p:sp>
    </p:spTree>
    <p:extLst>
      <p:ext uri="{BB962C8B-B14F-4D97-AF65-F5344CB8AC3E}">
        <p14:creationId xmlns:p14="http://schemas.microsoft.com/office/powerpoint/2010/main" val="2532354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5CD5F1A2-1680-0F44-AF09-A70163904C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spcBef>
                <a:spcPct val="30000"/>
              </a:spcBef>
              <a:defRPr sz="1200">
                <a:solidFill>
                  <a:schemeClr val="tx1"/>
                </a:solidFill>
                <a:latin typeface="Helvetica" pitchFamily="2" charset="0"/>
                <a:ea typeface="ＭＳ Ｐゴシック" panose="020B0600070205080204" pitchFamily="34" charset="-128"/>
              </a:defRPr>
            </a:lvl1pPr>
            <a:lvl2pPr marL="742950" indent="-285750" defTabSz="949325">
              <a:spcBef>
                <a:spcPct val="30000"/>
              </a:spcBef>
              <a:defRPr sz="1200">
                <a:solidFill>
                  <a:schemeClr val="tx1"/>
                </a:solidFill>
                <a:latin typeface="Helvetica" pitchFamily="2" charset="0"/>
                <a:ea typeface="ＭＳ Ｐゴシック" panose="020B0600070205080204" pitchFamily="34" charset="-128"/>
              </a:defRPr>
            </a:lvl2pPr>
            <a:lvl3pPr marL="1143000" indent="-228600" defTabSz="949325">
              <a:spcBef>
                <a:spcPct val="30000"/>
              </a:spcBef>
              <a:defRPr sz="1200">
                <a:solidFill>
                  <a:schemeClr val="tx1"/>
                </a:solidFill>
                <a:latin typeface="Helvetica" pitchFamily="2" charset="0"/>
                <a:ea typeface="ＭＳ Ｐゴシック" panose="020B0600070205080204" pitchFamily="34" charset="-128"/>
              </a:defRPr>
            </a:lvl3pPr>
            <a:lvl4pPr marL="1600200" indent="-228600" defTabSz="949325">
              <a:spcBef>
                <a:spcPct val="30000"/>
              </a:spcBef>
              <a:defRPr sz="1200">
                <a:solidFill>
                  <a:schemeClr val="tx1"/>
                </a:solidFill>
                <a:latin typeface="Helvetica" pitchFamily="2" charset="0"/>
                <a:ea typeface="ＭＳ Ｐゴシック" panose="020B0600070205080204" pitchFamily="34" charset="-128"/>
              </a:defRPr>
            </a:lvl4pPr>
            <a:lvl5pPr marL="2057400" indent="-228600" defTabSz="949325">
              <a:spcBef>
                <a:spcPct val="30000"/>
              </a:spcBef>
              <a:defRPr sz="1200">
                <a:solidFill>
                  <a:schemeClr val="tx1"/>
                </a:solidFill>
                <a:latin typeface="Helvetica" pitchFamily="2" charset="0"/>
                <a:ea typeface="ＭＳ Ｐゴシック" panose="020B0600070205080204" pitchFamily="34" charset="-128"/>
              </a:defRPr>
            </a:lvl5pPr>
            <a:lvl6pPr marL="25146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6pPr>
            <a:lvl7pPr marL="29718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7pPr>
            <a:lvl8pPr marL="34290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8pPr>
            <a:lvl9pPr marL="38862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9pPr>
          </a:lstStyle>
          <a:p>
            <a:pPr>
              <a:spcBef>
                <a:spcPct val="0"/>
              </a:spcBef>
            </a:pPr>
            <a:fld id="{E513FC45-2D34-004F-8716-21477673E15F}" type="slidenum">
              <a:rPr lang="en-US" altLang="en-US">
                <a:latin typeface="Times" pitchFamily="2" charset="0"/>
              </a:rPr>
              <a:pPr>
                <a:spcBef>
                  <a:spcPct val="0"/>
                </a:spcBef>
              </a:pPr>
              <a:t>3</a:t>
            </a:fld>
            <a:endParaRPr lang="en-US" altLang="en-US">
              <a:latin typeface="Times" pitchFamily="2" charset="0"/>
            </a:endParaRPr>
          </a:p>
        </p:txBody>
      </p:sp>
      <p:sp>
        <p:nvSpPr>
          <p:cNvPr id="44034" name="Rectangle 2">
            <a:extLst>
              <a:ext uri="{FF2B5EF4-FFF2-40B4-BE49-F238E27FC236}">
                <a16:creationId xmlns:a16="http://schemas.microsoft.com/office/drawing/2014/main" id="{210D6C6E-7EA3-FB4A-9E26-3C74FB3A36B8}"/>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DB0FDE39-EBB2-5F41-9BDB-D1A5F2FE3B2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Helvetica" pitchFamily="2" charset="0"/>
              <a:ea typeface="ＭＳ Ｐゴシック" panose="020B0600070205080204" pitchFamily="34" charset="-128"/>
            </a:endParaRPr>
          </a:p>
        </p:txBody>
      </p:sp>
    </p:spTree>
    <p:extLst>
      <p:ext uri="{BB962C8B-B14F-4D97-AF65-F5344CB8AC3E}">
        <p14:creationId xmlns:p14="http://schemas.microsoft.com/office/powerpoint/2010/main" val="428755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Instruction set architecture is the agreement between hardware and software.</a:t>
            </a:r>
          </a:p>
          <a:p>
            <a:r>
              <a:rPr lang="en-US" sz="1200" b="0" i="0" kern="1200" dirty="0">
                <a:solidFill>
                  <a:schemeClr val="tx1"/>
                </a:solidFill>
                <a:effectLst/>
                <a:latin typeface="+mn-lt"/>
                <a:ea typeface="+mn-ea"/>
                <a:cs typeface="+mn-cs"/>
              </a:rPr>
              <a:t>as long as the software follows the agreement, it can control the hardware.</a:t>
            </a:r>
          </a:p>
          <a:p>
            <a:r>
              <a:rPr lang="en-US" sz="1200" b="0" i="0" kern="1200" dirty="0">
                <a:solidFill>
                  <a:schemeClr val="tx1"/>
                </a:solidFill>
                <a:effectLst/>
                <a:latin typeface="+mn-lt"/>
                <a:ea typeface="+mn-ea"/>
                <a:cs typeface="+mn-cs"/>
              </a:rPr>
              <a:t>[click]</a:t>
            </a:r>
          </a:p>
          <a:p>
            <a:r>
              <a:rPr lang="en-US" sz="1200" b="0" i="0" kern="1200" dirty="0">
                <a:solidFill>
                  <a:schemeClr val="tx1"/>
                </a:solidFill>
                <a:effectLst/>
                <a:latin typeface="+mn-lt"/>
                <a:ea typeface="+mn-ea"/>
                <a:cs typeface="+mn-cs"/>
              </a:rPr>
              <a:t>instructions are the words of a computer language, and you can think it is like a vocabulary.</a:t>
            </a:r>
          </a:p>
          <a:p>
            <a:r>
              <a:rPr lang="en-US" sz="1200" b="0" i="0" kern="1200" dirty="0">
                <a:solidFill>
                  <a:schemeClr val="tx1"/>
                </a:solidFill>
                <a:effectLst/>
                <a:latin typeface="+mn-lt"/>
                <a:ea typeface="+mn-ea"/>
                <a:cs typeface="+mn-cs"/>
              </a:rPr>
              <a:t>[click]</a:t>
            </a:r>
          </a:p>
          <a:p>
            <a:r>
              <a:rPr lang="en-US" sz="1200" b="0" i="0" kern="1200" dirty="0">
                <a:solidFill>
                  <a:schemeClr val="tx1"/>
                </a:solidFill>
                <a:effectLst/>
                <a:latin typeface="+mn-lt"/>
                <a:ea typeface="+mn-ea"/>
                <a:cs typeface="+mn-cs"/>
              </a:rPr>
              <a:t>however, the set itself may differ from system to system.</a:t>
            </a:r>
          </a:p>
          <a:p>
            <a:r>
              <a:rPr lang="en-US" sz="1200" b="0" i="0" kern="1200" dirty="0">
                <a:solidFill>
                  <a:schemeClr val="tx1"/>
                </a:solidFill>
                <a:effectLst/>
                <a:latin typeface="+mn-lt"/>
                <a:ea typeface="+mn-ea"/>
                <a:cs typeface="+mn-cs"/>
              </a:rPr>
              <a:t>if you target x86 intel architecture, the </a:t>
            </a:r>
            <a:r>
              <a:rPr lang="en-US" sz="1200" b="0" i="0" kern="1200" dirty="0" err="1">
                <a:solidFill>
                  <a:schemeClr val="tx1"/>
                </a:solidFill>
                <a:effectLst/>
                <a:latin typeface="+mn-lt"/>
                <a:ea typeface="+mn-ea"/>
                <a:cs typeface="+mn-cs"/>
              </a:rPr>
              <a:t>isa</a:t>
            </a:r>
            <a:r>
              <a:rPr lang="en-US" sz="1200" b="0" i="0" kern="1200" dirty="0">
                <a:solidFill>
                  <a:schemeClr val="tx1"/>
                </a:solidFill>
                <a:effectLst/>
                <a:latin typeface="+mn-lt"/>
                <a:ea typeface="+mn-ea"/>
                <a:cs typeface="+mn-cs"/>
              </a:rPr>
              <a:t> must be different.</a:t>
            </a:r>
          </a:p>
          <a:p>
            <a:r>
              <a:rPr lang="en-US" sz="1200" b="0" i="0" kern="1200" dirty="0">
                <a:solidFill>
                  <a:schemeClr val="tx1"/>
                </a:solidFill>
                <a:effectLst/>
                <a:latin typeface="+mn-lt"/>
                <a:ea typeface="+mn-ea"/>
                <a:cs typeface="+mn-cs"/>
              </a:rPr>
              <a:t>But all systems have some common concepts</a:t>
            </a:r>
          </a:p>
          <a:p>
            <a:r>
              <a:rPr lang="en-US" sz="1200" b="0" i="0" kern="1200" dirty="0" err="1">
                <a:solidFill>
                  <a:schemeClr val="tx1"/>
                </a:solidFill>
                <a:effectLst/>
                <a:latin typeface="+mn-lt"/>
                <a:ea typeface="+mn-ea"/>
                <a:cs typeface="+mn-cs"/>
              </a:rPr>
              <a:t>jcomputational</a:t>
            </a:r>
            <a:r>
              <a:rPr lang="en-US" sz="1200" b="0" i="0" kern="1200" dirty="0">
                <a:solidFill>
                  <a:schemeClr val="tx1"/>
                </a:solidFill>
                <a:effectLst/>
                <a:latin typeface="+mn-lt"/>
                <a:ea typeface="+mn-ea"/>
                <a:cs typeface="+mn-cs"/>
              </a:rPr>
              <a:t> operations.</a:t>
            </a:r>
          </a:p>
          <a:p>
            <a:r>
              <a:rPr lang="en-US" sz="1200" b="0" i="0" kern="1200" dirty="0">
                <a:solidFill>
                  <a:schemeClr val="tx1"/>
                </a:solidFill>
                <a:effectLst/>
                <a:latin typeface="+mn-lt"/>
                <a:ea typeface="+mn-ea"/>
                <a:cs typeface="+mn-cs"/>
              </a:rPr>
              <a:t>There is always a way to access memory and handle the addressing for that.</a:t>
            </a:r>
          </a:p>
          <a:p>
            <a:r>
              <a:rPr lang="en-US" sz="1200" b="0" i="0" kern="1200" dirty="0">
                <a:solidFill>
                  <a:schemeClr val="tx1"/>
                </a:solidFill>
                <a:effectLst/>
                <a:latin typeface="+mn-lt"/>
                <a:ea typeface="+mn-ea"/>
                <a:cs typeface="+mn-cs"/>
              </a:rPr>
              <a:t>All instruction sets support branches,</a:t>
            </a:r>
          </a:p>
          <a:p>
            <a:r>
              <a:rPr lang="en-US" sz="1200" b="0" i="0" kern="1200" dirty="0">
                <a:solidFill>
                  <a:schemeClr val="tx1"/>
                </a:solidFill>
                <a:effectLst/>
                <a:latin typeface="+mn-lt"/>
                <a:ea typeface="+mn-ea"/>
                <a:cs typeface="+mn-cs"/>
              </a:rPr>
              <a:t>And there's also a method for procedure calls. or function calls.</a:t>
            </a:r>
          </a:p>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7</a:t>
            </a:fld>
            <a:endParaRPr lang="en-US"/>
          </a:p>
        </p:txBody>
      </p:sp>
    </p:spTree>
    <p:extLst>
      <p:ext uri="{BB962C8B-B14F-4D97-AF65-F5344CB8AC3E}">
        <p14:creationId xmlns:p14="http://schemas.microsoft.com/office/powerpoint/2010/main" val="2299828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first </a:t>
            </a:r>
            <a:r>
              <a:rPr lang="en-US" sz="1200" b="0" i="0" kern="1200" dirty="0" err="1">
                <a:solidFill>
                  <a:schemeClr val="tx1"/>
                </a:solidFill>
                <a:effectLst/>
                <a:latin typeface="+mn-lt"/>
                <a:ea typeface="+mn-ea"/>
                <a:cs typeface="+mn-cs"/>
              </a:rPr>
              <a:t>talke</a:t>
            </a:r>
            <a:r>
              <a:rPr lang="en-US" sz="1200" b="0" i="0" kern="1200" dirty="0">
                <a:solidFill>
                  <a:schemeClr val="tx1"/>
                </a:solidFill>
                <a:effectLst/>
                <a:latin typeface="+mn-lt"/>
                <a:ea typeface="+mn-ea"/>
                <a:cs typeface="+mn-cs"/>
              </a:rPr>
              <a:t> about the arithmetic operations with ISA.</a:t>
            </a:r>
          </a:p>
          <a:p>
            <a:r>
              <a:rPr lang="en-US" sz="1200" b="0" i="0" kern="1200" dirty="0">
                <a:solidFill>
                  <a:schemeClr val="tx1"/>
                </a:solidFill>
                <a:effectLst/>
                <a:latin typeface="+mn-lt"/>
                <a:ea typeface="+mn-ea"/>
                <a:cs typeface="+mn-cs"/>
              </a:rPr>
              <a:t>since All hardware systems need to be able to add values.[click]</a:t>
            </a:r>
          </a:p>
          <a:p>
            <a:r>
              <a:rPr lang="en-US" sz="1200" b="0" i="0" kern="1200" dirty="0">
                <a:solidFill>
                  <a:schemeClr val="tx1"/>
                </a:solidFill>
                <a:effectLst/>
                <a:latin typeface="+mn-lt"/>
                <a:ea typeface="+mn-ea"/>
                <a:cs typeface="+mn-cs"/>
              </a:rPr>
              <a:t>let's say we want to add b to c and store the sum into a.</a:t>
            </a:r>
          </a:p>
          <a:p>
            <a:r>
              <a:rPr lang="en-US" sz="1200" b="0" i="0" kern="1200" dirty="0">
                <a:solidFill>
                  <a:schemeClr val="tx1"/>
                </a:solidFill>
                <a:effectLst/>
                <a:latin typeface="+mn-lt"/>
                <a:ea typeface="+mn-ea"/>
                <a:cs typeface="+mn-cs"/>
              </a:rPr>
              <a:t>that is a=</a:t>
            </a:r>
            <a:r>
              <a:rPr lang="en-US" sz="1200" b="0" i="0" kern="1200" dirty="0" err="1">
                <a:solidFill>
                  <a:schemeClr val="tx1"/>
                </a:solidFill>
                <a:effectLst/>
                <a:latin typeface="+mn-lt"/>
                <a:ea typeface="+mn-ea"/>
                <a:cs typeface="+mn-cs"/>
              </a:rPr>
              <a:t>b+c</a:t>
            </a:r>
            <a:r>
              <a:rPr lang="en-US" sz="1200" b="0" i="0" kern="1200" dirty="0">
                <a:solidFill>
                  <a:schemeClr val="tx1"/>
                </a:solidFill>
                <a:effectLst/>
                <a:latin typeface="+mn-lt"/>
                <a:ea typeface="+mn-ea"/>
                <a:cs typeface="+mn-cs"/>
              </a:rPr>
              <a:t>;[click]\</a:t>
            </a:r>
          </a:p>
          <a:p>
            <a:r>
              <a:rPr lang="en-US" sz="1200" b="0" i="0" kern="1200" dirty="0">
                <a:solidFill>
                  <a:schemeClr val="tx1"/>
                </a:solidFill>
                <a:effectLst/>
                <a:latin typeface="+mn-lt"/>
                <a:ea typeface="+mn-ea"/>
                <a:cs typeface="+mn-cs"/>
              </a:rPr>
              <a:t>to run this operation, we need to have three operands, a destination and two sources.</a:t>
            </a:r>
          </a:p>
          <a:p>
            <a:r>
              <a:rPr lang="en-US" sz="1200" b="0" i="0" kern="1200" dirty="0">
                <a:solidFill>
                  <a:schemeClr val="tx1"/>
                </a:solidFill>
                <a:effectLst/>
                <a:latin typeface="+mn-lt"/>
                <a:ea typeface="+mn-ea"/>
                <a:cs typeface="+mn-cs"/>
              </a:rPr>
              <a:t>The order of which are important for the language.</a:t>
            </a:r>
          </a:p>
          <a:p>
            <a:r>
              <a:rPr lang="en-US" sz="1200" b="0" i="0" kern="1200" dirty="0">
                <a:solidFill>
                  <a:schemeClr val="tx1"/>
                </a:solidFill>
                <a:effectLst/>
                <a:latin typeface="+mn-lt"/>
                <a:ea typeface="+mn-ea"/>
                <a:cs typeface="+mn-cs"/>
              </a:rPr>
              <a:t>Our command is add, and</a:t>
            </a:r>
          </a:p>
          <a:p>
            <a:r>
              <a:rPr lang="en-US" sz="1200" b="0" i="0" kern="1200" dirty="0">
                <a:solidFill>
                  <a:schemeClr val="tx1"/>
                </a:solidFill>
                <a:effectLst/>
                <a:latin typeface="+mn-lt"/>
                <a:ea typeface="+mn-ea"/>
                <a:cs typeface="+mn-cs"/>
              </a:rPr>
              <a:t>then our operands are listed a then b, then c,</a:t>
            </a:r>
          </a:p>
          <a:p>
            <a:r>
              <a:rPr lang="en-US" sz="1200" b="0" i="0" kern="1200" dirty="0">
                <a:solidFill>
                  <a:schemeClr val="tx1"/>
                </a:solidFill>
                <a:effectLst/>
                <a:latin typeface="+mn-lt"/>
                <a:ea typeface="+mn-ea"/>
                <a:cs typeface="+mn-cs"/>
              </a:rPr>
              <a:t>which translates into a has been assigned the value of b plus c.[click]</a:t>
            </a:r>
          </a:p>
          <a:p>
            <a:r>
              <a:rPr lang="en-US" sz="1200" b="0" i="0" kern="1200" dirty="0">
                <a:solidFill>
                  <a:schemeClr val="tx1"/>
                </a:solidFill>
                <a:effectLst/>
                <a:latin typeface="+mn-lt"/>
                <a:ea typeface="+mn-ea"/>
                <a:cs typeface="+mn-cs"/>
              </a:rPr>
              <a:t>this is like a R type </a:t>
            </a:r>
            <a:r>
              <a:rPr lang="en-US" sz="1200" b="0" i="0" kern="1200" dirty="0" err="1">
                <a:solidFill>
                  <a:schemeClr val="tx1"/>
                </a:solidFill>
                <a:effectLst/>
                <a:latin typeface="+mn-lt"/>
                <a:ea typeface="+mn-ea"/>
                <a:cs typeface="+mn-cs"/>
              </a:rPr>
              <a:t>MIpS</a:t>
            </a:r>
            <a:r>
              <a:rPr lang="en-US" sz="1200" b="0" i="0" kern="1200" dirty="0">
                <a:solidFill>
                  <a:schemeClr val="tx1"/>
                </a:solidFill>
                <a:effectLst/>
                <a:latin typeface="+mn-lt"/>
                <a:ea typeface="+mn-ea"/>
                <a:cs typeface="+mn-cs"/>
              </a:rPr>
              <a:t> instruction, we are going to talk about the type later.</a:t>
            </a:r>
          </a:p>
          <a:p>
            <a:r>
              <a:rPr lang="en-US" sz="1200" b="0" i="0" kern="1200" dirty="0">
                <a:solidFill>
                  <a:schemeClr val="tx1"/>
                </a:solidFill>
                <a:effectLst/>
                <a:latin typeface="+mn-lt"/>
                <a:ea typeface="+mn-ea"/>
                <a:cs typeface="+mn-cs"/>
              </a:rPr>
              <a:t>So this is our first instruction, it is part of a classification of</a:t>
            </a:r>
          </a:p>
          <a:p>
            <a:r>
              <a:rPr lang="en-US" sz="1200" b="0" i="0" kern="1200" dirty="0">
                <a:solidFill>
                  <a:schemeClr val="tx1"/>
                </a:solidFill>
                <a:effectLst/>
                <a:latin typeface="+mn-lt"/>
                <a:ea typeface="+mn-ea"/>
                <a:cs typeface="+mn-cs"/>
              </a:rPr>
              <a:t>instructions called R type instructions and for our R types,</a:t>
            </a:r>
          </a:p>
          <a:p>
            <a:r>
              <a:rPr lang="en-US" sz="1200" b="0" i="0" kern="1200" dirty="0">
                <a:solidFill>
                  <a:schemeClr val="tx1"/>
                </a:solidFill>
                <a:effectLst/>
                <a:latin typeface="+mn-lt"/>
                <a:ea typeface="+mn-ea"/>
                <a:cs typeface="+mn-cs"/>
              </a:rPr>
              <a:t>they're always of this form, the name of the instruction and</a:t>
            </a:r>
          </a:p>
          <a:p>
            <a:r>
              <a:rPr lang="en-US" sz="1200" b="0" i="0" kern="1200" dirty="0">
                <a:solidFill>
                  <a:schemeClr val="tx1"/>
                </a:solidFill>
                <a:effectLst/>
                <a:latin typeface="+mn-lt"/>
                <a:ea typeface="+mn-ea"/>
                <a:cs typeface="+mn-cs"/>
              </a:rPr>
              <a:t>then the three variables, two sources and one destination.</a:t>
            </a:r>
          </a:p>
        </p:txBody>
      </p:sp>
      <p:sp>
        <p:nvSpPr>
          <p:cNvPr id="4" name="Slide Number Placeholder 3"/>
          <p:cNvSpPr>
            <a:spLocks noGrp="1"/>
          </p:cNvSpPr>
          <p:nvPr>
            <p:ph type="sldNum" sz="quarter" idx="5"/>
          </p:nvPr>
        </p:nvSpPr>
        <p:spPr/>
        <p:txBody>
          <a:bodyPr/>
          <a:lstStyle/>
          <a:p>
            <a:fld id="{A6B38D67-2875-4081-97FB-ED7B2AD29D1C}" type="slidenum">
              <a:rPr lang="en-US" smtClean="0"/>
              <a:t>8</a:t>
            </a:fld>
            <a:endParaRPr lang="en-US"/>
          </a:p>
        </p:txBody>
      </p:sp>
    </p:spTree>
    <p:extLst>
      <p:ext uri="{BB962C8B-B14F-4D97-AF65-F5344CB8AC3E}">
        <p14:creationId xmlns:p14="http://schemas.microsoft.com/office/powerpoint/2010/main" val="4088904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look at a slightly more complex addition.</a:t>
            </a:r>
          </a:p>
          <a:p>
            <a:r>
              <a:rPr lang="en-US" sz="1200" b="0" i="0" kern="1200" dirty="0">
                <a:solidFill>
                  <a:schemeClr val="tx1"/>
                </a:solidFill>
                <a:effectLst/>
                <a:latin typeface="+mn-lt"/>
                <a:ea typeface="+mn-ea"/>
                <a:cs typeface="+mn-cs"/>
              </a:rPr>
              <a:t>Let's suppose we wanted to add four things together.[click]</a:t>
            </a:r>
          </a:p>
          <a:p>
            <a:r>
              <a:rPr lang="en-US" sz="1200" b="0" i="0" kern="1200" dirty="0">
                <a:solidFill>
                  <a:schemeClr val="tx1"/>
                </a:solidFill>
                <a:effectLst/>
                <a:latin typeface="+mn-lt"/>
                <a:ea typeface="+mn-ea"/>
                <a:cs typeface="+mn-cs"/>
              </a:rPr>
              <a:t>We'll do b plus c. Store the sum into a.[click]</a:t>
            </a:r>
          </a:p>
          <a:p>
            <a:r>
              <a:rPr lang="en-US" sz="1200" b="0" i="0" kern="1200" dirty="0">
                <a:solidFill>
                  <a:schemeClr val="tx1"/>
                </a:solidFill>
                <a:effectLst/>
                <a:latin typeface="+mn-lt"/>
                <a:ea typeface="+mn-ea"/>
                <a:cs typeface="+mn-cs"/>
              </a:rPr>
              <a:t>And then we can take that quantity and use that as an operand for</a:t>
            </a:r>
          </a:p>
          <a:p>
            <a:r>
              <a:rPr lang="en-US" sz="1200" b="0" i="0" kern="1200" dirty="0">
                <a:solidFill>
                  <a:schemeClr val="tx1"/>
                </a:solidFill>
                <a:effectLst/>
                <a:latin typeface="+mn-lt"/>
                <a:ea typeface="+mn-ea"/>
                <a:cs typeface="+mn-cs"/>
              </a:rPr>
              <a:t>another add operation for we'll add d on to that.</a:t>
            </a:r>
          </a:p>
          <a:p>
            <a:r>
              <a:rPr lang="en-US" sz="1200" b="0" i="0" kern="1200" dirty="0">
                <a:solidFill>
                  <a:schemeClr val="tx1"/>
                </a:solidFill>
                <a:effectLst/>
                <a:latin typeface="+mn-lt"/>
                <a:ea typeface="+mn-ea"/>
                <a:cs typeface="+mn-cs"/>
              </a:rPr>
              <a:t>Store the sum in to a again.</a:t>
            </a:r>
          </a:p>
          <a:p>
            <a:r>
              <a:rPr lang="en-US" sz="1200" b="0" i="0" kern="1200" dirty="0">
                <a:solidFill>
                  <a:schemeClr val="tx1"/>
                </a:solidFill>
                <a:effectLst/>
                <a:latin typeface="+mn-lt"/>
                <a:ea typeface="+mn-ea"/>
                <a:cs typeface="+mn-cs"/>
              </a:rPr>
              <a:t>And we'll use that as an operand for</a:t>
            </a:r>
          </a:p>
          <a:p>
            <a:r>
              <a:rPr lang="en-US" sz="1200" b="0" i="0" kern="1200" dirty="0">
                <a:solidFill>
                  <a:schemeClr val="tx1"/>
                </a:solidFill>
                <a:effectLst/>
                <a:latin typeface="+mn-lt"/>
                <a:ea typeface="+mn-ea"/>
                <a:cs typeface="+mn-cs"/>
              </a:rPr>
              <a:t>the final add where we add e on to a and store the sum in a. [click]</a:t>
            </a:r>
          </a:p>
          <a:p>
            <a:r>
              <a:rPr lang="en-US" sz="1200" b="0" i="0" kern="1200" dirty="0">
                <a:solidFill>
                  <a:schemeClr val="tx1"/>
                </a:solidFill>
                <a:effectLst/>
                <a:latin typeface="+mn-lt"/>
                <a:ea typeface="+mn-ea"/>
                <a:cs typeface="+mn-cs"/>
              </a:rPr>
              <a:t>In that way, after three add operations,</a:t>
            </a:r>
          </a:p>
          <a:p>
            <a:r>
              <a:rPr lang="en-US" sz="1200" b="0" i="0" kern="1200" dirty="0">
                <a:solidFill>
                  <a:schemeClr val="tx1"/>
                </a:solidFill>
                <a:effectLst/>
                <a:latin typeface="+mn-lt"/>
                <a:ea typeface="+mn-ea"/>
                <a:cs typeface="+mn-cs"/>
              </a:rPr>
              <a:t>we'll have the value a value, that is b plus c plus d plus e.</a:t>
            </a:r>
          </a:p>
          <a:p>
            <a:r>
              <a:rPr lang="en-US" sz="1200" b="0" i="0" kern="1200" dirty="0">
                <a:solidFill>
                  <a:schemeClr val="tx1"/>
                </a:solidFill>
                <a:effectLst/>
                <a:latin typeface="+mn-lt"/>
                <a:ea typeface="+mn-ea"/>
                <a:cs typeface="+mn-cs"/>
              </a:rPr>
              <a:t>So each line does a single add operation.</a:t>
            </a:r>
          </a:p>
          <a:p>
            <a:r>
              <a:rPr lang="en-US" sz="1200" b="0" i="0" kern="1200" dirty="0">
                <a:solidFill>
                  <a:schemeClr val="tx1"/>
                </a:solidFill>
                <a:effectLst/>
                <a:latin typeface="+mn-lt"/>
                <a:ea typeface="+mn-ea"/>
                <a:cs typeface="+mn-cs"/>
              </a:rPr>
              <a:t>Any one line can only do one operation.</a:t>
            </a:r>
          </a:p>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9</a:t>
            </a:fld>
            <a:endParaRPr lang="en-US"/>
          </a:p>
        </p:txBody>
      </p:sp>
    </p:spTree>
    <p:extLst>
      <p:ext uri="{BB962C8B-B14F-4D97-AF65-F5344CB8AC3E}">
        <p14:creationId xmlns:p14="http://schemas.microsoft.com/office/powerpoint/2010/main" val="4058293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instruction multiple data</a:t>
            </a:r>
          </a:p>
        </p:txBody>
      </p:sp>
      <p:sp>
        <p:nvSpPr>
          <p:cNvPr id="4" name="Slide Number Placeholder 3"/>
          <p:cNvSpPr>
            <a:spLocks noGrp="1"/>
          </p:cNvSpPr>
          <p:nvPr>
            <p:ph type="sldNum" sz="quarter" idx="5"/>
          </p:nvPr>
        </p:nvSpPr>
        <p:spPr/>
        <p:txBody>
          <a:bodyPr/>
          <a:lstStyle/>
          <a:p>
            <a:fld id="{A6B38D67-2875-4081-97FB-ED7B2AD29D1C}" type="slidenum">
              <a:rPr lang="en-US" smtClean="0"/>
              <a:t>10</a:t>
            </a:fld>
            <a:endParaRPr lang="en-US"/>
          </a:p>
        </p:txBody>
      </p:sp>
    </p:spTree>
    <p:extLst>
      <p:ext uri="{BB962C8B-B14F-4D97-AF65-F5344CB8AC3E}">
        <p14:creationId xmlns:p14="http://schemas.microsoft.com/office/powerpoint/2010/main" val="2182920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11</a:t>
            </a:fld>
            <a:endParaRPr lang="en-US"/>
          </a:p>
        </p:txBody>
      </p:sp>
    </p:spTree>
    <p:extLst>
      <p:ext uri="{BB962C8B-B14F-4D97-AF65-F5344CB8AC3E}">
        <p14:creationId xmlns:p14="http://schemas.microsoft.com/office/powerpoint/2010/main" val="3343543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12</a:t>
            </a:fld>
            <a:endParaRPr lang="en-US"/>
          </a:p>
        </p:txBody>
      </p:sp>
    </p:spTree>
    <p:extLst>
      <p:ext uri="{BB962C8B-B14F-4D97-AF65-F5344CB8AC3E}">
        <p14:creationId xmlns:p14="http://schemas.microsoft.com/office/powerpoint/2010/main" val="939480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25D82994-A230-5E4B-9266-79E81EABB945}"/>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87376762-31BF-6E4C-BF72-F587BB8DD36E}" type="slidenum">
              <a:rPr lang="en-US" altLang="en-US" sz="1000">
                <a:solidFill>
                  <a:schemeClr val="tx1"/>
                </a:solidFill>
                <a:latin typeface="Arial" panose="020B0604020202020204" pitchFamily="34" charset="0"/>
              </a:rPr>
              <a:pPr>
                <a:spcBef>
                  <a:spcPct val="0"/>
                </a:spcBef>
                <a:buClrTx/>
                <a:buSzTx/>
                <a:buFontTx/>
                <a:buNone/>
              </a:pPr>
              <a:t>19</a:t>
            </a:fld>
            <a:endParaRPr lang="en-US" altLang="en-US" sz="1000">
              <a:solidFill>
                <a:schemeClr val="tx1"/>
              </a:solidFill>
              <a:latin typeface="Arial" panose="020B0604020202020204" pitchFamily="34" charset="0"/>
            </a:endParaRPr>
          </a:p>
        </p:txBody>
      </p:sp>
      <p:sp>
        <p:nvSpPr>
          <p:cNvPr id="25603" name="Rectangle 2">
            <a:extLst>
              <a:ext uri="{FF2B5EF4-FFF2-40B4-BE49-F238E27FC236}">
                <a16:creationId xmlns:a16="http://schemas.microsoft.com/office/drawing/2014/main" id="{B8D9B2B4-BEF0-DE43-92BD-796BC57F021A}"/>
              </a:ext>
            </a:extLst>
          </p:cNvPr>
          <p:cNvSpPr>
            <a:spLocks noGrp="1" noRot="1" noChangeAspect="1" noChangeArrowheads="1" noTextEdit="1"/>
          </p:cNvSpPr>
          <p:nvPr>
            <p:ph type="sldImg"/>
          </p:nvPr>
        </p:nvSpPr>
        <p:spPr>
          <a:ln cap="flat"/>
        </p:spPr>
      </p:sp>
      <p:sp>
        <p:nvSpPr>
          <p:cNvPr id="11267" name="Rectangle 3">
            <a:extLst>
              <a:ext uri="{FF2B5EF4-FFF2-40B4-BE49-F238E27FC236}">
                <a16:creationId xmlns:a16="http://schemas.microsoft.com/office/drawing/2014/main" id="{47B8335A-3FEC-E240-801D-6216BDE5F96B}"/>
              </a:ext>
            </a:extLst>
          </p:cNvPr>
          <p:cNvSpPr>
            <a:spLocks noGrp="1" noChangeArrowheads="1"/>
          </p:cNvSpPr>
          <p:nvPr>
            <p:ph type="body" idx="1"/>
          </p:nvPr>
        </p:nvSpPr>
        <p:spPr>
          <a:ln/>
        </p:spPr>
        <p:txBody>
          <a:bodyPr/>
          <a:lstStyle/>
          <a:p>
            <a:endParaRPr lang="en-US" altLang="en-US" dirty="0">
              <a:latin typeface="Times New Roman" panose="02020603050405020304" pitchFamily="18" charset="0"/>
            </a:endParaRPr>
          </a:p>
          <a:p>
            <a:r>
              <a:rPr lang="en-US" altLang="en-US" dirty="0">
                <a:latin typeface="Times New Roman" panose="02020603050405020304" pitchFamily="18" charset="0"/>
              </a:rPr>
              <a:t>8 bit only, out of 32 bits… stack 2, accumulator 1 value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5C24AE37-8A26-A742-8E06-E856561532EF}"/>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6647AE79-F838-FD41-8971-D5771645483A}" type="slidenum">
              <a:rPr lang="en-US" altLang="en-US" sz="1000">
                <a:solidFill>
                  <a:schemeClr val="tx1"/>
                </a:solidFill>
                <a:latin typeface="Arial" panose="020B0604020202020204" pitchFamily="34" charset="0"/>
              </a:rPr>
              <a:pPr>
                <a:spcBef>
                  <a:spcPct val="0"/>
                </a:spcBef>
                <a:buClrTx/>
                <a:buSzTx/>
                <a:buFontTx/>
                <a:buNone/>
              </a:pPr>
              <a:t>20</a:t>
            </a:fld>
            <a:endParaRPr lang="en-US" altLang="en-US" sz="1000">
              <a:solidFill>
                <a:schemeClr val="tx1"/>
              </a:solidFill>
              <a:latin typeface="Arial" panose="020B0604020202020204" pitchFamily="34" charset="0"/>
            </a:endParaRPr>
          </a:p>
        </p:txBody>
      </p:sp>
      <p:sp>
        <p:nvSpPr>
          <p:cNvPr id="27651" name="Rectangle 2">
            <a:extLst>
              <a:ext uri="{FF2B5EF4-FFF2-40B4-BE49-F238E27FC236}">
                <a16:creationId xmlns:a16="http://schemas.microsoft.com/office/drawing/2014/main" id="{579C3BAA-B94D-824F-86EC-32BED787B173}"/>
              </a:ext>
            </a:extLst>
          </p:cNvPr>
          <p:cNvSpPr>
            <a:spLocks noGrp="1" noRot="1" noChangeAspect="1" noChangeArrowheads="1" noTextEdit="1"/>
          </p:cNvSpPr>
          <p:nvPr>
            <p:ph type="sldImg"/>
          </p:nvPr>
        </p:nvSpPr>
        <p:spPr>
          <a:ln cap="flat"/>
        </p:spPr>
      </p:sp>
      <p:sp>
        <p:nvSpPr>
          <p:cNvPr id="13315" name="Rectangle 3">
            <a:extLst>
              <a:ext uri="{FF2B5EF4-FFF2-40B4-BE49-F238E27FC236}">
                <a16:creationId xmlns:a16="http://schemas.microsoft.com/office/drawing/2014/main" id="{BCEEB54F-F282-9E4A-B34D-56EA0D430919}"/>
              </a:ext>
            </a:extLst>
          </p:cNvPr>
          <p:cNvSpPr>
            <a:spLocks noGrp="1" noChangeArrowheads="1"/>
          </p:cNvSpPr>
          <p:nvPr>
            <p:ph type="body" idx="1"/>
          </p:nvPr>
        </p:nvSpPr>
        <p:spPr>
          <a:ln/>
        </p:spPr>
        <p:txBody>
          <a:bodyPr/>
          <a:lstStyle/>
          <a:p>
            <a:r>
              <a:rPr lang="en-US" altLang="en-US" dirty="0">
                <a:latin typeface="Times New Roman" panose="02020603050405020304" pitchFamily="18" charset="0"/>
              </a:rPr>
              <a:t>Don’t need register </a:t>
            </a:r>
          </a:p>
          <a:p>
            <a:r>
              <a:rPr lang="en-US" altLang="en-US" dirty="0">
                <a:latin typeface="Times New Roman" panose="02020603050405020304" pitchFamily="18" charset="0"/>
              </a:rPr>
              <a:t>Register pressure?</a:t>
            </a:r>
          </a:p>
          <a:p>
            <a:endParaRPr lang="en-US" altLang="en-US" dirty="0">
              <a:latin typeface="Times New Roman" panose="02020603050405020304" pitchFamily="18" charset="0"/>
            </a:endParaRPr>
          </a:p>
          <a:p>
            <a:r>
              <a:rPr lang="en-US" altLang="en-US" dirty="0">
                <a:latin typeface="Times New Roman" panose="02020603050405020304" pitchFamily="18" charset="0"/>
              </a:rPr>
              <a:t>Register allocation a= </a:t>
            </a:r>
            <a:r>
              <a:rPr lang="en-US" altLang="en-US" dirty="0" err="1">
                <a:latin typeface="Times New Roman" panose="02020603050405020304" pitchFamily="18" charset="0"/>
              </a:rPr>
              <a:t>b+c</a:t>
            </a:r>
            <a:r>
              <a:rPr lang="en-US" altLang="en-US" dirty="0">
                <a:latin typeface="Times New Roman" panose="02020603050405020304" pitchFamily="18" charset="0"/>
              </a:rPr>
              <a:t>, d=</a:t>
            </a:r>
            <a:r>
              <a:rPr lang="en-US" altLang="en-US" dirty="0" err="1">
                <a:latin typeface="Times New Roman" panose="02020603050405020304" pitchFamily="18" charset="0"/>
              </a:rPr>
              <a:t>e+f</a:t>
            </a:r>
            <a:r>
              <a:rPr lang="en-US" altLang="en-US" dirty="0">
                <a:latin typeface="Times New Roman" panose="02020603050405020304" pitchFamily="18" charset="0"/>
              </a:rP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context switch?</a:t>
            </a:r>
          </a:p>
          <a:p>
            <a:endParaRPr lang="en-US" dirty="0"/>
          </a:p>
          <a:p>
            <a:r>
              <a:rPr lang="en-US" dirty="0"/>
              <a:t>intel 8 </a:t>
            </a:r>
          </a:p>
          <a:p>
            <a:r>
              <a:rPr lang="en-US" dirty="0"/>
              <a:t>arm 16 or 32</a:t>
            </a:r>
          </a:p>
        </p:txBody>
      </p:sp>
      <p:sp>
        <p:nvSpPr>
          <p:cNvPr id="4" name="Slide Number Placeholder 3"/>
          <p:cNvSpPr>
            <a:spLocks noGrp="1"/>
          </p:cNvSpPr>
          <p:nvPr>
            <p:ph type="sldNum" sz="quarter" idx="5"/>
          </p:nvPr>
        </p:nvSpPr>
        <p:spPr/>
        <p:txBody>
          <a:bodyPr/>
          <a:lstStyle/>
          <a:p>
            <a:fld id="{A6B38D67-2875-4081-97FB-ED7B2AD29D1C}" type="slidenum">
              <a:rPr lang="en-US" smtClean="0"/>
              <a:t>21</a:t>
            </a:fld>
            <a:endParaRPr lang="en-US"/>
          </a:p>
        </p:txBody>
      </p:sp>
    </p:spTree>
    <p:extLst>
      <p:ext uri="{BB962C8B-B14F-4D97-AF65-F5344CB8AC3E}">
        <p14:creationId xmlns:p14="http://schemas.microsoft.com/office/powerpoint/2010/main" val="1402652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Load/store: fixed 32 bit, 64 bit</a:t>
            </a:r>
          </a:p>
          <a:p>
            <a:endParaRPr lang="en-US" dirty="0"/>
          </a:p>
          <a:p>
            <a:r>
              <a:rPr lang="en-US" dirty="0"/>
              <a:t>CPI*CC*IC</a:t>
            </a:r>
          </a:p>
          <a:p>
            <a:endParaRPr lang="en-US" dirty="0"/>
          </a:p>
          <a:p>
            <a:r>
              <a:rPr lang="en-US" dirty="0"/>
              <a:t>Why wasteful?</a:t>
            </a:r>
          </a:p>
          <a:p>
            <a:r>
              <a:rPr lang="en-US" dirty="0"/>
              <a:t>jump d</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22</a:t>
            </a:fld>
            <a:endParaRPr lang="en-US"/>
          </a:p>
        </p:txBody>
      </p:sp>
    </p:spTree>
    <p:extLst>
      <p:ext uri="{BB962C8B-B14F-4D97-AF65-F5344CB8AC3E}">
        <p14:creationId xmlns:p14="http://schemas.microsoft.com/office/powerpoint/2010/main" val="2928336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a:r>
            <a:r>
              <a:rPr lang="en-US" dirty="0" err="1"/>
              <a:t>acuumulator</a:t>
            </a:r>
            <a:r>
              <a:rPr lang="en-US" dirty="0"/>
              <a:t>, we need a special register.</a:t>
            </a:r>
          </a:p>
        </p:txBody>
      </p:sp>
      <p:sp>
        <p:nvSpPr>
          <p:cNvPr id="4" name="Slide Number Placeholder 3"/>
          <p:cNvSpPr>
            <a:spLocks noGrp="1"/>
          </p:cNvSpPr>
          <p:nvPr>
            <p:ph type="sldNum" sz="quarter" idx="5"/>
          </p:nvPr>
        </p:nvSpPr>
        <p:spPr/>
        <p:txBody>
          <a:bodyPr/>
          <a:lstStyle/>
          <a:p>
            <a:fld id="{A6B38D67-2875-4081-97FB-ED7B2AD29D1C}" type="slidenum">
              <a:rPr lang="en-US" smtClean="0"/>
              <a:t>23</a:t>
            </a:fld>
            <a:endParaRPr lang="en-US"/>
          </a:p>
        </p:txBody>
      </p:sp>
    </p:spTree>
    <p:extLst>
      <p:ext uri="{BB962C8B-B14F-4D97-AF65-F5344CB8AC3E}">
        <p14:creationId xmlns:p14="http://schemas.microsoft.com/office/powerpoint/2010/main" val="2285678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like an array of byte</a:t>
            </a:r>
          </a:p>
          <a:p>
            <a:r>
              <a:rPr lang="en-US" dirty="0"/>
              <a:t>Struct{ </a:t>
            </a:r>
          </a:p>
          <a:p>
            <a:r>
              <a:rPr lang="en-US" dirty="0"/>
              <a:t>Int a</a:t>
            </a:r>
          </a:p>
          <a:p>
            <a:r>
              <a:rPr lang="en-US" dirty="0"/>
              <a:t>Int b</a:t>
            </a:r>
          </a:p>
          <a:p>
            <a:r>
              <a:rPr lang="en-US" dirty="0"/>
              <a:t>Char c</a:t>
            </a:r>
          </a:p>
          <a:p>
            <a:r>
              <a:rPr lang="en-US" dirty="0"/>
              <a:t>Int d;</a:t>
            </a:r>
          </a:p>
          <a:p>
            <a:r>
              <a:rPr lang="en-US" dirty="0"/>
              <a:t>}</a:t>
            </a:r>
          </a:p>
        </p:txBody>
      </p:sp>
      <p:sp>
        <p:nvSpPr>
          <p:cNvPr id="4" name="Slide Number Placeholder 3"/>
          <p:cNvSpPr>
            <a:spLocks noGrp="1"/>
          </p:cNvSpPr>
          <p:nvPr>
            <p:ph type="sldNum" sz="quarter" idx="5"/>
          </p:nvPr>
        </p:nvSpPr>
        <p:spPr/>
        <p:txBody>
          <a:bodyPr/>
          <a:lstStyle/>
          <a:p>
            <a:fld id="{A6B38D67-2875-4081-97FB-ED7B2AD29D1C}" type="slidenum">
              <a:rPr lang="en-US" smtClean="0"/>
              <a:t>25</a:t>
            </a:fld>
            <a:endParaRPr lang="en-US"/>
          </a:p>
        </p:txBody>
      </p:sp>
    </p:spTree>
    <p:extLst>
      <p:ext uri="{BB962C8B-B14F-4D97-AF65-F5344CB8AC3E}">
        <p14:creationId xmlns:p14="http://schemas.microsoft.com/office/powerpoint/2010/main" val="1429007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program compile for little-endian storing a b c d a must </a:t>
            </a:r>
            <a:r>
              <a:rPr lang="en-US" dirty="0" err="1"/>
              <a:t>bt</a:t>
            </a:r>
            <a:r>
              <a:rPr lang="en-US" dirty="0"/>
              <a:t> address 0</a:t>
            </a:r>
          </a:p>
          <a:p>
            <a:r>
              <a:rPr lang="en-US" dirty="0"/>
              <a:t>but it turns out to be big-</a:t>
            </a:r>
            <a:r>
              <a:rPr lang="en-US" dirty="0" err="1"/>
              <a:t>endia</a:t>
            </a:r>
            <a:r>
              <a:rPr lang="en-US" dirty="0"/>
              <a:t>, then it will read d c b a</a:t>
            </a:r>
          </a:p>
        </p:txBody>
      </p:sp>
      <p:sp>
        <p:nvSpPr>
          <p:cNvPr id="4" name="Slide Number Placeholder 3"/>
          <p:cNvSpPr>
            <a:spLocks noGrp="1"/>
          </p:cNvSpPr>
          <p:nvPr>
            <p:ph type="sldNum" sz="quarter" idx="5"/>
          </p:nvPr>
        </p:nvSpPr>
        <p:spPr/>
        <p:txBody>
          <a:bodyPr/>
          <a:lstStyle/>
          <a:p>
            <a:fld id="{A6B38D67-2875-4081-97FB-ED7B2AD29D1C}" type="slidenum">
              <a:rPr lang="en-US" smtClean="0"/>
              <a:t>26</a:t>
            </a:fld>
            <a:endParaRPr lang="en-US"/>
          </a:p>
        </p:txBody>
      </p:sp>
    </p:spTree>
    <p:extLst>
      <p:ext uri="{BB962C8B-B14F-4D97-AF65-F5344CB8AC3E}">
        <p14:creationId xmlns:p14="http://schemas.microsoft.com/office/powerpoint/2010/main" val="3494356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5CD5F1A2-1680-0F44-AF09-A70163904C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spcBef>
                <a:spcPct val="30000"/>
              </a:spcBef>
              <a:defRPr sz="1200">
                <a:solidFill>
                  <a:schemeClr val="tx1"/>
                </a:solidFill>
                <a:latin typeface="Helvetica" pitchFamily="2" charset="0"/>
                <a:ea typeface="ＭＳ Ｐゴシック" panose="020B0600070205080204" pitchFamily="34" charset="-128"/>
              </a:defRPr>
            </a:lvl1pPr>
            <a:lvl2pPr marL="742950" indent="-285750" defTabSz="949325">
              <a:spcBef>
                <a:spcPct val="30000"/>
              </a:spcBef>
              <a:defRPr sz="1200">
                <a:solidFill>
                  <a:schemeClr val="tx1"/>
                </a:solidFill>
                <a:latin typeface="Helvetica" pitchFamily="2" charset="0"/>
                <a:ea typeface="ＭＳ Ｐゴシック" panose="020B0600070205080204" pitchFamily="34" charset="-128"/>
              </a:defRPr>
            </a:lvl2pPr>
            <a:lvl3pPr marL="1143000" indent="-228600" defTabSz="949325">
              <a:spcBef>
                <a:spcPct val="30000"/>
              </a:spcBef>
              <a:defRPr sz="1200">
                <a:solidFill>
                  <a:schemeClr val="tx1"/>
                </a:solidFill>
                <a:latin typeface="Helvetica" pitchFamily="2" charset="0"/>
                <a:ea typeface="ＭＳ Ｐゴシック" panose="020B0600070205080204" pitchFamily="34" charset="-128"/>
              </a:defRPr>
            </a:lvl3pPr>
            <a:lvl4pPr marL="1600200" indent="-228600" defTabSz="949325">
              <a:spcBef>
                <a:spcPct val="30000"/>
              </a:spcBef>
              <a:defRPr sz="1200">
                <a:solidFill>
                  <a:schemeClr val="tx1"/>
                </a:solidFill>
                <a:latin typeface="Helvetica" pitchFamily="2" charset="0"/>
                <a:ea typeface="ＭＳ Ｐゴシック" panose="020B0600070205080204" pitchFamily="34" charset="-128"/>
              </a:defRPr>
            </a:lvl4pPr>
            <a:lvl5pPr marL="2057400" indent="-228600" defTabSz="949325">
              <a:spcBef>
                <a:spcPct val="30000"/>
              </a:spcBef>
              <a:defRPr sz="1200">
                <a:solidFill>
                  <a:schemeClr val="tx1"/>
                </a:solidFill>
                <a:latin typeface="Helvetica" pitchFamily="2" charset="0"/>
                <a:ea typeface="ＭＳ Ｐゴシック" panose="020B0600070205080204" pitchFamily="34" charset="-128"/>
              </a:defRPr>
            </a:lvl5pPr>
            <a:lvl6pPr marL="25146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6pPr>
            <a:lvl7pPr marL="29718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7pPr>
            <a:lvl8pPr marL="34290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8pPr>
            <a:lvl9pPr marL="38862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9pPr>
          </a:lstStyle>
          <a:p>
            <a:pPr>
              <a:spcBef>
                <a:spcPct val="0"/>
              </a:spcBef>
            </a:pPr>
            <a:fld id="{E513FC45-2D34-004F-8716-21477673E15F}" type="slidenum">
              <a:rPr lang="en-US" altLang="en-US">
                <a:latin typeface="Times" pitchFamily="2" charset="0"/>
              </a:rPr>
              <a:pPr>
                <a:spcBef>
                  <a:spcPct val="0"/>
                </a:spcBef>
              </a:pPr>
              <a:t>27</a:t>
            </a:fld>
            <a:endParaRPr lang="en-US" altLang="en-US">
              <a:latin typeface="Times" pitchFamily="2" charset="0"/>
            </a:endParaRPr>
          </a:p>
        </p:txBody>
      </p:sp>
      <p:sp>
        <p:nvSpPr>
          <p:cNvPr id="44034" name="Rectangle 2">
            <a:extLst>
              <a:ext uri="{FF2B5EF4-FFF2-40B4-BE49-F238E27FC236}">
                <a16:creationId xmlns:a16="http://schemas.microsoft.com/office/drawing/2014/main" id="{210D6C6E-7EA3-FB4A-9E26-3C74FB3A36B8}"/>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DB0FDE39-EBB2-5F41-9BDB-D1A5F2FE3B2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Helvetica" pitchFamily="2" charset="0"/>
              <a:ea typeface="ＭＳ Ｐゴシック" panose="020B0600070205080204" pitchFamily="34" charset="-128"/>
            </a:endParaRPr>
          </a:p>
        </p:txBody>
      </p:sp>
    </p:spTree>
    <p:extLst>
      <p:ext uri="{BB962C8B-B14F-4D97-AF65-F5344CB8AC3E}">
        <p14:creationId xmlns:p14="http://schemas.microsoft.com/office/powerpoint/2010/main" val="4253819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81BB5618-AB15-8841-884E-FFAB5B79DD7E}"/>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AEEC3CE4-2461-4C49-B59D-B7B6B3B6E0E8}"/>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Load/store ISA ensures that there is only a need for one MEM stage in the pipeline, and only load and store use it. </a:t>
            </a:r>
          </a:p>
          <a:p>
            <a:r>
              <a:rPr lang="en-US" altLang="en-US">
                <a:latin typeface="Times New Roman" panose="02020603050405020304" pitchFamily="18" charset="0"/>
              </a:rPr>
              <a:t>Load/store ISA also ensures instruction width can be fixed. At most an instruction has one long operand (mem address)</a:t>
            </a:r>
          </a:p>
          <a:p>
            <a:r>
              <a:rPr lang="en-US" altLang="en-US">
                <a:latin typeface="Times New Roman" panose="02020603050405020304" pitchFamily="18" charset="0"/>
              </a:rPr>
              <a:t>Fixed instruction width </a:t>
            </a:r>
          </a:p>
          <a:p>
            <a:r>
              <a:rPr lang="en-US" altLang="en-US">
                <a:latin typeface="Times New Roman" panose="02020603050405020304" pitchFamily="18" charset="0"/>
              </a:rPr>
              <a:t>ILP oriented: large number of registers reduce false dependences due to reuse</a:t>
            </a: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
        <p:nvSpPr>
          <p:cNvPr id="35844" name="Slide Number Placeholder 3">
            <a:extLst>
              <a:ext uri="{FF2B5EF4-FFF2-40B4-BE49-F238E27FC236}">
                <a16:creationId xmlns:a16="http://schemas.microsoft.com/office/drawing/2014/main" id="{74F04ACE-ECDE-B04A-9F73-1789EE62811C}"/>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FC7E23F0-5A50-E745-A545-DA9039D28CB5}" type="slidenum">
              <a:rPr lang="en-US" altLang="en-US">
                <a:solidFill>
                  <a:schemeClr val="tx1"/>
                </a:solidFill>
              </a:rPr>
              <a:pPr>
                <a:spcBef>
                  <a:spcPct val="0"/>
                </a:spcBef>
                <a:buClrTx/>
                <a:buSzTx/>
                <a:buFontTx/>
                <a:buNone/>
              </a:pPr>
              <a:t>28</a:t>
            </a:fld>
            <a:endParaRPr lang="en-US" altLang="en-US">
              <a:solidFill>
                <a:schemeClr val="tx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9E70221-F42D-604D-9429-8D94E8675334}"/>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90DF91C4-9CCA-6F46-B526-0BCDDB5B87E0}" type="slidenum">
              <a:rPr lang="en-US" altLang="en-US" sz="1000">
                <a:solidFill>
                  <a:schemeClr val="tx1"/>
                </a:solidFill>
                <a:latin typeface="Arial" panose="020B0604020202020204" pitchFamily="34" charset="0"/>
              </a:rPr>
              <a:pPr>
                <a:spcBef>
                  <a:spcPct val="0"/>
                </a:spcBef>
                <a:buClrTx/>
                <a:buSzTx/>
                <a:buFontTx/>
                <a:buNone/>
              </a:pPr>
              <a:t>29</a:t>
            </a:fld>
            <a:endParaRPr lang="en-US" altLang="en-US" sz="1000">
              <a:solidFill>
                <a:schemeClr val="tx1"/>
              </a:solidFill>
              <a:latin typeface="Arial" panose="020B0604020202020204" pitchFamily="34" charset="0"/>
            </a:endParaRPr>
          </a:p>
        </p:txBody>
      </p:sp>
      <p:sp>
        <p:nvSpPr>
          <p:cNvPr id="37891" name="Rectangle 2">
            <a:extLst>
              <a:ext uri="{FF2B5EF4-FFF2-40B4-BE49-F238E27FC236}">
                <a16:creationId xmlns:a16="http://schemas.microsoft.com/office/drawing/2014/main" id="{20E400C3-4713-254E-9D82-5A5B576BED28}"/>
              </a:ext>
            </a:extLst>
          </p:cNvPr>
          <p:cNvSpPr>
            <a:spLocks noGrp="1" noRot="1" noChangeAspect="1" noChangeArrowheads="1" noTextEdit="1"/>
          </p:cNvSpPr>
          <p:nvPr>
            <p:ph type="sldImg"/>
          </p:nvPr>
        </p:nvSpPr>
        <p:spPr>
          <a:ln cap="flat"/>
        </p:spPr>
      </p:sp>
      <p:sp>
        <p:nvSpPr>
          <p:cNvPr id="64515" name="Rectangle 3">
            <a:extLst>
              <a:ext uri="{FF2B5EF4-FFF2-40B4-BE49-F238E27FC236}">
                <a16:creationId xmlns:a16="http://schemas.microsoft.com/office/drawing/2014/main" id="{B98E4051-93F5-FB42-89EA-1832A2496655}"/>
              </a:ext>
            </a:extLst>
          </p:cNvPr>
          <p:cNvSpPr>
            <a:spLocks noGrp="1" noChangeArrowheads="1"/>
          </p:cNvSpPr>
          <p:nvPr>
            <p:ph type="body" idx="1"/>
          </p:nvPr>
        </p:nvSpPr>
        <p:spPr>
          <a:ln/>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4CCB5B74-4E6B-6345-9EC7-02B38E9F477B}"/>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F5AAF8B8-200B-4E46-B910-3BB51878AF05}" type="slidenum">
              <a:rPr lang="en-US" altLang="en-US" sz="1000">
                <a:solidFill>
                  <a:schemeClr val="tx1"/>
                </a:solidFill>
                <a:latin typeface="Arial" panose="020B0604020202020204" pitchFamily="34" charset="0"/>
              </a:rPr>
              <a:pPr>
                <a:spcBef>
                  <a:spcPct val="0"/>
                </a:spcBef>
                <a:buClrTx/>
                <a:buSzTx/>
                <a:buFontTx/>
                <a:buNone/>
              </a:pPr>
              <a:t>30</a:t>
            </a:fld>
            <a:endParaRPr lang="en-US" altLang="en-US" sz="1000">
              <a:solidFill>
                <a:schemeClr val="tx1"/>
              </a:solidFill>
              <a:latin typeface="Arial" panose="020B0604020202020204" pitchFamily="34" charset="0"/>
            </a:endParaRPr>
          </a:p>
        </p:txBody>
      </p:sp>
      <p:sp>
        <p:nvSpPr>
          <p:cNvPr id="39939" name="Rectangle 2">
            <a:extLst>
              <a:ext uri="{FF2B5EF4-FFF2-40B4-BE49-F238E27FC236}">
                <a16:creationId xmlns:a16="http://schemas.microsoft.com/office/drawing/2014/main" id="{826D57BA-1AD4-EB44-A9D9-5098FA2A4072}"/>
              </a:ext>
            </a:extLst>
          </p:cNvPr>
          <p:cNvSpPr>
            <a:spLocks noGrp="1" noRot="1" noChangeAspect="1" noChangeArrowheads="1" noTextEdit="1"/>
          </p:cNvSpPr>
          <p:nvPr>
            <p:ph type="sldImg"/>
          </p:nvPr>
        </p:nvSpPr>
        <p:spPr>
          <a:ln cap="flat"/>
        </p:spPr>
      </p:sp>
      <p:sp>
        <p:nvSpPr>
          <p:cNvPr id="66563" name="Rectangle 3">
            <a:extLst>
              <a:ext uri="{FF2B5EF4-FFF2-40B4-BE49-F238E27FC236}">
                <a16:creationId xmlns:a16="http://schemas.microsoft.com/office/drawing/2014/main" id="{9EC754EE-9F3D-8141-A2FB-A83DCDC6B90C}"/>
              </a:ext>
            </a:extLst>
          </p:cNvPr>
          <p:cNvSpPr>
            <a:spLocks noGrp="1" noChangeArrowheads="1"/>
          </p:cNvSpPr>
          <p:nvPr>
            <p:ph type="body" idx="1"/>
          </p:nvPr>
        </p:nvSpPr>
        <p:spPr>
          <a:ln/>
        </p:spPr>
        <p:txBody>
          <a:bodyPr/>
          <a:lstStyle/>
          <a:p>
            <a:r>
              <a:rPr lang="en-US" altLang="en-US" dirty="0">
                <a:latin typeface="Times New Roman" panose="02020603050405020304" pitchFamily="18" charset="0"/>
              </a:rPr>
              <a:t>We don’t really need these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0DAFBF94-F33C-E143-9300-D3799D86DA04}"/>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60360A5A-24DF-C343-8CA3-3CEF494B1280}" type="slidenum">
              <a:rPr lang="en-US" altLang="en-US" sz="1000">
                <a:solidFill>
                  <a:schemeClr val="tx1"/>
                </a:solidFill>
                <a:latin typeface="Arial" panose="020B0604020202020204" pitchFamily="34" charset="0"/>
              </a:rPr>
              <a:pPr>
                <a:spcBef>
                  <a:spcPct val="0"/>
                </a:spcBef>
                <a:buClrTx/>
                <a:buSzTx/>
                <a:buFontTx/>
                <a:buNone/>
              </a:pPr>
              <a:t>31</a:t>
            </a:fld>
            <a:endParaRPr lang="en-US" altLang="en-US" sz="1000">
              <a:solidFill>
                <a:schemeClr val="tx1"/>
              </a:solidFill>
              <a:latin typeface="Arial" panose="020B0604020202020204" pitchFamily="34" charset="0"/>
            </a:endParaRPr>
          </a:p>
        </p:txBody>
      </p:sp>
      <p:sp>
        <p:nvSpPr>
          <p:cNvPr id="41987" name="Rectangle 2">
            <a:extLst>
              <a:ext uri="{FF2B5EF4-FFF2-40B4-BE49-F238E27FC236}">
                <a16:creationId xmlns:a16="http://schemas.microsoft.com/office/drawing/2014/main" id="{E72B56E4-2936-434E-8DF8-D8E6A17BAB2D}"/>
              </a:ext>
            </a:extLst>
          </p:cNvPr>
          <p:cNvSpPr>
            <a:spLocks noGrp="1" noRot="1" noChangeAspect="1" noChangeArrowheads="1" noTextEdit="1"/>
          </p:cNvSpPr>
          <p:nvPr>
            <p:ph type="sldImg"/>
          </p:nvPr>
        </p:nvSpPr>
        <p:spPr>
          <a:ln cap="flat"/>
        </p:spPr>
      </p:sp>
      <p:sp>
        <p:nvSpPr>
          <p:cNvPr id="68611" name="Rectangle 3">
            <a:extLst>
              <a:ext uri="{FF2B5EF4-FFF2-40B4-BE49-F238E27FC236}">
                <a16:creationId xmlns:a16="http://schemas.microsoft.com/office/drawing/2014/main" id="{77BEFD4C-E901-F346-9320-D1EA4780CD93}"/>
              </a:ext>
            </a:extLst>
          </p:cNvPr>
          <p:cNvSpPr>
            <a:spLocks noGrp="1" noChangeArrowheads="1"/>
          </p:cNvSpPr>
          <p:nvPr>
            <p:ph type="body" idx="1"/>
          </p:nvPr>
        </p:nvSpPr>
        <p:spPr>
          <a:ln/>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140DE35-17F2-0A41-A97D-BEEC19E89DC3}"/>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678F0D5A-94AA-2647-B6AF-06E8FDE3D8A9}" type="slidenum">
              <a:rPr lang="en-US" altLang="en-US" sz="1000">
                <a:solidFill>
                  <a:schemeClr val="tx1"/>
                </a:solidFill>
                <a:latin typeface="Arial" panose="020B0604020202020204" pitchFamily="34" charset="0"/>
              </a:rPr>
              <a:pPr>
                <a:spcBef>
                  <a:spcPct val="0"/>
                </a:spcBef>
                <a:buClrTx/>
                <a:buSzTx/>
                <a:buFontTx/>
                <a:buNone/>
              </a:pPr>
              <a:t>32</a:t>
            </a:fld>
            <a:endParaRPr lang="en-US" altLang="en-US" sz="1000">
              <a:solidFill>
                <a:schemeClr val="tx1"/>
              </a:solidFill>
              <a:latin typeface="Arial" panose="020B0604020202020204" pitchFamily="34" charset="0"/>
            </a:endParaRPr>
          </a:p>
        </p:txBody>
      </p:sp>
      <p:sp>
        <p:nvSpPr>
          <p:cNvPr id="44035" name="Rectangle 2">
            <a:extLst>
              <a:ext uri="{FF2B5EF4-FFF2-40B4-BE49-F238E27FC236}">
                <a16:creationId xmlns:a16="http://schemas.microsoft.com/office/drawing/2014/main" id="{CEEAA9A5-775B-6D4E-98D6-451F49E27460}"/>
              </a:ext>
            </a:extLst>
          </p:cNvPr>
          <p:cNvSpPr>
            <a:spLocks noGrp="1" noRot="1" noChangeAspect="1" noChangeArrowheads="1" noTextEdit="1"/>
          </p:cNvSpPr>
          <p:nvPr>
            <p:ph type="sldImg"/>
          </p:nvPr>
        </p:nvSpPr>
        <p:spPr>
          <a:ln cap="flat"/>
        </p:spPr>
      </p:sp>
      <p:sp>
        <p:nvSpPr>
          <p:cNvPr id="70659" name="Rectangle 3">
            <a:extLst>
              <a:ext uri="{FF2B5EF4-FFF2-40B4-BE49-F238E27FC236}">
                <a16:creationId xmlns:a16="http://schemas.microsoft.com/office/drawing/2014/main" id="{95D7B4B8-C40F-4F4A-89D8-9653D81D7FCE}"/>
              </a:ext>
            </a:extLst>
          </p:cNvPr>
          <p:cNvSpPr>
            <a:spLocks noGrp="1" noChangeArrowheads="1"/>
          </p:cNvSpPr>
          <p:nvPr>
            <p:ph type="body" idx="1"/>
          </p:nvPr>
        </p:nvSpPr>
        <p:spPr>
          <a:ln/>
        </p:spPr>
        <p:txBody>
          <a:bodyPr/>
          <a:lstStyle/>
          <a:p>
            <a:r>
              <a:rPr lang="en-US" altLang="en-US" dirty="0" err="1">
                <a:latin typeface="Times New Roman" panose="02020603050405020304" pitchFamily="18" charset="0"/>
              </a:rPr>
              <a:t>mentissa</a:t>
            </a:r>
            <a:endParaRPr lang="en-US" altLang="en-US"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err="1"/>
              <a:t>Rj</a:t>
            </a:r>
            <a:r>
              <a:rPr lang="en-US" altLang="en-US" dirty="0"/>
              <a:t> = M[M[Ri]] =&gt; </a:t>
            </a:r>
            <a:r>
              <a:rPr lang="en-US" altLang="en-US" dirty="0" err="1"/>
              <a:t>Rk</a:t>
            </a:r>
            <a:r>
              <a:rPr lang="en-US" altLang="en-US" dirty="0"/>
              <a:t> = M[Ri]; </a:t>
            </a:r>
            <a:r>
              <a:rPr lang="en-US" altLang="en-US" dirty="0" err="1"/>
              <a:t>Rj</a:t>
            </a:r>
            <a:r>
              <a:rPr lang="en-US" altLang="en-US" dirty="0"/>
              <a:t> = M[</a:t>
            </a:r>
            <a:r>
              <a:rPr lang="en-US" altLang="en-US" dirty="0" err="1"/>
              <a:t>Rk</a:t>
            </a:r>
            <a:r>
              <a:rPr lang="en-US" altLang="en-US" dirty="0"/>
              <a:t>] </a:t>
            </a:r>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33</a:t>
            </a:fld>
            <a:endParaRPr lang="en-US"/>
          </a:p>
        </p:txBody>
      </p:sp>
    </p:spTree>
    <p:extLst>
      <p:ext uri="{BB962C8B-B14F-4D97-AF65-F5344CB8AC3E}">
        <p14:creationId xmlns:p14="http://schemas.microsoft.com/office/powerpoint/2010/main" val="27590352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518E108-9E54-8144-974A-D8160A8F2AAD}"/>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A0DBDB69-BC53-BE43-9A8F-3EF6CA2C4499}" type="slidenum">
              <a:rPr lang="en-US" altLang="en-US" sz="1000">
                <a:solidFill>
                  <a:schemeClr val="tx1"/>
                </a:solidFill>
                <a:latin typeface="Arial" panose="020B0604020202020204" pitchFamily="34" charset="0"/>
              </a:rPr>
              <a:pPr>
                <a:spcBef>
                  <a:spcPct val="0"/>
                </a:spcBef>
                <a:buClrTx/>
                <a:buSzTx/>
                <a:buFontTx/>
                <a:buNone/>
              </a:pPr>
              <a:t>34</a:t>
            </a:fld>
            <a:endParaRPr lang="en-US" altLang="en-US" sz="1000">
              <a:solidFill>
                <a:schemeClr val="tx1"/>
              </a:solidFill>
              <a:latin typeface="Arial" panose="020B0604020202020204" pitchFamily="34" charset="0"/>
            </a:endParaRPr>
          </a:p>
        </p:txBody>
      </p:sp>
      <p:sp>
        <p:nvSpPr>
          <p:cNvPr id="47107" name="Rectangle 2">
            <a:extLst>
              <a:ext uri="{FF2B5EF4-FFF2-40B4-BE49-F238E27FC236}">
                <a16:creationId xmlns:a16="http://schemas.microsoft.com/office/drawing/2014/main" id="{FEEAB18C-2B01-1842-80F8-9DC64F415D51}"/>
              </a:ext>
            </a:extLst>
          </p:cNvPr>
          <p:cNvSpPr>
            <a:spLocks noGrp="1" noRot="1" noChangeAspect="1" noChangeArrowheads="1" noTextEdit="1"/>
          </p:cNvSpPr>
          <p:nvPr>
            <p:ph type="sldImg"/>
          </p:nvPr>
        </p:nvSpPr>
        <p:spPr>
          <a:ln cap="flat"/>
        </p:spPr>
      </p:sp>
      <p:sp>
        <p:nvSpPr>
          <p:cNvPr id="72707" name="Rectangle 3">
            <a:extLst>
              <a:ext uri="{FF2B5EF4-FFF2-40B4-BE49-F238E27FC236}">
                <a16:creationId xmlns:a16="http://schemas.microsoft.com/office/drawing/2014/main" id="{33FEC5B8-4F10-7240-A2CA-81229EDCEDB3}"/>
              </a:ext>
            </a:extLst>
          </p:cNvPr>
          <p:cNvSpPr>
            <a:spLocks noGrp="1" noChangeArrowheads="1"/>
          </p:cNvSpPr>
          <p:nvPr>
            <p:ph type="body" idx="1"/>
          </p:nvPr>
        </p:nvSpPr>
        <p:spPr>
          <a:ln/>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E3C6673A-C6C7-6046-9ED2-C11697E7290B}"/>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53011A6F-DF73-5745-A6EC-F6BBA40B6EF5}" type="slidenum">
              <a:rPr lang="en-US" altLang="en-US" sz="1000">
                <a:solidFill>
                  <a:schemeClr val="tx1"/>
                </a:solidFill>
                <a:latin typeface="Arial" panose="020B0604020202020204" pitchFamily="34" charset="0"/>
              </a:rPr>
              <a:pPr>
                <a:spcBef>
                  <a:spcPct val="0"/>
                </a:spcBef>
                <a:buClrTx/>
                <a:buSzTx/>
                <a:buFontTx/>
                <a:buNone/>
              </a:pPr>
              <a:t>35</a:t>
            </a:fld>
            <a:endParaRPr lang="en-US" altLang="en-US" sz="1000">
              <a:solidFill>
                <a:schemeClr val="tx1"/>
              </a:solidFill>
              <a:latin typeface="Arial" panose="020B0604020202020204" pitchFamily="34" charset="0"/>
            </a:endParaRPr>
          </a:p>
        </p:txBody>
      </p:sp>
      <p:sp>
        <p:nvSpPr>
          <p:cNvPr id="49155" name="Rectangle 2">
            <a:extLst>
              <a:ext uri="{FF2B5EF4-FFF2-40B4-BE49-F238E27FC236}">
                <a16:creationId xmlns:a16="http://schemas.microsoft.com/office/drawing/2014/main" id="{F20AA811-FAA2-C04D-8757-9BA03E1A2C1E}"/>
              </a:ext>
            </a:extLst>
          </p:cNvPr>
          <p:cNvSpPr>
            <a:spLocks noGrp="1" noRot="1" noChangeAspect="1" noChangeArrowheads="1" noTextEdit="1"/>
          </p:cNvSpPr>
          <p:nvPr>
            <p:ph type="sldImg"/>
          </p:nvPr>
        </p:nvSpPr>
        <p:spPr>
          <a:ln cap="flat"/>
        </p:spPr>
      </p:sp>
      <p:sp>
        <p:nvSpPr>
          <p:cNvPr id="74755" name="Rectangle 3">
            <a:extLst>
              <a:ext uri="{FF2B5EF4-FFF2-40B4-BE49-F238E27FC236}">
                <a16:creationId xmlns:a16="http://schemas.microsoft.com/office/drawing/2014/main" id="{E2906BE5-BAF4-5744-AFC9-32178C5520F2}"/>
              </a:ext>
            </a:extLst>
          </p:cNvPr>
          <p:cNvSpPr>
            <a:spLocks noGrp="1" noChangeArrowheads="1"/>
          </p:cNvSpPr>
          <p:nvPr>
            <p:ph type="body" idx="1"/>
          </p:nvPr>
        </p:nvSpPr>
        <p:spPr>
          <a:ln/>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C5FF84C2-E338-AD4D-8D79-97C5E97ACEA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FAC4261D-2209-104B-AD5F-22B0631F7178}" type="slidenum">
              <a:rPr lang="en-US" altLang="en-US" sz="1000">
                <a:solidFill>
                  <a:schemeClr val="tx1"/>
                </a:solidFill>
                <a:latin typeface="Arial" panose="020B0604020202020204" pitchFamily="34" charset="0"/>
              </a:rPr>
              <a:pPr>
                <a:spcBef>
                  <a:spcPct val="0"/>
                </a:spcBef>
                <a:buClrTx/>
                <a:buSzTx/>
                <a:buFontTx/>
                <a:buNone/>
              </a:pPr>
              <a:t>36</a:t>
            </a:fld>
            <a:endParaRPr lang="en-US" altLang="en-US" sz="1000">
              <a:solidFill>
                <a:schemeClr val="tx1"/>
              </a:solidFill>
              <a:latin typeface="Arial" panose="020B0604020202020204" pitchFamily="34" charset="0"/>
            </a:endParaRPr>
          </a:p>
        </p:txBody>
      </p:sp>
      <p:sp>
        <p:nvSpPr>
          <p:cNvPr id="51203" name="Rectangle 2">
            <a:extLst>
              <a:ext uri="{FF2B5EF4-FFF2-40B4-BE49-F238E27FC236}">
                <a16:creationId xmlns:a16="http://schemas.microsoft.com/office/drawing/2014/main" id="{F1C573A4-30A6-5343-8CD9-7C046C1FDE45}"/>
              </a:ext>
            </a:extLst>
          </p:cNvPr>
          <p:cNvSpPr>
            <a:spLocks noGrp="1" noRot="1" noChangeAspect="1" noChangeArrowheads="1" noTextEdit="1"/>
          </p:cNvSpPr>
          <p:nvPr>
            <p:ph type="sldImg"/>
          </p:nvPr>
        </p:nvSpPr>
        <p:spPr>
          <a:ln cap="flat"/>
        </p:spPr>
      </p:sp>
      <p:sp>
        <p:nvSpPr>
          <p:cNvPr id="76803" name="Rectangle 3">
            <a:extLst>
              <a:ext uri="{FF2B5EF4-FFF2-40B4-BE49-F238E27FC236}">
                <a16:creationId xmlns:a16="http://schemas.microsoft.com/office/drawing/2014/main" id="{6F593BE2-F7F9-5F46-9D2E-9FA10CA2B590}"/>
              </a:ext>
            </a:extLst>
          </p:cNvPr>
          <p:cNvSpPr>
            <a:spLocks noGrp="1" noChangeArrowheads="1"/>
          </p:cNvSpPr>
          <p:nvPr>
            <p:ph type="body" idx="1"/>
          </p:nvPr>
        </p:nvSpPr>
        <p:spPr>
          <a:ln/>
        </p:spPr>
        <p:txBody>
          <a:bodyPr/>
          <a:lstStyle/>
          <a:p>
            <a:r>
              <a:rPr lang="en-US" altLang="en-US" dirty="0">
                <a:latin typeface="Times New Roman" panose="02020603050405020304" pitchFamily="18" charset="0"/>
              </a:rPr>
              <a:t>We cannot reuse the r1 between sub and </a:t>
            </a:r>
            <a:r>
              <a:rPr lang="en-US" altLang="en-US" dirty="0" err="1">
                <a:latin typeface="Times New Roman" panose="02020603050405020304" pitchFamily="18" charset="0"/>
              </a:rPr>
              <a:t>beq</a:t>
            </a:r>
            <a:r>
              <a:rPr lang="en-US" altLang="en-US" dirty="0">
                <a:latin typeface="Times New Roman" panose="02020603050405020304" pitchFamily="18" charset="0"/>
              </a:rPr>
              <a:t> instruction.</a:t>
            </a:r>
          </a:p>
          <a:p>
            <a:r>
              <a:rPr lang="en-US" altLang="en-US" dirty="0">
                <a:latin typeface="Times New Roman" panose="02020603050405020304" pitchFamily="18" charset="0"/>
              </a:rPr>
              <a:t>R! value must be consistent in between.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2D5851F-CBEB-2540-B77F-D2E97146BFDC}"/>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47DA0F85-10E5-F744-A1B9-1C4859757A9C}" type="slidenum">
              <a:rPr lang="en-US" altLang="en-US" sz="1000">
                <a:solidFill>
                  <a:schemeClr val="tx1"/>
                </a:solidFill>
                <a:latin typeface="Arial" panose="020B0604020202020204" pitchFamily="34" charset="0"/>
              </a:rPr>
              <a:pPr>
                <a:spcBef>
                  <a:spcPct val="0"/>
                </a:spcBef>
                <a:buClrTx/>
                <a:buSzTx/>
                <a:buFontTx/>
                <a:buNone/>
              </a:pPr>
              <a:t>37</a:t>
            </a:fld>
            <a:endParaRPr lang="en-US" altLang="en-US" sz="1000">
              <a:solidFill>
                <a:schemeClr val="tx1"/>
              </a:solidFill>
              <a:latin typeface="Arial" panose="020B0604020202020204" pitchFamily="34" charset="0"/>
            </a:endParaRPr>
          </a:p>
        </p:txBody>
      </p:sp>
      <p:sp>
        <p:nvSpPr>
          <p:cNvPr id="53251" name="Rectangle 2">
            <a:extLst>
              <a:ext uri="{FF2B5EF4-FFF2-40B4-BE49-F238E27FC236}">
                <a16:creationId xmlns:a16="http://schemas.microsoft.com/office/drawing/2014/main" id="{2217DF28-6BA2-4141-BB09-21FA95206912}"/>
              </a:ext>
            </a:extLst>
          </p:cNvPr>
          <p:cNvSpPr>
            <a:spLocks noGrp="1" noRot="1" noChangeAspect="1" noChangeArrowheads="1" noTextEdit="1"/>
          </p:cNvSpPr>
          <p:nvPr>
            <p:ph type="sldImg"/>
          </p:nvPr>
        </p:nvSpPr>
        <p:spPr>
          <a:ln cap="flat"/>
        </p:spPr>
      </p:sp>
      <p:sp>
        <p:nvSpPr>
          <p:cNvPr id="78851" name="Rectangle 3">
            <a:extLst>
              <a:ext uri="{FF2B5EF4-FFF2-40B4-BE49-F238E27FC236}">
                <a16:creationId xmlns:a16="http://schemas.microsoft.com/office/drawing/2014/main" id="{5E1AD816-39EC-8046-A0F8-CF6BC301BCFE}"/>
              </a:ext>
            </a:extLst>
          </p:cNvPr>
          <p:cNvSpPr>
            <a:spLocks noGrp="1" noChangeArrowheads="1"/>
          </p:cNvSpPr>
          <p:nvPr>
            <p:ph type="body" idx="1"/>
          </p:nvPr>
        </p:nvSpPr>
        <p:spPr>
          <a:ln/>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D80B2DAF-B4E6-234F-BE7F-FD14F9634D96}"/>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B81052E6-2E4D-804D-BD4A-39D9F22D43EF}" type="slidenum">
              <a:rPr lang="en-US" altLang="en-US" sz="2400"/>
              <a:pPr>
                <a:spcBef>
                  <a:spcPct val="0"/>
                </a:spcBef>
                <a:buClrTx/>
                <a:buSzTx/>
                <a:buFontTx/>
                <a:buNone/>
              </a:pPr>
              <a:t>38</a:t>
            </a:fld>
            <a:endParaRPr lang="en-US" altLang="en-US" sz="2400"/>
          </a:p>
        </p:txBody>
      </p:sp>
      <p:sp>
        <p:nvSpPr>
          <p:cNvPr id="55299" name="Rectangle 2">
            <a:extLst>
              <a:ext uri="{FF2B5EF4-FFF2-40B4-BE49-F238E27FC236}">
                <a16:creationId xmlns:a16="http://schemas.microsoft.com/office/drawing/2014/main" id="{0E441C1E-7127-9147-887A-AC4642D9BEF5}"/>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A6E1904D-F362-1345-9F14-C80822E81F86}"/>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72396BA5-BC06-6D43-8108-34E2B18AB1A3}"/>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7DB29FD0-6153-0B47-9815-A7BA0A7621C5}" type="slidenum">
              <a:rPr lang="en-US" altLang="en-US" sz="1000">
                <a:solidFill>
                  <a:schemeClr val="tx1"/>
                </a:solidFill>
                <a:latin typeface="Arial" panose="020B0604020202020204" pitchFamily="34" charset="0"/>
              </a:rPr>
              <a:pPr>
                <a:spcBef>
                  <a:spcPct val="0"/>
                </a:spcBef>
                <a:buClrTx/>
                <a:buSzTx/>
                <a:buFontTx/>
                <a:buNone/>
              </a:pPr>
              <a:t>39</a:t>
            </a:fld>
            <a:endParaRPr lang="en-US" altLang="en-US" sz="1000">
              <a:solidFill>
                <a:schemeClr val="tx1"/>
              </a:solidFill>
              <a:latin typeface="Arial" panose="020B0604020202020204" pitchFamily="34" charset="0"/>
            </a:endParaRPr>
          </a:p>
        </p:txBody>
      </p:sp>
      <p:sp>
        <p:nvSpPr>
          <p:cNvPr id="57347" name="Rectangle 2">
            <a:extLst>
              <a:ext uri="{FF2B5EF4-FFF2-40B4-BE49-F238E27FC236}">
                <a16:creationId xmlns:a16="http://schemas.microsoft.com/office/drawing/2014/main" id="{B2A7A924-0EC4-1E40-977C-D378CD6093BB}"/>
              </a:ext>
            </a:extLst>
          </p:cNvPr>
          <p:cNvSpPr>
            <a:spLocks noGrp="1" noRot="1" noChangeAspect="1" noChangeArrowheads="1" noTextEdit="1"/>
          </p:cNvSpPr>
          <p:nvPr>
            <p:ph type="sldImg"/>
          </p:nvPr>
        </p:nvSpPr>
        <p:spPr>
          <a:ln cap="flat"/>
        </p:spPr>
      </p:sp>
      <p:sp>
        <p:nvSpPr>
          <p:cNvPr id="80899" name="Rectangle 3">
            <a:extLst>
              <a:ext uri="{FF2B5EF4-FFF2-40B4-BE49-F238E27FC236}">
                <a16:creationId xmlns:a16="http://schemas.microsoft.com/office/drawing/2014/main" id="{35E684F9-2D84-5347-9C4A-50C2A4809F41}"/>
              </a:ext>
            </a:extLst>
          </p:cNvPr>
          <p:cNvSpPr>
            <a:spLocks noGrp="1" noChangeArrowheads="1"/>
          </p:cNvSpPr>
          <p:nvPr>
            <p:ph type="body" idx="1"/>
          </p:nvPr>
        </p:nvSpPr>
        <p:spPr>
          <a:ln/>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5CD5F1A2-1680-0F44-AF09-A70163904C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spcBef>
                <a:spcPct val="30000"/>
              </a:spcBef>
              <a:defRPr sz="1200">
                <a:solidFill>
                  <a:schemeClr val="tx1"/>
                </a:solidFill>
                <a:latin typeface="Helvetica" pitchFamily="2" charset="0"/>
                <a:ea typeface="ＭＳ Ｐゴシック" panose="020B0600070205080204" pitchFamily="34" charset="-128"/>
              </a:defRPr>
            </a:lvl1pPr>
            <a:lvl2pPr marL="742950" indent="-285750" defTabSz="949325">
              <a:spcBef>
                <a:spcPct val="30000"/>
              </a:spcBef>
              <a:defRPr sz="1200">
                <a:solidFill>
                  <a:schemeClr val="tx1"/>
                </a:solidFill>
                <a:latin typeface="Helvetica" pitchFamily="2" charset="0"/>
                <a:ea typeface="ＭＳ Ｐゴシック" panose="020B0600070205080204" pitchFamily="34" charset="-128"/>
              </a:defRPr>
            </a:lvl2pPr>
            <a:lvl3pPr marL="1143000" indent="-228600" defTabSz="949325">
              <a:spcBef>
                <a:spcPct val="30000"/>
              </a:spcBef>
              <a:defRPr sz="1200">
                <a:solidFill>
                  <a:schemeClr val="tx1"/>
                </a:solidFill>
                <a:latin typeface="Helvetica" pitchFamily="2" charset="0"/>
                <a:ea typeface="ＭＳ Ｐゴシック" panose="020B0600070205080204" pitchFamily="34" charset="-128"/>
              </a:defRPr>
            </a:lvl3pPr>
            <a:lvl4pPr marL="1600200" indent="-228600" defTabSz="949325">
              <a:spcBef>
                <a:spcPct val="30000"/>
              </a:spcBef>
              <a:defRPr sz="1200">
                <a:solidFill>
                  <a:schemeClr val="tx1"/>
                </a:solidFill>
                <a:latin typeface="Helvetica" pitchFamily="2" charset="0"/>
                <a:ea typeface="ＭＳ Ｐゴシック" panose="020B0600070205080204" pitchFamily="34" charset="-128"/>
              </a:defRPr>
            </a:lvl4pPr>
            <a:lvl5pPr marL="2057400" indent="-228600" defTabSz="949325">
              <a:spcBef>
                <a:spcPct val="30000"/>
              </a:spcBef>
              <a:defRPr sz="1200">
                <a:solidFill>
                  <a:schemeClr val="tx1"/>
                </a:solidFill>
                <a:latin typeface="Helvetica" pitchFamily="2" charset="0"/>
                <a:ea typeface="ＭＳ Ｐゴシック" panose="020B0600070205080204" pitchFamily="34" charset="-128"/>
              </a:defRPr>
            </a:lvl5pPr>
            <a:lvl6pPr marL="25146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6pPr>
            <a:lvl7pPr marL="29718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7pPr>
            <a:lvl8pPr marL="34290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8pPr>
            <a:lvl9pPr marL="3886200" indent="-228600" defTabSz="949325" eaLnBrk="0" fontAlgn="base" hangingPunct="0">
              <a:spcBef>
                <a:spcPct val="30000"/>
              </a:spcBef>
              <a:spcAft>
                <a:spcPct val="0"/>
              </a:spcAft>
              <a:defRPr sz="1200">
                <a:solidFill>
                  <a:schemeClr val="tx1"/>
                </a:solidFill>
                <a:latin typeface="Helvetica" pitchFamily="2" charset="0"/>
                <a:ea typeface="ＭＳ Ｐゴシック" panose="020B0600070205080204" pitchFamily="34" charset="-128"/>
              </a:defRPr>
            </a:lvl9pPr>
          </a:lstStyle>
          <a:p>
            <a:pPr>
              <a:spcBef>
                <a:spcPct val="0"/>
              </a:spcBef>
            </a:pPr>
            <a:fld id="{E513FC45-2D34-004F-8716-21477673E15F}" type="slidenum">
              <a:rPr lang="en-US" altLang="en-US">
                <a:latin typeface="Times" pitchFamily="2" charset="0"/>
              </a:rPr>
              <a:pPr>
                <a:spcBef>
                  <a:spcPct val="0"/>
                </a:spcBef>
              </a:pPr>
              <a:t>40</a:t>
            </a:fld>
            <a:endParaRPr lang="en-US" altLang="en-US">
              <a:latin typeface="Times" pitchFamily="2" charset="0"/>
            </a:endParaRPr>
          </a:p>
        </p:txBody>
      </p:sp>
      <p:sp>
        <p:nvSpPr>
          <p:cNvPr id="44034" name="Rectangle 2">
            <a:extLst>
              <a:ext uri="{FF2B5EF4-FFF2-40B4-BE49-F238E27FC236}">
                <a16:creationId xmlns:a16="http://schemas.microsoft.com/office/drawing/2014/main" id="{210D6C6E-7EA3-FB4A-9E26-3C74FB3A36B8}"/>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DB0FDE39-EBB2-5F41-9BDB-D1A5F2FE3B2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Helvetica" pitchFamily="2" charset="0"/>
                <a:ea typeface="ＭＳ Ｐゴシック" panose="020B0600070205080204" pitchFamily="34" charset="-128"/>
              </a:rPr>
              <a:t>Project guideline</a:t>
            </a:r>
          </a:p>
        </p:txBody>
      </p:sp>
    </p:spTree>
    <p:extLst>
      <p:ext uri="{BB962C8B-B14F-4D97-AF65-F5344CB8AC3E}">
        <p14:creationId xmlns:p14="http://schemas.microsoft.com/office/powerpoint/2010/main" val="4541829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9E70221-F42D-604D-9429-8D94E8675334}"/>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90DF91C4-9CCA-6F46-B526-0BCDDB5B87E0}" type="slidenum">
              <a:rPr lang="en-US" altLang="en-US" sz="1000">
                <a:solidFill>
                  <a:schemeClr val="tx1"/>
                </a:solidFill>
                <a:latin typeface="Arial" panose="020B0604020202020204" pitchFamily="34" charset="0"/>
              </a:rPr>
              <a:pPr>
                <a:spcBef>
                  <a:spcPct val="0"/>
                </a:spcBef>
                <a:buClrTx/>
                <a:buSzTx/>
                <a:buFontTx/>
                <a:buNone/>
              </a:pPr>
              <a:t>41</a:t>
            </a:fld>
            <a:endParaRPr lang="en-US" altLang="en-US" sz="1000">
              <a:solidFill>
                <a:schemeClr val="tx1"/>
              </a:solidFill>
              <a:latin typeface="Arial" panose="020B0604020202020204" pitchFamily="34" charset="0"/>
            </a:endParaRPr>
          </a:p>
        </p:txBody>
      </p:sp>
      <p:sp>
        <p:nvSpPr>
          <p:cNvPr id="37891" name="Rectangle 2">
            <a:extLst>
              <a:ext uri="{FF2B5EF4-FFF2-40B4-BE49-F238E27FC236}">
                <a16:creationId xmlns:a16="http://schemas.microsoft.com/office/drawing/2014/main" id="{20E400C3-4713-254E-9D82-5A5B576BED28}"/>
              </a:ext>
            </a:extLst>
          </p:cNvPr>
          <p:cNvSpPr>
            <a:spLocks noGrp="1" noRot="1" noChangeAspect="1" noChangeArrowheads="1" noTextEdit="1"/>
          </p:cNvSpPr>
          <p:nvPr>
            <p:ph type="sldImg"/>
          </p:nvPr>
        </p:nvSpPr>
        <p:spPr>
          <a:ln cap="flat"/>
        </p:spPr>
      </p:sp>
      <p:sp>
        <p:nvSpPr>
          <p:cNvPr id="64515" name="Rectangle 3">
            <a:extLst>
              <a:ext uri="{FF2B5EF4-FFF2-40B4-BE49-F238E27FC236}">
                <a16:creationId xmlns:a16="http://schemas.microsoft.com/office/drawing/2014/main" id="{B98E4051-93F5-FB42-89EA-1832A2496655}"/>
              </a:ext>
            </a:extLst>
          </p:cNvPr>
          <p:cNvSpPr>
            <a:spLocks noGrp="1" noChangeArrowheads="1"/>
          </p:cNvSpPr>
          <p:nvPr>
            <p:ph type="body" idx="1"/>
          </p:nvPr>
        </p:nvSpPr>
        <p:spPr>
          <a:ln/>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151085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C5FF84C2-E338-AD4D-8D79-97C5E97ACEA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FAC4261D-2209-104B-AD5F-22B0631F7178}" type="slidenum">
              <a:rPr lang="en-US" altLang="en-US" sz="1000">
                <a:solidFill>
                  <a:schemeClr val="tx1"/>
                </a:solidFill>
                <a:latin typeface="Arial" panose="020B0604020202020204" pitchFamily="34" charset="0"/>
              </a:rPr>
              <a:pPr>
                <a:spcBef>
                  <a:spcPct val="0"/>
                </a:spcBef>
                <a:buClrTx/>
                <a:buSzTx/>
                <a:buFontTx/>
                <a:buNone/>
              </a:pPr>
              <a:t>42</a:t>
            </a:fld>
            <a:endParaRPr lang="en-US" altLang="en-US" sz="1000">
              <a:solidFill>
                <a:schemeClr val="tx1"/>
              </a:solidFill>
              <a:latin typeface="Arial" panose="020B0604020202020204" pitchFamily="34" charset="0"/>
            </a:endParaRPr>
          </a:p>
        </p:txBody>
      </p:sp>
      <p:sp>
        <p:nvSpPr>
          <p:cNvPr id="51203" name="Rectangle 2">
            <a:extLst>
              <a:ext uri="{FF2B5EF4-FFF2-40B4-BE49-F238E27FC236}">
                <a16:creationId xmlns:a16="http://schemas.microsoft.com/office/drawing/2014/main" id="{F1C573A4-30A6-5343-8CD9-7C046C1FDE45}"/>
              </a:ext>
            </a:extLst>
          </p:cNvPr>
          <p:cNvSpPr>
            <a:spLocks noGrp="1" noRot="1" noChangeAspect="1" noChangeArrowheads="1" noTextEdit="1"/>
          </p:cNvSpPr>
          <p:nvPr>
            <p:ph type="sldImg"/>
          </p:nvPr>
        </p:nvSpPr>
        <p:spPr>
          <a:ln cap="flat"/>
        </p:spPr>
      </p:sp>
      <p:sp>
        <p:nvSpPr>
          <p:cNvPr id="76803" name="Rectangle 3">
            <a:extLst>
              <a:ext uri="{FF2B5EF4-FFF2-40B4-BE49-F238E27FC236}">
                <a16:creationId xmlns:a16="http://schemas.microsoft.com/office/drawing/2014/main" id="{6F593BE2-F7F9-5F46-9D2E-9FA10CA2B590}"/>
              </a:ext>
            </a:extLst>
          </p:cNvPr>
          <p:cNvSpPr>
            <a:spLocks noGrp="1" noChangeArrowheads="1"/>
          </p:cNvSpPr>
          <p:nvPr>
            <p:ph type="body" idx="1"/>
          </p:nvPr>
        </p:nvSpPr>
        <p:spPr>
          <a:ln/>
        </p:spPr>
        <p:txBody>
          <a:bodyPr/>
          <a:lstStyle/>
          <a:p>
            <a:r>
              <a:rPr lang="en-US" altLang="en-US" dirty="0">
                <a:latin typeface="Times New Roman" panose="02020603050405020304" pitchFamily="18" charset="0"/>
              </a:rPr>
              <a:t>We cannot reuse the r1 between sub and </a:t>
            </a:r>
            <a:r>
              <a:rPr lang="en-US" altLang="en-US" dirty="0" err="1">
                <a:latin typeface="Times New Roman" panose="02020603050405020304" pitchFamily="18" charset="0"/>
              </a:rPr>
              <a:t>beq</a:t>
            </a:r>
            <a:r>
              <a:rPr lang="en-US" altLang="en-US" dirty="0">
                <a:latin typeface="Times New Roman" panose="02020603050405020304" pitchFamily="18" charset="0"/>
              </a:rPr>
              <a:t> instruction.</a:t>
            </a:r>
          </a:p>
          <a:p>
            <a:r>
              <a:rPr lang="en-US" altLang="en-US" dirty="0">
                <a:latin typeface="Times New Roman" panose="02020603050405020304" pitchFamily="18" charset="0"/>
              </a:rPr>
              <a:t>R! value must be consistent in between.</a:t>
            </a:r>
          </a:p>
        </p:txBody>
      </p:sp>
    </p:spTree>
    <p:extLst>
      <p:ext uri="{BB962C8B-B14F-4D97-AF65-F5344CB8AC3E}">
        <p14:creationId xmlns:p14="http://schemas.microsoft.com/office/powerpoint/2010/main" val="2542288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2D5851F-CBEB-2540-B77F-D2E97146BFDC}"/>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1281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1281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47DA0F85-10E5-F744-A1B9-1C4859757A9C}" type="slidenum">
              <a:rPr lang="en-US" altLang="en-US" sz="1000">
                <a:solidFill>
                  <a:schemeClr val="tx1"/>
                </a:solidFill>
                <a:latin typeface="Arial" panose="020B0604020202020204" pitchFamily="34" charset="0"/>
              </a:rPr>
              <a:pPr>
                <a:spcBef>
                  <a:spcPct val="0"/>
                </a:spcBef>
                <a:buClrTx/>
                <a:buSzTx/>
                <a:buFontTx/>
                <a:buNone/>
              </a:pPr>
              <a:t>43</a:t>
            </a:fld>
            <a:endParaRPr lang="en-US" altLang="en-US" sz="1000">
              <a:solidFill>
                <a:schemeClr val="tx1"/>
              </a:solidFill>
              <a:latin typeface="Arial" panose="020B0604020202020204" pitchFamily="34" charset="0"/>
            </a:endParaRPr>
          </a:p>
        </p:txBody>
      </p:sp>
      <p:sp>
        <p:nvSpPr>
          <p:cNvPr id="53251" name="Rectangle 2">
            <a:extLst>
              <a:ext uri="{FF2B5EF4-FFF2-40B4-BE49-F238E27FC236}">
                <a16:creationId xmlns:a16="http://schemas.microsoft.com/office/drawing/2014/main" id="{2217DF28-6BA2-4141-BB09-21FA95206912}"/>
              </a:ext>
            </a:extLst>
          </p:cNvPr>
          <p:cNvSpPr>
            <a:spLocks noGrp="1" noRot="1" noChangeAspect="1" noChangeArrowheads="1" noTextEdit="1"/>
          </p:cNvSpPr>
          <p:nvPr>
            <p:ph type="sldImg"/>
          </p:nvPr>
        </p:nvSpPr>
        <p:spPr>
          <a:ln cap="flat"/>
        </p:spPr>
      </p:sp>
      <p:sp>
        <p:nvSpPr>
          <p:cNvPr id="78851" name="Rectangle 3">
            <a:extLst>
              <a:ext uri="{FF2B5EF4-FFF2-40B4-BE49-F238E27FC236}">
                <a16:creationId xmlns:a16="http://schemas.microsoft.com/office/drawing/2014/main" id="{5E1AD816-39EC-8046-A0F8-CF6BC301BCFE}"/>
              </a:ext>
            </a:extLst>
          </p:cNvPr>
          <p:cNvSpPr>
            <a:spLocks noGrp="1" noChangeArrowheads="1"/>
          </p:cNvSpPr>
          <p:nvPr>
            <p:ph type="body" idx="1"/>
          </p:nvPr>
        </p:nvSpPr>
        <p:spPr>
          <a:ln/>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50371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88DD087D-21A4-6544-856E-37BF0EFB61EE}"/>
              </a:ext>
            </a:extLst>
          </p:cNvPr>
          <p:cNvSpPr>
            <a:spLocks noGrp="1" noRot="1" noChangeAspect="1" noChangeArrowheads="1" noTextEdit="1"/>
          </p:cNvSpPr>
          <p:nvPr>
            <p:ph type="sldImg"/>
          </p:nvPr>
        </p:nvSpPr>
        <p:spPr>
          <a:ln/>
        </p:spPr>
      </p:sp>
      <p:sp>
        <p:nvSpPr>
          <p:cNvPr id="63491" name="Notes Placeholder 2">
            <a:extLst>
              <a:ext uri="{FF2B5EF4-FFF2-40B4-BE49-F238E27FC236}">
                <a16:creationId xmlns:a16="http://schemas.microsoft.com/office/drawing/2014/main" id="{0C7C1F4F-6201-1F4F-80C7-45BB68A50B2F}"/>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Load/store ISA ensures that there is only a need for one MEM stage in the pipeline, and only load and store use it. </a:t>
            </a:r>
          </a:p>
          <a:p>
            <a:r>
              <a:rPr lang="en-US" altLang="en-US">
                <a:latin typeface="Times New Roman" panose="02020603050405020304" pitchFamily="18" charset="0"/>
              </a:rPr>
              <a:t>Load/store ISA also ensures instruction width can be fixed. At most an instruction has one long operand (mem address)</a:t>
            </a:r>
          </a:p>
          <a:p>
            <a:r>
              <a:rPr lang="en-US" altLang="en-US">
                <a:latin typeface="Times New Roman" panose="02020603050405020304" pitchFamily="18" charset="0"/>
              </a:rPr>
              <a:t>Fixed instruction width </a:t>
            </a:r>
          </a:p>
          <a:p>
            <a:r>
              <a:rPr lang="en-US" altLang="en-US">
                <a:latin typeface="Times New Roman" panose="02020603050405020304" pitchFamily="18" charset="0"/>
              </a:rPr>
              <a:t>ILP oriented: large number of registers reduce false dependences due to reuse</a:t>
            </a: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
        <p:nvSpPr>
          <p:cNvPr id="63492" name="Slide Number Placeholder 3">
            <a:extLst>
              <a:ext uri="{FF2B5EF4-FFF2-40B4-BE49-F238E27FC236}">
                <a16:creationId xmlns:a16="http://schemas.microsoft.com/office/drawing/2014/main" id="{D940434D-5BAD-144B-9DBD-ECDB9231DF40}"/>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2B5E6EE8-1994-3B4E-9B31-68D18902D07E}" type="slidenum">
              <a:rPr lang="en-US" altLang="en-US">
                <a:solidFill>
                  <a:schemeClr val="tx1"/>
                </a:solidFill>
              </a:rPr>
              <a:pPr>
                <a:spcBef>
                  <a:spcPct val="0"/>
                </a:spcBef>
                <a:buClrTx/>
                <a:buSzTx/>
                <a:buFontTx/>
                <a:buNone/>
              </a:pPr>
              <a:t>44</a:t>
            </a:fld>
            <a:endParaRPr lang="en-US" altLang="en-US">
              <a:solidFill>
                <a:schemeClr val="tx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417C2D65-DCF4-0443-9597-CD19C633A486}"/>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EDE47FE8-CDDB-9441-9425-57BBFC488600}"/>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Notice opcode “</a:t>
            </a:r>
            <a:r>
              <a:rPr lang="en-US" altLang="ja-JP">
                <a:latin typeface="Times New Roman" panose="02020603050405020304" pitchFamily="18" charset="0"/>
              </a:rPr>
              <a:t>addi</a:t>
            </a:r>
            <a:r>
              <a:rPr lang="en-US" altLang="en-US">
                <a:latin typeface="Times New Roman" panose="02020603050405020304" pitchFamily="18" charset="0"/>
              </a:rPr>
              <a:t>”</a:t>
            </a:r>
            <a:r>
              <a:rPr lang="en-US" altLang="ja-JP">
                <a:latin typeface="Times New Roman" panose="02020603050405020304" pitchFamily="18" charset="0"/>
              </a:rPr>
              <a:t> encodes the immediate addressing mode</a:t>
            </a:r>
          </a:p>
          <a:p>
            <a:endParaRPr lang="en-US" altLang="en-US">
              <a:latin typeface="Times New Roman" panose="02020603050405020304" pitchFamily="18" charset="0"/>
            </a:endParaRPr>
          </a:p>
        </p:txBody>
      </p:sp>
      <p:sp>
        <p:nvSpPr>
          <p:cNvPr id="66564" name="Slide Number Placeholder 3">
            <a:extLst>
              <a:ext uri="{FF2B5EF4-FFF2-40B4-BE49-F238E27FC236}">
                <a16:creationId xmlns:a16="http://schemas.microsoft.com/office/drawing/2014/main" id="{939EF636-7FBE-5344-BAF6-837390C293BB}"/>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1pPr>
            <a:lvl2pPr marL="742950" indent="-28575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2pPr>
            <a:lvl3pPr marL="11430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3pPr>
            <a:lvl4pPr marL="16002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4pPr>
            <a:lvl5pPr marL="2057400" indent="-228600" defTabSz="930275">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930275"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SzTx/>
              <a:buFontTx/>
              <a:buNone/>
            </a:pPr>
            <a:fld id="{522B4A06-1BA1-A84A-A1C1-B1DEAE21F791}" type="slidenum">
              <a:rPr lang="en-US" altLang="en-US">
                <a:solidFill>
                  <a:schemeClr val="tx1"/>
                </a:solidFill>
              </a:rPr>
              <a:pPr>
                <a:spcBef>
                  <a:spcPct val="0"/>
                </a:spcBef>
                <a:buClrTx/>
                <a:buSzTx/>
                <a:buFontTx/>
                <a:buNone/>
              </a:pPr>
              <a:t>46</a:t>
            </a:fld>
            <a:endParaRPr lang="en-US" altLang="en-US">
              <a:solidFill>
                <a:schemeClr val="tx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47</a:t>
            </a:fld>
            <a:endParaRPr lang="en-US"/>
          </a:p>
        </p:txBody>
      </p:sp>
    </p:spTree>
    <p:extLst>
      <p:ext uri="{BB962C8B-B14F-4D97-AF65-F5344CB8AC3E}">
        <p14:creationId xmlns:p14="http://schemas.microsoft.com/office/powerpoint/2010/main" val="6435093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C6287C6C-FC69-1046-BC1F-B74EE7EEF775}"/>
              </a:ext>
            </a:extLst>
          </p:cNvPr>
          <p:cNvSpPr>
            <a:spLocks noGrp="1" noRot="1" noChangeAspect="1" noChangeArrowheads="1" noTextEdit="1"/>
          </p:cNvSpPr>
          <p:nvPr>
            <p:ph type="sldImg"/>
          </p:nvPr>
        </p:nvSpPr>
        <p:spPr>
          <a:ln/>
        </p:spPr>
      </p:sp>
      <p:sp>
        <p:nvSpPr>
          <p:cNvPr id="70659" name="Notes Placeholder 2">
            <a:extLst>
              <a:ext uri="{FF2B5EF4-FFF2-40B4-BE49-F238E27FC236}">
                <a16:creationId xmlns:a16="http://schemas.microsoft.com/office/drawing/2014/main" id="{356EE32F-3898-B447-8F06-121224C3FD55}"/>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https://www.eecg.utoronto.ca/~amza/www.mindsec.com/files/x86regs.html</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6EA6AC5D-25A2-C14A-8927-9B966459EE6D}"/>
              </a:ext>
            </a:extLst>
          </p:cNvPr>
          <p:cNvSpPr>
            <a:spLocks noGrp="1" noRot="1" noChangeAspect="1" noChangeArrowheads="1" noTextEdit="1"/>
          </p:cNvSpPr>
          <p:nvPr>
            <p:ph type="sldImg"/>
          </p:nvPr>
        </p:nvSpPr>
        <p:spPr>
          <a:ln/>
        </p:spPr>
      </p:sp>
      <p:sp>
        <p:nvSpPr>
          <p:cNvPr id="72707" name="Notes Placeholder 2">
            <a:extLst>
              <a:ext uri="{FF2B5EF4-FFF2-40B4-BE49-F238E27FC236}">
                <a16:creationId xmlns:a16="http://schemas.microsoft.com/office/drawing/2014/main" id="{84F18996-4CDD-024E-8B8E-B4A7D8A6166E}"/>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err="1">
                <a:latin typeface="Times New Roman" panose="02020603050405020304" pitchFamily="18" charset="0"/>
              </a:rPr>
              <a:t>Ebp</a:t>
            </a:r>
            <a:r>
              <a:rPr lang="en-US" altLang="en-US" dirty="0">
                <a:latin typeface="Times New Roman" panose="02020603050405020304" pitchFamily="18" charset="0"/>
              </a:rPr>
              <a:t>: base pointer return address</a:t>
            </a:r>
          </a:p>
          <a:p>
            <a:endParaRPr lang="en-US" altLang="en-US" dirty="0">
              <a:latin typeface="Times New Roman" panose="02020603050405020304" pitchFamily="18" charset="0"/>
            </a:endParaRPr>
          </a:p>
          <a:p>
            <a:r>
              <a:rPr lang="en-US" altLang="en-US" dirty="0" err="1">
                <a:latin typeface="Times New Roman" panose="02020603050405020304" pitchFamily="18" charset="0"/>
              </a:rPr>
              <a:t>Esp</a:t>
            </a:r>
            <a:r>
              <a:rPr lang="en-US" altLang="en-US" dirty="0">
                <a:latin typeface="Times New Roman" panose="02020603050405020304" pitchFamily="18" charset="0"/>
              </a:rPr>
              <a:t>: stack pointer</a:t>
            </a:r>
          </a:p>
          <a:p>
            <a:endParaRPr lang="en-US" altLang="en-US" dirty="0">
              <a:latin typeface="Times New Roman" panose="02020603050405020304" pitchFamily="18" charset="0"/>
            </a:endParaRPr>
          </a:p>
          <a:p>
            <a:r>
              <a:rPr lang="en-US" altLang="en-US" dirty="0">
                <a:latin typeface="Times New Roman" panose="02020603050405020304" pitchFamily="18" charset="0"/>
              </a:rPr>
              <a:t>Scaled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CF11D329-5D9F-9042-9C96-0878C38AE1B3}"/>
              </a:ext>
            </a:extLst>
          </p:cNvPr>
          <p:cNvSpPr>
            <a:spLocks noGrp="1" noRot="1" noChangeAspect="1" noChangeArrowheads="1" noTextEdit="1"/>
          </p:cNvSpPr>
          <p:nvPr>
            <p:ph type="sldImg"/>
          </p:nvPr>
        </p:nvSpPr>
        <p:spPr>
          <a:ln/>
        </p:spPr>
      </p:sp>
      <p:sp>
        <p:nvSpPr>
          <p:cNvPr id="75779" name="Notes Placeholder 2">
            <a:extLst>
              <a:ext uri="{FF2B5EF4-FFF2-40B4-BE49-F238E27FC236}">
                <a16:creationId xmlns:a16="http://schemas.microsoft.com/office/drawing/2014/main" id="{670863E4-BFBE-D248-8EA2-03F6F848CF8D}"/>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80694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16 byte</a:t>
            </a:r>
          </a:p>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59</a:t>
            </a:fld>
            <a:endParaRPr lang="en-US"/>
          </a:p>
        </p:txBody>
      </p:sp>
    </p:spTree>
    <p:extLst>
      <p:ext uri="{BB962C8B-B14F-4D97-AF65-F5344CB8AC3E}">
        <p14:creationId xmlns:p14="http://schemas.microsoft.com/office/powerpoint/2010/main" val="4198273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3C4B32-181F-47F3-A9E7-1A626A04E949}"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3C4B32-181F-47F3-A9E7-1A626A04E949}"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sp>
        <p:nvSpPr>
          <p:cNvPr id="7" name="Rectangle 6">
            <a:extLst>
              <a:ext uri="{FF2B5EF4-FFF2-40B4-BE49-F238E27FC236}">
                <a16:creationId xmlns:a16="http://schemas.microsoft.com/office/drawing/2014/main" id="{1B805CF0-1361-DF42-A81B-EE39E9DCC38A}"/>
              </a:ext>
            </a:extLst>
          </p:cNvPr>
          <p:cNvSpPr/>
          <p:nvPr userDrawn="1"/>
        </p:nvSpPr>
        <p:spPr>
          <a:xfrm>
            <a:off x="1772" y="6633009"/>
            <a:ext cx="9144000" cy="224991"/>
          </a:xfrm>
          <a:prstGeom prst="rect">
            <a:avLst/>
          </a:prstGeom>
          <a:solidFill>
            <a:srgbClr val="FFCA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A29"/>
              </a:solidFill>
            </a:endParaRPr>
          </a:p>
        </p:txBody>
      </p:sp>
      <p:pic>
        <p:nvPicPr>
          <p:cNvPr id="8" name="Picture 7">
            <a:extLst>
              <a:ext uri="{FF2B5EF4-FFF2-40B4-BE49-F238E27FC236}">
                <a16:creationId xmlns:a16="http://schemas.microsoft.com/office/drawing/2014/main" id="{DD01A2ED-5530-7545-AD52-8B53BF4BC0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66754" y="6145823"/>
            <a:ext cx="527774" cy="712177"/>
          </a:xfrm>
          <a:prstGeom prst="rect">
            <a:avLst/>
          </a:prstGeom>
        </p:spPr>
      </p:pic>
      <p:cxnSp>
        <p:nvCxnSpPr>
          <p:cNvPr id="9" name="Straight Connector 8">
            <a:extLst>
              <a:ext uri="{FF2B5EF4-FFF2-40B4-BE49-F238E27FC236}">
                <a16:creationId xmlns:a16="http://schemas.microsoft.com/office/drawing/2014/main" id="{794591D4-0904-A244-93C6-160819086B95}"/>
              </a:ext>
            </a:extLst>
          </p:cNvPr>
          <p:cNvCxnSpPr>
            <a:cxnSpLocks/>
          </p:cNvCxnSpPr>
          <p:nvPr userDrawn="1"/>
        </p:nvCxnSpPr>
        <p:spPr>
          <a:xfrm>
            <a:off x="0" y="772401"/>
            <a:ext cx="91440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3C4B32-181F-47F3-A9E7-1A626A04E949}"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3C4B32-181F-47F3-A9E7-1A626A04E949}" type="datetimeFigureOut">
              <a:rPr lang="en-US" smtClean="0"/>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3C4B32-181F-47F3-A9E7-1A626A04E949}" type="datetimeFigureOut">
              <a:rPr lang="en-US" smtClean="0"/>
              <a:t>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EBFB59-84EC-4E39-89BD-0BD405E72013}"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3C4B32-181F-47F3-A9E7-1A626A04E949}" type="datetimeFigureOut">
              <a:rPr lang="en-US" smtClean="0"/>
              <a:t>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3C4B32-181F-47F3-A9E7-1A626A04E949}" type="datetimeFigureOut">
              <a:rPr lang="en-US" smtClean="0"/>
              <a:t>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3C4B32-181F-47F3-A9E7-1A626A04E949}" type="datetimeFigureOut">
              <a:rPr lang="en-US" smtClean="0"/>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BFB59-84EC-4E39-89BD-0BD405E72013}"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3C4B32-181F-47F3-A9E7-1A626A04E949}" type="datetimeFigureOut">
              <a:rPr lang="en-US" smtClean="0"/>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3C4B32-181F-47F3-A9E7-1A626A04E949}"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3C4B32-181F-47F3-A9E7-1A626A04E949}"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380492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860" y="0"/>
            <a:ext cx="8229600" cy="7724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23C4B32-181F-47F3-A9E7-1A626A04E949}" type="datetimeFigureOut">
              <a:rPr lang="en-US" smtClean="0"/>
              <a:t>2/2/26</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FAEBFB59-84EC-4E39-89BD-0BD405E720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spcBef>
          <a:spcPct val="0"/>
        </a:spcBef>
        <a:buNone/>
        <a:defRPr sz="4000" kern="1200" spc="-100" baseline="0">
          <a:solidFill>
            <a:schemeClr val="tx1"/>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9D6D57C-B711-024C-BAF2-BA883E357E72}"/>
              </a:ext>
            </a:extLst>
          </p:cNvPr>
          <p:cNvSpPr txBox="1">
            <a:spLocks/>
          </p:cNvSpPr>
          <p:nvPr/>
        </p:nvSpPr>
        <p:spPr>
          <a:xfrm>
            <a:off x="-75622" y="5101062"/>
            <a:ext cx="9144000" cy="605997"/>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b="0" i="0" kern="1200">
                <a:solidFill>
                  <a:schemeClr val="tx1"/>
                </a:solidFill>
                <a:latin typeface="Helvetica Neue Medium" charset="0"/>
                <a:ea typeface="Helvetica Neue Medium" charset="0"/>
                <a:cs typeface="Helvetica Neue Medium" charset="0"/>
              </a:defRPr>
            </a:lvl1pPr>
          </a:lstStyle>
          <a:p>
            <a:pPr>
              <a:lnSpc>
                <a:spcPts val="2700"/>
              </a:lnSpc>
              <a:spcBef>
                <a:spcPts val="600"/>
              </a:spcBef>
              <a:spcAft>
                <a:spcPts val="600"/>
              </a:spcAft>
            </a:pPr>
            <a:r>
              <a:rPr lang="en-US" sz="2800" dirty="0">
                <a:solidFill>
                  <a:srgbClr val="0432FF"/>
                </a:solidFill>
                <a:latin typeface="Tahoma" panose="020B0604030504040204" pitchFamily="34" charset="0"/>
                <a:ea typeface="Tahoma" panose="020B0604030504040204" pitchFamily="34" charset="0"/>
                <a:cs typeface="Tahoma" panose="020B0604030504040204" pitchFamily="34" charset="0"/>
              </a:rPr>
              <a:t>Prof. Jongouk Choi</a:t>
            </a:r>
          </a:p>
          <a:p>
            <a:pPr>
              <a:lnSpc>
                <a:spcPts val="2700"/>
              </a:lnSpc>
              <a:spcBef>
                <a:spcPts val="600"/>
              </a:spcBef>
              <a:spcAft>
                <a:spcPts val="600"/>
              </a:spcAft>
            </a:pPr>
            <a:r>
              <a:rPr lang="en-US" sz="2800" dirty="0">
                <a:latin typeface="Tahoma" panose="020B0604030504040204" pitchFamily="34" charset="0"/>
                <a:ea typeface="Tahoma" panose="020B0604030504040204" pitchFamily="34" charset="0"/>
                <a:cs typeface="Tahoma" panose="020B0604030504040204" pitchFamily="34" charset="0"/>
              </a:rPr>
              <a:t>University of Central Florida</a:t>
            </a:r>
          </a:p>
          <a:p>
            <a:pPr>
              <a:lnSpc>
                <a:spcPts val="2700"/>
              </a:lnSpc>
              <a:spcBef>
                <a:spcPts val="600"/>
              </a:spcBef>
              <a:spcAft>
                <a:spcPts val="600"/>
              </a:spcAft>
            </a:pPr>
            <a:r>
              <a:rPr lang="en-US" sz="2800" dirty="0">
                <a:latin typeface="Tahoma" panose="020B0604030504040204" pitchFamily="34" charset="0"/>
                <a:ea typeface="Tahoma" panose="020B0604030504040204" pitchFamily="34" charset="0"/>
                <a:cs typeface="Tahoma" panose="020B0604030504040204" pitchFamily="34" charset="0"/>
              </a:rPr>
              <a:t>Spring 2026</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Title 1">
            <a:extLst>
              <a:ext uri="{FF2B5EF4-FFF2-40B4-BE49-F238E27FC236}">
                <a16:creationId xmlns:a16="http://schemas.microsoft.com/office/drawing/2014/main" id="{A5499016-53BA-F842-AC44-ED74722B0422}"/>
              </a:ext>
            </a:extLst>
          </p:cNvPr>
          <p:cNvSpPr txBox="1">
            <a:spLocks/>
          </p:cNvSpPr>
          <p:nvPr/>
        </p:nvSpPr>
        <p:spPr>
          <a:xfrm>
            <a:off x="-7412" y="3200400"/>
            <a:ext cx="9144000" cy="718002"/>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b="0" i="0" kern="1200">
                <a:solidFill>
                  <a:schemeClr val="tx1"/>
                </a:solidFill>
                <a:latin typeface="Helvetica Neue Medium" charset="0"/>
                <a:ea typeface="Helvetica Neue Medium" charset="0"/>
                <a:cs typeface="Helvetica Neue Medium" charset="0"/>
              </a:defRPr>
            </a:lvl1pPr>
          </a:lstStyle>
          <a:p>
            <a:pPr>
              <a:lnSpc>
                <a:spcPts val="2700"/>
              </a:lnSpc>
              <a:spcBef>
                <a:spcPts val="600"/>
              </a:spcBef>
              <a:spcAft>
                <a:spcPts val="600"/>
              </a:spcAft>
            </a:pPr>
            <a:r>
              <a:rPr lang="en-US" sz="4000" b="1" dirty="0">
                <a:latin typeface="Tahoma" panose="020B0604030504040204" pitchFamily="34" charset="0"/>
                <a:ea typeface="Tahoma" panose="020B0604030504040204" pitchFamily="34" charset="0"/>
                <a:cs typeface="Tahoma" panose="020B0604030504040204" pitchFamily="34" charset="0"/>
              </a:rPr>
              <a:t>CDA 5106: Advanced Computer</a:t>
            </a:r>
          </a:p>
          <a:p>
            <a:pPr>
              <a:lnSpc>
                <a:spcPts val="2700"/>
              </a:lnSpc>
              <a:spcBef>
                <a:spcPts val="600"/>
              </a:spcBef>
              <a:spcAft>
                <a:spcPts val="600"/>
              </a:spcAft>
            </a:pPr>
            <a:r>
              <a:rPr lang="en-US" sz="4000" b="1" dirty="0">
                <a:latin typeface="Tahoma" panose="020B0604030504040204" pitchFamily="34" charset="0"/>
                <a:ea typeface="Tahoma" panose="020B0604030504040204" pitchFamily="34" charset="0"/>
                <a:cs typeface="Tahoma" panose="020B0604030504040204" pitchFamily="34" charset="0"/>
              </a:rPr>
              <a:t>Architecture</a:t>
            </a:r>
          </a:p>
          <a:p>
            <a:pPr>
              <a:lnSpc>
                <a:spcPts val="2700"/>
              </a:lnSpc>
              <a:spcBef>
                <a:spcPts val="600"/>
              </a:spcBef>
              <a:spcAft>
                <a:spcPts val="600"/>
              </a:spcAft>
            </a:pPr>
            <a:endParaRPr lang="en-US" sz="4000" b="1" dirty="0">
              <a:latin typeface="Tahoma" panose="020B0604030504040204" pitchFamily="34" charset="0"/>
              <a:ea typeface="Tahoma" panose="020B0604030504040204" pitchFamily="34" charset="0"/>
              <a:cs typeface="Tahoma" panose="020B0604030504040204" pitchFamily="34" charset="0"/>
            </a:endParaRPr>
          </a:p>
          <a:p>
            <a:pPr>
              <a:lnSpc>
                <a:spcPts val="2700"/>
              </a:lnSpc>
              <a:spcBef>
                <a:spcPts val="600"/>
              </a:spcBef>
              <a:spcAft>
                <a:spcPts val="600"/>
              </a:spcAft>
            </a:pPr>
            <a:r>
              <a:rPr lang="en-US" sz="3600" dirty="0">
                <a:latin typeface="Tahoma" panose="020B0604030504040204" pitchFamily="34" charset="0"/>
                <a:ea typeface="Tahoma" panose="020B0604030504040204" pitchFamily="34" charset="0"/>
                <a:cs typeface="Tahoma" panose="020B0604030504040204" pitchFamily="34" charset="0"/>
              </a:rPr>
              <a:t>Lecture 3: ISA</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56677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F75CED8-BDB6-9B40-A20C-BB512534F1EB}"/>
              </a:ext>
            </a:extLst>
          </p:cNvPr>
          <p:cNvSpPr>
            <a:spLocks noGrp="1" noChangeArrowheads="1"/>
          </p:cNvSpPr>
          <p:nvPr>
            <p:ph type="title"/>
          </p:nvPr>
        </p:nvSpPr>
        <p:spPr/>
        <p:txBody>
          <a:bodyPr/>
          <a:lstStyle/>
          <a:p>
            <a:r>
              <a:rPr lang="en-US" altLang="en-US"/>
              <a:t>Objectives and Outline</a:t>
            </a:r>
          </a:p>
        </p:txBody>
      </p:sp>
      <p:sp>
        <p:nvSpPr>
          <p:cNvPr id="11267" name="Content Placeholder 2">
            <a:extLst>
              <a:ext uri="{FF2B5EF4-FFF2-40B4-BE49-F238E27FC236}">
                <a16:creationId xmlns:a16="http://schemas.microsoft.com/office/drawing/2014/main" id="{E9C5F21A-8002-5F4D-B378-9F1C6835A7B4}"/>
              </a:ext>
            </a:extLst>
          </p:cNvPr>
          <p:cNvSpPr>
            <a:spLocks noGrp="1" noChangeArrowheads="1"/>
          </p:cNvSpPr>
          <p:nvPr>
            <p:ph idx="1"/>
          </p:nvPr>
        </p:nvSpPr>
        <p:spPr/>
        <p:txBody>
          <a:bodyPr/>
          <a:lstStyle/>
          <a:p>
            <a:r>
              <a:rPr lang="en-US" altLang="en-US"/>
              <a:t>Objectives:</a:t>
            </a:r>
          </a:p>
          <a:p>
            <a:pPr lvl="1"/>
            <a:r>
              <a:rPr lang="en-US" altLang="en-US">
                <a:ea typeface="ＭＳ Ｐゴシック" panose="020B0600070205080204" pitchFamily="34" charset="-128"/>
              </a:rPr>
              <a:t>Understand the design space of ISA, their trade offs</a:t>
            </a:r>
          </a:p>
          <a:p>
            <a:pPr lvl="1"/>
            <a:r>
              <a:rPr lang="en-US" altLang="en-US">
                <a:ea typeface="ＭＳ Ｐゴシック" panose="020B0600070205080204" pitchFamily="34" charset="-128"/>
              </a:rPr>
              <a:t>Able to generate code on various ISAs and analyze trade offs</a:t>
            </a:r>
          </a:p>
          <a:p>
            <a:pPr lvl="1"/>
            <a:r>
              <a:rPr lang="en-US" altLang="en-US">
                <a:ea typeface="ＭＳ Ｐゴシック" panose="020B0600070205080204" pitchFamily="34" charset="-128"/>
              </a:rPr>
              <a:t>Recite key features of major ISAs</a:t>
            </a:r>
          </a:p>
          <a:p>
            <a:r>
              <a:rPr lang="en-US" altLang="en-US"/>
              <a:t>Outline (totaling 3 sub-modules)</a:t>
            </a:r>
          </a:p>
          <a:p>
            <a:pPr lvl="1"/>
            <a:r>
              <a:rPr lang="en-US" altLang="en-US">
                <a:ea typeface="ＭＳ Ｐゴシック" panose="020B0600070205080204" pitchFamily="34" charset="-128"/>
              </a:rPr>
              <a:t>What is ISA?</a:t>
            </a:r>
          </a:p>
          <a:p>
            <a:pPr lvl="1"/>
            <a:r>
              <a:rPr lang="en-US" altLang="en-US">
                <a:ea typeface="ＭＳ Ｐゴシック" panose="020B0600070205080204" pitchFamily="34" charset="-128"/>
              </a:rPr>
              <a:t>ISA Styles: stacks, accumulator, register-memory, load-store</a:t>
            </a:r>
          </a:p>
          <a:p>
            <a:pPr lvl="1"/>
            <a:r>
              <a:rPr lang="en-US" altLang="en-US">
                <a:ea typeface="ＭＳ Ｐゴシック" panose="020B0600070205080204" pitchFamily="34" charset="-128"/>
              </a:rPr>
              <a:t>Alignment, endian-ness, instruction encoding</a:t>
            </a:r>
          </a:p>
          <a:p>
            <a:pPr lvl="1"/>
            <a:r>
              <a:rPr lang="en-US" altLang="en-US">
                <a:ea typeface="ＭＳ Ｐゴシック" panose="020B0600070205080204" pitchFamily="34" charset="-128"/>
              </a:rPr>
              <a:t>Addressing modes</a:t>
            </a:r>
          </a:p>
          <a:p>
            <a:pPr lvl="1"/>
            <a:r>
              <a:rPr lang="en-US" altLang="en-US">
                <a:ea typeface="ＭＳ Ｐゴシック" panose="020B0600070205080204" pitchFamily="34" charset="-128"/>
              </a:rPr>
              <a:t>Control transfer instruction types and styles</a:t>
            </a:r>
          </a:p>
          <a:p>
            <a:pPr lvl="1"/>
            <a:r>
              <a:rPr lang="en-US" altLang="en-US">
                <a:ea typeface="ＭＳ Ｐゴシック" panose="020B0600070205080204" pitchFamily="34" charset="-128"/>
              </a:rPr>
              <a:t>Examples of major ISAs </a:t>
            </a:r>
          </a:p>
        </p:txBody>
      </p:sp>
    </p:spTree>
    <p:extLst>
      <p:ext uri="{BB962C8B-B14F-4D97-AF65-F5344CB8AC3E}">
        <p14:creationId xmlns:p14="http://schemas.microsoft.com/office/powerpoint/2010/main" val="3403836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1DB658B6-E31B-E74B-9AC8-6C1C206D5C56}"/>
              </a:ext>
            </a:extLst>
          </p:cNvPr>
          <p:cNvSpPr>
            <a:spLocks noGrp="1" noChangeArrowheads="1"/>
          </p:cNvSpPr>
          <p:nvPr>
            <p:ph type="ctrTitle"/>
          </p:nvPr>
        </p:nvSpPr>
        <p:spPr>
          <a:xfrm>
            <a:off x="152400" y="1958975"/>
            <a:ext cx="8991600" cy="1470025"/>
          </a:xfrm>
        </p:spPr>
        <p:txBody>
          <a:bodyPr/>
          <a:lstStyle/>
          <a:p>
            <a:pPr eaLnBrk="1" hangingPunct="1"/>
            <a:r>
              <a:rPr lang="en-US" altLang="en-US" dirty="0">
                <a:ea typeface="ＭＳ Ｐゴシック" panose="020B0600070205080204" pitchFamily="34" charset="-128"/>
              </a:rPr>
              <a:t>Module 3.1: Instruction Set Architecture1</a:t>
            </a:r>
          </a:p>
        </p:txBody>
      </p:sp>
      <p:sp>
        <p:nvSpPr>
          <p:cNvPr id="43010" name="Subtitle 1">
            <a:extLst>
              <a:ext uri="{FF2B5EF4-FFF2-40B4-BE49-F238E27FC236}">
                <a16:creationId xmlns:a16="http://schemas.microsoft.com/office/drawing/2014/main" id="{5D942F35-A1F0-5446-95E7-17D5504FC33D}"/>
              </a:ext>
            </a:extLst>
          </p:cNvPr>
          <p:cNvSpPr>
            <a:spLocks noGrp="1" noChangeArrowheads="1"/>
          </p:cNvSpPr>
          <p:nvPr>
            <p:ph type="subTitle" idx="1"/>
          </p:nvPr>
        </p:nvSpPr>
        <p:spPr/>
        <p:txBody>
          <a:bodyPr/>
          <a:lstStyle/>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399354121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FB49907-6449-064F-A648-1D208346B29B}"/>
              </a:ext>
            </a:extLst>
          </p:cNvPr>
          <p:cNvSpPr>
            <a:spLocks noGrp="1" noChangeArrowheads="1"/>
          </p:cNvSpPr>
          <p:nvPr>
            <p:ph type="title"/>
          </p:nvPr>
        </p:nvSpPr>
        <p:spPr>
          <a:xfrm>
            <a:off x="8860" y="0"/>
            <a:ext cx="8830340" cy="772400"/>
          </a:xfrm>
        </p:spPr>
        <p:txBody>
          <a:bodyPr>
            <a:normAutofit/>
          </a:bodyPr>
          <a:lstStyle/>
          <a:p>
            <a:r>
              <a:rPr lang="en-US" altLang="en-US" dirty="0"/>
              <a:t>Programming language is booming up!</a:t>
            </a:r>
          </a:p>
        </p:txBody>
      </p:sp>
      <p:pic>
        <p:nvPicPr>
          <p:cNvPr id="7" name="Picture 2" descr="21 Most Popular Programming Languages in the World (and where to learn them)">
            <a:extLst>
              <a:ext uri="{FF2B5EF4-FFF2-40B4-BE49-F238E27FC236}">
                <a16:creationId xmlns:a16="http://schemas.microsoft.com/office/drawing/2014/main" id="{75B1911F-7519-8F4F-96C7-EAC28AC74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84" y="1333500"/>
            <a:ext cx="8251031" cy="419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6582E-ACE8-A3D0-CB27-8E41574D7BE0}"/>
              </a:ext>
            </a:extLst>
          </p:cNvPr>
          <p:cNvSpPr>
            <a:spLocks noGrp="1"/>
          </p:cNvSpPr>
          <p:nvPr>
            <p:ph type="title"/>
          </p:nvPr>
        </p:nvSpPr>
        <p:spPr/>
        <p:txBody>
          <a:bodyPr/>
          <a:lstStyle/>
          <a:p>
            <a:r>
              <a:rPr lang="en-US" dirty="0"/>
              <a:t>Hardware Complexity is Blowing Up!</a:t>
            </a:r>
          </a:p>
        </p:txBody>
      </p:sp>
      <p:pic>
        <p:nvPicPr>
          <p:cNvPr id="5" name="Content Placeholder 4" descr="A collage of different electronic components&#10;&#10;AI-generated content may be incorrect.">
            <a:extLst>
              <a:ext uri="{FF2B5EF4-FFF2-40B4-BE49-F238E27FC236}">
                <a16:creationId xmlns:a16="http://schemas.microsoft.com/office/drawing/2014/main" id="{E0B472A8-6AE9-C5C5-E55A-F4C2EAFB56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6652" y="4678645"/>
            <a:ext cx="2514600" cy="1840230"/>
          </a:xfrm>
        </p:spPr>
      </p:pic>
      <p:pic>
        <p:nvPicPr>
          <p:cNvPr id="7" name="Picture 6" descr="A group of logos with text&#10;&#10;AI-generated content may be incorrect.">
            <a:extLst>
              <a:ext uri="{FF2B5EF4-FFF2-40B4-BE49-F238E27FC236}">
                <a16:creationId xmlns:a16="http://schemas.microsoft.com/office/drawing/2014/main" id="{E5998959-DF9B-9DC5-7274-D59378E8F5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4526" y="4809352"/>
            <a:ext cx="5652822" cy="130596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042DDBC-98CA-E18C-647A-AA194753F7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732" y="886542"/>
            <a:ext cx="7452536" cy="3792103"/>
          </a:xfrm>
          <a:prstGeom prst="rect">
            <a:avLst/>
          </a:prstGeom>
        </p:spPr>
      </p:pic>
    </p:spTree>
    <p:extLst>
      <p:ext uri="{BB962C8B-B14F-4D97-AF65-F5344CB8AC3E}">
        <p14:creationId xmlns:p14="http://schemas.microsoft.com/office/powerpoint/2010/main" val="1704210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FB49907-6449-064F-A648-1D208346B29B}"/>
              </a:ext>
            </a:extLst>
          </p:cNvPr>
          <p:cNvSpPr>
            <a:spLocks noGrp="1" noChangeArrowheads="1"/>
          </p:cNvSpPr>
          <p:nvPr>
            <p:ph type="title"/>
          </p:nvPr>
        </p:nvSpPr>
        <p:spPr/>
        <p:txBody>
          <a:bodyPr/>
          <a:lstStyle/>
          <a:p>
            <a:r>
              <a:rPr lang="en-US" altLang="en-US"/>
              <a:t>Instruction Set Architecture</a:t>
            </a:r>
          </a:p>
        </p:txBody>
      </p:sp>
      <p:sp>
        <p:nvSpPr>
          <p:cNvPr id="9219" name="Content Placeholder 2">
            <a:extLst>
              <a:ext uri="{FF2B5EF4-FFF2-40B4-BE49-F238E27FC236}">
                <a16:creationId xmlns:a16="http://schemas.microsoft.com/office/drawing/2014/main" id="{A7060DD3-766A-9245-9807-C0A0AEA2AC23}"/>
              </a:ext>
            </a:extLst>
          </p:cNvPr>
          <p:cNvSpPr>
            <a:spLocks noGrp="1" noChangeArrowheads="1"/>
          </p:cNvSpPr>
          <p:nvPr>
            <p:ph idx="1"/>
          </p:nvPr>
        </p:nvSpPr>
        <p:spPr/>
        <p:txBody>
          <a:bodyPr/>
          <a:lstStyle/>
          <a:p>
            <a:r>
              <a:rPr lang="en-US" altLang="en-US"/>
              <a:t>What is ISA? </a:t>
            </a:r>
          </a:p>
          <a:p>
            <a:pPr lvl="1"/>
            <a:r>
              <a:rPr lang="en-US" altLang="en-US"/>
              <a:t>A well-define hardware-software interface</a:t>
            </a:r>
          </a:p>
          <a:p>
            <a:pPr lvl="1"/>
            <a:r>
              <a:rPr lang="en-US" altLang="en-US"/>
              <a:t>The “</a:t>
            </a:r>
            <a:r>
              <a:rPr lang="en-US" altLang="en-US">
                <a:solidFill>
                  <a:srgbClr val="FF0000"/>
                </a:solidFill>
              </a:rPr>
              <a:t>contract</a:t>
            </a:r>
            <a:r>
              <a:rPr lang="en-US" altLang="en-US"/>
              <a:t>” between software/hardware</a:t>
            </a:r>
          </a:p>
          <a:p>
            <a:pPr lvl="2"/>
            <a:r>
              <a:rPr lang="en-US" altLang="en-US">
                <a:solidFill>
                  <a:srgbClr val="FF0000"/>
                </a:solidFill>
              </a:rPr>
              <a:t>Functional definition </a:t>
            </a:r>
            <a:r>
              <a:rPr lang="en-US" altLang="en-US"/>
              <a:t>of operations, addressing modes,</a:t>
            </a:r>
          </a:p>
          <a:p>
            <a:pPr lvl="2">
              <a:buFont typeface="Times New Roman" panose="02020603050405020304" pitchFamily="18" charset="0"/>
              <a:buNone/>
            </a:pPr>
            <a:r>
              <a:rPr lang="en-US" altLang="en-US"/>
              <a:t>and storage locations supported by hardware  </a:t>
            </a:r>
          </a:p>
          <a:p>
            <a:pPr lvl="2">
              <a:buFont typeface="Times New Roman" panose="02020603050405020304" pitchFamily="18" charset="0"/>
              <a:buNone/>
            </a:pPr>
            <a:endParaRPr lang="en-US" altLang="en-US"/>
          </a:p>
          <a:p>
            <a:endParaRPr lang="en-US" altLang="en-US"/>
          </a:p>
        </p:txBody>
      </p:sp>
      <p:pic>
        <p:nvPicPr>
          <p:cNvPr id="13316" name="Picture 1">
            <a:extLst>
              <a:ext uri="{FF2B5EF4-FFF2-40B4-BE49-F238E27FC236}">
                <a16:creationId xmlns:a16="http://schemas.microsoft.com/office/drawing/2014/main" id="{188DD6A3-7646-0648-A1BD-C1A12E490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581400"/>
            <a:ext cx="2819400" cy="28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4">
            <a:extLst>
              <a:ext uri="{FF2B5EF4-FFF2-40B4-BE49-F238E27FC236}">
                <a16:creationId xmlns:a16="http://schemas.microsoft.com/office/drawing/2014/main" id="{176D40B3-2522-5540-B3D8-DC436540C696}"/>
              </a:ext>
            </a:extLst>
          </p:cNvPr>
          <p:cNvSpPr txBox="1">
            <a:spLocks noChangeArrowheads="1"/>
          </p:cNvSpPr>
          <p:nvPr/>
        </p:nvSpPr>
        <p:spPr bwMode="auto">
          <a:xfrm>
            <a:off x="2819400" y="4343400"/>
            <a:ext cx="1058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solidFill>
                  <a:srgbClr val="FF0000"/>
                </a:solidFill>
                <a:latin typeface="Times New Roman" panose="02020603050405020304" pitchFamily="18" charset="0"/>
              </a:rPr>
              <a:t>ISA</a:t>
            </a:r>
            <a:endParaRPr lang="en-US" altLang="en-US" sz="1800">
              <a:latin typeface="Times New Roman" panose="02020603050405020304" pitchFamily="18" charset="0"/>
            </a:endParaRPr>
          </a:p>
        </p:txBody>
      </p:sp>
    </p:spTree>
    <p:extLst>
      <p:ext uri="{BB962C8B-B14F-4D97-AF65-F5344CB8AC3E}">
        <p14:creationId xmlns:p14="http://schemas.microsoft.com/office/powerpoint/2010/main" val="1806624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ISA? </a:t>
            </a:r>
          </a:p>
        </p:txBody>
      </p:sp>
      <p:sp>
        <p:nvSpPr>
          <p:cNvPr id="3" name="Content Placeholder 2"/>
          <p:cNvSpPr>
            <a:spLocks noGrp="1"/>
          </p:cNvSpPr>
          <p:nvPr>
            <p:ph idx="1"/>
          </p:nvPr>
        </p:nvSpPr>
        <p:spPr>
          <a:xfrm>
            <a:off x="457200" y="914400"/>
            <a:ext cx="8229600" cy="5943600"/>
          </a:xfrm>
        </p:spPr>
        <p:txBody>
          <a:bodyPr>
            <a:normAutofit fontScale="92500" lnSpcReduction="20000"/>
          </a:bodyPr>
          <a:lstStyle/>
          <a:p>
            <a:r>
              <a:rPr lang="en-US" dirty="0"/>
              <a:t>Agreed upon interface between software and hardware </a:t>
            </a:r>
          </a:p>
          <a:p>
            <a:r>
              <a:rPr lang="en-US" dirty="0"/>
              <a:t>SW/compiler assumes, HW promises </a:t>
            </a:r>
          </a:p>
          <a:p>
            <a:r>
              <a:rPr lang="en-US" dirty="0">
                <a:solidFill>
                  <a:srgbClr val="0432FF"/>
                </a:solidFill>
              </a:rPr>
              <a:t>What the software writer needs to know to write and debug system/user programs </a:t>
            </a:r>
          </a:p>
          <a:p>
            <a:endParaRPr lang="en-US" dirty="0"/>
          </a:p>
          <a:p>
            <a:r>
              <a:rPr lang="en-US" dirty="0"/>
              <a:t>Instructions: the words of a computer language</a:t>
            </a:r>
          </a:p>
          <a:p>
            <a:r>
              <a:rPr lang="en-US" dirty="0"/>
              <a:t>Instruction set: vocabulary</a:t>
            </a:r>
          </a:p>
          <a:p>
            <a:pPr marL="274320" lvl="1" indent="0">
              <a:buNone/>
            </a:pPr>
            <a:endParaRPr lang="en-US" dirty="0"/>
          </a:p>
          <a:p>
            <a:r>
              <a:rPr lang="en-US" dirty="0"/>
              <a:t>Instruction sets may differ from computer to computer, e.g., x86, arm, MIPS…, but have many things in common.</a:t>
            </a:r>
          </a:p>
          <a:p>
            <a:pPr lvl="1"/>
            <a:r>
              <a:rPr lang="en-US" dirty="0"/>
              <a:t>Computational operations</a:t>
            </a:r>
          </a:p>
          <a:p>
            <a:pPr lvl="1">
              <a:lnSpc>
                <a:spcPct val="125000"/>
              </a:lnSpc>
            </a:pPr>
            <a:r>
              <a:rPr lang="en-US" dirty="0"/>
              <a:t>Memory access &amp; addressing</a:t>
            </a:r>
          </a:p>
          <a:p>
            <a:pPr lvl="1">
              <a:lnSpc>
                <a:spcPct val="125000"/>
              </a:lnSpc>
            </a:pPr>
            <a:r>
              <a:rPr lang="en-US" dirty="0"/>
              <a:t>Branches</a:t>
            </a:r>
          </a:p>
          <a:p>
            <a:pPr lvl="1">
              <a:lnSpc>
                <a:spcPct val="125000"/>
              </a:lnSpc>
            </a:pPr>
            <a:r>
              <a:rPr lang="en-US" dirty="0"/>
              <a:t>Procedure calls</a:t>
            </a:r>
          </a:p>
          <a:p>
            <a:r>
              <a:rPr lang="en-US" dirty="0"/>
              <a:t>All instruction sets promote a common goal.</a:t>
            </a:r>
          </a:p>
          <a:p>
            <a:pPr lvl="1"/>
            <a:r>
              <a:rPr lang="en-US" dirty="0"/>
              <a:t>Make it easy to build the hardware and the compiler while maximizing performance and minimizing cost.</a:t>
            </a:r>
          </a:p>
          <a:p>
            <a:pPr lvl="1">
              <a:lnSpc>
                <a:spcPct val="125000"/>
              </a:lnSpc>
            </a:pPr>
            <a:endParaRPr lang="en-US" dirty="0"/>
          </a:p>
          <a:p>
            <a:pPr lvl="1"/>
            <a:endParaRPr lang="en-US" dirty="0"/>
          </a:p>
        </p:txBody>
      </p:sp>
    </p:spTree>
    <p:extLst>
      <p:ext uri="{BB962C8B-B14F-4D97-AF65-F5344CB8AC3E}">
        <p14:creationId xmlns:p14="http://schemas.microsoft.com/office/powerpoint/2010/main" val="107637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Arithmetic Operations</a:t>
            </a:r>
          </a:p>
        </p:txBody>
      </p:sp>
      <p:sp>
        <p:nvSpPr>
          <p:cNvPr id="3" name="Content Placeholder 2"/>
          <p:cNvSpPr>
            <a:spLocks noGrp="1"/>
          </p:cNvSpPr>
          <p:nvPr>
            <p:ph idx="1"/>
          </p:nvPr>
        </p:nvSpPr>
        <p:spPr/>
        <p:txBody>
          <a:bodyPr/>
          <a:lstStyle/>
          <a:p>
            <a:r>
              <a:rPr lang="en-US" dirty="0"/>
              <a:t>Addition</a:t>
            </a:r>
          </a:p>
          <a:p>
            <a:endParaRPr lang="en-US" dirty="0"/>
          </a:p>
          <a:p>
            <a:pPr marL="0" indent="0">
              <a:buNone/>
            </a:pPr>
            <a:r>
              <a:rPr lang="en-US" dirty="0"/>
              <a:t>	add	a, b, c</a:t>
            </a:r>
          </a:p>
          <a:p>
            <a:pPr marL="0" indent="0">
              <a:buNone/>
            </a:pPr>
            <a:endParaRPr lang="en-US" dirty="0"/>
          </a:p>
          <a:p>
            <a:pPr marL="0" indent="0">
              <a:buNone/>
            </a:pPr>
            <a:r>
              <a:rPr lang="en-US" dirty="0"/>
              <a:t>	a = b + c;      (C programming)</a:t>
            </a:r>
          </a:p>
          <a:p>
            <a:pPr marL="0" indent="0">
              <a:buNone/>
            </a:pPr>
            <a:endParaRPr lang="en-US" dirty="0"/>
          </a:p>
        </p:txBody>
      </p:sp>
      <p:sp>
        <p:nvSpPr>
          <p:cNvPr id="4" name="TextBox 3">
            <a:extLst>
              <a:ext uri="{FF2B5EF4-FFF2-40B4-BE49-F238E27FC236}">
                <a16:creationId xmlns:a16="http://schemas.microsoft.com/office/drawing/2014/main" id="{E46F6FC9-B4FC-7949-91A9-FEB1186C349C}"/>
              </a:ext>
            </a:extLst>
          </p:cNvPr>
          <p:cNvSpPr txBox="1"/>
          <p:nvPr/>
        </p:nvSpPr>
        <p:spPr>
          <a:xfrm>
            <a:off x="520924" y="4343400"/>
            <a:ext cx="1300356" cy="369332"/>
          </a:xfrm>
          <a:prstGeom prst="rect">
            <a:avLst/>
          </a:prstGeom>
          <a:noFill/>
        </p:spPr>
        <p:txBody>
          <a:bodyPr wrap="none" rtlCol="0">
            <a:spAutoFit/>
          </a:bodyPr>
          <a:lstStyle/>
          <a:p>
            <a:r>
              <a:rPr lang="en-US" dirty="0">
                <a:solidFill>
                  <a:srgbClr val="FF0000"/>
                </a:solidFill>
              </a:rPr>
              <a:t>destination</a:t>
            </a:r>
          </a:p>
        </p:txBody>
      </p:sp>
      <p:sp>
        <p:nvSpPr>
          <p:cNvPr id="5" name="TextBox 4">
            <a:extLst>
              <a:ext uri="{FF2B5EF4-FFF2-40B4-BE49-F238E27FC236}">
                <a16:creationId xmlns:a16="http://schemas.microsoft.com/office/drawing/2014/main" id="{C3EC1661-C94A-6841-86C0-9F5E2CAF18D4}"/>
              </a:ext>
            </a:extLst>
          </p:cNvPr>
          <p:cNvSpPr txBox="1"/>
          <p:nvPr/>
        </p:nvSpPr>
        <p:spPr>
          <a:xfrm>
            <a:off x="2607664" y="4343400"/>
            <a:ext cx="992579" cy="369332"/>
          </a:xfrm>
          <a:prstGeom prst="rect">
            <a:avLst/>
          </a:prstGeom>
          <a:noFill/>
        </p:spPr>
        <p:txBody>
          <a:bodyPr wrap="none" rtlCol="0">
            <a:spAutoFit/>
          </a:bodyPr>
          <a:lstStyle/>
          <a:p>
            <a:r>
              <a:rPr lang="en-US" dirty="0">
                <a:solidFill>
                  <a:srgbClr val="FF0000"/>
                </a:solidFill>
              </a:rPr>
              <a:t>sources</a:t>
            </a:r>
          </a:p>
        </p:txBody>
      </p:sp>
      <p:cxnSp>
        <p:nvCxnSpPr>
          <p:cNvPr id="7" name="Straight Arrow Connector 6">
            <a:extLst>
              <a:ext uri="{FF2B5EF4-FFF2-40B4-BE49-F238E27FC236}">
                <a16:creationId xmlns:a16="http://schemas.microsoft.com/office/drawing/2014/main" id="{194D1647-184F-7E4A-9B9F-7891AB3798A0}"/>
              </a:ext>
            </a:extLst>
          </p:cNvPr>
          <p:cNvCxnSpPr>
            <a:stCxn id="4" idx="0"/>
          </p:cNvCxnSpPr>
          <p:nvPr/>
        </p:nvCxnSpPr>
        <p:spPr>
          <a:xfrm flipV="1">
            <a:off x="1171102" y="3810000"/>
            <a:ext cx="276698"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AE5C53F-7590-0241-BD89-2E9013F94599}"/>
              </a:ext>
            </a:extLst>
          </p:cNvPr>
          <p:cNvCxnSpPr>
            <a:cxnSpLocks/>
            <a:stCxn id="5" idx="0"/>
          </p:cNvCxnSpPr>
          <p:nvPr/>
        </p:nvCxnSpPr>
        <p:spPr>
          <a:xfrm flipH="1" flipV="1">
            <a:off x="2076124" y="3810000"/>
            <a:ext cx="102783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0DDCA50-75FC-3D41-BC9E-FCB5CDA0318A}"/>
              </a:ext>
            </a:extLst>
          </p:cNvPr>
          <p:cNvCxnSpPr>
            <a:cxnSpLocks/>
            <a:stCxn id="5" idx="0"/>
          </p:cNvCxnSpPr>
          <p:nvPr/>
        </p:nvCxnSpPr>
        <p:spPr>
          <a:xfrm flipH="1" flipV="1">
            <a:off x="2607664" y="3810000"/>
            <a:ext cx="49629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EC61A94-034A-D246-9549-2EB1ADCBB871}"/>
              </a:ext>
            </a:extLst>
          </p:cNvPr>
          <p:cNvSpPr txBox="1"/>
          <p:nvPr/>
        </p:nvSpPr>
        <p:spPr>
          <a:xfrm>
            <a:off x="3980994" y="4343400"/>
            <a:ext cx="1736373" cy="369332"/>
          </a:xfrm>
          <a:prstGeom prst="rect">
            <a:avLst/>
          </a:prstGeom>
          <a:noFill/>
        </p:spPr>
        <p:txBody>
          <a:bodyPr wrap="none" rtlCol="0">
            <a:spAutoFit/>
          </a:bodyPr>
          <a:lstStyle/>
          <a:p>
            <a:r>
              <a:rPr lang="en-US" dirty="0">
                <a:solidFill>
                  <a:srgbClr val="FF0000"/>
                </a:solidFill>
              </a:rPr>
              <a:t>three operands</a:t>
            </a:r>
          </a:p>
        </p:txBody>
      </p:sp>
      <p:sp>
        <p:nvSpPr>
          <p:cNvPr id="16" name="TextBox 15">
            <a:extLst>
              <a:ext uri="{FF2B5EF4-FFF2-40B4-BE49-F238E27FC236}">
                <a16:creationId xmlns:a16="http://schemas.microsoft.com/office/drawing/2014/main" id="{EFE1464F-54D0-484A-A278-997023ECE32D}"/>
              </a:ext>
            </a:extLst>
          </p:cNvPr>
          <p:cNvSpPr txBox="1"/>
          <p:nvPr/>
        </p:nvSpPr>
        <p:spPr>
          <a:xfrm>
            <a:off x="3962400" y="2514600"/>
            <a:ext cx="1366080" cy="400110"/>
          </a:xfrm>
          <a:prstGeom prst="rect">
            <a:avLst/>
          </a:prstGeom>
          <a:noFill/>
        </p:spPr>
        <p:txBody>
          <a:bodyPr wrap="none" rtlCol="0">
            <a:spAutoFit/>
          </a:bodyPr>
          <a:lstStyle/>
          <a:p>
            <a:r>
              <a:rPr lang="en-US" sz="2000" dirty="0"/>
              <a:t>Instruction</a:t>
            </a:r>
          </a:p>
        </p:txBody>
      </p:sp>
    </p:spTree>
    <p:extLst>
      <p:ext uri="{BB962C8B-B14F-4D97-AF65-F5344CB8AC3E}">
        <p14:creationId xmlns:p14="http://schemas.microsoft.com/office/powerpoint/2010/main" val="134658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Arithmetic Operations</a:t>
            </a:r>
          </a:p>
        </p:txBody>
      </p:sp>
      <p:sp>
        <p:nvSpPr>
          <p:cNvPr id="3" name="Content Placeholder 2"/>
          <p:cNvSpPr>
            <a:spLocks noGrp="1"/>
          </p:cNvSpPr>
          <p:nvPr>
            <p:ph idx="1"/>
          </p:nvPr>
        </p:nvSpPr>
        <p:spPr/>
        <p:txBody>
          <a:bodyPr/>
          <a:lstStyle/>
          <a:p>
            <a:r>
              <a:rPr lang="en-US" dirty="0"/>
              <a:t>a = b + c + d + e</a:t>
            </a:r>
          </a:p>
          <a:p>
            <a:endParaRPr lang="en-US" dirty="0"/>
          </a:p>
          <a:p>
            <a:pPr marL="0" indent="0">
              <a:buNone/>
            </a:pPr>
            <a:r>
              <a:rPr lang="en-US" dirty="0"/>
              <a:t>	add	a, b, c		#a = b + c</a:t>
            </a:r>
          </a:p>
          <a:p>
            <a:pPr marL="0" indent="0">
              <a:buNone/>
            </a:pPr>
            <a:r>
              <a:rPr lang="en-US" dirty="0"/>
              <a:t>	add 	a, a, d		#a = b + c + d</a:t>
            </a:r>
            <a:br>
              <a:rPr lang="en-US" dirty="0"/>
            </a:br>
            <a:r>
              <a:rPr lang="en-US" dirty="0"/>
              <a:t>	</a:t>
            </a:r>
          </a:p>
        </p:txBody>
      </p:sp>
      <p:sp>
        <p:nvSpPr>
          <p:cNvPr id="4" name="Content Placeholder 2">
            <a:extLst>
              <a:ext uri="{FF2B5EF4-FFF2-40B4-BE49-F238E27FC236}">
                <a16:creationId xmlns:a16="http://schemas.microsoft.com/office/drawing/2014/main" id="{C33EE99F-5924-2C43-8110-F5D1E0E907E8}"/>
              </a:ext>
            </a:extLst>
          </p:cNvPr>
          <p:cNvSpPr txBox="1">
            <a:spLocks/>
          </p:cNvSpPr>
          <p:nvPr/>
        </p:nvSpPr>
        <p:spPr>
          <a:xfrm>
            <a:off x="441960" y="4419600"/>
            <a:ext cx="82296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solidFill>
                  <a:srgbClr val="0432FF"/>
                </a:solidFill>
              </a:rPr>
              <a:t>Each line can only have one instruction on it</a:t>
            </a:r>
          </a:p>
          <a:p>
            <a:r>
              <a:rPr lang="en-US" dirty="0"/>
              <a:t>Anything following a # is a comment.</a:t>
            </a:r>
          </a:p>
          <a:p>
            <a:endParaRPr lang="en-US" dirty="0"/>
          </a:p>
        </p:txBody>
      </p:sp>
      <p:sp>
        <p:nvSpPr>
          <p:cNvPr id="6" name="TextBox 5">
            <a:extLst>
              <a:ext uri="{FF2B5EF4-FFF2-40B4-BE49-F238E27FC236}">
                <a16:creationId xmlns:a16="http://schemas.microsoft.com/office/drawing/2014/main" id="{AB2CDD70-56F4-AB4E-A5A4-1C5ED15920E0}"/>
              </a:ext>
            </a:extLst>
          </p:cNvPr>
          <p:cNvSpPr txBox="1"/>
          <p:nvPr/>
        </p:nvSpPr>
        <p:spPr>
          <a:xfrm>
            <a:off x="1371600" y="3360967"/>
            <a:ext cx="5410200" cy="461665"/>
          </a:xfrm>
          <a:prstGeom prst="rect">
            <a:avLst/>
          </a:prstGeom>
          <a:noFill/>
        </p:spPr>
        <p:txBody>
          <a:bodyPr wrap="square">
            <a:spAutoFit/>
          </a:bodyPr>
          <a:lstStyle/>
          <a:p>
            <a:r>
              <a:rPr lang="en-US" sz="2400" dirty="0"/>
              <a:t>add	a, a, e		#a = b + c + d + e</a:t>
            </a:r>
          </a:p>
        </p:txBody>
      </p:sp>
    </p:spTree>
    <p:extLst>
      <p:ext uri="{BB962C8B-B14F-4D97-AF65-F5344CB8AC3E}">
        <p14:creationId xmlns:p14="http://schemas.microsoft.com/office/powerpoint/2010/main" val="393206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ACF909BB-4474-A344-8CFF-B201A38E8A10}"/>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Perspectives</a:t>
            </a:r>
          </a:p>
        </p:txBody>
      </p:sp>
      <p:sp>
        <p:nvSpPr>
          <p:cNvPr id="15363" name="Rectangle 3">
            <a:extLst>
              <a:ext uri="{FF2B5EF4-FFF2-40B4-BE49-F238E27FC236}">
                <a16:creationId xmlns:a16="http://schemas.microsoft.com/office/drawing/2014/main" id="{AF9C29E5-F555-8849-9F68-60722632E06C}"/>
              </a:ext>
            </a:extLst>
          </p:cNvPr>
          <p:cNvSpPr>
            <a:spLocks noGrp="1" noChangeArrowheads="1"/>
          </p:cNvSpPr>
          <p:nvPr>
            <p:ph type="body" idx="1"/>
          </p:nvPr>
        </p:nvSpPr>
        <p:spPr/>
        <p:txBody>
          <a:bodyPr/>
          <a:lstStyle/>
          <a:p>
            <a:r>
              <a:rPr lang="en-US" altLang="en-US" dirty="0"/>
              <a:t>Once upon a time, computer architecture = ISA design</a:t>
            </a:r>
          </a:p>
          <a:p>
            <a:r>
              <a:rPr lang="en-US" altLang="en-US" dirty="0"/>
              <a:t>Evolution</a:t>
            </a:r>
          </a:p>
          <a:p>
            <a:pPr lvl="1"/>
            <a:r>
              <a:rPr lang="en-US" altLang="en-US" dirty="0"/>
              <a:t>pre-RISC: many different ISAs, trade-offs not well understood</a:t>
            </a:r>
          </a:p>
          <a:p>
            <a:pPr lvl="1"/>
            <a:r>
              <a:rPr lang="en-US" altLang="en-US" dirty="0"/>
              <a:t>RISC: people understand trade-offs, ISA standardized</a:t>
            </a:r>
          </a:p>
          <a:p>
            <a:pPr lvl="1"/>
            <a:r>
              <a:rPr lang="en-US" altLang="en-US" dirty="0"/>
              <a:t>VLIW (EPIC): the most recent big ISA design effort</a:t>
            </a:r>
          </a:p>
          <a:p>
            <a:pPr lvl="1"/>
            <a:r>
              <a:rPr lang="en-US" altLang="en-US" dirty="0"/>
              <a:t>MMX, SSE: ISA multimedia extension</a:t>
            </a:r>
          </a:p>
          <a:p>
            <a:pPr lvl="1"/>
            <a:r>
              <a:rPr lang="en-US" altLang="en-US" dirty="0"/>
              <a:t>Trend: new instructions to provide new capabilities, e.g.</a:t>
            </a:r>
          </a:p>
          <a:p>
            <a:pPr lvl="2"/>
            <a:r>
              <a:rPr lang="en-US" altLang="en-US" dirty="0"/>
              <a:t>Decimal arithmetic in IBM Power6</a:t>
            </a:r>
          </a:p>
          <a:p>
            <a:pPr lvl="2"/>
            <a:r>
              <a:rPr lang="en-US" altLang="en-US" dirty="0"/>
              <a:t>Intel SGX for secure enclaves, TSX for transactional memory support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26">
            <a:extLst>
              <a:ext uri="{FF2B5EF4-FFF2-40B4-BE49-F238E27FC236}">
                <a16:creationId xmlns:a16="http://schemas.microsoft.com/office/drawing/2014/main" id="{EFAC9DF2-87DA-7E4D-998B-FB3E1A1F865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Why is the ISA important?</a:t>
            </a:r>
          </a:p>
        </p:txBody>
      </p:sp>
      <p:sp>
        <p:nvSpPr>
          <p:cNvPr id="16387" name="Rectangle 1027">
            <a:extLst>
              <a:ext uri="{FF2B5EF4-FFF2-40B4-BE49-F238E27FC236}">
                <a16:creationId xmlns:a16="http://schemas.microsoft.com/office/drawing/2014/main" id="{DC42170E-513E-2840-B163-648E87639F10}"/>
              </a:ext>
            </a:extLst>
          </p:cNvPr>
          <p:cNvSpPr>
            <a:spLocks noGrp="1" noChangeArrowheads="1"/>
          </p:cNvSpPr>
          <p:nvPr>
            <p:ph idx="1"/>
          </p:nvPr>
        </p:nvSpPr>
        <p:spPr>
          <a:xfrm>
            <a:off x="0" y="1295400"/>
            <a:ext cx="8839200" cy="4876800"/>
          </a:xfrm>
        </p:spPr>
        <p:txBody>
          <a:bodyPr>
            <a:normAutofit fontScale="92500"/>
          </a:bodyPr>
          <a:lstStyle/>
          <a:p>
            <a:pPr marL="457200" indent="-457200">
              <a:lnSpc>
                <a:spcPct val="80000"/>
              </a:lnSpc>
            </a:pPr>
            <a:r>
              <a:rPr lang="en-US" altLang="en-US" sz="3600"/>
              <a:t>ISA decisions affect:      </a:t>
            </a:r>
            <a:r>
              <a:rPr lang="en-US" altLang="en-US" sz="2400"/>
              <a:t>(Revisit RISC vs. CISC…)</a:t>
            </a:r>
          </a:p>
          <a:p>
            <a:pPr marL="971550" lvl="1" indent="-342900">
              <a:lnSpc>
                <a:spcPct val="80000"/>
              </a:lnSpc>
              <a:buFont typeface="Wingdings" pitchFamily="2" charset="2"/>
              <a:buAutoNum type="arabicPeriod"/>
            </a:pPr>
            <a:r>
              <a:rPr lang="en-US" altLang="en-US"/>
              <a:t>Memory cost of the machine</a:t>
            </a:r>
          </a:p>
          <a:p>
            <a:pPr marL="1600200" lvl="2" indent="-342900">
              <a:lnSpc>
                <a:spcPct val="80000"/>
              </a:lnSpc>
              <a:buFont typeface="Wingdings" pitchFamily="2" charset="2"/>
              <a:buChar char="Ø"/>
            </a:pPr>
            <a:r>
              <a:rPr lang="en-US" altLang="en-US" sz="2400"/>
              <a:t>Short vs. long bit encodings</a:t>
            </a:r>
          </a:p>
          <a:p>
            <a:pPr marL="1600200" lvl="2" indent="-342900">
              <a:lnSpc>
                <a:spcPct val="80000"/>
              </a:lnSpc>
              <a:buFont typeface="Wingdings" pitchFamily="2" charset="2"/>
              <a:buChar char="Ø"/>
            </a:pPr>
            <a:r>
              <a:rPr lang="en-US" altLang="en-US" sz="2400"/>
              <a:t>high vs. low semantic meaning per instruction</a:t>
            </a:r>
          </a:p>
          <a:p>
            <a:pPr marL="971550" lvl="1" indent="-342900">
              <a:lnSpc>
                <a:spcPct val="80000"/>
              </a:lnSpc>
              <a:buFont typeface="Wingdings" pitchFamily="2" charset="2"/>
              <a:buAutoNum type="arabicPeriod"/>
            </a:pPr>
            <a:r>
              <a:rPr lang="en-US" altLang="en-US"/>
              <a:t>Hardware design</a:t>
            </a:r>
          </a:p>
          <a:p>
            <a:pPr marL="1600200" lvl="2" indent="-342900">
              <a:lnSpc>
                <a:spcPct val="80000"/>
              </a:lnSpc>
              <a:buFont typeface="Wingdings" pitchFamily="2" charset="2"/>
              <a:buChar char="Ø"/>
            </a:pPr>
            <a:r>
              <a:rPr lang="en-US" altLang="en-US" sz="2400"/>
              <a:t>Simple, </a:t>
            </a:r>
            <a:r>
              <a:rPr lang="en-US" altLang="en-US" sz="2400" i="1"/>
              <a:t>uniform-complexity</a:t>
            </a:r>
            <a:r>
              <a:rPr lang="en-US" altLang="en-US" sz="2400"/>
              <a:t> ops =&gt; efficient pipeline</a:t>
            </a:r>
          </a:p>
          <a:p>
            <a:pPr marL="1600200" lvl="2" indent="-342900">
              <a:lnSpc>
                <a:spcPct val="80000"/>
              </a:lnSpc>
              <a:buFont typeface="Wingdings" pitchFamily="2" charset="2"/>
              <a:buChar char="Ø"/>
            </a:pPr>
            <a:r>
              <a:rPr lang="en-US" altLang="en-US" sz="2400"/>
              <a:t>Don</a:t>
            </a:r>
            <a:r>
              <a:rPr lang="ja-JP" altLang="en-US" sz="2400"/>
              <a:t>’</a:t>
            </a:r>
            <a:r>
              <a:rPr lang="en-US" altLang="ja-JP" sz="2400"/>
              <a:t>t build hardware for instructions that never get used</a:t>
            </a:r>
          </a:p>
          <a:p>
            <a:pPr marL="971550" lvl="1" indent="-342900">
              <a:lnSpc>
                <a:spcPct val="80000"/>
              </a:lnSpc>
              <a:buFont typeface="Wingdings" pitchFamily="2" charset="2"/>
              <a:buAutoNum type="arabicPeriod"/>
            </a:pPr>
            <a:r>
              <a:rPr lang="en-US" altLang="en-US"/>
              <a:t>Compiler and programming language issues</a:t>
            </a:r>
          </a:p>
          <a:p>
            <a:pPr marL="1600200" lvl="2" indent="-342900">
              <a:lnSpc>
                <a:spcPct val="80000"/>
              </a:lnSpc>
              <a:buFont typeface="Wingdings" pitchFamily="2" charset="2"/>
              <a:buChar char="Ø"/>
            </a:pPr>
            <a:r>
              <a:rPr lang="en-US" altLang="en-US" sz="2400"/>
              <a:t>How much can compiler exploit ISA to optimize perf.</a:t>
            </a:r>
          </a:p>
          <a:p>
            <a:pPr marL="1600200" lvl="2" indent="-342900">
              <a:lnSpc>
                <a:spcPct val="80000"/>
              </a:lnSpc>
              <a:buFont typeface="Wingdings" pitchFamily="2" charset="2"/>
              <a:buChar char="Ø"/>
            </a:pPr>
            <a:r>
              <a:rPr lang="en-US" altLang="en-US" sz="2400"/>
              <a:t>How well does ISA support high-level lang. constructs</a:t>
            </a:r>
          </a:p>
          <a:p>
            <a:pPr marL="1600200" lvl="2" indent="-342900">
              <a:lnSpc>
                <a:spcPct val="80000"/>
              </a:lnSpc>
              <a:buFont typeface="Wingdings" pitchFamily="2" charset="2"/>
              <a:buChar char="Ø"/>
            </a:pPr>
            <a:r>
              <a:rPr lang="en-US" altLang="en-US" sz="2400"/>
              <a:t>Choice for hand coding vs. compiler generated code: semantics are easy to use vs. easy to generate code for</a:t>
            </a:r>
          </a:p>
          <a:p>
            <a:pPr marL="1600200" lvl="2" indent="-342900">
              <a:lnSpc>
                <a:spcPct val="80000"/>
              </a:lnSpc>
            </a:pPr>
            <a:endParaRPr lang="en-US" altLang="en-US" sz="1600"/>
          </a:p>
        </p:txBody>
      </p:sp>
      <p:sp>
        <p:nvSpPr>
          <p:cNvPr id="4" name="Footer Placeholder 3">
            <a:extLst>
              <a:ext uri="{FF2B5EF4-FFF2-40B4-BE49-F238E27FC236}">
                <a16:creationId xmlns:a16="http://schemas.microsoft.com/office/drawing/2014/main" id="{6DB13AD6-A701-1749-AB7A-FAFCEC48B83A}"/>
              </a:ext>
            </a:extLst>
          </p:cNvPr>
          <p:cNvSpPr>
            <a:spLocks noGrp="1"/>
          </p:cNvSpPr>
          <p:nvPr>
            <p:ph type="ftr" sz="quarter" idx="4294967295"/>
          </p:nvPr>
        </p:nvSpPr>
        <p:spPr bwMode="auto">
          <a:xfrm>
            <a:off x="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B3CB960-C48B-1B49-888A-B17189608F17}"/>
              </a:ext>
            </a:extLst>
          </p:cNvPr>
          <p:cNvSpPr>
            <a:spLocks noGrp="1" noChangeArrowheads="1"/>
          </p:cNvSpPr>
          <p:nvPr>
            <p:ph type="title"/>
          </p:nvPr>
        </p:nvSpPr>
        <p:spPr>
          <a:xfrm>
            <a:off x="152400" y="0"/>
            <a:ext cx="8534400" cy="762000"/>
          </a:xfrm>
        </p:spPr>
        <p:txBody>
          <a:bodyPr>
            <a:normAutofit/>
          </a:bodyPr>
          <a:lstStyle/>
          <a:p>
            <a:pPr>
              <a:defRPr/>
            </a:pPr>
            <a:r>
              <a:rPr lang="en-US" altLang="en-US" dirty="0">
                <a:effectLst>
                  <a:outerShdw blurRad="38100" dist="38100" dir="2700000" algn="tl">
                    <a:srgbClr val="C0C0C0"/>
                  </a:outerShdw>
                </a:effectLst>
                <a:ea typeface="ＭＳ Ｐゴシック" charset="0"/>
              </a:rPr>
              <a:t>Topics: ISA Design Decisions &amp; Outline</a:t>
            </a:r>
          </a:p>
        </p:txBody>
      </p:sp>
      <p:sp>
        <p:nvSpPr>
          <p:cNvPr id="18435" name="Rectangle 3">
            <a:extLst>
              <a:ext uri="{FF2B5EF4-FFF2-40B4-BE49-F238E27FC236}">
                <a16:creationId xmlns:a16="http://schemas.microsoft.com/office/drawing/2014/main" id="{5E27EA16-619E-6A4A-B67E-CA590019451F}"/>
              </a:ext>
            </a:extLst>
          </p:cNvPr>
          <p:cNvSpPr>
            <a:spLocks noGrp="1" noChangeArrowheads="1"/>
          </p:cNvSpPr>
          <p:nvPr>
            <p:ph type="body" idx="1"/>
          </p:nvPr>
        </p:nvSpPr>
        <p:spPr>
          <a:xfrm>
            <a:off x="457200" y="1600200"/>
            <a:ext cx="7772400" cy="4876800"/>
          </a:xfrm>
        </p:spPr>
        <p:txBody>
          <a:bodyPr/>
          <a:lstStyle/>
          <a:p>
            <a:r>
              <a:rPr lang="en-US" altLang="en-US" dirty="0"/>
              <a:t>Style of operand specification: stack, accumulator, registers, etc.</a:t>
            </a:r>
          </a:p>
          <a:p>
            <a:r>
              <a:rPr lang="en-US" altLang="en-US" dirty="0"/>
              <a:t>Operand access limitations</a:t>
            </a:r>
          </a:p>
          <a:p>
            <a:r>
              <a:rPr lang="en-US" altLang="en-US" dirty="0"/>
              <a:t>Addressing modes for operands</a:t>
            </a:r>
          </a:p>
          <a:p>
            <a:r>
              <a:rPr lang="en-US" altLang="en-US" dirty="0"/>
              <a:t>Semantics:</a:t>
            </a:r>
          </a:p>
          <a:p>
            <a:pPr lvl="1"/>
            <a:r>
              <a:rPr lang="en-US" altLang="en-US" dirty="0"/>
              <a:t>Mix of operations supported</a:t>
            </a:r>
          </a:p>
          <a:p>
            <a:pPr lvl="1"/>
            <a:r>
              <a:rPr lang="en-US" altLang="en-US" dirty="0"/>
              <a:t>Control transfers</a:t>
            </a:r>
          </a:p>
          <a:p>
            <a:r>
              <a:rPr lang="en-US" altLang="en-US" dirty="0"/>
              <a:t>Encoding tradeoffs</a:t>
            </a:r>
          </a:p>
          <a:p>
            <a:r>
              <a:rPr lang="en-US" altLang="en-US" dirty="0"/>
              <a:t>Compiler influence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2B8768C-5618-D24D-9722-CBB248C9E33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Styles of ISAs</a:t>
            </a:r>
          </a:p>
        </p:txBody>
      </p:sp>
      <p:graphicFrame>
        <p:nvGraphicFramePr>
          <p:cNvPr id="20483" name="Object 3">
            <a:extLst>
              <a:ext uri="{FF2B5EF4-FFF2-40B4-BE49-F238E27FC236}">
                <a16:creationId xmlns:a16="http://schemas.microsoft.com/office/drawing/2014/main" id="{E6403717-EC0F-E64A-A80B-126CA03AF374}"/>
              </a:ext>
            </a:extLst>
          </p:cNvPr>
          <p:cNvGraphicFramePr>
            <a:graphicFrameLocks/>
          </p:cNvGraphicFramePr>
          <p:nvPr/>
        </p:nvGraphicFramePr>
        <p:xfrm>
          <a:off x="1911350" y="2362200"/>
          <a:ext cx="5694363" cy="1682750"/>
        </p:xfrm>
        <a:graphic>
          <a:graphicData uri="http://schemas.openxmlformats.org/presentationml/2006/ole">
            <mc:AlternateContent xmlns:mc="http://schemas.openxmlformats.org/markup-compatibility/2006">
              <mc:Choice xmlns:v="urn:schemas-microsoft-com:vml" Requires="v">
                <p:oleObj name="Worksheet" r:id="rId2" imgW="7620000" imgH="2273300" progId="Excel.Sheet.8">
                  <p:embed/>
                </p:oleObj>
              </mc:Choice>
              <mc:Fallback>
                <p:oleObj name="Worksheet" r:id="rId2" imgW="7620000" imgH="2273300" progId="Excel.Sheet.8">
                  <p:embed/>
                  <p:pic>
                    <p:nvPicPr>
                      <p:cNvPr id="20483" name="Object 3">
                        <a:extLst>
                          <a:ext uri="{FF2B5EF4-FFF2-40B4-BE49-F238E27FC236}">
                            <a16:creationId xmlns:a16="http://schemas.microsoft.com/office/drawing/2014/main" id="{E6403717-EC0F-E64A-A80B-126CA03AF37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350" y="2362200"/>
                        <a:ext cx="5694363"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5" name="Text Box 4">
            <a:extLst>
              <a:ext uri="{FF2B5EF4-FFF2-40B4-BE49-F238E27FC236}">
                <a16:creationId xmlns:a16="http://schemas.microsoft.com/office/drawing/2014/main" id="{989381BD-9E96-DD49-9546-1791B1E666D5}"/>
              </a:ext>
            </a:extLst>
          </p:cNvPr>
          <p:cNvSpPr txBox="1">
            <a:spLocks noChangeArrowheads="1"/>
          </p:cNvSpPr>
          <p:nvPr/>
        </p:nvSpPr>
        <p:spPr bwMode="auto">
          <a:xfrm>
            <a:off x="989013" y="1550988"/>
            <a:ext cx="7010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Different ISA styles for assembly code: </a:t>
            </a:r>
            <a:r>
              <a:rPr lang="en-US" altLang="en-US" sz="2400">
                <a:solidFill>
                  <a:srgbClr val="FF0000"/>
                </a:solidFill>
                <a:latin typeface="Arial" panose="020B0604020202020204" pitchFamily="34" charset="0"/>
              </a:rPr>
              <a:t>A = B+C</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4">
            <a:extLst>
              <a:ext uri="{FF2B5EF4-FFF2-40B4-BE49-F238E27FC236}">
                <a16:creationId xmlns:a16="http://schemas.microsoft.com/office/drawing/2014/main" id="{625D05D5-1DCF-D845-B847-0700EACBE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9600"/>
            <a:ext cx="9144000" cy="523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358904CE-4CB5-144E-94DE-7DC5799DA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8350"/>
            <a:ext cx="9144000" cy="532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a:extLst>
              <a:ext uri="{FF2B5EF4-FFF2-40B4-BE49-F238E27FC236}">
                <a16:creationId xmlns:a16="http://schemas.microsoft.com/office/drawing/2014/main" id="{7A6A251D-6C80-EF48-88CB-26562FD165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3400"/>
            <a:ext cx="91440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D55E4-7E89-B22A-BFE3-13BBEE57E4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8F3E25-F87E-90B8-BDA7-91CA530FC468}"/>
              </a:ext>
            </a:extLst>
          </p:cNvPr>
          <p:cNvSpPr>
            <a:spLocks noGrp="1"/>
          </p:cNvSpPr>
          <p:nvPr>
            <p:ph idx="1"/>
          </p:nvPr>
        </p:nvSpPr>
        <p:spPr/>
        <p:txBody>
          <a:bodyPr/>
          <a:lstStyle/>
          <a:p>
            <a:r>
              <a:rPr lang="en-US" dirty="0"/>
              <a:t>Suppose that we would like to compute</a:t>
            </a:r>
          </a:p>
          <a:p>
            <a:r>
              <a:rPr lang="en-US" dirty="0"/>
              <a:t>C = A+B</a:t>
            </a:r>
          </a:p>
          <a:p>
            <a:r>
              <a:rPr lang="en-US" dirty="0"/>
              <a:t>A = C-B</a:t>
            </a:r>
          </a:p>
          <a:p>
            <a:r>
              <a:rPr lang="en-US" dirty="0"/>
              <a:t>Assume that all of A, B, C, and D are initially in memory. What is the correct sequence of instructions in the Stack ISA?</a:t>
            </a:r>
          </a:p>
        </p:txBody>
      </p:sp>
    </p:spTree>
    <p:extLst>
      <p:ext uri="{BB962C8B-B14F-4D97-AF65-F5344CB8AC3E}">
        <p14:creationId xmlns:p14="http://schemas.microsoft.com/office/powerpoint/2010/main" val="139688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6BFE-64E4-7B96-2F38-7D01075B1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998C1-0D5B-8255-A793-F7723CCE6D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EAA6D4-FD5D-CEFF-402C-6C160FCA6813}"/>
              </a:ext>
            </a:extLst>
          </p:cNvPr>
          <p:cNvSpPr>
            <a:spLocks noGrp="1"/>
          </p:cNvSpPr>
          <p:nvPr>
            <p:ph idx="1"/>
          </p:nvPr>
        </p:nvSpPr>
        <p:spPr/>
        <p:txBody>
          <a:bodyPr>
            <a:normAutofit fontScale="92500" lnSpcReduction="10000"/>
          </a:bodyPr>
          <a:lstStyle/>
          <a:p>
            <a:r>
              <a:rPr lang="en-US" dirty="0"/>
              <a:t>Suppose that we would like to compute</a:t>
            </a:r>
          </a:p>
          <a:p>
            <a:r>
              <a:rPr lang="en-US" dirty="0"/>
              <a:t>C = A+B</a:t>
            </a:r>
          </a:p>
          <a:p>
            <a:r>
              <a:rPr lang="en-US" dirty="0"/>
              <a:t>A = C-B</a:t>
            </a:r>
          </a:p>
          <a:p>
            <a:r>
              <a:rPr lang="en-US" dirty="0"/>
              <a:t>Assume that all of A, B, C, and D are initially in memory. What is the correct sequence of instructions in the Stack ISA?</a:t>
            </a:r>
          </a:p>
          <a:p>
            <a:r>
              <a:rPr lang="en-US" dirty="0"/>
              <a:t>Push A</a:t>
            </a:r>
          </a:p>
          <a:p>
            <a:r>
              <a:rPr lang="en-US" dirty="0"/>
              <a:t>Push B</a:t>
            </a:r>
          </a:p>
          <a:p>
            <a:r>
              <a:rPr lang="en-US" dirty="0"/>
              <a:t>Add</a:t>
            </a:r>
          </a:p>
          <a:p>
            <a:r>
              <a:rPr lang="en-US" dirty="0"/>
              <a:t>Pop C</a:t>
            </a:r>
          </a:p>
          <a:p>
            <a:r>
              <a:rPr lang="en-US" dirty="0"/>
              <a:t>Push C</a:t>
            </a:r>
          </a:p>
          <a:p>
            <a:r>
              <a:rPr lang="en-US" dirty="0"/>
              <a:t>Push B</a:t>
            </a:r>
          </a:p>
          <a:p>
            <a:r>
              <a:rPr lang="en-US" dirty="0"/>
              <a:t>Sub</a:t>
            </a:r>
          </a:p>
          <a:p>
            <a:r>
              <a:rPr lang="en-US" dirty="0"/>
              <a:t>Pop A</a:t>
            </a:r>
          </a:p>
        </p:txBody>
      </p:sp>
    </p:spTree>
    <p:extLst>
      <p:ext uri="{BB962C8B-B14F-4D97-AF65-F5344CB8AC3E}">
        <p14:creationId xmlns:p14="http://schemas.microsoft.com/office/powerpoint/2010/main" val="192530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B5BFE59-D9ED-4746-A328-12D4FA12F4DD}"/>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Why stacks, accumulators?</a:t>
            </a:r>
          </a:p>
        </p:txBody>
      </p:sp>
      <p:sp>
        <p:nvSpPr>
          <p:cNvPr id="24579" name="Rectangle 3">
            <a:extLst>
              <a:ext uri="{FF2B5EF4-FFF2-40B4-BE49-F238E27FC236}">
                <a16:creationId xmlns:a16="http://schemas.microsoft.com/office/drawing/2014/main" id="{9B335A42-E969-7C40-B02E-B74190B5046B}"/>
              </a:ext>
            </a:extLst>
          </p:cNvPr>
          <p:cNvSpPr>
            <a:spLocks noGrp="1" noChangeArrowheads="1"/>
          </p:cNvSpPr>
          <p:nvPr>
            <p:ph idx="1"/>
          </p:nvPr>
        </p:nvSpPr>
        <p:spPr/>
        <p:txBody>
          <a:bodyPr/>
          <a:lstStyle/>
          <a:p>
            <a:r>
              <a:rPr lang="en-US" altLang="en-US"/>
              <a:t>Stacks:</a:t>
            </a:r>
          </a:p>
          <a:p>
            <a:pPr lvl="1"/>
            <a:r>
              <a:rPr lang="en-US" altLang="en-US"/>
              <a:t>Compact instruction format</a:t>
            </a:r>
          </a:p>
          <a:p>
            <a:pPr lvl="2"/>
            <a:r>
              <a:rPr lang="en-US" altLang="en-US"/>
              <a:t>All calculation operations take zero operands</a:t>
            </a:r>
          </a:p>
          <a:p>
            <a:pPr lvl="2"/>
            <a:r>
              <a:rPr lang="en-US" altLang="en-US"/>
              <a:t>E.g. Java bytecode (chosen for easy porting and low network b/w)</a:t>
            </a:r>
          </a:p>
          <a:p>
            <a:r>
              <a:rPr lang="en-US" altLang="en-US"/>
              <a:t>Accumulator:</a:t>
            </a:r>
          </a:p>
          <a:p>
            <a:pPr lvl="1"/>
            <a:r>
              <a:rPr lang="en-US" altLang="en-US"/>
              <a:t>Also a very compact format</a:t>
            </a:r>
          </a:p>
          <a:p>
            <a:pPr lvl="1"/>
            <a:r>
              <a:rPr lang="en-US" altLang="en-US"/>
              <a:t>Less dependence on memory than stack-based</a:t>
            </a:r>
          </a:p>
          <a:p>
            <a:r>
              <a:rPr lang="en-US" altLang="en-US"/>
              <a:t>For both:</a:t>
            </a:r>
          </a:p>
          <a:p>
            <a:pPr lvl="1"/>
            <a:r>
              <a:rPr lang="en-US" altLang="en-US"/>
              <a:t>Compact implies memory efficient</a:t>
            </a:r>
          </a:p>
          <a:p>
            <a:pPr lvl="1"/>
            <a:r>
              <a:rPr lang="en-US" altLang="en-US"/>
              <a:t>Good if memory is expensive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ABDDB48-5895-F941-81B0-A6DE3B0FFC2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Why registers?</a:t>
            </a:r>
          </a:p>
        </p:txBody>
      </p:sp>
      <p:sp>
        <p:nvSpPr>
          <p:cNvPr id="12291" name="Rectangle 3">
            <a:extLst>
              <a:ext uri="{FF2B5EF4-FFF2-40B4-BE49-F238E27FC236}">
                <a16:creationId xmlns:a16="http://schemas.microsoft.com/office/drawing/2014/main" id="{80CCC3EB-8A7D-4B40-BAB7-722454FA5583}"/>
              </a:ext>
            </a:extLst>
          </p:cNvPr>
          <p:cNvSpPr>
            <a:spLocks noGrp="1" noChangeArrowheads="1"/>
          </p:cNvSpPr>
          <p:nvPr>
            <p:ph type="body" idx="1"/>
          </p:nvPr>
        </p:nvSpPr>
        <p:spPr/>
        <p:txBody>
          <a:bodyPr/>
          <a:lstStyle/>
          <a:p>
            <a:pPr marL="457200" indent="-457200">
              <a:buFont typeface="ZapfDingbats" pitchFamily="82" charset="2"/>
              <a:buAutoNum type="arabicPeriod"/>
              <a:defRPr/>
            </a:pPr>
            <a:r>
              <a:rPr lang="en-US" altLang="en-US" dirty="0"/>
              <a:t>Faster than memory</a:t>
            </a:r>
          </a:p>
          <a:p>
            <a:pPr marL="971550" lvl="1" indent="-342900">
              <a:defRPr/>
            </a:pPr>
            <a:r>
              <a:rPr lang="en-US" altLang="en-US" dirty="0"/>
              <a:t>Latency: raw access time (once address is known)</a:t>
            </a:r>
          </a:p>
          <a:p>
            <a:pPr marL="1600200" lvl="2" indent="-342900">
              <a:defRPr/>
            </a:pPr>
            <a:r>
              <a:rPr lang="en-US" altLang="en-US" dirty="0"/>
              <a:t>Cache access: 2 cycles (typical)</a:t>
            </a:r>
          </a:p>
          <a:p>
            <a:pPr marL="1600200" lvl="2" indent="-342900">
              <a:defRPr/>
            </a:pPr>
            <a:r>
              <a:rPr lang="en-US" altLang="en-US" dirty="0"/>
              <a:t>Register access: 1 cycle</a:t>
            </a:r>
          </a:p>
          <a:p>
            <a:pPr marL="457200" indent="-457200">
              <a:buFont typeface="ZapfDingbats" pitchFamily="82" charset="2"/>
              <a:buAutoNum type="arabicPeriod" startAt="2"/>
              <a:defRPr/>
            </a:pPr>
            <a:r>
              <a:rPr lang="en-US" altLang="en-US" dirty="0"/>
              <a:t>Allows fast reuse of values</a:t>
            </a:r>
          </a:p>
          <a:p>
            <a:pPr marL="971550" lvl="1" indent="-342900">
              <a:defRPr/>
            </a:pPr>
            <a:r>
              <a:rPr lang="en-US" altLang="en-US" dirty="0"/>
              <a:t>Compiler does </a:t>
            </a:r>
            <a:r>
              <a:rPr lang="ja-JP" altLang="en-US"/>
              <a:t>“</a:t>
            </a:r>
            <a:r>
              <a:rPr lang="en-US" altLang="ja-JP" dirty="0"/>
              <a:t>register allocation</a:t>
            </a:r>
            <a:r>
              <a:rPr lang="ja-JP" altLang="en-US"/>
              <a:t>”</a:t>
            </a:r>
            <a:r>
              <a:rPr lang="en-US" altLang="ja-JP" dirty="0"/>
              <a:t> to keep useful data close to processor</a:t>
            </a:r>
          </a:p>
          <a:p>
            <a:pPr marL="457200" indent="-457200">
              <a:buFont typeface="ZapfDingbats" pitchFamily="82" charset="2"/>
              <a:buAutoNum type="arabicPeriod" startAt="3"/>
              <a:defRPr/>
            </a:pPr>
            <a:r>
              <a:rPr lang="en-US" altLang="en-US" dirty="0"/>
              <a:t>Allows flexible instruction scheduling</a:t>
            </a:r>
          </a:p>
          <a:p>
            <a:pPr marL="1373187" lvl="2" indent="-342900">
              <a:defRPr/>
            </a:pPr>
            <a:r>
              <a:rPr lang="en-US" altLang="en-US" dirty="0"/>
              <a:t>(A*B) - (C*D) - (E*F)</a:t>
            </a:r>
          </a:p>
          <a:p>
            <a:pPr marL="1373187" lvl="2" indent="-342900">
              <a:defRPr/>
            </a:pPr>
            <a:r>
              <a:rPr lang="en-US" altLang="en-US" dirty="0"/>
              <a:t>A*B in R1, -C*D in R2, -E*F in R3: can easily rearrange ADD instructions</a:t>
            </a:r>
          </a:p>
          <a:p>
            <a:pPr marL="971550" lvl="1" indent="-342900">
              <a:defRPr/>
            </a:pPr>
            <a:r>
              <a:rPr lang="en-US" altLang="en-US" dirty="0"/>
              <a:t>Stack or accumulator requires swaps/rotates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8702646E-2230-0240-B0A9-8BFCC5BBB6D1}"/>
              </a:ext>
            </a:extLst>
          </p:cNvPr>
          <p:cNvSpPr>
            <a:spLocks noGrp="1" noChangeArrowheads="1"/>
          </p:cNvSpPr>
          <p:nvPr>
            <p:ph type="title"/>
          </p:nvPr>
        </p:nvSpPr>
        <p:spPr/>
        <p:txBody>
          <a:bodyPr/>
          <a:lstStyle/>
          <a:p>
            <a:r>
              <a:rPr lang="en-US" altLang="en-US"/>
              <a:t>Number of Registers? </a:t>
            </a:r>
          </a:p>
        </p:txBody>
      </p:sp>
      <p:sp>
        <p:nvSpPr>
          <p:cNvPr id="28675" name="Content Placeholder 2">
            <a:extLst>
              <a:ext uri="{FF2B5EF4-FFF2-40B4-BE49-F238E27FC236}">
                <a16:creationId xmlns:a16="http://schemas.microsoft.com/office/drawing/2014/main" id="{FC267318-0ADB-3149-BCEB-945345A2A05A}"/>
              </a:ext>
            </a:extLst>
          </p:cNvPr>
          <p:cNvSpPr>
            <a:spLocks noGrp="1" noChangeArrowheads="1"/>
          </p:cNvSpPr>
          <p:nvPr>
            <p:ph idx="1"/>
          </p:nvPr>
        </p:nvSpPr>
        <p:spPr/>
        <p:txBody>
          <a:bodyPr/>
          <a:lstStyle/>
          <a:p>
            <a:r>
              <a:rPr lang="en-US" altLang="en-US"/>
              <a:t>How many? </a:t>
            </a:r>
          </a:p>
          <a:p>
            <a:pPr lvl="1"/>
            <a:r>
              <a:rPr lang="en-US" altLang="en-US"/>
              <a:t>How many is too few? </a:t>
            </a:r>
          </a:p>
          <a:p>
            <a:pPr lvl="1"/>
            <a:r>
              <a:rPr lang="en-US" altLang="en-US"/>
              <a:t>How many is too many?</a:t>
            </a:r>
          </a:p>
          <a:p>
            <a:r>
              <a:rPr lang="en-US" altLang="en-US"/>
              <a:t>Cons of having too many</a:t>
            </a:r>
          </a:p>
          <a:p>
            <a:pPr lvl="1"/>
            <a:r>
              <a:rPr lang="en-US" altLang="en-US"/>
              <a:t>Instruction word becomes longer (not too serious)</a:t>
            </a:r>
          </a:p>
          <a:p>
            <a:pPr lvl="1"/>
            <a:r>
              <a:rPr lang="en-US" altLang="en-US"/>
              <a:t>Register access time increases (if &gt; 1 cycle, may cause slowdown?)</a:t>
            </a:r>
          </a:p>
          <a:p>
            <a:pPr lvl="1"/>
            <a:r>
              <a:rPr lang="en-US" altLang="en-US"/>
              <a:t>Context switch time increases</a:t>
            </a:r>
          </a:p>
          <a:p>
            <a:r>
              <a:rPr lang="en-US" altLang="en-US"/>
              <a:t>Anecdotes</a:t>
            </a:r>
          </a:p>
          <a:p>
            <a:pPr lvl="1"/>
            <a:r>
              <a:rPr lang="en-US" altLang="en-US"/>
              <a:t>X86: too few, MMX adds 8 more, x86-64 adds 8 more</a:t>
            </a:r>
          </a:p>
          <a:p>
            <a:pPr lvl="1"/>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AA7AC69-DF4C-9147-82F7-6722C67156A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Operand access limitations</a:t>
            </a:r>
          </a:p>
        </p:txBody>
      </p:sp>
      <p:sp>
        <p:nvSpPr>
          <p:cNvPr id="60419" name="Rectangle 3">
            <a:extLst>
              <a:ext uri="{FF2B5EF4-FFF2-40B4-BE49-F238E27FC236}">
                <a16:creationId xmlns:a16="http://schemas.microsoft.com/office/drawing/2014/main" id="{1FD403E2-9573-5F4E-9D0A-B23E53436F5D}"/>
              </a:ext>
            </a:extLst>
          </p:cNvPr>
          <p:cNvSpPr>
            <a:spLocks noGrp="1" noChangeArrowheads="1"/>
          </p:cNvSpPr>
          <p:nvPr>
            <p:ph idx="1"/>
          </p:nvPr>
        </p:nvSpPr>
        <p:spPr/>
        <p:txBody>
          <a:bodyPr/>
          <a:lstStyle/>
          <a:p>
            <a:endParaRPr lang="en-US" altLang="en-US" sz="2000"/>
          </a:p>
          <a:p>
            <a:pPr>
              <a:buFont typeface="Wingdings" pitchFamily="2" charset="2"/>
              <a:buNone/>
            </a:pPr>
            <a:endParaRPr lang="en-US" altLang="en-US" sz="2000"/>
          </a:p>
          <a:p>
            <a:r>
              <a:rPr lang="en-US" altLang="en-US" sz="2000"/>
              <a:t>Load/store (0,3)</a:t>
            </a:r>
          </a:p>
          <a:p>
            <a:pPr lvl="1"/>
            <a:r>
              <a:rPr lang="en-US" altLang="en-US" sz="1600"/>
              <a:t>(+) Fixed-length instructions possible: easy fetch/decode</a:t>
            </a:r>
          </a:p>
          <a:p>
            <a:pPr lvl="1"/>
            <a:r>
              <a:rPr lang="en-US" altLang="en-US" sz="1600"/>
              <a:t>(+) Simpler h/w: efficient pipeline &amp; potentially lower CT</a:t>
            </a:r>
          </a:p>
          <a:p>
            <a:pPr lvl="1"/>
            <a:r>
              <a:rPr lang="en-US" altLang="en-US" sz="1600"/>
              <a:t>(-) Higher instruction count (IC)</a:t>
            </a:r>
          </a:p>
          <a:p>
            <a:pPr lvl="1"/>
            <a:r>
              <a:rPr lang="en-US" altLang="en-US" sz="1600"/>
              <a:t>(-) Fixed-length instructions are wasteful</a:t>
            </a:r>
          </a:p>
          <a:p>
            <a:r>
              <a:rPr lang="en-US" altLang="en-US" sz="2000"/>
              <a:t>Register/memory (1,2)</a:t>
            </a:r>
          </a:p>
          <a:p>
            <a:pPr lvl="1"/>
            <a:r>
              <a:rPr lang="en-US" altLang="en-US" sz="1600"/>
              <a:t>(+) No need for extra loads</a:t>
            </a:r>
          </a:p>
          <a:p>
            <a:pPr lvl="1"/>
            <a:r>
              <a:rPr lang="en-US" altLang="en-US" sz="1600"/>
              <a:t>(+) </a:t>
            </a:r>
            <a:r>
              <a:rPr lang="ja-JP" altLang="en-US" sz="1600"/>
              <a:t>“</a:t>
            </a:r>
            <a:r>
              <a:rPr lang="en-US" altLang="ja-JP" sz="1600"/>
              <a:t>A few lengths</a:t>
            </a:r>
            <a:r>
              <a:rPr lang="ja-JP" altLang="en-US" sz="1600"/>
              <a:t>”</a:t>
            </a:r>
            <a:r>
              <a:rPr lang="en-US" altLang="ja-JP" sz="1600"/>
              <a:t> better uses bits</a:t>
            </a:r>
          </a:p>
          <a:p>
            <a:pPr lvl="1"/>
            <a:r>
              <a:rPr lang="en-US" altLang="en-US" sz="1600"/>
              <a:t>(-) Destroys source operand (e.g., Add R1,R2)</a:t>
            </a:r>
          </a:p>
          <a:p>
            <a:pPr lvl="1"/>
            <a:r>
              <a:rPr lang="en-US" altLang="en-US" sz="1600"/>
              <a:t>(-) May impact CPI</a:t>
            </a:r>
          </a:p>
          <a:p>
            <a:r>
              <a:rPr lang="en-US" altLang="en-US" sz="2000"/>
              <a:t>Memory/memory</a:t>
            </a:r>
          </a:p>
          <a:p>
            <a:pPr lvl="1"/>
            <a:r>
              <a:rPr lang="en-US" altLang="en-US" sz="1600"/>
              <a:t>(+) Most compact (code density)</a:t>
            </a:r>
          </a:p>
          <a:p>
            <a:pPr lvl="1"/>
            <a:r>
              <a:rPr lang="en-US" altLang="en-US" sz="1600"/>
              <a:t>(-) High memory traffic (memory bottleneck)</a:t>
            </a:r>
          </a:p>
        </p:txBody>
      </p:sp>
      <p:sp>
        <p:nvSpPr>
          <p:cNvPr id="7" name="Footer Placeholder 3">
            <a:extLst>
              <a:ext uri="{FF2B5EF4-FFF2-40B4-BE49-F238E27FC236}">
                <a16:creationId xmlns:a16="http://schemas.microsoft.com/office/drawing/2014/main" id="{779A3AFA-B261-0B40-A841-FEC1F4B621EC}"/>
              </a:ext>
            </a:extLst>
          </p:cNvPr>
          <p:cNvSpPr>
            <a:spLocks noGrp="1"/>
          </p:cNvSpPr>
          <p:nvPr>
            <p:ph type="ftr" sz="quarter" idx="4294967295"/>
          </p:nvPr>
        </p:nvSpPr>
        <p:spPr bwMode="auto">
          <a:xfrm>
            <a:off x="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graphicFrame>
        <p:nvGraphicFramePr>
          <p:cNvPr id="29701" name="Object 4">
            <a:extLst>
              <a:ext uri="{FF2B5EF4-FFF2-40B4-BE49-F238E27FC236}">
                <a16:creationId xmlns:a16="http://schemas.microsoft.com/office/drawing/2014/main" id="{409565F7-B279-164A-BA1F-8555EF5A0066}"/>
              </a:ext>
            </a:extLst>
          </p:cNvPr>
          <p:cNvGraphicFramePr>
            <a:graphicFrameLocks/>
          </p:cNvGraphicFramePr>
          <p:nvPr/>
        </p:nvGraphicFramePr>
        <p:xfrm>
          <a:off x="960438" y="1141413"/>
          <a:ext cx="6764337" cy="949325"/>
        </p:xfrm>
        <a:graphic>
          <a:graphicData uri="http://schemas.openxmlformats.org/presentationml/2006/ole">
            <mc:AlternateContent xmlns:mc="http://schemas.openxmlformats.org/markup-compatibility/2006">
              <mc:Choice xmlns:v="urn:schemas-microsoft-com:vml" Requires="v">
                <p:oleObj name="Worksheet" r:id="rId3" imgW="10756900" imgH="1511300" progId="Excel.Sheet.5">
                  <p:embed/>
                </p:oleObj>
              </mc:Choice>
              <mc:Fallback>
                <p:oleObj name="Worksheet" r:id="rId3" imgW="10756900" imgH="1511300" progId="Excel.Sheet.5">
                  <p:embed/>
                  <p:pic>
                    <p:nvPicPr>
                      <p:cNvPr id="29701" name="Object 4">
                        <a:extLst>
                          <a:ext uri="{FF2B5EF4-FFF2-40B4-BE49-F238E27FC236}">
                            <a16:creationId xmlns:a16="http://schemas.microsoft.com/office/drawing/2014/main" id="{409565F7-B279-164A-BA1F-8555EF5A006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438" y="1141413"/>
                        <a:ext cx="6764337"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9702" name="Text Box 5">
            <a:extLst>
              <a:ext uri="{FF2B5EF4-FFF2-40B4-BE49-F238E27FC236}">
                <a16:creationId xmlns:a16="http://schemas.microsoft.com/office/drawing/2014/main" id="{FDECB8FB-A51A-804B-81D7-C008E009724D}"/>
              </a:ext>
            </a:extLst>
          </p:cNvPr>
          <p:cNvSpPr txBox="1">
            <a:spLocks noChangeArrowheads="1"/>
          </p:cNvSpPr>
          <p:nvPr/>
        </p:nvSpPr>
        <p:spPr bwMode="auto">
          <a:xfrm>
            <a:off x="4113213" y="4038600"/>
            <a:ext cx="177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Good code density</a:t>
            </a:r>
          </a:p>
        </p:txBody>
      </p:sp>
      <p:sp>
        <p:nvSpPr>
          <p:cNvPr id="29703" name="Freeform 6">
            <a:extLst>
              <a:ext uri="{FF2B5EF4-FFF2-40B4-BE49-F238E27FC236}">
                <a16:creationId xmlns:a16="http://schemas.microsoft.com/office/drawing/2014/main" id="{B0DBCE75-95B5-384A-8008-C0CA34CEE197}"/>
              </a:ext>
            </a:extLst>
          </p:cNvPr>
          <p:cNvSpPr>
            <a:spLocks/>
          </p:cNvSpPr>
          <p:nvPr/>
        </p:nvSpPr>
        <p:spPr bwMode="auto">
          <a:xfrm>
            <a:off x="3427413" y="4114800"/>
            <a:ext cx="914400" cy="550863"/>
          </a:xfrm>
          <a:custGeom>
            <a:avLst/>
            <a:gdLst>
              <a:gd name="T0" fmla="*/ 0 w 614"/>
              <a:gd name="T1" fmla="*/ 2147483646 h 395"/>
              <a:gd name="T2" fmla="*/ 2147483646 w 614"/>
              <a:gd name="T3" fmla="*/ 2147483646 h 395"/>
              <a:gd name="T4" fmla="*/ 2147483646 w 614"/>
              <a:gd name="T5" fmla="*/ 2147483646 h 395"/>
              <a:gd name="T6" fmla="*/ 2147483646 w 614"/>
              <a:gd name="T7" fmla="*/ 2147483646 h 395"/>
              <a:gd name="T8" fmla="*/ 2147483646 w 614"/>
              <a:gd name="T9" fmla="*/ 2147483646 h 395"/>
              <a:gd name="T10" fmla="*/ 2147483646 w 614"/>
              <a:gd name="T11" fmla="*/ 2147483646 h 395"/>
              <a:gd name="T12" fmla="*/ 2147483646 w 614"/>
              <a:gd name="T13" fmla="*/ 2147483646 h 395"/>
              <a:gd name="T14" fmla="*/ 2147483646 w 614"/>
              <a:gd name="T15" fmla="*/ 2147483646 h 395"/>
              <a:gd name="T16" fmla="*/ 2147483646 w 614"/>
              <a:gd name="T17" fmla="*/ 2147483646 h 395"/>
              <a:gd name="T18" fmla="*/ 2147483646 w 614"/>
              <a:gd name="T19" fmla="*/ 2147483646 h 3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4" h="395">
                <a:moveTo>
                  <a:pt x="0" y="16"/>
                </a:moveTo>
                <a:cubicBezTo>
                  <a:pt x="124" y="9"/>
                  <a:pt x="139" y="0"/>
                  <a:pt x="253" y="16"/>
                </a:cubicBezTo>
                <a:cubicBezTo>
                  <a:pt x="292" y="29"/>
                  <a:pt x="311" y="60"/>
                  <a:pt x="344" y="79"/>
                </a:cubicBezTo>
                <a:cubicBezTo>
                  <a:pt x="391" y="106"/>
                  <a:pt x="473" y="104"/>
                  <a:pt x="520" y="107"/>
                </a:cubicBezTo>
                <a:cubicBezTo>
                  <a:pt x="518" y="114"/>
                  <a:pt x="509" y="122"/>
                  <a:pt x="513" y="128"/>
                </a:cubicBezTo>
                <a:cubicBezTo>
                  <a:pt x="550" y="196"/>
                  <a:pt x="547" y="148"/>
                  <a:pt x="576" y="192"/>
                </a:cubicBezTo>
                <a:cubicBezTo>
                  <a:pt x="590" y="213"/>
                  <a:pt x="597" y="234"/>
                  <a:pt x="611" y="255"/>
                </a:cubicBezTo>
                <a:cubicBezTo>
                  <a:pt x="609" y="281"/>
                  <a:pt x="614" y="308"/>
                  <a:pt x="604" y="332"/>
                </a:cubicBezTo>
                <a:cubicBezTo>
                  <a:pt x="588" y="372"/>
                  <a:pt x="550" y="375"/>
                  <a:pt x="520" y="395"/>
                </a:cubicBezTo>
                <a:cubicBezTo>
                  <a:pt x="508" y="393"/>
                  <a:pt x="485" y="388"/>
                  <a:pt x="485" y="388"/>
                </a:cubicBezTo>
              </a:path>
            </a:pathLst>
          </a:custGeom>
          <a:noFill/>
          <a:ln w="12700" cap="flat"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26D29A23-5975-C04A-A0A5-9D48D6A75152}"/>
              </a:ext>
            </a:extLst>
          </p:cNvPr>
          <p:cNvSpPr>
            <a:spLocks noGrp="1" noChangeArrowheads="1"/>
          </p:cNvSpPr>
          <p:nvPr>
            <p:ph type="title"/>
          </p:nvPr>
        </p:nvSpPr>
        <p:spPr/>
        <p:txBody>
          <a:bodyPr/>
          <a:lstStyle/>
          <a:p>
            <a:r>
              <a:rPr lang="en-US" altLang="en-US" dirty="0"/>
              <a:t>Summary: Styles of ISAs</a:t>
            </a:r>
          </a:p>
        </p:txBody>
      </p:sp>
      <p:sp>
        <p:nvSpPr>
          <p:cNvPr id="19459" name="Content Placeholder 2">
            <a:extLst>
              <a:ext uri="{FF2B5EF4-FFF2-40B4-BE49-F238E27FC236}">
                <a16:creationId xmlns:a16="http://schemas.microsoft.com/office/drawing/2014/main" id="{887CFA60-430A-9745-A9A9-EC53CDBAF5E8}"/>
              </a:ext>
            </a:extLst>
          </p:cNvPr>
          <p:cNvSpPr>
            <a:spLocks noGrp="1" noChangeArrowheads="1"/>
          </p:cNvSpPr>
          <p:nvPr>
            <p:ph idx="1"/>
          </p:nvPr>
        </p:nvSpPr>
        <p:spPr/>
        <p:txBody>
          <a:bodyPr>
            <a:normAutofit lnSpcReduction="10000"/>
          </a:bodyPr>
          <a:lstStyle/>
          <a:p>
            <a:r>
              <a:rPr lang="en-US" altLang="en-US" sz="2400"/>
              <a:t>Stack ISA</a:t>
            </a:r>
          </a:p>
          <a:p>
            <a:pPr lvl="1"/>
            <a:r>
              <a:rPr lang="en-US" altLang="en-US" sz="2000"/>
              <a:t>Push &lt;Addr&gt;, Pop &lt;Addr&gt;, or ALU instructions</a:t>
            </a:r>
          </a:p>
          <a:p>
            <a:pPr lvl="1"/>
            <a:r>
              <a:rPr lang="en-US" altLang="en-US" sz="2000"/>
              <a:t>ALU: pop top two entries, perform ALU op, push result</a:t>
            </a:r>
          </a:p>
          <a:p>
            <a:r>
              <a:rPr lang="en-US" altLang="en-US" sz="2400"/>
              <a:t>Accumulator</a:t>
            </a:r>
          </a:p>
          <a:p>
            <a:pPr lvl="1"/>
            <a:r>
              <a:rPr lang="en-US" altLang="en-US" sz="2000"/>
              <a:t>Load/Store/ALU &lt;Addr&gt;: result affects accumulator register</a:t>
            </a:r>
          </a:p>
          <a:p>
            <a:r>
              <a:rPr lang="en-US" altLang="en-US" sz="2400"/>
              <a:t>Reg-Mem </a:t>
            </a:r>
          </a:p>
          <a:p>
            <a:pPr lvl="1"/>
            <a:r>
              <a:rPr lang="en-US" altLang="en-US" sz="2000"/>
              <a:t>Load/Store/ALU &lt;Reg&gt;, &lt;Reg or Addr&gt;     (different from H&amp;P!)</a:t>
            </a:r>
          </a:p>
          <a:p>
            <a:pPr lvl="2"/>
            <a:r>
              <a:rPr lang="en-US" altLang="en-US" sz="1800"/>
              <a:t>At most one operand can be address</a:t>
            </a:r>
          </a:p>
          <a:p>
            <a:pPr lvl="2"/>
            <a:r>
              <a:rPr lang="en-US" altLang="en-US" sz="1800"/>
              <a:t>Leftmost register acts as destination (if applicable)</a:t>
            </a:r>
          </a:p>
          <a:p>
            <a:r>
              <a:rPr lang="en-US" altLang="en-US" sz="2400"/>
              <a:t>Load-Store</a:t>
            </a:r>
          </a:p>
          <a:p>
            <a:pPr lvl="1"/>
            <a:r>
              <a:rPr lang="en-US" altLang="en-US" sz="2000"/>
              <a:t>Load/Store &lt;Reg&gt;, &lt;Addr&gt;</a:t>
            </a:r>
          </a:p>
          <a:p>
            <a:pPr lvl="1"/>
            <a:r>
              <a:rPr lang="en-US" altLang="en-US" sz="2000"/>
              <a:t>ALU &lt;Reg1&gt;, &lt;Reg2&gt;, &lt;Reg3&gt;: Reg1 is destination, Reg2, 3 are source</a:t>
            </a:r>
          </a:p>
        </p:txBody>
      </p:sp>
    </p:spTree>
    <p:extLst>
      <p:ext uri="{BB962C8B-B14F-4D97-AF65-F5344CB8AC3E}">
        <p14:creationId xmlns:p14="http://schemas.microsoft.com/office/powerpoint/2010/main" val="1788514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286B4DC3-1960-7C49-9DC5-83D75C67E0B0}"/>
              </a:ext>
            </a:extLst>
          </p:cNvPr>
          <p:cNvSpPr>
            <a:spLocks noGrp="1" noChangeArrowheads="1"/>
          </p:cNvSpPr>
          <p:nvPr>
            <p:ph type="title"/>
          </p:nvPr>
        </p:nvSpPr>
        <p:spPr>
          <a:xfrm>
            <a:off x="8860" y="0"/>
            <a:ext cx="8906540" cy="772400"/>
          </a:xfrm>
        </p:spPr>
        <p:txBody>
          <a:bodyPr>
            <a:normAutofit/>
          </a:bodyPr>
          <a:lstStyle/>
          <a:p>
            <a:r>
              <a:rPr lang="en-US" altLang="en-US" dirty="0"/>
              <a:t>Aside: Pros and cons of operand styles</a:t>
            </a:r>
          </a:p>
        </p:txBody>
      </p:sp>
      <p:sp>
        <p:nvSpPr>
          <p:cNvPr id="30723" name="Content Placeholder 2">
            <a:extLst>
              <a:ext uri="{FF2B5EF4-FFF2-40B4-BE49-F238E27FC236}">
                <a16:creationId xmlns:a16="http://schemas.microsoft.com/office/drawing/2014/main" id="{C79AB3AF-AE07-C544-AB79-D88E9BAF3A7B}"/>
              </a:ext>
            </a:extLst>
          </p:cNvPr>
          <p:cNvSpPr>
            <a:spLocks noGrp="1" noChangeArrowheads="1"/>
          </p:cNvSpPr>
          <p:nvPr>
            <p:ph idx="1"/>
          </p:nvPr>
        </p:nvSpPr>
        <p:spPr/>
        <p:txBody>
          <a:bodyPr/>
          <a:lstStyle/>
          <a:p>
            <a:r>
              <a:rPr lang="en-US" altLang="en-US"/>
              <a:t>Stack</a:t>
            </a:r>
          </a:p>
          <a:p>
            <a:pPr lvl="1"/>
            <a:r>
              <a:rPr lang="en-US" altLang="en-US" sz="1800"/>
              <a:t>Advantages: Simple Model of expression evaluation (reverse polish). Short instructions.</a:t>
            </a:r>
          </a:p>
          <a:p>
            <a:pPr lvl="1"/>
            <a:r>
              <a:rPr lang="en-US" altLang="en-US" sz="1800"/>
              <a:t>Disadvantages: A stack can‘t be randomly accessed. This makes it hard to generate eficient code. The stack itself is accessed every operation and becomes a bottleneck.</a:t>
            </a:r>
          </a:p>
          <a:p>
            <a:r>
              <a:rPr lang="en-US" altLang="en-US"/>
              <a:t>Accumulator</a:t>
            </a:r>
          </a:p>
          <a:p>
            <a:pPr lvl="1"/>
            <a:r>
              <a:rPr lang="en-US" altLang="en-US" sz="1800"/>
              <a:t>Advantages: Short instructions.</a:t>
            </a:r>
          </a:p>
          <a:p>
            <a:pPr lvl="1"/>
            <a:r>
              <a:rPr lang="en-US" altLang="en-US" sz="1800"/>
              <a:t>Disadvantages: The accumulator is only temporary storage so memory traffic is the highest for this approach.</a:t>
            </a:r>
            <a:endParaRPr lang="en-US" altLang="en-US"/>
          </a:p>
          <a:p>
            <a:r>
              <a:rPr lang="en-US" altLang="en-US"/>
              <a:t>Register/ load &amp; store </a:t>
            </a:r>
          </a:p>
          <a:p>
            <a:pPr lvl="1"/>
            <a:r>
              <a:rPr lang="en-US" altLang="en-US" sz="1800"/>
              <a:t>Advantages: Makes code generation easy. Data can be stored for long periods in registers.</a:t>
            </a:r>
          </a:p>
          <a:p>
            <a:pPr lvl="1"/>
            <a:r>
              <a:rPr lang="en-US" altLang="en-US" sz="1800"/>
              <a:t>Disadvantages: All operands must be named leading to longer instructions.</a:t>
            </a:r>
          </a:p>
          <a:p>
            <a:endParaRPr lang="en-US" altLang="en-US"/>
          </a:p>
          <a:p>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a:extLst>
              <a:ext uri="{FF2B5EF4-FFF2-40B4-BE49-F238E27FC236}">
                <a16:creationId xmlns:a16="http://schemas.microsoft.com/office/drawing/2014/main" id="{D9F6D2E2-31D6-0947-8F30-8FA362338E13}"/>
              </a:ext>
            </a:extLst>
          </p:cNvPr>
          <p:cNvSpPr>
            <a:spLocks noGrp="1"/>
          </p:cNvSpPr>
          <p:nvPr>
            <p:ph type="ftr" sz="quarter" idx="4294967295"/>
          </p:nvPr>
        </p:nvSpPr>
        <p:spPr bwMode="auto">
          <a:xfrm>
            <a:off x="91440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
        <p:nvSpPr>
          <p:cNvPr id="61442" name="Rectangle 2">
            <a:extLst>
              <a:ext uri="{FF2B5EF4-FFF2-40B4-BE49-F238E27FC236}">
                <a16:creationId xmlns:a16="http://schemas.microsoft.com/office/drawing/2014/main" id="{B8472E5F-3F7C-B648-B76F-075478855C96}"/>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Aside: Alignment</a:t>
            </a:r>
          </a:p>
        </p:txBody>
      </p:sp>
      <p:sp>
        <p:nvSpPr>
          <p:cNvPr id="31748" name="Rectangle 3">
            <a:extLst>
              <a:ext uri="{FF2B5EF4-FFF2-40B4-BE49-F238E27FC236}">
                <a16:creationId xmlns:a16="http://schemas.microsoft.com/office/drawing/2014/main" id="{2906F99D-A0F6-2D4B-99FD-4BBAFE14C96E}"/>
              </a:ext>
            </a:extLst>
          </p:cNvPr>
          <p:cNvSpPr>
            <a:spLocks noGrp="1" noChangeArrowheads="1"/>
          </p:cNvSpPr>
          <p:nvPr>
            <p:ph type="body" idx="1"/>
          </p:nvPr>
        </p:nvSpPr>
        <p:spPr>
          <a:xfrm>
            <a:off x="990600" y="1219200"/>
            <a:ext cx="7162800" cy="3733800"/>
          </a:xfrm>
        </p:spPr>
        <p:txBody>
          <a:bodyPr/>
          <a:lstStyle/>
          <a:p>
            <a:pPr>
              <a:lnSpc>
                <a:spcPct val="80000"/>
              </a:lnSpc>
            </a:pPr>
            <a:r>
              <a:rPr lang="en-US" altLang="en-US" sz="2400"/>
              <a:t>Byte alignment</a:t>
            </a:r>
          </a:p>
          <a:p>
            <a:pPr lvl="1">
              <a:lnSpc>
                <a:spcPct val="80000"/>
              </a:lnSpc>
            </a:pPr>
            <a:r>
              <a:rPr lang="en-US" altLang="en-US" sz="2000"/>
              <a:t>Any access is accommodated</a:t>
            </a:r>
          </a:p>
          <a:p>
            <a:pPr>
              <a:lnSpc>
                <a:spcPct val="80000"/>
              </a:lnSpc>
            </a:pPr>
            <a:r>
              <a:rPr lang="en-US" altLang="en-US" sz="2400"/>
              <a:t>Word alignment</a:t>
            </a:r>
          </a:p>
          <a:p>
            <a:pPr lvl="1">
              <a:lnSpc>
                <a:spcPct val="80000"/>
              </a:lnSpc>
            </a:pPr>
            <a:r>
              <a:rPr lang="en-US" altLang="en-US" sz="2000"/>
              <a:t>Only accesses that are aligned at natural word boundaries are accommodated due to DRAM/SRAM organization</a:t>
            </a:r>
          </a:p>
          <a:p>
            <a:pPr lvl="1">
              <a:lnSpc>
                <a:spcPct val="80000"/>
              </a:lnSpc>
            </a:pPr>
            <a:r>
              <a:rPr lang="en-US" altLang="en-US" sz="2000"/>
              <a:t>Reduces number of reads/writes to memory</a:t>
            </a:r>
          </a:p>
          <a:p>
            <a:pPr lvl="1">
              <a:lnSpc>
                <a:spcPct val="80000"/>
              </a:lnSpc>
            </a:pPr>
            <a:r>
              <a:rPr lang="en-US" altLang="en-US" sz="2000"/>
              <a:t>Eliminates hardware for alignment (typically expensive)</a:t>
            </a:r>
          </a:p>
          <a:p>
            <a:pPr lvl="1">
              <a:lnSpc>
                <a:spcPct val="80000"/>
              </a:lnSpc>
            </a:pPr>
            <a:r>
              <a:rPr lang="en-US" altLang="en-US" sz="2000"/>
              <a:t>Often handle misalignment via software:</a:t>
            </a:r>
          </a:p>
          <a:p>
            <a:pPr lvl="2">
              <a:lnSpc>
                <a:spcPct val="80000"/>
              </a:lnSpc>
            </a:pPr>
            <a:r>
              <a:rPr lang="en-US" altLang="en-US" sz="1800"/>
              <a:t>Compiler detects &amp; generates appropriate instructions</a:t>
            </a:r>
          </a:p>
          <a:p>
            <a:pPr lvl="2">
              <a:lnSpc>
                <a:spcPct val="80000"/>
              </a:lnSpc>
            </a:pPr>
            <a:r>
              <a:rPr lang="en-US" altLang="en-US" sz="1800"/>
              <a:t>…or O/S detects and runs </a:t>
            </a:r>
            <a:r>
              <a:rPr lang="ja-JP" altLang="en-US" sz="1800"/>
              <a:t>“</a:t>
            </a:r>
            <a:r>
              <a:rPr lang="en-US" altLang="ja-JP" sz="1800"/>
              <a:t>fixit</a:t>
            </a:r>
            <a:r>
              <a:rPr lang="ja-JP" altLang="en-US" sz="1800"/>
              <a:t>”</a:t>
            </a:r>
            <a:r>
              <a:rPr lang="en-US" altLang="ja-JP" sz="1800"/>
              <a:t> routine</a:t>
            </a:r>
            <a:endParaRPr lang="en-US" altLang="en-US" sz="1800"/>
          </a:p>
        </p:txBody>
      </p:sp>
      <p:sp>
        <p:nvSpPr>
          <p:cNvPr id="31749" name="Rectangle 4">
            <a:extLst>
              <a:ext uri="{FF2B5EF4-FFF2-40B4-BE49-F238E27FC236}">
                <a16:creationId xmlns:a16="http://schemas.microsoft.com/office/drawing/2014/main" id="{8D0CC4E2-5BEC-C446-A26C-20D8AB0345A4}"/>
              </a:ext>
            </a:extLst>
          </p:cNvPr>
          <p:cNvSpPr>
            <a:spLocks noChangeArrowheads="1"/>
          </p:cNvSpPr>
          <p:nvPr/>
        </p:nvSpPr>
        <p:spPr bwMode="auto">
          <a:xfrm>
            <a:off x="387350" y="2825750"/>
            <a:ext cx="673100" cy="215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0</a:t>
            </a:r>
          </a:p>
        </p:txBody>
      </p:sp>
      <p:sp>
        <p:nvSpPr>
          <p:cNvPr id="31750" name="Rectangle 5">
            <a:extLst>
              <a:ext uri="{FF2B5EF4-FFF2-40B4-BE49-F238E27FC236}">
                <a16:creationId xmlns:a16="http://schemas.microsoft.com/office/drawing/2014/main" id="{7E3685BB-372B-2F47-AB16-F6C6F109E6C8}"/>
              </a:ext>
            </a:extLst>
          </p:cNvPr>
          <p:cNvSpPr>
            <a:spLocks noChangeArrowheads="1"/>
          </p:cNvSpPr>
          <p:nvPr/>
        </p:nvSpPr>
        <p:spPr bwMode="auto">
          <a:xfrm>
            <a:off x="212725" y="2506663"/>
            <a:ext cx="11303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rPr>
              <a:t>memory (bytes)</a:t>
            </a:r>
          </a:p>
        </p:txBody>
      </p:sp>
      <p:sp>
        <p:nvSpPr>
          <p:cNvPr id="31751" name="Rectangle 6">
            <a:extLst>
              <a:ext uri="{FF2B5EF4-FFF2-40B4-BE49-F238E27FC236}">
                <a16:creationId xmlns:a16="http://schemas.microsoft.com/office/drawing/2014/main" id="{B312E07D-C5FC-4044-A98A-1D7EABAC76D3}"/>
              </a:ext>
            </a:extLst>
          </p:cNvPr>
          <p:cNvSpPr>
            <a:spLocks noChangeArrowheads="1"/>
          </p:cNvSpPr>
          <p:nvPr/>
        </p:nvSpPr>
        <p:spPr bwMode="auto">
          <a:xfrm>
            <a:off x="387350" y="3054350"/>
            <a:ext cx="673100" cy="215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1</a:t>
            </a:r>
          </a:p>
        </p:txBody>
      </p:sp>
      <p:sp>
        <p:nvSpPr>
          <p:cNvPr id="31752" name="Rectangle 7">
            <a:extLst>
              <a:ext uri="{FF2B5EF4-FFF2-40B4-BE49-F238E27FC236}">
                <a16:creationId xmlns:a16="http://schemas.microsoft.com/office/drawing/2014/main" id="{3D97C3D5-2317-E64D-BE21-9CA183D90D1C}"/>
              </a:ext>
            </a:extLst>
          </p:cNvPr>
          <p:cNvSpPr>
            <a:spLocks noChangeArrowheads="1"/>
          </p:cNvSpPr>
          <p:nvPr/>
        </p:nvSpPr>
        <p:spPr bwMode="auto">
          <a:xfrm>
            <a:off x="387350" y="32829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2</a:t>
            </a:r>
          </a:p>
        </p:txBody>
      </p:sp>
      <p:sp>
        <p:nvSpPr>
          <p:cNvPr id="31753" name="Rectangle 8">
            <a:extLst>
              <a:ext uri="{FF2B5EF4-FFF2-40B4-BE49-F238E27FC236}">
                <a16:creationId xmlns:a16="http://schemas.microsoft.com/office/drawing/2014/main" id="{F7C866E5-6DAC-5842-B43C-494977A2DD2D}"/>
              </a:ext>
            </a:extLst>
          </p:cNvPr>
          <p:cNvSpPr>
            <a:spLocks noChangeArrowheads="1"/>
          </p:cNvSpPr>
          <p:nvPr/>
        </p:nvSpPr>
        <p:spPr bwMode="auto">
          <a:xfrm>
            <a:off x="387350" y="35115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3</a:t>
            </a:r>
          </a:p>
        </p:txBody>
      </p:sp>
      <p:sp>
        <p:nvSpPr>
          <p:cNvPr id="31754" name="Rectangle 9">
            <a:extLst>
              <a:ext uri="{FF2B5EF4-FFF2-40B4-BE49-F238E27FC236}">
                <a16:creationId xmlns:a16="http://schemas.microsoft.com/office/drawing/2014/main" id="{3BFBB819-CB35-F949-ABD0-426D77CD432C}"/>
              </a:ext>
            </a:extLst>
          </p:cNvPr>
          <p:cNvSpPr>
            <a:spLocks noChangeArrowheads="1"/>
          </p:cNvSpPr>
          <p:nvPr/>
        </p:nvSpPr>
        <p:spPr bwMode="auto">
          <a:xfrm>
            <a:off x="387350" y="37401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4</a:t>
            </a:r>
          </a:p>
        </p:txBody>
      </p:sp>
      <p:sp>
        <p:nvSpPr>
          <p:cNvPr id="31755" name="Rectangle 10">
            <a:extLst>
              <a:ext uri="{FF2B5EF4-FFF2-40B4-BE49-F238E27FC236}">
                <a16:creationId xmlns:a16="http://schemas.microsoft.com/office/drawing/2014/main" id="{C5CFB223-0329-E74B-80AC-78B2E2CBD7CA}"/>
              </a:ext>
            </a:extLst>
          </p:cNvPr>
          <p:cNvSpPr>
            <a:spLocks noChangeArrowheads="1"/>
          </p:cNvSpPr>
          <p:nvPr/>
        </p:nvSpPr>
        <p:spPr bwMode="auto">
          <a:xfrm>
            <a:off x="387350" y="39687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5</a:t>
            </a:r>
          </a:p>
        </p:txBody>
      </p:sp>
      <p:sp>
        <p:nvSpPr>
          <p:cNvPr id="31756" name="Rectangle 11">
            <a:extLst>
              <a:ext uri="{FF2B5EF4-FFF2-40B4-BE49-F238E27FC236}">
                <a16:creationId xmlns:a16="http://schemas.microsoft.com/office/drawing/2014/main" id="{12551F11-8D3A-8042-BD8F-8983FD4F5533}"/>
              </a:ext>
            </a:extLst>
          </p:cNvPr>
          <p:cNvSpPr>
            <a:spLocks noChangeArrowheads="1"/>
          </p:cNvSpPr>
          <p:nvPr/>
        </p:nvSpPr>
        <p:spPr bwMode="auto">
          <a:xfrm>
            <a:off x="387350" y="4197350"/>
            <a:ext cx="673100" cy="215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6</a:t>
            </a:r>
          </a:p>
        </p:txBody>
      </p:sp>
      <p:sp>
        <p:nvSpPr>
          <p:cNvPr id="31757" name="Rectangle 12">
            <a:extLst>
              <a:ext uri="{FF2B5EF4-FFF2-40B4-BE49-F238E27FC236}">
                <a16:creationId xmlns:a16="http://schemas.microsoft.com/office/drawing/2014/main" id="{C8F98E64-91EF-7F41-B595-4AB6FCC42809}"/>
              </a:ext>
            </a:extLst>
          </p:cNvPr>
          <p:cNvSpPr>
            <a:spLocks noChangeArrowheads="1"/>
          </p:cNvSpPr>
          <p:nvPr/>
        </p:nvSpPr>
        <p:spPr bwMode="auto">
          <a:xfrm>
            <a:off x="387350" y="4425950"/>
            <a:ext cx="673100" cy="215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7</a:t>
            </a:r>
          </a:p>
        </p:txBody>
      </p:sp>
      <p:sp>
        <p:nvSpPr>
          <p:cNvPr id="31758" name="Rectangle 13">
            <a:extLst>
              <a:ext uri="{FF2B5EF4-FFF2-40B4-BE49-F238E27FC236}">
                <a16:creationId xmlns:a16="http://schemas.microsoft.com/office/drawing/2014/main" id="{3D3A8566-91F3-B541-8CE8-DA621994F08D}"/>
              </a:ext>
            </a:extLst>
          </p:cNvPr>
          <p:cNvSpPr>
            <a:spLocks noChangeArrowheads="1"/>
          </p:cNvSpPr>
          <p:nvPr/>
        </p:nvSpPr>
        <p:spPr bwMode="auto">
          <a:xfrm>
            <a:off x="288925" y="4792663"/>
            <a:ext cx="13668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rPr>
              <a:t>Word size = 4 bytes</a:t>
            </a:r>
          </a:p>
        </p:txBody>
      </p:sp>
      <p:sp>
        <p:nvSpPr>
          <p:cNvPr id="31759" name="Rectangle 14">
            <a:extLst>
              <a:ext uri="{FF2B5EF4-FFF2-40B4-BE49-F238E27FC236}">
                <a16:creationId xmlns:a16="http://schemas.microsoft.com/office/drawing/2014/main" id="{C9180201-E3FF-7B4B-9E50-995CAD979251}"/>
              </a:ext>
            </a:extLst>
          </p:cNvPr>
          <p:cNvSpPr>
            <a:spLocks noChangeArrowheads="1"/>
          </p:cNvSpPr>
          <p:nvPr/>
        </p:nvSpPr>
        <p:spPr bwMode="auto">
          <a:xfrm>
            <a:off x="441325" y="5203825"/>
            <a:ext cx="44942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Asking for words beginning at 0 or 4 is OK</a:t>
            </a:r>
          </a:p>
          <a:p>
            <a:pPr>
              <a:spcBef>
                <a:spcPct val="0"/>
              </a:spcBef>
              <a:buClrTx/>
              <a:buSzTx/>
              <a:buFontTx/>
              <a:buNone/>
            </a:pPr>
            <a:r>
              <a:rPr lang="en-US" altLang="en-US" sz="1800">
                <a:latin typeface="Arial" panose="020B0604020202020204" pitchFamily="34" charset="0"/>
              </a:rPr>
              <a:t>Asking for other words requires two reads</a:t>
            </a:r>
          </a:p>
          <a:p>
            <a:pPr>
              <a:spcBef>
                <a:spcPct val="0"/>
              </a:spcBef>
              <a:buClrTx/>
              <a:buSzTx/>
              <a:buFontTx/>
              <a:buNone/>
            </a:pPr>
            <a:r>
              <a:rPr lang="en-US" altLang="en-US" sz="1800">
                <a:latin typeface="Arial" panose="020B0604020202020204" pitchFamily="34" charset="0"/>
              </a:rPr>
              <a:t>	(e.g., ask for word starting at 2)</a:t>
            </a:r>
          </a:p>
        </p:txBody>
      </p:sp>
      <p:sp>
        <p:nvSpPr>
          <p:cNvPr id="31760" name="Rectangle 15">
            <a:extLst>
              <a:ext uri="{FF2B5EF4-FFF2-40B4-BE49-F238E27FC236}">
                <a16:creationId xmlns:a16="http://schemas.microsoft.com/office/drawing/2014/main" id="{80EA15E1-21A8-5442-B9C6-9D0FC1E2275E}"/>
              </a:ext>
            </a:extLst>
          </p:cNvPr>
          <p:cNvSpPr>
            <a:spLocks noChangeArrowheads="1"/>
          </p:cNvSpPr>
          <p:nvPr/>
        </p:nvSpPr>
        <p:spPr bwMode="auto">
          <a:xfrm>
            <a:off x="5111750" y="4883150"/>
            <a:ext cx="673100" cy="215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0</a:t>
            </a:r>
          </a:p>
        </p:txBody>
      </p:sp>
      <p:sp>
        <p:nvSpPr>
          <p:cNvPr id="31761" name="Rectangle 16">
            <a:extLst>
              <a:ext uri="{FF2B5EF4-FFF2-40B4-BE49-F238E27FC236}">
                <a16:creationId xmlns:a16="http://schemas.microsoft.com/office/drawing/2014/main" id="{91250F99-5495-AC4F-BC0B-134D9B9AE990}"/>
              </a:ext>
            </a:extLst>
          </p:cNvPr>
          <p:cNvSpPr>
            <a:spLocks noChangeArrowheads="1"/>
          </p:cNvSpPr>
          <p:nvPr/>
        </p:nvSpPr>
        <p:spPr bwMode="auto">
          <a:xfrm>
            <a:off x="5797550" y="4883150"/>
            <a:ext cx="673100" cy="215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1</a:t>
            </a:r>
          </a:p>
        </p:txBody>
      </p:sp>
      <p:sp>
        <p:nvSpPr>
          <p:cNvPr id="31762" name="Rectangle 17">
            <a:extLst>
              <a:ext uri="{FF2B5EF4-FFF2-40B4-BE49-F238E27FC236}">
                <a16:creationId xmlns:a16="http://schemas.microsoft.com/office/drawing/2014/main" id="{98A13184-1AFB-4445-A243-76D991941123}"/>
              </a:ext>
            </a:extLst>
          </p:cNvPr>
          <p:cNvSpPr>
            <a:spLocks noChangeArrowheads="1"/>
          </p:cNvSpPr>
          <p:nvPr/>
        </p:nvSpPr>
        <p:spPr bwMode="auto">
          <a:xfrm>
            <a:off x="6483350" y="48831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2</a:t>
            </a:r>
          </a:p>
        </p:txBody>
      </p:sp>
      <p:sp>
        <p:nvSpPr>
          <p:cNvPr id="31763" name="Rectangle 18">
            <a:extLst>
              <a:ext uri="{FF2B5EF4-FFF2-40B4-BE49-F238E27FC236}">
                <a16:creationId xmlns:a16="http://schemas.microsoft.com/office/drawing/2014/main" id="{1AEA9F56-45D7-284B-ACD6-CE977B44A441}"/>
              </a:ext>
            </a:extLst>
          </p:cNvPr>
          <p:cNvSpPr>
            <a:spLocks noChangeArrowheads="1"/>
          </p:cNvSpPr>
          <p:nvPr/>
        </p:nvSpPr>
        <p:spPr bwMode="auto">
          <a:xfrm>
            <a:off x="7169150" y="48831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3</a:t>
            </a:r>
          </a:p>
        </p:txBody>
      </p:sp>
      <p:sp>
        <p:nvSpPr>
          <p:cNvPr id="31764" name="Rectangle 19">
            <a:extLst>
              <a:ext uri="{FF2B5EF4-FFF2-40B4-BE49-F238E27FC236}">
                <a16:creationId xmlns:a16="http://schemas.microsoft.com/office/drawing/2014/main" id="{AE341D40-DA3F-7847-A0D5-4F25FFE68BE1}"/>
              </a:ext>
            </a:extLst>
          </p:cNvPr>
          <p:cNvSpPr>
            <a:spLocks noChangeArrowheads="1"/>
          </p:cNvSpPr>
          <p:nvPr/>
        </p:nvSpPr>
        <p:spPr bwMode="auto">
          <a:xfrm>
            <a:off x="5111750" y="51117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4</a:t>
            </a:r>
          </a:p>
        </p:txBody>
      </p:sp>
      <p:sp>
        <p:nvSpPr>
          <p:cNvPr id="31765" name="Rectangle 20">
            <a:extLst>
              <a:ext uri="{FF2B5EF4-FFF2-40B4-BE49-F238E27FC236}">
                <a16:creationId xmlns:a16="http://schemas.microsoft.com/office/drawing/2014/main" id="{E4129FE5-CAB2-CB40-AE47-98BFCF7C71C8}"/>
              </a:ext>
            </a:extLst>
          </p:cNvPr>
          <p:cNvSpPr>
            <a:spLocks noChangeArrowheads="1"/>
          </p:cNvSpPr>
          <p:nvPr/>
        </p:nvSpPr>
        <p:spPr bwMode="auto">
          <a:xfrm>
            <a:off x="5797550" y="51117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5</a:t>
            </a:r>
          </a:p>
        </p:txBody>
      </p:sp>
      <p:sp>
        <p:nvSpPr>
          <p:cNvPr id="31766" name="Rectangle 21">
            <a:extLst>
              <a:ext uri="{FF2B5EF4-FFF2-40B4-BE49-F238E27FC236}">
                <a16:creationId xmlns:a16="http://schemas.microsoft.com/office/drawing/2014/main" id="{5CDEA598-1BEA-BD4A-8FDA-BC57EE322453}"/>
              </a:ext>
            </a:extLst>
          </p:cNvPr>
          <p:cNvSpPr>
            <a:spLocks noChangeArrowheads="1"/>
          </p:cNvSpPr>
          <p:nvPr/>
        </p:nvSpPr>
        <p:spPr bwMode="auto">
          <a:xfrm>
            <a:off x="6483350" y="5111750"/>
            <a:ext cx="673100" cy="215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6</a:t>
            </a:r>
          </a:p>
        </p:txBody>
      </p:sp>
      <p:sp>
        <p:nvSpPr>
          <p:cNvPr id="31767" name="Rectangle 22">
            <a:extLst>
              <a:ext uri="{FF2B5EF4-FFF2-40B4-BE49-F238E27FC236}">
                <a16:creationId xmlns:a16="http://schemas.microsoft.com/office/drawing/2014/main" id="{6FE98E1C-F013-A24D-A558-DBFF15C09BBB}"/>
              </a:ext>
            </a:extLst>
          </p:cNvPr>
          <p:cNvSpPr>
            <a:spLocks noChangeArrowheads="1"/>
          </p:cNvSpPr>
          <p:nvPr/>
        </p:nvSpPr>
        <p:spPr bwMode="auto">
          <a:xfrm>
            <a:off x="7169150" y="5111750"/>
            <a:ext cx="673100" cy="215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7</a:t>
            </a:r>
          </a:p>
        </p:txBody>
      </p:sp>
      <p:sp>
        <p:nvSpPr>
          <p:cNvPr id="31768" name="Rectangle 23">
            <a:extLst>
              <a:ext uri="{FF2B5EF4-FFF2-40B4-BE49-F238E27FC236}">
                <a16:creationId xmlns:a16="http://schemas.microsoft.com/office/drawing/2014/main" id="{6FE5C5DC-EF5F-8941-93CD-08CC0C3AF33E}"/>
              </a:ext>
            </a:extLst>
          </p:cNvPr>
          <p:cNvSpPr>
            <a:spLocks noChangeArrowheads="1"/>
          </p:cNvSpPr>
          <p:nvPr/>
        </p:nvSpPr>
        <p:spPr bwMode="auto">
          <a:xfrm>
            <a:off x="7908925" y="4822825"/>
            <a:ext cx="792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read #1</a:t>
            </a:r>
          </a:p>
        </p:txBody>
      </p:sp>
      <p:sp>
        <p:nvSpPr>
          <p:cNvPr id="31769" name="Rectangle 24">
            <a:extLst>
              <a:ext uri="{FF2B5EF4-FFF2-40B4-BE49-F238E27FC236}">
                <a16:creationId xmlns:a16="http://schemas.microsoft.com/office/drawing/2014/main" id="{AC53ABC1-86DB-684F-A151-4F7B9C284160}"/>
              </a:ext>
            </a:extLst>
          </p:cNvPr>
          <p:cNvSpPr>
            <a:spLocks noChangeArrowheads="1"/>
          </p:cNvSpPr>
          <p:nvPr/>
        </p:nvSpPr>
        <p:spPr bwMode="auto">
          <a:xfrm>
            <a:off x="7908925" y="5051425"/>
            <a:ext cx="792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read #2</a:t>
            </a:r>
          </a:p>
        </p:txBody>
      </p:sp>
      <p:sp>
        <p:nvSpPr>
          <p:cNvPr id="31770" name="Rectangle 25">
            <a:extLst>
              <a:ext uri="{FF2B5EF4-FFF2-40B4-BE49-F238E27FC236}">
                <a16:creationId xmlns:a16="http://schemas.microsoft.com/office/drawing/2014/main" id="{9AFEE00A-FCDE-0F48-B2BA-275E48F809D1}"/>
              </a:ext>
            </a:extLst>
          </p:cNvPr>
          <p:cNvSpPr>
            <a:spLocks noChangeArrowheads="1"/>
          </p:cNvSpPr>
          <p:nvPr/>
        </p:nvSpPr>
        <p:spPr bwMode="auto">
          <a:xfrm>
            <a:off x="6483350" y="54927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2</a:t>
            </a:r>
          </a:p>
        </p:txBody>
      </p:sp>
      <p:sp>
        <p:nvSpPr>
          <p:cNvPr id="31771" name="Rectangle 26">
            <a:extLst>
              <a:ext uri="{FF2B5EF4-FFF2-40B4-BE49-F238E27FC236}">
                <a16:creationId xmlns:a16="http://schemas.microsoft.com/office/drawing/2014/main" id="{20B9AC84-6F97-DE48-B627-180AAC6B2940}"/>
              </a:ext>
            </a:extLst>
          </p:cNvPr>
          <p:cNvSpPr>
            <a:spLocks noChangeArrowheads="1"/>
          </p:cNvSpPr>
          <p:nvPr/>
        </p:nvSpPr>
        <p:spPr bwMode="auto">
          <a:xfrm>
            <a:off x="7169150" y="54927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3</a:t>
            </a:r>
          </a:p>
        </p:txBody>
      </p:sp>
      <p:sp>
        <p:nvSpPr>
          <p:cNvPr id="31772" name="Rectangle 27">
            <a:extLst>
              <a:ext uri="{FF2B5EF4-FFF2-40B4-BE49-F238E27FC236}">
                <a16:creationId xmlns:a16="http://schemas.microsoft.com/office/drawing/2014/main" id="{A7F7735C-632B-C14A-8931-262C5BF8AA83}"/>
              </a:ext>
            </a:extLst>
          </p:cNvPr>
          <p:cNvSpPr>
            <a:spLocks noChangeArrowheads="1"/>
          </p:cNvSpPr>
          <p:nvPr/>
        </p:nvSpPr>
        <p:spPr bwMode="auto">
          <a:xfrm>
            <a:off x="5111750" y="54927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4</a:t>
            </a:r>
          </a:p>
        </p:txBody>
      </p:sp>
      <p:sp>
        <p:nvSpPr>
          <p:cNvPr id="31773" name="Rectangle 28">
            <a:extLst>
              <a:ext uri="{FF2B5EF4-FFF2-40B4-BE49-F238E27FC236}">
                <a16:creationId xmlns:a16="http://schemas.microsoft.com/office/drawing/2014/main" id="{4EB7E196-D1CF-B84F-A61C-493DA4B4BCA9}"/>
              </a:ext>
            </a:extLst>
          </p:cNvPr>
          <p:cNvSpPr>
            <a:spLocks noChangeArrowheads="1"/>
          </p:cNvSpPr>
          <p:nvPr/>
        </p:nvSpPr>
        <p:spPr bwMode="auto">
          <a:xfrm>
            <a:off x="5797550" y="54927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5</a:t>
            </a:r>
          </a:p>
        </p:txBody>
      </p:sp>
      <p:sp>
        <p:nvSpPr>
          <p:cNvPr id="31774" name="Line 29">
            <a:extLst>
              <a:ext uri="{FF2B5EF4-FFF2-40B4-BE49-F238E27FC236}">
                <a16:creationId xmlns:a16="http://schemas.microsoft.com/office/drawing/2014/main" id="{BDDE4539-C2B9-E84D-AC8F-23EB3AB3FB0E}"/>
              </a:ext>
            </a:extLst>
          </p:cNvPr>
          <p:cNvSpPr>
            <a:spLocks noChangeShapeType="1"/>
          </p:cNvSpPr>
          <p:nvPr/>
        </p:nvSpPr>
        <p:spPr bwMode="auto">
          <a:xfrm flipH="1">
            <a:off x="5334000" y="5715000"/>
            <a:ext cx="14478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775" name="Rectangle 30">
            <a:extLst>
              <a:ext uri="{FF2B5EF4-FFF2-40B4-BE49-F238E27FC236}">
                <a16:creationId xmlns:a16="http://schemas.microsoft.com/office/drawing/2014/main" id="{9CA8F818-987D-3F48-807A-42B0510310AE}"/>
              </a:ext>
            </a:extLst>
          </p:cNvPr>
          <p:cNvSpPr>
            <a:spLocks noChangeArrowheads="1"/>
          </p:cNvSpPr>
          <p:nvPr/>
        </p:nvSpPr>
        <p:spPr bwMode="auto">
          <a:xfrm>
            <a:off x="5111750" y="59499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2</a:t>
            </a:r>
          </a:p>
        </p:txBody>
      </p:sp>
      <p:sp>
        <p:nvSpPr>
          <p:cNvPr id="31776" name="Rectangle 31">
            <a:extLst>
              <a:ext uri="{FF2B5EF4-FFF2-40B4-BE49-F238E27FC236}">
                <a16:creationId xmlns:a16="http://schemas.microsoft.com/office/drawing/2014/main" id="{1A028499-37A2-3E4D-9566-465E6E5EC857}"/>
              </a:ext>
            </a:extLst>
          </p:cNvPr>
          <p:cNvSpPr>
            <a:spLocks noChangeArrowheads="1"/>
          </p:cNvSpPr>
          <p:nvPr/>
        </p:nvSpPr>
        <p:spPr bwMode="auto">
          <a:xfrm>
            <a:off x="5797550" y="59499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3</a:t>
            </a:r>
          </a:p>
        </p:txBody>
      </p:sp>
      <p:sp>
        <p:nvSpPr>
          <p:cNvPr id="31777" name="Rectangle 32">
            <a:extLst>
              <a:ext uri="{FF2B5EF4-FFF2-40B4-BE49-F238E27FC236}">
                <a16:creationId xmlns:a16="http://schemas.microsoft.com/office/drawing/2014/main" id="{E3929E2A-50AB-C14B-B2A4-6960B3C20915}"/>
              </a:ext>
            </a:extLst>
          </p:cNvPr>
          <p:cNvSpPr>
            <a:spLocks noChangeArrowheads="1"/>
          </p:cNvSpPr>
          <p:nvPr/>
        </p:nvSpPr>
        <p:spPr bwMode="auto">
          <a:xfrm>
            <a:off x="6483350" y="59499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4</a:t>
            </a:r>
          </a:p>
        </p:txBody>
      </p:sp>
      <p:sp>
        <p:nvSpPr>
          <p:cNvPr id="31778" name="Rectangle 33">
            <a:extLst>
              <a:ext uri="{FF2B5EF4-FFF2-40B4-BE49-F238E27FC236}">
                <a16:creationId xmlns:a16="http://schemas.microsoft.com/office/drawing/2014/main" id="{3EFC668B-4387-8545-807C-27D88206EC30}"/>
              </a:ext>
            </a:extLst>
          </p:cNvPr>
          <p:cNvSpPr>
            <a:spLocks noChangeArrowheads="1"/>
          </p:cNvSpPr>
          <p:nvPr/>
        </p:nvSpPr>
        <p:spPr bwMode="auto">
          <a:xfrm>
            <a:off x="7169150" y="5949950"/>
            <a:ext cx="673100" cy="215900"/>
          </a:xfrm>
          <a:prstGeom prst="rect">
            <a:avLst/>
          </a:prstGeom>
          <a:solidFill>
            <a:schemeClr val="hlink"/>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5</a:t>
            </a:r>
          </a:p>
        </p:txBody>
      </p:sp>
      <p:sp>
        <p:nvSpPr>
          <p:cNvPr id="31779" name="Line 34">
            <a:extLst>
              <a:ext uri="{FF2B5EF4-FFF2-40B4-BE49-F238E27FC236}">
                <a16:creationId xmlns:a16="http://schemas.microsoft.com/office/drawing/2014/main" id="{BCF8D81E-88DE-DC46-9345-5C85EDAE214D}"/>
              </a:ext>
            </a:extLst>
          </p:cNvPr>
          <p:cNvSpPr>
            <a:spLocks noChangeShapeType="1"/>
          </p:cNvSpPr>
          <p:nvPr/>
        </p:nvSpPr>
        <p:spPr bwMode="auto">
          <a:xfrm>
            <a:off x="6172200" y="5715000"/>
            <a:ext cx="13716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780" name="Line 35">
            <a:extLst>
              <a:ext uri="{FF2B5EF4-FFF2-40B4-BE49-F238E27FC236}">
                <a16:creationId xmlns:a16="http://schemas.microsoft.com/office/drawing/2014/main" id="{450010A8-F8CB-B247-9701-08D4D7E94E7F}"/>
              </a:ext>
            </a:extLst>
          </p:cNvPr>
          <p:cNvSpPr>
            <a:spLocks noChangeShapeType="1"/>
          </p:cNvSpPr>
          <p:nvPr/>
        </p:nvSpPr>
        <p:spPr bwMode="auto">
          <a:xfrm flipH="1">
            <a:off x="6172200" y="5715000"/>
            <a:ext cx="12954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781" name="Line 36">
            <a:extLst>
              <a:ext uri="{FF2B5EF4-FFF2-40B4-BE49-F238E27FC236}">
                <a16:creationId xmlns:a16="http://schemas.microsoft.com/office/drawing/2014/main" id="{05A9D813-D8D8-9549-8190-B6D3D34F9DB3}"/>
              </a:ext>
            </a:extLst>
          </p:cNvPr>
          <p:cNvSpPr>
            <a:spLocks noChangeShapeType="1"/>
          </p:cNvSpPr>
          <p:nvPr/>
        </p:nvSpPr>
        <p:spPr bwMode="auto">
          <a:xfrm>
            <a:off x="5410200" y="5715000"/>
            <a:ext cx="14478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782" name="Rectangle 37">
            <a:extLst>
              <a:ext uri="{FF2B5EF4-FFF2-40B4-BE49-F238E27FC236}">
                <a16:creationId xmlns:a16="http://schemas.microsoft.com/office/drawing/2014/main" id="{393B7F1A-4A6A-D74D-A64A-029632514867}"/>
              </a:ext>
            </a:extLst>
          </p:cNvPr>
          <p:cNvSpPr>
            <a:spLocks noChangeArrowheads="1"/>
          </p:cNvSpPr>
          <p:nvPr/>
        </p:nvSpPr>
        <p:spPr bwMode="auto">
          <a:xfrm>
            <a:off x="7985125" y="5661025"/>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reorder</a:t>
            </a:r>
          </a:p>
        </p:txBody>
      </p:sp>
      <p:sp>
        <p:nvSpPr>
          <p:cNvPr id="31783" name="Text Box 38">
            <a:extLst>
              <a:ext uri="{FF2B5EF4-FFF2-40B4-BE49-F238E27FC236}">
                <a16:creationId xmlns:a16="http://schemas.microsoft.com/office/drawing/2014/main" id="{C0992F4D-5CA2-6444-AC81-04DA41451D89}"/>
              </a:ext>
            </a:extLst>
          </p:cNvPr>
          <p:cNvSpPr txBox="1">
            <a:spLocks noChangeArrowheads="1"/>
          </p:cNvSpPr>
          <p:nvPr/>
        </p:nvSpPr>
        <p:spPr bwMode="auto">
          <a:xfrm>
            <a:off x="1066800" y="3341688"/>
            <a:ext cx="612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700">
                <a:latin typeface="Arial" panose="020B0604020202020204" pitchFamily="34" charset="0"/>
              </a:rPr>
              <a:t>Unaligned</a:t>
            </a:r>
          </a:p>
          <a:p>
            <a:pPr>
              <a:spcBef>
                <a:spcPct val="0"/>
              </a:spcBef>
              <a:buClrTx/>
              <a:buSzTx/>
              <a:buFontTx/>
              <a:buNone/>
            </a:pPr>
            <a:r>
              <a:rPr lang="en-US" altLang="en-US" sz="700">
                <a:latin typeface="Arial" panose="020B0604020202020204" pitchFamily="34" charset="0"/>
              </a:rPr>
              <a:t>access</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3">
            <a:extLst>
              <a:ext uri="{FF2B5EF4-FFF2-40B4-BE49-F238E27FC236}">
                <a16:creationId xmlns:a16="http://schemas.microsoft.com/office/drawing/2014/main" id="{4EF00689-79EB-364E-B215-A1D360A70413}"/>
              </a:ext>
            </a:extLst>
          </p:cNvPr>
          <p:cNvSpPr>
            <a:spLocks noGrp="1"/>
          </p:cNvSpPr>
          <p:nvPr>
            <p:ph type="ftr" sz="quarter" idx="4294967295"/>
          </p:nvPr>
        </p:nvSpPr>
        <p:spPr bwMode="auto">
          <a:xfrm>
            <a:off x="91440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
        <p:nvSpPr>
          <p:cNvPr id="62466" name="Rectangle 2">
            <a:extLst>
              <a:ext uri="{FF2B5EF4-FFF2-40B4-BE49-F238E27FC236}">
                <a16:creationId xmlns:a16="http://schemas.microsoft.com/office/drawing/2014/main" id="{0D90F07B-D3E3-A749-BD00-67FA2647970E}"/>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Aside: Endian-ness</a:t>
            </a:r>
          </a:p>
        </p:txBody>
      </p:sp>
      <p:sp>
        <p:nvSpPr>
          <p:cNvPr id="32772" name="Rectangle 3">
            <a:extLst>
              <a:ext uri="{FF2B5EF4-FFF2-40B4-BE49-F238E27FC236}">
                <a16:creationId xmlns:a16="http://schemas.microsoft.com/office/drawing/2014/main" id="{9AD85E7D-E4D3-0748-82A5-81A8A3FFA12D}"/>
              </a:ext>
            </a:extLst>
          </p:cNvPr>
          <p:cNvSpPr>
            <a:spLocks noGrp="1" noChangeArrowheads="1"/>
          </p:cNvSpPr>
          <p:nvPr>
            <p:ph type="body" idx="1"/>
          </p:nvPr>
        </p:nvSpPr>
        <p:spPr/>
        <p:txBody>
          <a:bodyPr/>
          <a:lstStyle/>
          <a:p>
            <a:r>
              <a:rPr lang="en-US" altLang="en-US"/>
              <a:t>Where is the most-significant byte (MSB) in a word?</a:t>
            </a:r>
          </a:p>
          <a:p>
            <a:pPr lvl="1"/>
            <a:r>
              <a:rPr lang="en-US" altLang="en-US"/>
              <a:t>Little-endian (e.g., x86)</a:t>
            </a:r>
          </a:p>
          <a:p>
            <a:endParaRPr lang="en-US" altLang="en-US"/>
          </a:p>
          <a:p>
            <a:endParaRPr lang="en-US" altLang="en-US"/>
          </a:p>
          <a:p>
            <a:pPr lvl="2"/>
            <a:r>
              <a:rPr lang="ja-JP" altLang="en-US"/>
              <a:t>“</a:t>
            </a:r>
            <a:r>
              <a:rPr lang="en-US" altLang="ja-JP"/>
              <a:t>little</a:t>
            </a:r>
            <a:r>
              <a:rPr lang="ja-JP" altLang="en-US"/>
              <a:t>”</a:t>
            </a:r>
            <a:r>
              <a:rPr lang="en-US" altLang="ja-JP"/>
              <a:t>-endian comes from interpreting byte address 0 as the </a:t>
            </a:r>
            <a:r>
              <a:rPr lang="ja-JP" altLang="en-US"/>
              <a:t>“</a:t>
            </a:r>
            <a:r>
              <a:rPr lang="en-US" altLang="ja-JP"/>
              <a:t>least</a:t>
            </a:r>
            <a:r>
              <a:rPr lang="ja-JP" altLang="en-US"/>
              <a:t>”</a:t>
            </a:r>
            <a:r>
              <a:rPr lang="en-US" altLang="ja-JP"/>
              <a:t>-significant byte</a:t>
            </a:r>
          </a:p>
          <a:p>
            <a:pPr lvl="1"/>
            <a:r>
              <a:rPr lang="en-US" altLang="en-US"/>
              <a:t>Big-endian (e.g., IBM PowerPC)</a:t>
            </a:r>
          </a:p>
          <a:p>
            <a:pPr lvl="1"/>
            <a:endParaRPr lang="en-US" altLang="en-US"/>
          </a:p>
          <a:p>
            <a:pPr lvl="1"/>
            <a:endParaRPr lang="en-US" altLang="en-US"/>
          </a:p>
          <a:p>
            <a:pPr lvl="1"/>
            <a:endParaRPr lang="en-US" altLang="en-US"/>
          </a:p>
          <a:p>
            <a:pPr lvl="2"/>
            <a:r>
              <a:rPr lang="ja-JP" altLang="en-US"/>
              <a:t>“</a:t>
            </a:r>
            <a:r>
              <a:rPr lang="en-US" altLang="ja-JP"/>
              <a:t>big</a:t>
            </a:r>
            <a:r>
              <a:rPr lang="ja-JP" altLang="en-US"/>
              <a:t>”</a:t>
            </a:r>
            <a:r>
              <a:rPr lang="en-US" altLang="ja-JP"/>
              <a:t>-endian comes from interpreting byte address 0 as the </a:t>
            </a:r>
            <a:r>
              <a:rPr lang="ja-JP" altLang="en-US"/>
              <a:t>“</a:t>
            </a:r>
            <a:r>
              <a:rPr lang="en-US" altLang="ja-JP"/>
              <a:t>most</a:t>
            </a:r>
            <a:r>
              <a:rPr lang="ja-JP" altLang="en-US"/>
              <a:t>”</a:t>
            </a:r>
            <a:r>
              <a:rPr lang="en-US" altLang="ja-JP"/>
              <a:t>-significant byte</a:t>
            </a:r>
            <a:endParaRPr lang="en-US" altLang="en-US"/>
          </a:p>
        </p:txBody>
      </p:sp>
      <p:sp>
        <p:nvSpPr>
          <p:cNvPr id="32773" name="Text Box 4">
            <a:extLst>
              <a:ext uri="{FF2B5EF4-FFF2-40B4-BE49-F238E27FC236}">
                <a16:creationId xmlns:a16="http://schemas.microsoft.com/office/drawing/2014/main" id="{B5340E6B-B1D8-F444-9962-A66F28C886D3}"/>
              </a:ext>
            </a:extLst>
          </p:cNvPr>
          <p:cNvSpPr txBox="1">
            <a:spLocks noChangeArrowheads="1"/>
          </p:cNvSpPr>
          <p:nvPr/>
        </p:nvSpPr>
        <p:spPr bwMode="auto">
          <a:xfrm>
            <a:off x="381000" y="2667000"/>
            <a:ext cx="1230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Byte address</a:t>
            </a:r>
          </a:p>
        </p:txBody>
      </p:sp>
      <p:grpSp>
        <p:nvGrpSpPr>
          <p:cNvPr id="32774" name="Group 5">
            <a:extLst>
              <a:ext uri="{FF2B5EF4-FFF2-40B4-BE49-F238E27FC236}">
                <a16:creationId xmlns:a16="http://schemas.microsoft.com/office/drawing/2014/main" id="{9D098047-1E65-AE4B-8466-F2C47E161AE5}"/>
              </a:ext>
            </a:extLst>
          </p:cNvPr>
          <p:cNvGrpSpPr>
            <a:grpSpLocks/>
          </p:cNvGrpSpPr>
          <p:nvPr/>
        </p:nvGrpSpPr>
        <p:grpSpPr bwMode="auto">
          <a:xfrm>
            <a:off x="1524000" y="2209800"/>
            <a:ext cx="3322638" cy="838200"/>
            <a:chOff x="960" y="1392"/>
            <a:chExt cx="2093" cy="528"/>
          </a:xfrm>
        </p:grpSpPr>
        <p:sp>
          <p:nvSpPr>
            <p:cNvPr id="32793" name="Rectangle 6">
              <a:extLst>
                <a:ext uri="{FF2B5EF4-FFF2-40B4-BE49-F238E27FC236}">
                  <a16:creationId xmlns:a16="http://schemas.microsoft.com/office/drawing/2014/main" id="{84F77EC4-37E8-1C45-AE32-F5A33D6353AA}"/>
                </a:ext>
              </a:extLst>
            </p:cNvPr>
            <p:cNvSpPr>
              <a:spLocks noChangeArrowheads="1"/>
            </p:cNvSpPr>
            <p:nvPr/>
          </p:nvSpPr>
          <p:spPr bwMode="auto">
            <a:xfrm>
              <a:off x="1680" y="1536"/>
              <a:ext cx="1344" cy="384"/>
            </a:xfrm>
            <a:prstGeom prst="rect">
              <a:avLst/>
            </a:prstGeom>
            <a:solidFill>
              <a:schemeClr val="bg1"/>
            </a:solidFill>
            <a:ln w="12700">
              <a:solidFill>
                <a:schemeClr val="tx1"/>
              </a:solidFill>
              <a:miter lim="800000"/>
              <a:headEnd type="none" w="sm" len="sm"/>
              <a:tailEnd type="none" w="sm" len="sm"/>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32794" name="Line 7">
              <a:extLst>
                <a:ext uri="{FF2B5EF4-FFF2-40B4-BE49-F238E27FC236}">
                  <a16:creationId xmlns:a16="http://schemas.microsoft.com/office/drawing/2014/main" id="{9AE22065-FC3D-4B45-AD86-D7F8D502D447}"/>
                </a:ext>
              </a:extLst>
            </p:cNvPr>
            <p:cNvSpPr>
              <a:spLocks noChangeShapeType="1"/>
            </p:cNvSpPr>
            <p:nvPr/>
          </p:nvSpPr>
          <p:spPr bwMode="auto">
            <a:xfrm>
              <a:off x="1680" y="1728"/>
              <a:ext cx="134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95" name="Line 8">
              <a:extLst>
                <a:ext uri="{FF2B5EF4-FFF2-40B4-BE49-F238E27FC236}">
                  <a16:creationId xmlns:a16="http://schemas.microsoft.com/office/drawing/2014/main" id="{9EBC48C1-E1BC-6540-8510-9DF4F552898F}"/>
                </a:ext>
              </a:extLst>
            </p:cNvPr>
            <p:cNvSpPr>
              <a:spLocks noChangeShapeType="1"/>
            </p:cNvSpPr>
            <p:nvPr/>
          </p:nvSpPr>
          <p:spPr bwMode="auto">
            <a:xfrm>
              <a:off x="2352" y="1536"/>
              <a:ext cx="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96" name="Line 9">
              <a:extLst>
                <a:ext uri="{FF2B5EF4-FFF2-40B4-BE49-F238E27FC236}">
                  <a16:creationId xmlns:a16="http://schemas.microsoft.com/office/drawing/2014/main" id="{C1D596E0-1514-ED49-B0E3-AB549470B6E1}"/>
                </a:ext>
              </a:extLst>
            </p:cNvPr>
            <p:cNvSpPr>
              <a:spLocks noChangeShapeType="1"/>
            </p:cNvSpPr>
            <p:nvPr/>
          </p:nvSpPr>
          <p:spPr bwMode="auto">
            <a:xfrm>
              <a:off x="2016" y="1536"/>
              <a:ext cx="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97" name="Line 10">
              <a:extLst>
                <a:ext uri="{FF2B5EF4-FFF2-40B4-BE49-F238E27FC236}">
                  <a16:creationId xmlns:a16="http://schemas.microsoft.com/office/drawing/2014/main" id="{AB2BAB16-D479-434C-9E0D-5DEAC296D338}"/>
                </a:ext>
              </a:extLst>
            </p:cNvPr>
            <p:cNvSpPr>
              <a:spLocks noChangeShapeType="1"/>
            </p:cNvSpPr>
            <p:nvPr/>
          </p:nvSpPr>
          <p:spPr bwMode="auto">
            <a:xfrm>
              <a:off x="2688" y="1536"/>
              <a:ext cx="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98" name="Text Box 11">
              <a:extLst>
                <a:ext uri="{FF2B5EF4-FFF2-40B4-BE49-F238E27FC236}">
                  <a16:creationId xmlns:a16="http://schemas.microsoft.com/office/drawing/2014/main" id="{108F5F59-F513-A44A-93A1-B22B26FC5107}"/>
                </a:ext>
              </a:extLst>
            </p:cNvPr>
            <p:cNvSpPr txBox="1">
              <a:spLocks noChangeArrowheads="1"/>
            </p:cNvSpPr>
            <p:nvPr/>
          </p:nvSpPr>
          <p:spPr bwMode="auto">
            <a:xfrm>
              <a:off x="1776" y="15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0</a:t>
              </a:r>
            </a:p>
          </p:txBody>
        </p:sp>
        <p:sp>
          <p:nvSpPr>
            <p:cNvPr id="32799" name="Text Box 12">
              <a:extLst>
                <a:ext uri="{FF2B5EF4-FFF2-40B4-BE49-F238E27FC236}">
                  <a16:creationId xmlns:a16="http://schemas.microsoft.com/office/drawing/2014/main" id="{F291C199-BF88-214E-A170-F63DA70FEE43}"/>
                </a:ext>
              </a:extLst>
            </p:cNvPr>
            <p:cNvSpPr txBox="1">
              <a:spLocks noChangeArrowheads="1"/>
            </p:cNvSpPr>
            <p:nvPr/>
          </p:nvSpPr>
          <p:spPr bwMode="auto">
            <a:xfrm>
              <a:off x="2112" y="15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1</a:t>
              </a:r>
            </a:p>
          </p:txBody>
        </p:sp>
        <p:sp>
          <p:nvSpPr>
            <p:cNvPr id="32800" name="Text Box 13">
              <a:extLst>
                <a:ext uri="{FF2B5EF4-FFF2-40B4-BE49-F238E27FC236}">
                  <a16:creationId xmlns:a16="http://schemas.microsoft.com/office/drawing/2014/main" id="{8FF5A205-9716-3E48-BC63-76D8CCD92260}"/>
                </a:ext>
              </a:extLst>
            </p:cNvPr>
            <p:cNvSpPr txBox="1">
              <a:spLocks noChangeArrowheads="1"/>
            </p:cNvSpPr>
            <p:nvPr/>
          </p:nvSpPr>
          <p:spPr bwMode="auto">
            <a:xfrm>
              <a:off x="2448" y="15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2</a:t>
              </a:r>
            </a:p>
          </p:txBody>
        </p:sp>
        <p:sp>
          <p:nvSpPr>
            <p:cNvPr id="32801" name="Text Box 14">
              <a:extLst>
                <a:ext uri="{FF2B5EF4-FFF2-40B4-BE49-F238E27FC236}">
                  <a16:creationId xmlns:a16="http://schemas.microsoft.com/office/drawing/2014/main" id="{B8E41AE4-723F-E741-85E2-FF793BC6329C}"/>
                </a:ext>
              </a:extLst>
            </p:cNvPr>
            <p:cNvSpPr txBox="1">
              <a:spLocks noChangeArrowheads="1"/>
            </p:cNvSpPr>
            <p:nvPr/>
          </p:nvSpPr>
          <p:spPr bwMode="auto">
            <a:xfrm>
              <a:off x="2784" y="15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3</a:t>
              </a:r>
            </a:p>
          </p:txBody>
        </p:sp>
        <p:sp>
          <p:nvSpPr>
            <p:cNvPr id="32802" name="Text Box 15">
              <a:extLst>
                <a:ext uri="{FF2B5EF4-FFF2-40B4-BE49-F238E27FC236}">
                  <a16:creationId xmlns:a16="http://schemas.microsoft.com/office/drawing/2014/main" id="{E643D071-CC29-FA45-ABC9-4C2A93844E88}"/>
                </a:ext>
              </a:extLst>
            </p:cNvPr>
            <p:cNvSpPr txBox="1">
              <a:spLocks noChangeArrowheads="1"/>
            </p:cNvSpPr>
            <p:nvPr/>
          </p:nvSpPr>
          <p:spPr bwMode="auto">
            <a:xfrm>
              <a:off x="1776" y="1728"/>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4</a:t>
              </a:r>
            </a:p>
          </p:txBody>
        </p:sp>
        <p:sp>
          <p:nvSpPr>
            <p:cNvPr id="32803" name="Text Box 16">
              <a:extLst>
                <a:ext uri="{FF2B5EF4-FFF2-40B4-BE49-F238E27FC236}">
                  <a16:creationId xmlns:a16="http://schemas.microsoft.com/office/drawing/2014/main" id="{62142D58-2C93-C04F-9E00-94F1413E7056}"/>
                </a:ext>
              </a:extLst>
            </p:cNvPr>
            <p:cNvSpPr txBox="1">
              <a:spLocks noChangeArrowheads="1"/>
            </p:cNvSpPr>
            <p:nvPr/>
          </p:nvSpPr>
          <p:spPr bwMode="auto">
            <a:xfrm>
              <a:off x="2112" y="1728"/>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5</a:t>
              </a:r>
            </a:p>
          </p:txBody>
        </p:sp>
        <p:sp>
          <p:nvSpPr>
            <p:cNvPr id="32804" name="Text Box 17">
              <a:extLst>
                <a:ext uri="{FF2B5EF4-FFF2-40B4-BE49-F238E27FC236}">
                  <a16:creationId xmlns:a16="http://schemas.microsoft.com/office/drawing/2014/main" id="{E6CEC2F7-C46B-FC49-95A4-4E32C2BE206F}"/>
                </a:ext>
              </a:extLst>
            </p:cNvPr>
            <p:cNvSpPr txBox="1">
              <a:spLocks noChangeArrowheads="1"/>
            </p:cNvSpPr>
            <p:nvPr/>
          </p:nvSpPr>
          <p:spPr bwMode="auto">
            <a:xfrm>
              <a:off x="2448" y="1728"/>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6</a:t>
              </a:r>
            </a:p>
          </p:txBody>
        </p:sp>
        <p:sp>
          <p:nvSpPr>
            <p:cNvPr id="32805" name="Text Box 18">
              <a:extLst>
                <a:ext uri="{FF2B5EF4-FFF2-40B4-BE49-F238E27FC236}">
                  <a16:creationId xmlns:a16="http://schemas.microsoft.com/office/drawing/2014/main" id="{2FE19A5C-A1BB-4E40-968C-DFE31B0D177A}"/>
                </a:ext>
              </a:extLst>
            </p:cNvPr>
            <p:cNvSpPr txBox="1">
              <a:spLocks noChangeArrowheads="1"/>
            </p:cNvSpPr>
            <p:nvPr/>
          </p:nvSpPr>
          <p:spPr bwMode="auto">
            <a:xfrm>
              <a:off x="2784" y="1728"/>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7</a:t>
              </a:r>
            </a:p>
          </p:txBody>
        </p:sp>
        <p:sp>
          <p:nvSpPr>
            <p:cNvPr id="32806" name="Line 19">
              <a:extLst>
                <a:ext uri="{FF2B5EF4-FFF2-40B4-BE49-F238E27FC236}">
                  <a16:creationId xmlns:a16="http://schemas.microsoft.com/office/drawing/2014/main" id="{353BEE35-93C1-DD4D-B43D-E5E3DE079EF2}"/>
                </a:ext>
              </a:extLst>
            </p:cNvPr>
            <p:cNvSpPr>
              <a:spLocks noChangeShapeType="1"/>
            </p:cNvSpPr>
            <p:nvPr/>
          </p:nvSpPr>
          <p:spPr bwMode="auto">
            <a:xfrm flipH="1">
              <a:off x="960" y="1632"/>
              <a:ext cx="864"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807" name="Text Box 20">
              <a:extLst>
                <a:ext uri="{FF2B5EF4-FFF2-40B4-BE49-F238E27FC236}">
                  <a16:creationId xmlns:a16="http://schemas.microsoft.com/office/drawing/2014/main" id="{2D136C2E-3E52-F843-A70D-2D9C46CA2EE3}"/>
                </a:ext>
              </a:extLst>
            </p:cNvPr>
            <p:cNvSpPr txBox="1">
              <a:spLocks noChangeArrowheads="1"/>
            </p:cNvSpPr>
            <p:nvPr/>
          </p:nvSpPr>
          <p:spPr bwMode="auto">
            <a:xfrm>
              <a:off x="1680" y="1392"/>
              <a:ext cx="3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LSB</a:t>
              </a:r>
            </a:p>
          </p:txBody>
        </p:sp>
        <p:sp>
          <p:nvSpPr>
            <p:cNvPr id="32808" name="Text Box 21">
              <a:extLst>
                <a:ext uri="{FF2B5EF4-FFF2-40B4-BE49-F238E27FC236}">
                  <a16:creationId xmlns:a16="http://schemas.microsoft.com/office/drawing/2014/main" id="{6919ACD6-38E8-E642-B010-C7077C609595}"/>
                </a:ext>
              </a:extLst>
            </p:cNvPr>
            <p:cNvSpPr txBox="1">
              <a:spLocks noChangeArrowheads="1"/>
            </p:cNvSpPr>
            <p:nvPr/>
          </p:nvSpPr>
          <p:spPr bwMode="auto">
            <a:xfrm>
              <a:off x="2688" y="1392"/>
              <a:ext cx="3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MSB</a:t>
              </a:r>
            </a:p>
          </p:txBody>
        </p:sp>
      </p:grpSp>
      <p:grpSp>
        <p:nvGrpSpPr>
          <p:cNvPr id="32775" name="Group 22">
            <a:extLst>
              <a:ext uri="{FF2B5EF4-FFF2-40B4-BE49-F238E27FC236}">
                <a16:creationId xmlns:a16="http://schemas.microsoft.com/office/drawing/2014/main" id="{23EFC061-CF83-C143-92BE-0E4E74B85D63}"/>
              </a:ext>
            </a:extLst>
          </p:cNvPr>
          <p:cNvGrpSpPr>
            <a:grpSpLocks/>
          </p:cNvGrpSpPr>
          <p:nvPr/>
        </p:nvGrpSpPr>
        <p:grpSpPr bwMode="auto">
          <a:xfrm>
            <a:off x="1524000" y="4572000"/>
            <a:ext cx="3302000" cy="838200"/>
            <a:chOff x="960" y="1392"/>
            <a:chExt cx="2080" cy="528"/>
          </a:xfrm>
        </p:grpSpPr>
        <p:sp>
          <p:nvSpPr>
            <p:cNvPr id="32777" name="Rectangle 23">
              <a:extLst>
                <a:ext uri="{FF2B5EF4-FFF2-40B4-BE49-F238E27FC236}">
                  <a16:creationId xmlns:a16="http://schemas.microsoft.com/office/drawing/2014/main" id="{53977070-5D4A-C748-9CCB-A404F9E43CA4}"/>
                </a:ext>
              </a:extLst>
            </p:cNvPr>
            <p:cNvSpPr>
              <a:spLocks noChangeArrowheads="1"/>
            </p:cNvSpPr>
            <p:nvPr/>
          </p:nvSpPr>
          <p:spPr bwMode="auto">
            <a:xfrm>
              <a:off x="1680" y="1536"/>
              <a:ext cx="1344" cy="384"/>
            </a:xfrm>
            <a:prstGeom prst="rect">
              <a:avLst/>
            </a:prstGeom>
            <a:solidFill>
              <a:schemeClr val="bg1"/>
            </a:solidFill>
            <a:ln w="12700">
              <a:solidFill>
                <a:schemeClr val="tx1"/>
              </a:solidFill>
              <a:miter lim="800000"/>
              <a:headEnd type="none" w="sm" len="sm"/>
              <a:tailEnd type="none" w="sm" len="sm"/>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32778" name="Line 24">
              <a:extLst>
                <a:ext uri="{FF2B5EF4-FFF2-40B4-BE49-F238E27FC236}">
                  <a16:creationId xmlns:a16="http://schemas.microsoft.com/office/drawing/2014/main" id="{5E11C326-0263-A046-851E-A52069CBF40A}"/>
                </a:ext>
              </a:extLst>
            </p:cNvPr>
            <p:cNvSpPr>
              <a:spLocks noChangeShapeType="1"/>
            </p:cNvSpPr>
            <p:nvPr/>
          </p:nvSpPr>
          <p:spPr bwMode="auto">
            <a:xfrm>
              <a:off x="1680" y="1728"/>
              <a:ext cx="134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79" name="Line 25">
              <a:extLst>
                <a:ext uri="{FF2B5EF4-FFF2-40B4-BE49-F238E27FC236}">
                  <a16:creationId xmlns:a16="http://schemas.microsoft.com/office/drawing/2014/main" id="{2FD20FE1-7FFD-1943-999A-C1B5A71A1DB5}"/>
                </a:ext>
              </a:extLst>
            </p:cNvPr>
            <p:cNvSpPr>
              <a:spLocks noChangeShapeType="1"/>
            </p:cNvSpPr>
            <p:nvPr/>
          </p:nvSpPr>
          <p:spPr bwMode="auto">
            <a:xfrm>
              <a:off x="2352" y="1536"/>
              <a:ext cx="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80" name="Line 26">
              <a:extLst>
                <a:ext uri="{FF2B5EF4-FFF2-40B4-BE49-F238E27FC236}">
                  <a16:creationId xmlns:a16="http://schemas.microsoft.com/office/drawing/2014/main" id="{806B0B3E-EA96-0A49-8EB6-2C2413AA2B41}"/>
                </a:ext>
              </a:extLst>
            </p:cNvPr>
            <p:cNvSpPr>
              <a:spLocks noChangeShapeType="1"/>
            </p:cNvSpPr>
            <p:nvPr/>
          </p:nvSpPr>
          <p:spPr bwMode="auto">
            <a:xfrm>
              <a:off x="2016" y="1536"/>
              <a:ext cx="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81" name="Line 27">
              <a:extLst>
                <a:ext uri="{FF2B5EF4-FFF2-40B4-BE49-F238E27FC236}">
                  <a16:creationId xmlns:a16="http://schemas.microsoft.com/office/drawing/2014/main" id="{204217D9-59E0-F141-BA77-5B0B1F1C5328}"/>
                </a:ext>
              </a:extLst>
            </p:cNvPr>
            <p:cNvSpPr>
              <a:spLocks noChangeShapeType="1"/>
            </p:cNvSpPr>
            <p:nvPr/>
          </p:nvSpPr>
          <p:spPr bwMode="auto">
            <a:xfrm>
              <a:off x="2688" y="1536"/>
              <a:ext cx="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82" name="Text Box 28">
              <a:extLst>
                <a:ext uri="{FF2B5EF4-FFF2-40B4-BE49-F238E27FC236}">
                  <a16:creationId xmlns:a16="http://schemas.microsoft.com/office/drawing/2014/main" id="{2C621A55-14A1-924B-BE6E-89D5F9A35020}"/>
                </a:ext>
              </a:extLst>
            </p:cNvPr>
            <p:cNvSpPr txBox="1">
              <a:spLocks noChangeArrowheads="1"/>
            </p:cNvSpPr>
            <p:nvPr/>
          </p:nvSpPr>
          <p:spPr bwMode="auto">
            <a:xfrm>
              <a:off x="1776" y="15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0</a:t>
              </a:r>
            </a:p>
          </p:txBody>
        </p:sp>
        <p:sp>
          <p:nvSpPr>
            <p:cNvPr id="32783" name="Text Box 29">
              <a:extLst>
                <a:ext uri="{FF2B5EF4-FFF2-40B4-BE49-F238E27FC236}">
                  <a16:creationId xmlns:a16="http://schemas.microsoft.com/office/drawing/2014/main" id="{E6F1C616-40B0-C34A-8AB2-1AB7B7E728A3}"/>
                </a:ext>
              </a:extLst>
            </p:cNvPr>
            <p:cNvSpPr txBox="1">
              <a:spLocks noChangeArrowheads="1"/>
            </p:cNvSpPr>
            <p:nvPr/>
          </p:nvSpPr>
          <p:spPr bwMode="auto">
            <a:xfrm>
              <a:off x="2112" y="15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1</a:t>
              </a:r>
            </a:p>
          </p:txBody>
        </p:sp>
        <p:sp>
          <p:nvSpPr>
            <p:cNvPr id="32784" name="Text Box 30">
              <a:extLst>
                <a:ext uri="{FF2B5EF4-FFF2-40B4-BE49-F238E27FC236}">
                  <a16:creationId xmlns:a16="http://schemas.microsoft.com/office/drawing/2014/main" id="{A4073FB9-A805-AA4C-9D61-DFA1BE29D90A}"/>
                </a:ext>
              </a:extLst>
            </p:cNvPr>
            <p:cNvSpPr txBox="1">
              <a:spLocks noChangeArrowheads="1"/>
            </p:cNvSpPr>
            <p:nvPr/>
          </p:nvSpPr>
          <p:spPr bwMode="auto">
            <a:xfrm>
              <a:off x="2448" y="15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2</a:t>
              </a:r>
            </a:p>
          </p:txBody>
        </p:sp>
        <p:sp>
          <p:nvSpPr>
            <p:cNvPr id="32785" name="Text Box 31">
              <a:extLst>
                <a:ext uri="{FF2B5EF4-FFF2-40B4-BE49-F238E27FC236}">
                  <a16:creationId xmlns:a16="http://schemas.microsoft.com/office/drawing/2014/main" id="{47720566-2178-544D-9A73-939F0E609A95}"/>
                </a:ext>
              </a:extLst>
            </p:cNvPr>
            <p:cNvSpPr txBox="1">
              <a:spLocks noChangeArrowheads="1"/>
            </p:cNvSpPr>
            <p:nvPr/>
          </p:nvSpPr>
          <p:spPr bwMode="auto">
            <a:xfrm>
              <a:off x="2784" y="15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3</a:t>
              </a:r>
            </a:p>
          </p:txBody>
        </p:sp>
        <p:sp>
          <p:nvSpPr>
            <p:cNvPr id="32786" name="Text Box 32">
              <a:extLst>
                <a:ext uri="{FF2B5EF4-FFF2-40B4-BE49-F238E27FC236}">
                  <a16:creationId xmlns:a16="http://schemas.microsoft.com/office/drawing/2014/main" id="{8109FEBB-A67A-9F44-B597-A4DE2FE6445D}"/>
                </a:ext>
              </a:extLst>
            </p:cNvPr>
            <p:cNvSpPr txBox="1">
              <a:spLocks noChangeArrowheads="1"/>
            </p:cNvSpPr>
            <p:nvPr/>
          </p:nvSpPr>
          <p:spPr bwMode="auto">
            <a:xfrm>
              <a:off x="1776" y="1728"/>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4</a:t>
              </a:r>
            </a:p>
          </p:txBody>
        </p:sp>
        <p:sp>
          <p:nvSpPr>
            <p:cNvPr id="32787" name="Text Box 33">
              <a:extLst>
                <a:ext uri="{FF2B5EF4-FFF2-40B4-BE49-F238E27FC236}">
                  <a16:creationId xmlns:a16="http://schemas.microsoft.com/office/drawing/2014/main" id="{F25E235C-DA1E-854D-B183-E968364E1F2F}"/>
                </a:ext>
              </a:extLst>
            </p:cNvPr>
            <p:cNvSpPr txBox="1">
              <a:spLocks noChangeArrowheads="1"/>
            </p:cNvSpPr>
            <p:nvPr/>
          </p:nvSpPr>
          <p:spPr bwMode="auto">
            <a:xfrm>
              <a:off x="2112" y="1728"/>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5</a:t>
              </a:r>
            </a:p>
          </p:txBody>
        </p:sp>
        <p:sp>
          <p:nvSpPr>
            <p:cNvPr id="32788" name="Text Box 34">
              <a:extLst>
                <a:ext uri="{FF2B5EF4-FFF2-40B4-BE49-F238E27FC236}">
                  <a16:creationId xmlns:a16="http://schemas.microsoft.com/office/drawing/2014/main" id="{9937F1FA-37C6-5247-8F2D-B81A92F5299D}"/>
                </a:ext>
              </a:extLst>
            </p:cNvPr>
            <p:cNvSpPr txBox="1">
              <a:spLocks noChangeArrowheads="1"/>
            </p:cNvSpPr>
            <p:nvPr/>
          </p:nvSpPr>
          <p:spPr bwMode="auto">
            <a:xfrm>
              <a:off x="2448" y="1728"/>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6</a:t>
              </a:r>
            </a:p>
          </p:txBody>
        </p:sp>
        <p:sp>
          <p:nvSpPr>
            <p:cNvPr id="32789" name="Text Box 35">
              <a:extLst>
                <a:ext uri="{FF2B5EF4-FFF2-40B4-BE49-F238E27FC236}">
                  <a16:creationId xmlns:a16="http://schemas.microsoft.com/office/drawing/2014/main" id="{EAFB958B-EC48-2E4E-A40A-FF88F71DA868}"/>
                </a:ext>
              </a:extLst>
            </p:cNvPr>
            <p:cNvSpPr txBox="1">
              <a:spLocks noChangeArrowheads="1"/>
            </p:cNvSpPr>
            <p:nvPr/>
          </p:nvSpPr>
          <p:spPr bwMode="auto">
            <a:xfrm>
              <a:off x="2784" y="1728"/>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7</a:t>
              </a:r>
            </a:p>
          </p:txBody>
        </p:sp>
        <p:sp>
          <p:nvSpPr>
            <p:cNvPr id="32790" name="Line 36">
              <a:extLst>
                <a:ext uri="{FF2B5EF4-FFF2-40B4-BE49-F238E27FC236}">
                  <a16:creationId xmlns:a16="http://schemas.microsoft.com/office/drawing/2014/main" id="{2823EB46-CE20-EC44-9BEF-6014B44D45C5}"/>
                </a:ext>
              </a:extLst>
            </p:cNvPr>
            <p:cNvSpPr>
              <a:spLocks noChangeShapeType="1"/>
            </p:cNvSpPr>
            <p:nvPr/>
          </p:nvSpPr>
          <p:spPr bwMode="auto">
            <a:xfrm flipH="1">
              <a:off x="960" y="1632"/>
              <a:ext cx="864"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791" name="Text Box 37">
              <a:extLst>
                <a:ext uri="{FF2B5EF4-FFF2-40B4-BE49-F238E27FC236}">
                  <a16:creationId xmlns:a16="http://schemas.microsoft.com/office/drawing/2014/main" id="{275F9312-A65C-704A-89E8-111B06E442EF}"/>
                </a:ext>
              </a:extLst>
            </p:cNvPr>
            <p:cNvSpPr txBox="1">
              <a:spLocks noChangeArrowheads="1"/>
            </p:cNvSpPr>
            <p:nvPr/>
          </p:nvSpPr>
          <p:spPr bwMode="auto">
            <a:xfrm>
              <a:off x="1668" y="1392"/>
              <a:ext cx="3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MSB</a:t>
              </a:r>
            </a:p>
          </p:txBody>
        </p:sp>
        <p:sp>
          <p:nvSpPr>
            <p:cNvPr id="32792" name="Text Box 38">
              <a:extLst>
                <a:ext uri="{FF2B5EF4-FFF2-40B4-BE49-F238E27FC236}">
                  <a16:creationId xmlns:a16="http://schemas.microsoft.com/office/drawing/2014/main" id="{A51D3B13-EE81-D84F-BED2-00F7279C9DD2}"/>
                </a:ext>
              </a:extLst>
            </p:cNvPr>
            <p:cNvSpPr txBox="1">
              <a:spLocks noChangeArrowheads="1"/>
            </p:cNvSpPr>
            <p:nvPr/>
          </p:nvSpPr>
          <p:spPr bwMode="auto">
            <a:xfrm>
              <a:off x="2700" y="1392"/>
              <a:ext cx="3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LSB</a:t>
              </a:r>
            </a:p>
          </p:txBody>
        </p:sp>
      </p:grpSp>
      <p:sp>
        <p:nvSpPr>
          <p:cNvPr id="32776" name="Text Box 39">
            <a:extLst>
              <a:ext uri="{FF2B5EF4-FFF2-40B4-BE49-F238E27FC236}">
                <a16:creationId xmlns:a16="http://schemas.microsoft.com/office/drawing/2014/main" id="{8A161345-78DD-A54C-8990-B67E82916187}"/>
              </a:ext>
            </a:extLst>
          </p:cNvPr>
          <p:cNvSpPr txBox="1">
            <a:spLocks noChangeArrowheads="1"/>
          </p:cNvSpPr>
          <p:nvPr/>
        </p:nvSpPr>
        <p:spPr bwMode="auto">
          <a:xfrm>
            <a:off x="381000" y="5029200"/>
            <a:ext cx="1230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Byte address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1DB658B6-E31B-E74B-9AC8-6C1C206D5C56}"/>
              </a:ext>
            </a:extLst>
          </p:cNvPr>
          <p:cNvSpPr>
            <a:spLocks noGrp="1" noChangeArrowheads="1"/>
          </p:cNvSpPr>
          <p:nvPr>
            <p:ph type="ctrTitle"/>
          </p:nvPr>
        </p:nvSpPr>
        <p:spPr>
          <a:xfrm>
            <a:off x="152400" y="1958975"/>
            <a:ext cx="8991600" cy="1470025"/>
          </a:xfrm>
        </p:spPr>
        <p:txBody>
          <a:bodyPr/>
          <a:lstStyle/>
          <a:p>
            <a:pPr eaLnBrk="1" hangingPunct="1"/>
            <a:r>
              <a:rPr lang="en-US" altLang="en-US" dirty="0">
                <a:ea typeface="ＭＳ Ｐゴシック" panose="020B0600070205080204" pitchFamily="34" charset="-128"/>
              </a:rPr>
              <a:t>Module 3.2: Instruction Set Architecture2</a:t>
            </a:r>
          </a:p>
        </p:txBody>
      </p:sp>
      <p:sp>
        <p:nvSpPr>
          <p:cNvPr id="43010" name="Subtitle 1">
            <a:extLst>
              <a:ext uri="{FF2B5EF4-FFF2-40B4-BE49-F238E27FC236}">
                <a16:creationId xmlns:a16="http://schemas.microsoft.com/office/drawing/2014/main" id="{5D942F35-A1F0-5446-95E7-17D5504FC33D}"/>
              </a:ext>
            </a:extLst>
          </p:cNvPr>
          <p:cNvSpPr>
            <a:spLocks noGrp="1" noChangeArrowheads="1"/>
          </p:cNvSpPr>
          <p:nvPr>
            <p:ph type="subTitle" idx="1"/>
          </p:nvPr>
        </p:nvSpPr>
        <p:spPr/>
        <p:txBody>
          <a:bodyPr/>
          <a:lstStyle/>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359202203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10408754-38A6-DE42-A31A-ED9B956C2325}"/>
              </a:ext>
            </a:extLst>
          </p:cNvPr>
          <p:cNvSpPr>
            <a:spLocks noGrp="1" noChangeArrowheads="1"/>
          </p:cNvSpPr>
          <p:nvPr>
            <p:ph type="title"/>
          </p:nvPr>
        </p:nvSpPr>
        <p:spPr/>
        <p:txBody>
          <a:bodyPr/>
          <a:lstStyle/>
          <a:p>
            <a:r>
              <a:rPr lang="en-US" altLang="en-US"/>
              <a:t>RISC-Style ISA</a:t>
            </a:r>
          </a:p>
        </p:txBody>
      </p:sp>
      <p:sp>
        <p:nvSpPr>
          <p:cNvPr id="34819" name="Content Placeholder 2">
            <a:extLst>
              <a:ext uri="{FF2B5EF4-FFF2-40B4-BE49-F238E27FC236}">
                <a16:creationId xmlns:a16="http://schemas.microsoft.com/office/drawing/2014/main" id="{23B6AE03-1F3A-7B4A-B86E-7C1570C0E10E}"/>
              </a:ext>
            </a:extLst>
          </p:cNvPr>
          <p:cNvSpPr>
            <a:spLocks noGrp="1" noChangeArrowheads="1"/>
          </p:cNvSpPr>
          <p:nvPr>
            <p:ph idx="1"/>
          </p:nvPr>
        </p:nvSpPr>
        <p:spPr/>
        <p:txBody>
          <a:bodyPr/>
          <a:lstStyle/>
          <a:p>
            <a:pPr>
              <a:buFont typeface="Wingdings" pitchFamily="2" charset="2"/>
              <a:buChar char="w"/>
            </a:pPr>
            <a:r>
              <a:rPr lang="en-US" altLang="en-US" dirty="0">
                <a:solidFill>
                  <a:srgbClr val="FF0000"/>
                </a:solidFill>
              </a:rPr>
              <a:t>Reduced </a:t>
            </a:r>
            <a:r>
              <a:rPr lang="en-US" altLang="en-US" dirty="0"/>
              <a:t>Instruction Set Computing (RISC), as opposed to </a:t>
            </a:r>
            <a:r>
              <a:rPr lang="en-US" altLang="en-US" dirty="0">
                <a:solidFill>
                  <a:srgbClr val="FF0000"/>
                </a:solidFill>
              </a:rPr>
              <a:t>Complex</a:t>
            </a:r>
            <a:r>
              <a:rPr lang="en-US" altLang="en-US" dirty="0"/>
              <a:t> Instruction Set Computing (CISC)</a:t>
            </a:r>
          </a:p>
          <a:p>
            <a:pPr>
              <a:buFont typeface="Wingdings" pitchFamily="2" charset="2"/>
              <a:buChar char="w"/>
            </a:pPr>
            <a:r>
              <a:rPr lang="en-US" altLang="en-US" dirty="0"/>
              <a:t>Designed from the ground up for easy pipelining and exploitation of </a:t>
            </a:r>
            <a:r>
              <a:rPr lang="en-US" altLang="en-US" dirty="0">
                <a:solidFill>
                  <a:srgbClr val="FF0000"/>
                </a:solidFill>
              </a:rPr>
              <a:t>instruction level parallelism </a:t>
            </a:r>
            <a:r>
              <a:rPr lang="en-US" altLang="en-US" dirty="0"/>
              <a:t>(ILP). </a:t>
            </a:r>
          </a:p>
          <a:p>
            <a:pPr>
              <a:buFont typeface="Wingdings" pitchFamily="2" charset="2"/>
              <a:buChar char="w"/>
            </a:pPr>
            <a:r>
              <a:rPr lang="en-US" altLang="en-US" dirty="0"/>
              <a:t>Main characteristics</a:t>
            </a:r>
          </a:p>
          <a:p>
            <a:pPr lvl="1"/>
            <a:r>
              <a:rPr lang="en-US" altLang="en-US" dirty="0"/>
              <a:t>Load/store ISA: only loads/stores have a memory operand =&gt; Easy pipelining and uniform instruction width</a:t>
            </a:r>
          </a:p>
          <a:p>
            <a:pPr lvl="1"/>
            <a:r>
              <a:rPr lang="en-US" altLang="en-US" dirty="0"/>
              <a:t>Fixed instruction width =&gt; easy fetch and decode</a:t>
            </a:r>
          </a:p>
          <a:p>
            <a:pPr lvl="1"/>
            <a:r>
              <a:rPr lang="en-US" altLang="en-US" dirty="0"/>
              <a:t>Small number of addressing modes =&gt; easy pipelining</a:t>
            </a:r>
          </a:p>
          <a:p>
            <a:pPr lvl="1"/>
            <a:r>
              <a:rPr lang="en-US" altLang="en-US" dirty="0"/>
              <a:t>Large register file =&gt; 32 int + 32 </a:t>
            </a:r>
            <a:r>
              <a:rPr lang="en-US" altLang="en-US" dirty="0" err="1"/>
              <a:t>fp</a:t>
            </a:r>
            <a:r>
              <a:rPr lang="en-US" altLang="en-US" dirty="0"/>
              <a:t> registers</a:t>
            </a:r>
          </a:p>
          <a:p>
            <a:pPr lvl="1"/>
            <a:r>
              <a:rPr lang="en-US" altLang="en-US" dirty="0"/>
              <a:t>Aligned memory =&gt; easy data fetch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3815A0B-068C-F04D-B706-0686C5E5A828}"/>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Common addressing modes</a:t>
            </a:r>
          </a:p>
        </p:txBody>
      </p:sp>
      <p:sp>
        <p:nvSpPr>
          <p:cNvPr id="36867" name="Rectangle 3">
            <a:extLst>
              <a:ext uri="{FF2B5EF4-FFF2-40B4-BE49-F238E27FC236}">
                <a16:creationId xmlns:a16="http://schemas.microsoft.com/office/drawing/2014/main" id="{66D33C90-92DC-3E40-9CA2-AA6FB75E89EF}"/>
              </a:ext>
            </a:extLst>
          </p:cNvPr>
          <p:cNvSpPr>
            <a:spLocks noGrp="1" noChangeArrowheads="1"/>
          </p:cNvSpPr>
          <p:nvPr>
            <p:ph idx="1"/>
          </p:nvPr>
        </p:nvSpPr>
        <p:spPr/>
        <p:txBody>
          <a:bodyPr/>
          <a:lstStyle/>
          <a:p>
            <a:r>
              <a:rPr lang="en-US" altLang="en-US" sz="2000"/>
              <a:t>Register</a:t>
            </a:r>
          </a:p>
          <a:p>
            <a:pPr lvl="1"/>
            <a:r>
              <a:rPr lang="en-US" altLang="en-US" sz="1800"/>
              <a:t>Add R4, R3</a:t>
            </a:r>
          </a:p>
          <a:p>
            <a:pPr lvl="1"/>
            <a:r>
              <a:rPr lang="en-US" altLang="en-US" sz="1800"/>
              <a:t>R4 = R4 + R3</a:t>
            </a:r>
          </a:p>
          <a:p>
            <a:pPr lvl="1"/>
            <a:r>
              <a:rPr lang="en-US" altLang="en-US" sz="1800"/>
              <a:t>Used when value is in a register</a:t>
            </a:r>
          </a:p>
          <a:p>
            <a:r>
              <a:rPr lang="en-US" altLang="en-US" sz="2000"/>
              <a:t>Immediate</a:t>
            </a:r>
          </a:p>
          <a:p>
            <a:pPr lvl="1"/>
            <a:r>
              <a:rPr lang="en-US" altLang="en-US" sz="1800"/>
              <a:t>Add R4, #3</a:t>
            </a:r>
          </a:p>
          <a:p>
            <a:pPr lvl="1"/>
            <a:r>
              <a:rPr lang="en-US" altLang="en-US" sz="1800"/>
              <a:t>R4 = R4 + 3</a:t>
            </a:r>
          </a:p>
          <a:p>
            <a:pPr lvl="1"/>
            <a:r>
              <a:rPr lang="en-US" altLang="en-US" sz="1800"/>
              <a:t>Useful for small constants, which occur frequently</a:t>
            </a:r>
          </a:p>
          <a:p>
            <a:r>
              <a:rPr lang="en-US" altLang="en-US" sz="2000"/>
              <a:t>Displacement</a:t>
            </a:r>
          </a:p>
          <a:p>
            <a:pPr lvl="1"/>
            <a:r>
              <a:rPr lang="en-US" altLang="en-US" sz="1800"/>
              <a:t>Add R4, </a:t>
            </a:r>
            <a:r>
              <a:rPr lang="en-US" altLang="en-US" sz="1800">
                <a:solidFill>
                  <a:srgbClr val="FF0000"/>
                </a:solidFill>
              </a:rPr>
              <a:t>100(R1)</a:t>
            </a:r>
          </a:p>
          <a:p>
            <a:pPr lvl="1"/>
            <a:r>
              <a:rPr lang="en-US" altLang="en-US" sz="1800"/>
              <a:t>R4 = R4 + </a:t>
            </a:r>
            <a:r>
              <a:rPr lang="en-US" altLang="en-US" sz="1800">
                <a:solidFill>
                  <a:srgbClr val="FF0000"/>
                </a:solidFill>
              </a:rPr>
              <a:t>Mem[100+R1]</a:t>
            </a:r>
          </a:p>
          <a:p>
            <a:pPr lvl="1"/>
            <a:r>
              <a:rPr lang="en-US" altLang="en-US" sz="1800"/>
              <a:t>Accesses the frame (arguments, local variables)</a:t>
            </a:r>
          </a:p>
          <a:p>
            <a:pPr lvl="1"/>
            <a:r>
              <a:rPr lang="en-US" altLang="en-US" sz="1800"/>
              <a:t>Accesses the global data segment</a:t>
            </a:r>
          </a:p>
          <a:p>
            <a:pPr lvl="1"/>
            <a:r>
              <a:rPr lang="en-US" altLang="en-US" sz="1800"/>
              <a:t>Accesses fields of a data struct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3ECFFC6-5300-1E40-8E1B-64498D35A06F}"/>
              </a:ext>
            </a:extLst>
          </p:cNvPr>
          <p:cNvSpPr>
            <a:spLocks noGrp="1" noChangeArrowheads="1"/>
          </p:cNvSpPr>
          <p:nvPr>
            <p:ph type="title"/>
          </p:nvPr>
        </p:nvSpPr>
        <p:spPr/>
        <p:txBody>
          <a:bodyPr>
            <a:normAutofit/>
          </a:bodyPr>
          <a:lstStyle/>
          <a:p>
            <a:pPr>
              <a:defRPr/>
            </a:pPr>
            <a:r>
              <a:rPr lang="en-US" altLang="en-US" dirty="0">
                <a:effectLst>
                  <a:outerShdw blurRad="38100" dist="38100" dir="2700000" algn="tl">
                    <a:srgbClr val="C0C0C0"/>
                  </a:outerShdw>
                </a:effectLst>
                <a:ea typeface="ＭＳ Ｐゴシック" charset="0"/>
              </a:rPr>
              <a:t>Addressing modes (cont.)</a:t>
            </a:r>
          </a:p>
        </p:txBody>
      </p:sp>
      <p:sp>
        <p:nvSpPr>
          <p:cNvPr id="38915" name="Rectangle 3">
            <a:extLst>
              <a:ext uri="{FF2B5EF4-FFF2-40B4-BE49-F238E27FC236}">
                <a16:creationId xmlns:a16="http://schemas.microsoft.com/office/drawing/2014/main" id="{CAE11A33-E5DB-BF44-91D2-862F95DD2F7F}"/>
              </a:ext>
            </a:extLst>
          </p:cNvPr>
          <p:cNvSpPr>
            <a:spLocks noGrp="1" noChangeArrowheads="1"/>
          </p:cNvSpPr>
          <p:nvPr>
            <p:ph type="body" idx="1"/>
          </p:nvPr>
        </p:nvSpPr>
        <p:spPr/>
        <p:txBody>
          <a:bodyPr>
            <a:normAutofit lnSpcReduction="10000"/>
          </a:bodyPr>
          <a:lstStyle/>
          <a:p>
            <a:r>
              <a:rPr lang="en-US" altLang="en-US" sz="2400"/>
              <a:t>Register deferred/Register indirect</a:t>
            </a:r>
          </a:p>
          <a:p>
            <a:pPr lvl="1"/>
            <a:r>
              <a:rPr lang="en-US" altLang="en-US" sz="2000"/>
              <a:t>Add R3, </a:t>
            </a:r>
            <a:r>
              <a:rPr lang="en-US" altLang="en-US" sz="2000">
                <a:solidFill>
                  <a:srgbClr val="FF0000"/>
                </a:solidFill>
              </a:rPr>
              <a:t>(R1)</a:t>
            </a:r>
          </a:p>
          <a:p>
            <a:pPr lvl="1"/>
            <a:r>
              <a:rPr lang="en-US" altLang="en-US" sz="2000"/>
              <a:t>R3 = R3 + </a:t>
            </a:r>
            <a:r>
              <a:rPr lang="en-US" altLang="en-US" sz="2000">
                <a:solidFill>
                  <a:srgbClr val="FF0000"/>
                </a:solidFill>
              </a:rPr>
              <a:t>Mem[R1]</a:t>
            </a:r>
          </a:p>
          <a:p>
            <a:pPr lvl="1"/>
            <a:r>
              <a:rPr lang="en-US" altLang="en-US" sz="2000"/>
              <a:t>Access using a computed address</a:t>
            </a:r>
          </a:p>
          <a:p>
            <a:r>
              <a:rPr lang="en-US" altLang="en-US" sz="2400"/>
              <a:t>Indexed</a:t>
            </a:r>
          </a:p>
          <a:p>
            <a:pPr lvl="1"/>
            <a:r>
              <a:rPr lang="en-US" altLang="en-US" sz="2000"/>
              <a:t>Add R3, </a:t>
            </a:r>
            <a:r>
              <a:rPr lang="en-US" altLang="en-US" sz="2000">
                <a:solidFill>
                  <a:srgbClr val="FF0000"/>
                </a:solidFill>
              </a:rPr>
              <a:t>(R1 + R2)</a:t>
            </a:r>
          </a:p>
          <a:p>
            <a:pPr lvl="1"/>
            <a:r>
              <a:rPr lang="en-US" altLang="en-US" sz="2000"/>
              <a:t>R3 = R3 + </a:t>
            </a:r>
            <a:r>
              <a:rPr lang="en-US" altLang="en-US" sz="2000">
                <a:solidFill>
                  <a:srgbClr val="FF0000"/>
                </a:solidFill>
              </a:rPr>
              <a:t>Mem[R1 + R2]</a:t>
            </a:r>
          </a:p>
          <a:p>
            <a:pPr lvl="1"/>
            <a:r>
              <a:rPr lang="en-US" altLang="en-US" sz="2000"/>
              <a:t>Array accesses</a:t>
            </a:r>
          </a:p>
          <a:p>
            <a:pPr lvl="2"/>
            <a:r>
              <a:rPr lang="en-US" altLang="en-US" sz="1800"/>
              <a:t>R1 = base, R2 = index</a:t>
            </a:r>
          </a:p>
          <a:p>
            <a:r>
              <a:rPr lang="en-US" altLang="en-US" sz="2400"/>
              <a:t>Direct/Absolute</a:t>
            </a:r>
          </a:p>
          <a:p>
            <a:pPr lvl="1"/>
            <a:r>
              <a:rPr lang="en-US" altLang="en-US" sz="2000"/>
              <a:t>Add R1, </a:t>
            </a:r>
            <a:r>
              <a:rPr lang="en-US" altLang="en-US" sz="2000">
                <a:solidFill>
                  <a:srgbClr val="FF0000"/>
                </a:solidFill>
              </a:rPr>
              <a:t>(1001)</a:t>
            </a:r>
          </a:p>
          <a:p>
            <a:pPr lvl="1"/>
            <a:r>
              <a:rPr lang="en-US" altLang="en-US" sz="2000"/>
              <a:t>R1 = R1 + </a:t>
            </a:r>
            <a:r>
              <a:rPr lang="en-US" altLang="en-US" sz="2000">
                <a:solidFill>
                  <a:srgbClr val="FF0000"/>
                </a:solidFill>
              </a:rPr>
              <a:t>Mem[1001]</a:t>
            </a:r>
          </a:p>
          <a:p>
            <a:pPr lvl="1"/>
            <a:r>
              <a:rPr lang="en-US" altLang="en-US" sz="2000"/>
              <a:t>Accessing global (</a:t>
            </a:r>
            <a:r>
              <a:rPr lang="ja-JP" altLang="en-US" sz="2000"/>
              <a:t>“</a:t>
            </a:r>
            <a:r>
              <a:rPr lang="en-US" altLang="ja-JP" sz="2000"/>
              <a:t>static</a:t>
            </a:r>
            <a:r>
              <a:rPr lang="ja-JP" altLang="en-US" sz="2000"/>
              <a:t>”</a:t>
            </a:r>
            <a:r>
              <a:rPr lang="en-US" altLang="ja-JP" sz="2000"/>
              <a:t>) data</a:t>
            </a:r>
            <a:endParaRPr lang="en-US" altLang="en-US" sz="200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39C12E0-9302-D941-BEC1-82F648C136BB}"/>
              </a:ext>
            </a:extLst>
          </p:cNvPr>
          <p:cNvSpPr>
            <a:spLocks noGrp="1"/>
          </p:cNvSpPr>
          <p:nvPr>
            <p:ph type="ftr" sz="quarter" idx="4294967295"/>
          </p:nvPr>
        </p:nvSpPr>
        <p:spPr bwMode="auto">
          <a:xfrm>
            <a:off x="91440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
        <p:nvSpPr>
          <p:cNvPr id="67586" name="Rectangle 2">
            <a:extLst>
              <a:ext uri="{FF2B5EF4-FFF2-40B4-BE49-F238E27FC236}">
                <a16:creationId xmlns:a16="http://schemas.microsoft.com/office/drawing/2014/main" id="{CA01D00B-0D0B-D74A-93FE-9367C9AC5897}"/>
              </a:ext>
            </a:extLst>
          </p:cNvPr>
          <p:cNvSpPr>
            <a:spLocks noGrp="1" noChangeArrowheads="1"/>
          </p:cNvSpPr>
          <p:nvPr>
            <p:ph type="title"/>
          </p:nvPr>
        </p:nvSpPr>
        <p:spPr/>
        <p:txBody>
          <a:bodyPr>
            <a:normAutofit/>
          </a:bodyPr>
          <a:lstStyle/>
          <a:p>
            <a:pPr>
              <a:defRPr/>
            </a:pPr>
            <a:r>
              <a:rPr lang="en-US" altLang="en-US" dirty="0">
                <a:effectLst>
                  <a:outerShdw blurRad="38100" dist="38100" dir="2700000" algn="tl">
                    <a:srgbClr val="C0C0C0"/>
                  </a:outerShdw>
                </a:effectLst>
                <a:ea typeface="ＭＳ Ｐゴシック" charset="0"/>
              </a:rPr>
              <a:t>Addressing modes (cont.)</a:t>
            </a:r>
          </a:p>
        </p:txBody>
      </p:sp>
      <p:sp>
        <p:nvSpPr>
          <p:cNvPr id="40964" name="Rectangle 3">
            <a:extLst>
              <a:ext uri="{FF2B5EF4-FFF2-40B4-BE49-F238E27FC236}">
                <a16:creationId xmlns:a16="http://schemas.microsoft.com/office/drawing/2014/main" id="{10041DE6-A0EF-634D-B5EE-D28FAE8D02A1}"/>
              </a:ext>
            </a:extLst>
          </p:cNvPr>
          <p:cNvSpPr>
            <a:spLocks noGrp="1" noChangeArrowheads="1"/>
          </p:cNvSpPr>
          <p:nvPr>
            <p:ph type="body" idx="1"/>
          </p:nvPr>
        </p:nvSpPr>
        <p:spPr/>
        <p:txBody>
          <a:bodyPr/>
          <a:lstStyle/>
          <a:p>
            <a:r>
              <a:rPr lang="en-US" altLang="en-US" sz="1800" dirty="0"/>
              <a:t>Memory indirect/Memory deferred</a:t>
            </a:r>
          </a:p>
          <a:p>
            <a:pPr lvl="1"/>
            <a:r>
              <a:rPr lang="en-US" altLang="en-US" sz="1400" dirty="0"/>
              <a:t>Add R1, </a:t>
            </a:r>
            <a:r>
              <a:rPr lang="en-US" altLang="en-US" sz="1400" dirty="0">
                <a:solidFill>
                  <a:srgbClr val="FF0000"/>
                </a:solidFill>
              </a:rPr>
              <a:t>@(R3)</a:t>
            </a:r>
          </a:p>
          <a:p>
            <a:pPr lvl="1"/>
            <a:r>
              <a:rPr lang="en-US" altLang="en-US" sz="1400" dirty="0"/>
              <a:t>R1 = R1 + </a:t>
            </a:r>
            <a:r>
              <a:rPr lang="en-US" altLang="en-US" sz="1400" dirty="0">
                <a:solidFill>
                  <a:srgbClr val="FF0000"/>
                </a:solidFill>
              </a:rPr>
              <a:t>Mem[Mem[R3]]</a:t>
            </a:r>
          </a:p>
          <a:p>
            <a:pPr lvl="1"/>
            <a:r>
              <a:rPr lang="en-US" altLang="en-US" sz="1400" dirty="0"/>
              <a:t>Pointer dereferencing: x = *p;  (if p is not register-allocated)</a:t>
            </a:r>
          </a:p>
          <a:p>
            <a:r>
              <a:rPr lang="en-US" altLang="en-US" sz="1800" dirty="0"/>
              <a:t>Autoincrement/</a:t>
            </a:r>
            <a:r>
              <a:rPr lang="en-US" altLang="en-US" sz="1800" dirty="0" err="1"/>
              <a:t>Postincrement</a:t>
            </a:r>
            <a:endParaRPr lang="en-US" altLang="en-US" sz="1800" dirty="0"/>
          </a:p>
          <a:p>
            <a:pPr lvl="1"/>
            <a:r>
              <a:rPr lang="en-US" altLang="en-US" sz="1400" dirty="0"/>
              <a:t>Add R1, </a:t>
            </a:r>
            <a:r>
              <a:rPr lang="en-US" altLang="en-US" sz="1400" dirty="0">
                <a:solidFill>
                  <a:srgbClr val="FF0000"/>
                </a:solidFill>
              </a:rPr>
              <a:t>(R2)+</a:t>
            </a:r>
          </a:p>
          <a:p>
            <a:pPr lvl="1"/>
            <a:r>
              <a:rPr lang="en-US" altLang="en-US" sz="1400" dirty="0"/>
              <a:t>R1 = R1 + </a:t>
            </a:r>
            <a:r>
              <a:rPr lang="en-US" altLang="en-US" sz="1400" dirty="0">
                <a:solidFill>
                  <a:srgbClr val="FF0000"/>
                </a:solidFill>
              </a:rPr>
              <a:t>Mem[R2];  </a:t>
            </a:r>
            <a:r>
              <a:rPr lang="en-US" altLang="en-US" sz="1400" dirty="0"/>
              <a:t>R2 = R2 </a:t>
            </a:r>
            <a:r>
              <a:rPr lang="en-US" altLang="en-US" sz="1400" dirty="0">
                <a:solidFill>
                  <a:srgbClr val="FF0000"/>
                </a:solidFill>
              </a:rPr>
              <a:t>+ </a:t>
            </a:r>
            <a:r>
              <a:rPr lang="en-US" altLang="en-US" sz="1400" i="1" dirty="0">
                <a:solidFill>
                  <a:srgbClr val="FF0000"/>
                </a:solidFill>
              </a:rPr>
              <a:t>d</a:t>
            </a:r>
            <a:r>
              <a:rPr lang="en-US" altLang="en-US" sz="1400" dirty="0">
                <a:solidFill>
                  <a:srgbClr val="FF0000"/>
                </a:solidFill>
              </a:rPr>
              <a:t>  </a:t>
            </a:r>
            <a:r>
              <a:rPr lang="en-US" altLang="en-US" sz="1400" dirty="0"/>
              <a:t>(</a:t>
            </a:r>
            <a:r>
              <a:rPr lang="en-US" altLang="en-US" sz="1400" i="1" dirty="0"/>
              <a:t>d</a:t>
            </a:r>
            <a:r>
              <a:rPr lang="en-US" altLang="en-US" sz="1400" dirty="0"/>
              <a:t> is size of operation)</a:t>
            </a:r>
          </a:p>
          <a:p>
            <a:pPr lvl="1"/>
            <a:r>
              <a:rPr lang="en-US" altLang="en-US" sz="1400" dirty="0"/>
              <a:t>Looping through arrays, stack pop</a:t>
            </a:r>
          </a:p>
          <a:p>
            <a:r>
              <a:rPr lang="en-US" altLang="en-US" sz="1800" dirty="0"/>
              <a:t>Autodecrement/</a:t>
            </a:r>
            <a:r>
              <a:rPr lang="en-US" altLang="en-US" sz="1800" dirty="0" err="1"/>
              <a:t>Predecrement</a:t>
            </a:r>
            <a:endParaRPr lang="en-US" altLang="en-US" sz="1800" dirty="0"/>
          </a:p>
          <a:p>
            <a:pPr lvl="1"/>
            <a:r>
              <a:rPr lang="en-US" altLang="en-US" sz="1400" dirty="0"/>
              <a:t>Add R1, </a:t>
            </a:r>
            <a:r>
              <a:rPr lang="en-US" altLang="en-US" sz="1400" dirty="0">
                <a:solidFill>
                  <a:srgbClr val="FF0000"/>
                </a:solidFill>
              </a:rPr>
              <a:t>-(R2)</a:t>
            </a:r>
          </a:p>
          <a:p>
            <a:pPr lvl="1"/>
            <a:r>
              <a:rPr lang="en-US" altLang="en-US" sz="1400" dirty="0"/>
              <a:t>R2 = R2 - </a:t>
            </a:r>
            <a:r>
              <a:rPr lang="en-US" altLang="en-US" sz="1400" i="1" dirty="0"/>
              <a:t>d; </a:t>
            </a:r>
            <a:r>
              <a:rPr lang="en-US" altLang="en-US" sz="1400" dirty="0"/>
              <a:t> R1 = R1 + Mem[R2] (</a:t>
            </a:r>
            <a:r>
              <a:rPr lang="en-US" altLang="en-US" sz="1400" i="1" dirty="0"/>
              <a:t>d</a:t>
            </a:r>
            <a:r>
              <a:rPr lang="en-US" altLang="en-US" sz="1400" dirty="0"/>
              <a:t> is size of operation)</a:t>
            </a:r>
          </a:p>
          <a:p>
            <a:pPr lvl="1"/>
            <a:r>
              <a:rPr lang="en-US" altLang="en-US" sz="1400" dirty="0"/>
              <a:t>Same uses as autoincrement, stack push</a:t>
            </a:r>
          </a:p>
          <a:p>
            <a:r>
              <a:rPr lang="en-US" altLang="en-US" sz="1800" dirty="0"/>
              <a:t>Scaled</a:t>
            </a:r>
          </a:p>
          <a:p>
            <a:pPr lvl="1"/>
            <a:r>
              <a:rPr lang="en-US" altLang="en-US" sz="1400" dirty="0"/>
              <a:t>Add R1, </a:t>
            </a:r>
            <a:r>
              <a:rPr lang="en-US" altLang="en-US" sz="1400" dirty="0">
                <a:solidFill>
                  <a:srgbClr val="FF0000"/>
                </a:solidFill>
              </a:rPr>
              <a:t>100(R2)[R3]</a:t>
            </a:r>
          </a:p>
          <a:p>
            <a:pPr lvl="1"/>
            <a:r>
              <a:rPr lang="en-US" altLang="en-US" sz="1400" dirty="0"/>
              <a:t>R1 = R1 + Mem[</a:t>
            </a:r>
            <a:r>
              <a:rPr lang="en-US" altLang="en-US" sz="1400" dirty="0">
                <a:solidFill>
                  <a:srgbClr val="FF0000"/>
                </a:solidFill>
              </a:rPr>
              <a:t>100+R2+R3*</a:t>
            </a:r>
            <a:r>
              <a:rPr lang="en-US" altLang="en-US" sz="1400" i="1" dirty="0">
                <a:solidFill>
                  <a:srgbClr val="FF0000"/>
                </a:solidFill>
              </a:rPr>
              <a:t>d</a:t>
            </a:r>
            <a:r>
              <a:rPr lang="en-US" altLang="en-US" sz="1400" dirty="0"/>
              <a:t>] (</a:t>
            </a:r>
            <a:r>
              <a:rPr lang="en-US" altLang="en-US" sz="1400" i="1" dirty="0"/>
              <a:t>d</a:t>
            </a:r>
            <a:r>
              <a:rPr lang="en-US" altLang="en-US" sz="1400" dirty="0"/>
              <a:t> is size of operation)</a:t>
            </a:r>
          </a:p>
          <a:p>
            <a:pPr lvl="1"/>
            <a:r>
              <a:rPr lang="en-US" altLang="en-US" sz="1400" dirty="0"/>
              <a:t>Array accesses for non-byte-sized elements</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9F417D5-F565-D849-9602-1C3AAD34B39E}"/>
              </a:ext>
            </a:extLst>
          </p:cNvPr>
          <p:cNvSpPr>
            <a:spLocks noGrp="1"/>
          </p:cNvSpPr>
          <p:nvPr>
            <p:ph type="ftr" sz="quarter" idx="4294967295"/>
          </p:nvPr>
        </p:nvSpPr>
        <p:spPr bwMode="auto">
          <a:xfrm>
            <a:off x="91440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
        <p:nvSpPr>
          <p:cNvPr id="69634" name="Rectangle 2">
            <a:extLst>
              <a:ext uri="{FF2B5EF4-FFF2-40B4-BE49-F238E27FC236}">
                <a16:creationId xmlns:a16="http://schemas.microsoft.com/office/drawing/2014/main" id="{C14DA4BE-2FD8-7B40-9D2A-FB0A304496AA}"/>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Wisdom about modes</a:t>
            </a:r>
          </a:p>
        </p:txBody>
      </p:sp>
      <p:sp>
        <p:nvSpPr>
          <p:cNvPr id="43012" name="Rectangle 3">
            <a:extLst>
              <a:ext uri="{FF2B5EF4-FFF2-40B4-BE49-F238E27FC236}">
                <a16:creationId xmlns:a16="http://schemas.microsoft.com/office/drawing/2014/main" id="{89CEE9CB-DFA8-6B4E-A077-37026E0E36AE}"/>
              </a:ext>
            </a:extLst>
          </p:cNvPr>
          <p:cNvSpPr>
            <a:spLocks noGrp="1" noChangeArrowheads="1"/>
          </p:cNvSpPr>
          <p:nvPr>
            <p:ph type="body" idx="1"/>
          </p:nvPr>
        </p:nvSpPr>
        <p:spPr>
          <a:xfrm>
            <a:off x="457200" y="1219200"/>
            <a:ext cx="8229600" cy="4876800"/>
          </a:xfrm>
        </p:spPr>
        <p:txBody>
          <a:bodyPr/>
          <a:lstStyle/>
          <a:p>
            <a:r>
              <a:rPr lang="en-US" altLang="en-US" sz="2400" dirty="0"/>
              <a:t>Need:</a:t>
            </a:r>
          </a:p>
          <a:p>
            <a:pPr lvl="1"/>
            <a:r>
              <a:rPr lang="en-US" altLang="en-US" sz="2000" dirty="0"/>
              <a:t>Register, Displacement, Immediate and </a:t>
            </a:r>
            <a:r>
              <a:rPr lang="en-US" altLang="en-US" sz="2000" i="1" dirty="0"/>
              <a:t>optionally</a:t>
            </a:r>
            <a:r>
              <a:rPr lang="en-US" altLang="en-US" sz="2000" dirty="0"/>
              <a:t> Indexed (indexed simplifies array accesses)</a:t>
            </a:r>
          </a:p>
          <a:p>
            <a:pPr lvl="1"/>
            <a:r>
              <a:rPr lang="en-US" altLang="en-US" sz="2000" dirty="0"/>
              <a:t>Displacement size 12-16 bits (empirical)</a:t>
            </a:r>
          </a:p>
          <a:p>
            <a:pPr lvl="1"/>
            <a:r>
              <a:rPr lang="en-US" altLang="en-US" sz="2000" dirty="0"/>
              <a:t>Immediate: 8 to 16 bits (empirical)</a:t>
            </a:r>
          </a:p>
          <a:p>
            <a:pPr lvl="1"/>
            <a:r>
              <a:rPr lang="en-US" altLang="en-US" sz="2000" dirty="0"/>
              <a:t>Can synthesize the rest from simpler instructions</a:t>
            </a:r>
          </a:p>
          <a:p>
            <a:pPr lvl="1"/>
            <a:r>
              <a:rPr lang="en-US" altLang="en-US" sz="2000" dirty="0"/>
              <a:t>Example-- </a:t>
            </a:r>
            <a:r>
              <a:rPr lang="en-US" altLang="en-US" sz="2000" dirty="0" err="1"/>
              <a:t>Mips</a:t>
            </a:r>
            <a:r>
              <a:rPr lang="en-US" altLang="en-US" sz="2000" dirty="0"/>
              <a:t> architecture:</a:t>
            </a:r>
          </a:p>
          <a:p>
            <a:pPr lvl="2"/>
            <a:r>
              <a:rPr lang="en-US" altLang="en-US" sz="1800" dirty="0"/>
              <a:t>Register, displacement, Immediate modes only</a:t>
            </a:r>
          </a:p>
          <a:p>
            <a:pPr lvl="2"/>
            <a:r>
              <a:rPr lang="en-US" altLang="en-US" sz="1800" dirty="0"/>
              <a:t>both immediate and displacement: 16 bits</a:t>
            </a:r>
          </a:p>
          <a:p>
            <a:r>
              <a:rPr lang="en-US" altLang="en-US" sz="2400" dirty="0"/>
              <a:t>Choice depends on workload!</a:t>
            </a:r>
          </a:p>
          <a:p>
            <a:pPr lvl="1"/>
            <a:r>
              <a:rPr lang="en-US" altLang="en-US" sz="2000" dirty="0"/>
              <a:t>For example, floating-point codes might require larger </a:t>
            </a:r>
            <a:r>
              <a:rPr lang="en-US" altLang="en-US" sz="2000" dirty="0" err="1"/>
              <a:t>immediates</a:t>
            </a:r>
            <a:r>
              <a:rPr lang="en-US" altLang="en-US" sz="2000" dirty="0"/>
              <a:t>, or 64bit </a:t>
            </a:r>
            <a:r>
              <a:rPr lang="en-US" altLang="en-US" sz="2000" dirty="0" err="1"/>
              <a:t>wordsize</a:t>
            </a:r>
            <a:r>
              <a:rPr lang="en-US" altLang="en-US" sz="2000" dirty="0"/>
              <a:t> machines might also require larger </a:t>
            </a:r>
            <a:r>
              <a:rPr lang="en-US" altLang="en-US" sz="2000" dirty="0" err="1"/>
              <a:t>immediates</a:t>
            </a:r>
            <a:r>
              <a:rPr lang="en-US" altLang="en-US" sz="2000" dirty="0"/>
              <a:t> (for *p++ kind of operations)</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76381513-F688-E14A-B2A0-5C3499E27656}"/>
              </a:ext>
            </a:extLst>
          </p:cNvPr>
          <p:cNvSpPr>
            <a:spLocks noGrp="1" noChangeArrowheads="1"/>
          </p:cNvSpPr>
          <p:nvPr>
            <p:ph type="title"/>
          </p:nvPr>
        </p:nvSpPr>
        <p:spPr/>
        <p:txBody>
          <a:bodyPr/>
          <a:lstStyle/>
          <a:p>
            <a:r>
              <a:rPr lang="en-US" altLang="en-US"/>
              <a:t>Only a Few Needed</a:t>
            </a:r>
          </a:p>
        </p:txBody>
      </p:sp>
      <p:sp>
        <p:nvSpPr>
          <p:cNvPr id="45059" name="Content Placeholder 2">
            <a:extLst>
              <a:ext uri="{FF2B5EF4-FFF2-40B4-BE49-F238E27FC236}">
                <a16:creationId xmlns:a16="http://schemas.microsoft.com/office/drawing/2014/main" id="{E2D2AD09-F425-9948-B2C5-E914F58FDC79}"/>
              </a:ext>
            </a:extLst>
          </p:cNvPr>
          <p:cNvSpPr>
            <a:spLocks noGrp="1" noChangeArrowheads="1"/>
          </p:cNvSpPr>
          <p:nvPr>
            <p:ph idx="1"/>
          </p:nvPr>
        </p:nvSpPr>
        <p:spPr/>
        <p:txBody>
          <a:bodyPr/>
          <a:lstStyle/>
          <a:p>
            <a:r>
              <a:rPr lang="en-US" altLang="en-US" dirty="0"/>
              <a:t>RISC machines typically implement register, immediate, displacement</a:t>
            </a:r>
          </a:p>
          <a:p>
            <a:pPr lvl="1"/>
            <a:r>
              <a:rPr lang="en-US" altLang="en-US" dirty="0"/>
              <a:t>i.e., load/store with only register displacement </a:t>
            </a:r>
          </a:p>
          <a:p>
            <a:r>
              <a:rPr lang="en-US" altLang="en-US" dirty="0"/>
              <a:t>What about other modes?</a:t>
            </a:r>
          </a:p>
          <a:p>
            <a:pPr lvl="1"/>
            <a:r>
              <a:rPr lang="en-US" altLang="en-US" dirty="0"/>
              <a:t>Can be synthesized from simpler addressing modes</a:t>
            </a:r>
          </a:p>
          <a:p>
            <a:pPr lvl="2"/>
            <a:r>
              <a:rPr lang="en-US" altLang="en-US" dirty="0"/>
              <a:t>e.g., memory indirect: </a:t>
            </a:r>
            <a:r>
              <a:rPr lang="en-US" altLang="en-US" dirty="0" err="1"/>
              <a:t>Rj</a:t>
            </a:r>
            <a:r>
              <a:rPr lang="en-US" altLang="en-US" dirty="0"/>
              <a:t> = M[M[Ri]] =&gt; </a:t>
            </a:r>
            <a:r>
              <a:rPr lang="en-US" altLang="en-US" dirty="0" err="1"/>
              <a:t>Rk</a:t>
            </a:r>
            <a:r>
              <a:rPr lang="en-US" altLang="en-US" dirty="0"/>
              <a:t> = M[Ri]; </a:t>
            </a:r>
            <a:r>
              <a:rPr lang="en-US" altLang="en-US" dirty="0" err="1"/>
              <a:t>Rj</a:t>
            </a:r>
            <a:r>
              <a:rPr lang="en-US" altLang="en-US" dirty="0"/>
              <a:t> = M[</a:t>
            </a:r>
            <a:r>
              <a:rPr lang="en-US" altLang="en-US" dirty="0" err="1"/>
              <a:t>Rk</a:t>
            </a:r>
            <a:r>
              <a:rPr lang="en-US" altLang="en-US" dirty="0"/>
              <a:t>] </a:t>
            </a:r>
          </a:p>
          <a:p>
            <a:pPr lvl="1"/>
            <a:r>
              <a:rPr lang="en-US" altLang="en-US" dirty="0"/>
              <a:t>May increase instruction format width</a:t>
            </a:r>
          </a:p>
          <a:p>
            <a:pPr lvl="2"/>
            <a:r>
              <a:rPr lang="en-US" altLang="en-US" dirty="0"/>
              <a:t>e.g. scaled requires 2 register operands plus an immediate</a:t>
            </a:r>
          </a:p>
          <a:p>
            <a:pPr lvl="1"/>
            <a:r>
              <a:rPr lang="en-US" altLang="en-US" dirty="0"/>
              <a:t>May be harder to pipeline and complex to handle</a:t>
            </a:r>
          </a:p>
          <a:p>
            <a:pPr lvl="2"/>
            <a:r>
              <a:rPr lang="en-US" altLang="en-US" dirty="0"/>
              <a:t>e.g. memory indirect requires two memory accesses, which may lead to two cache misses, two page faults, etc. </a:t>
            </a:r>
          </a:p>
        </p:txBody>
      </p:sp>
      <p:sp>
        <p:nvSpPr>
          <p:cNvPr id="5" name="TextBox 4">
            <a:extLst>
              <a:ext uri="{FF2B5EF4-FFF2-40B4-BE49-F238E27FC236}">
                <a16:creationId xmlns:a16="http://schemas.microsoft.com/office/drawing/2014/main" id="{D9328F1E-DAE3-0C45-9D4D-DEC10C2579E7}"/>
              </a:ext>
            </a:extLst>
          </p:cNvPr>
          <p:cNvSpPr txBox="1"/>
          <p:nvPr/>
        </p:nvSpPr>
        <p:spPr>
          <a:xfrm>
            <a:off x="1066800" y="5715000"/>
            <a:ext cx="4688006" cy="369332"/>
          </a:xfrm>
          <a:prstGeom prst="rect">
            <a:avLst/>
          </a:prstGeom>
          <a:noFill/>
        </p:spPr>
        <p:txBody>
          <a:bodyPr wrap="square">
            <a:spAutoFit/>
          </a:bodyPr>
          <a:lstStyle/>
          <a:p>
            <a:pPr lvl="1"/>
            <a:r>
              <a:rPr lang="en-US" altLang="en-US" sz="1800" dirty="0"/>
              <a:t>R1 = R1 + </a:t>
            </a:r>
            <a:r>
              <a:rPr lang="en-US" altLang="en-US" sz="1800" dirty="0">
                <a:solidFill>
                  <a:srgbClr val="FF0000"/>
                </a:solidFill>
              </a:rPr>
              <a:t>Mem[Mem[R3]]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67D11EB-A62E-D643-9492-765B6B04950E}"/>
              </a:ext>
            </a:extLst>
          </p:cNvPr>
          <p:cNvSpPr>
            <a:spLocks noGrp="1"/>
          </p:cNvSpPr>
          <p:nvPr>
            <p:ph type="ftr" sz="quarter" idx="4294967295"/>
          </p:nvPr>
        </p:nvSpPr>
        <p:spPr bwMode="auto">
          <a:xfrm>
            <a:off x="91440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
        <p:nvSpPr>
          <p:cNvPr id="71682" name="Rectangle 2">
            <a:extLst>
              <a:ext uri="{FF2B5EF4-FFF2-40B4-BE49-F238E27FC236}">
                <a16:creationId xmlns:a16="http://schemas.microsoft.com/office/drawing/2014/main" id="{20A28137-2965-C24B-AB6F-8A0DBC3F4AA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Control transfer semantics</a:t>
            </a:r>
          </a:p>
        </p:txBody>
      </p:sp>
      <p:sp>
        <p:nvSpPr>
          <p:cNvPr id="46084" name="Rectangle 3">
            <a:extLst>
              <a:ext uri="{FF2B5EF4-FFF2-40B4-BE49-F238E27FC236}">
                <a16:creationId xmlns:a16="http://schemas.microsoft.com/office/drawing/2014/main" id="{4DD1FDDA-2B9B-D146-9F2D-ED4FAD7E3726}"/>
              </a:ext>
            </a:extLst>
          </p:cNvPr>
          <p:cNvSpPr>
            <a:spLocks noGrp="1" noChangeArrowheads="1"/>
          </p:cNvSpPr>
          <p:nvPr>
            <p:ph type="body" idx="1"/>
          </p:nvPr>
        </p:nvSpPr>
        <p:spPr/>
        <p:txBody>
          <a:bodyPr/>
          <a:lstStyle/>
          <a:p>
            <a:r>
              <a:rPr lang="en-US" altLang="en-US"/>
              <a:t>Types of branches</a:t>
            </a:r>
          </a:p>
          <a:p>
            <a:pPr lvl="1"/>
            <a:r>
              <a:rPr lang="en-US" altLang="en-US"/>
              <a:t>Conditional</a:t>
            </a:r>
          </a:p>
          <a:p>
            <a:pPr lvl="1"/>
            <a:r>
              <a:rPr lang="en-US" altLang="en-US"/>
              <a:t>Unconditional</a:t>
            </a:r>
          </a:p>
          <a:p>
            <a:pPr lvl="2"/>
            <a:r>
              <a:rPr lang="en-US" altLang="en-US"/>
              <a:t>Normal</a:t>
            </a:r>
          </a:p>
          <a:p>
            <a:pPr lvl="2"/>
            <a:r>
              <a:rPr lang="en-US" altLang="en-US"/>
              <a:t>Call</a:t>
            </a:r>
          </a:p>
          <a:p>
            <a:pPr lvl="2"/>
            <a:r>
              <a:rPr lang="en-US" altLang="en-US"/>
              <a:t>Return</a:t>
            </a:r>
          </a:p>
          <a:p>
            <a:r>
              <a:rPr lang="en-US" altLang="en-US"/>
              <a:t>PC Relative (Branch) vs. Absolute (Jump)</a:t>
            </a:r>
          </a:p>
          <a:p>
            <a:pPr lvl="1"/>
            <a:r>
              <a:rPr lang="en-US" altLang="en-US"/>
              <a:t>Branch allows relocatable (</a:t>
            </a:r>
            <a:r>
              <a:rPr lang="ja-JP" altLang="en-US"/>
              <a:t>“</a:t>
            </a:r>
            <a:r>
              <a:rPr lang="en-US" altLang="ja-JP"/>
              <a:t>position independent</a:t>
            </a:r>
            <a:r>
              <a:rPr lang="ja-JP" altLang="en-US"/>
              <a:t>”</a:t>
            </a:r>
            <a:r>
              <a:rPr lang="en-US" altLang="ja-JP"/>
              <a:t>) code</a:t>
            </a:r>
          </a:p>
          <a:p>
            <a:pPr lvl="1"/>
            <a:r>
              <a:rPr lang="en-US" altLang="en-US"/>
              <a:t>Jump allows branching further than PC relative</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06B1EC-CC32-244C-B8E6-4C90F7E088C1}"/>
              </a:ext>
            </a:extLst>
          </p:cNvPr>
          <p:cNvSpPr>
            <a:spLocks noGrp="1"/>
          </p:cNvSpPr>
          <p:nvPr>
            <p:ph type="ftr" sz="quarter" idx="4294967295"/>
          </p:nvPr>
        </p:nvSpPr>
        <p:spPr bwMode="auto">
          <a:xfrm>
            <a:off x="91440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
        <p:nvSpPr>
          <p:cNvPr id="73730" name="Rectangle 2">
            <a:extLst>
              <a:ext uri="{FF2B5EF4-FFF2-40B4-BE49-F238E27FC236}">
                <a16:creationId xmlns:a16="http://schemas.microsoft.com/office/drawing/2014/main" id="{60450CBD-C03C-6F41-8B13-76577C6C3CD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Parts of a control transfer</a:t>
            </a:r>
          </a:p>
        </p:txBody>
      </p:sp>
      <p:sp>
        <p:nvSpPr>
          <p:cNvPr id="48132" name="Rectangle 3">
            <a:extLst>
              <a:ext uri="{FF2B5EF4-FFF2-40B4-BE49-F238E27FC236}">
                <a16:creationId xmlns:a16="http://schemas.microsoft.com/office/drawing/2014/main" id="{7147F6C6-637B-DE4A-92BB-0DB9470C1EB3}"/>
              </a:ext>
            </a:extLst>
          </p:cNvPr>
          <p:cNvSpPr>
            <a:spLocks noGrp="1" noChangeArrowheads="1"/>
          </p:cNvSpPr>
          <p:nvPr>
            <p:ph type="body" idx="1"/>
          </p:nvPr>
        </p:nvSpPr>
        <p:spPr/>
        <p:txBody>
          <a:bodyPr/>
          <a:lstStyle/>
          <a:p>
            <a:r>
              <a:rPr lang="en-US" altLang="en-US" dirty="0">
                <a:solidFill>
                  <a:srgbClr val="FF0000"/>
                </a:solidFill>
              </a:rPr>
              <a:t>Where</a:t>
            </a:r>
          </a:p>
          <a:p>
            <a:pPr lvl="1"/>
            <a:r>
              <a:rPr lang="en-US" altLang="en-US" dirty="0"/>
              <a:t>Determine target address</a:t>
            </a:r>
          </a:p>
          <a:p>
            <a:r>
              <a:rPr lang="en-US" altLang="en-US" dirty="0">
                <a:solidFill>
                  <a:srgbClr val="FF0000"/>
                </a:solidFill>
              </a:rPr>
              <a:t>Whether</a:t>
            </a:r>
          </a:p>
          <a:p>
            <a:pPr lvl="1"/>
            <a:r>
              <a:rPr lang="en-US" altLang="en-US" dirty="0"/>
              <a:t>Determine if transfer should occur or not</a:t>
            </a:r>
          </a:p>
          <a:p>
            <a:r>
              <a:rPr lang="en-US" altLang="en-US" dirty="0">
                <a:solidFill>
                  <a:srgbClr val="FF0000"/>
                </a:solidFill>
              </a:rPr>
              <a:t>When</a:t>
            </a:r>
          </a:p>
          <a:p>
            <a:pPr lvl="1"/>
            <a:r>
              <a:rPr lang="en-US" altLang="en-US" dirty="0"/>
              <a:t>Determine when in time the transfer should occur</a:t>
            </a:r>
          </a:p>
          <a:p>
            <a:r>
              <a:rPr lang="en-US" altLang="en-US" dirty="0"/>
              <a:t>Each of the three decisions can be decoupled or coupled</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19C3BC5-0DDC-6E4E-B809-A432600E1A16}"/>
              </a:ext>
            </a:extLst>
          </p:cNvPr>
          <p:cNvSpPr>
            <a:spLocks noGrp="1"/>
          </p:cNvSpPr>
          <p:nvPr>
            <p:ph type="ftr" sz="quarter" idx="4294967295"/>
          </p:nvPr>
        </p:nvSpPr>
        <p:spPr bwMode="auto">
          <a:xfrm>
            <a:off x="91440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
        <p:nvSpPr>
          <p:cNvPr id="75778" name="Rectangle 2">
            <a:extLst>
              <a:ext uri="{FF2B5EF4-FFF2-40B4-BE49-F238E27FC236}">
                <a16:creationId xmlns:a16="http://schemas.microsoft.com/office/drawing/2014/main" id="{B93C9BA6-0935-9C44-BB81-A359956BA25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Types of control transfer (cont).</a:t>
            </a:r>
          </a:p>
        </p:txBody>
      </p:sp>
      <p:sp>
        <p:nvSpPr>
          <p:cNvPr id="50180" name="Rectangle 3">
            <a:extLst>
              <a:ext uri="{FF2B5EF4-FFF2-40B4-BE49-F238E27FC236}">
                <a16:creationId xmlns:a16="http://schemas.microsoft.com/office/drawing/2014/main" id="{4391C54E-6C76-FC42-8743-580EF45A5AAB}"/>
              </a:ext>
            </a:extLst>
          </p:cNvPr>
          <p:cNvSpPr>
            <a:spLocks noGrp="1" noChangeArrowheads="1"/>
          </p:cNvSpPr>
          <p:nvPr>
            <p:ph type="body" idx="1"/>
          </p:nvPr>
        </p:nvSpPr>
        <p:spPr/>
        <p:txBody>
          <a:bodyPr>
            <a:normAutofit lnSpcReduction="10000"/>
          </a:bodyPr>
          <a:lstStyle/>
          <a:p>
            <a:r>
              <a:rPr lang="en-US" altLang="en-US" sz="2400"/>
              <a:t>All three: </a:t>
            </a:r>
            <a:r>
              <a:rPr lang="en-US" altLang="en-US" sz="2400" u="sng"/>
              <a:t>Compare and branch</a:t>
            </a:r>
            <a:r>
              <a:rPr lang="en-US" altLang="en-US" sz="2400"/>
              <a:t> instruction (e.g. VAX, PA-RISC)</a:t>
            </a:r>
          </a:p>
          <a:p>
            <a:pPr lvl="1"/>
            <a:r>
              <a:rPr lang="en-US" altLang="en-US" sz="2000"/>
              <a:t>Br (R1 = R2), </a:t>
            </a:r>
            <a:r>
              <a:rPr lang="en-US" altLang="en-US" sz="2000" i="1"/>
              <a:t>destination</a:t>
            </a:r>
          </a:p>
          <a:p>
            <a:pPr lvl="1"/>
            <a:r>
              <a:rPr lang="en-US" altLang="en-US" sz="2000"/>
              <a:t>(+) A single instruction</a:t>
            </a:r>
          </a:p>
          <a:p>
            <a:pPr lvl="1"/>
            <a:r>
              <a:rPr lang="en-US" altLang="en-US" sz="2000"/>
              <a:t>(-) Heavy hardware requirement, </a:t>
            </a:r>
            <a:r>
              <a:rPr lang="en-US" altLang="en-US" sz="2000" i="1"/>
              <a:t>inflexible scheduling</a:t>
            </a:r>
          </a:p>
          <a:p>
            <a:r>
              <a:rPr lang="en-US" altLang="en-US" sz="2400">
                <a:solidFill>
                  <a:srgbClr val="FF0000"/>
                </a:solidFill>
              </a:rPr>
              <a:t>Whether</a:t>
            </a:r>
            <a:r>
              <a:rPr lang="en-US" altLang="en-US" sz="2400"/>
              <a:t> separate from </a:t>
            </a:r>
            <a:r>
              <a:rPr lang="en-US" altLang="en-US" sz="2400">
                <a:solidFill>
                  <a:srgbClr val="FF0000"/>
                </a:solidFill>
              </a:rPr>
              <a:t>Where</a:t>
            </a:r>
            <a:r>
              <a:rPr lang="en-US" altLang="en-US" sz="2400"/>
              <a:t>/</a:t>
            </a:r>
            <a:r>
              <a:rPr lang="en-US" altLang="en-US" sz="2400">
                <a:solidFill>
                  <a:srgbClr val="FF0000"/>
                </a:solidFill>
              </a:rPr>
              <a:t>When</a:t>
            </a:r>
            <a:r>
              <a:rPr lang="en-US" altLang="en-US" sz="2400"/>
              <a:t>:</a:t>
            </a:r>
          </a:p>
          <a:p>
            <a:pPr lvl="1"/>
            <a:r>
              <a:rPr lang="en-US" altLang="en-US" sz="2000" u="sng"/>
              <a:t>Condition code register</a:t>
            </a:r>
            <a:r>
              <a:rPr lang="en-US" altLang="en-US" sz="2000"/>
              <a:t> (CMP R1,R2 … BEQ </a:t>
            </a:r>
            <a:r>
              <a:rPr lang="en-US" altLang="en-US" sz="2000" i="1"/>
              <a:t>dest</a:t>
            </a:r>
            <a:r>
              <a:rPr lang="en-US" altLang="en-US" sz="2000"/>
              <a:t>) (x86, PowerPC, SPARC)</a:t>
            </a:r>
          </a:p>
          <a:p>
            <a:pPr lvl="2"/>
            <a:r>
              <a:rPr lang="en-US" altLang="en-US" sz="1800"/>
              <a:t>(+) Sometimes test happens </a:t>
            </a:r>
            <a:r>
              <a:rPr lang="ja-JP" altLang="en-US" sz="1800"/>
              <a:t>“</a:t>
            </a:r>
            <a:r>
              <a:rPr lang="en-US" altLang="ja-JP" sz="1800"/>
              <a:t>for free</a:t>
            </a:r>
            <a:r>
              <a:rPr lang="ja-JP" altLang="en-US" sz="1800"/>
              <a:t>”</a:t>
            </a:r>
            <a:endParaRPr lang="en-US" altLang="ja-JP" sz="1800"/>
          </a:p>
          <a:p>
            <a:pPr lvl="2"/>
            <a:r>
              <a:rPr lang="en-US" altLang="en-US" sz="1800"/>
              <a:t>(-) Hard for compiler to figure out which instructions depend on CC register </a:t>
            </a:r>
          </a:p>
          <a:p>
            <a:pPr lvl="1"/>
            <a:r>
              <a:rPr lang="en-US" altLang="en-US" sz="2000" u="sng"/>
              <a:t>Condition register</a:t>
            </a:r>
            <a:r>
              <a:rPr lang="en-US" altLang="en-US" sz="2000"/>
              <a:t> (SUB R1,R2 … BEQ R1, </a:t>
            </a:r>
            <a:r>
              <a:rPr lang="en-US" altLang="en-US" sz="2000" i="1"/>
              <a:t>dest</a:t>
            </a:r>
            <a:r>
              <a:rPr lang="en-US" altLang="en-US" sz="2000"/>
              <a:t>) (Alpha, MIPS)</a:t>
            </a:r>
          </a:p>
          <a:p>
            <a:pPr lvl="2"/>
            <a:r>
              <a:rPr lang="en-US" altLang="en-US" sz="1800"/>
              <a:t>(+) Simple to implement, dependencies between instructions are obvious to compiler</a:t>
            </a:r>
          </a:p>
          <a:p>
            <a:pPr lvl="2"/>
            <a:r>
              <a:rPr lang="en-US" altLang="en-US" sz="1800"/>
              <a:t>(-) Uses a register (</a:t>
            </a:r>
            <a:r>
              <a:rPr lang="ja-JP" altLang="en-US" sz="1800"/>
              <a:t>“</a:t>
            </a:r>
            <a:r>
              <a:rPr lang="en-US" altLang="ja-JP" sz="1800"/>
              <a:t>register pressure</a:t>
            </a:r>
            <a:r>
              <a:rPr lang="ja-JP" altLang="en-US" sz="1800"/>
              <a:t>”</a:t>
            </a:r>
            <a:r>
              <a:rPr lang="en-US" altLang="ja-JP" sz="1800"/>
              <a:t>)</a:t>
            </a:r>
            <a:endParaRPr lang="en-US" altLang="en-US" sz="180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ACBDADA-0053-2343-8554-347243CC7138}"/>
              </a:ext>
            </a:extLst>
          </p:cNvPr>
          <p:cNvSpPr>
            <a:spLocks noGrp="1" noChangeArrowheads="1"/>
          </p:cNvSpPr>
          <p:nvPr>
            <p:ph type="title"/>
          </p:nvPr>
        </p:nvSpPr>
        <p:spPr/>
        <p:txBody>
          <a:bodyPr/>
          <a:lstStyle/>
          <a:p>
            <a:r>
              <a:rPr lang="en-US" altLang="en-US" u="sng"/>
              <a:t>Prepare-to-branch</a:t>
            </a:r>
            <a:r>
              <a:rPr lang="en-US" altLang="en-US"/>
              <a:t> Instruction</a:t>
            </a:r>
          </a:p>
        </p:txBody>
      </p:sp>
      <p:sp>
        <p:nvSpPr>
          <p:cNvPr id="52227" name="Rectangle 3">
            <a:extLst>
              <a:ext uri="{FF2B5EF4-FFF2-40B4-BE49-F238E27FC236}">
                <a16:creationId xmlns:a16="http://schemas.microsoft.com/office/drawing/2014/main" id="{69289ECE-C2FB-1241-9226-A3314643066C}"/>
              </a:ext>
            </a:extLst>
          </p:cNvPr>
          <p:cNvSpPr>
            <a:spLocks noGrp="1" noChangeArrowheads="1"/>
          </p:cNvSpPr>
          <p:nvPr>
            <p:ph type="body" idx="1"/>
          </p:nvPr>
        </p:nvSpPr>
        <p:spPr/>
        <p:txBody>
          <a:bodyPr/>
          <a:lstStyle/>
          <a:p>
            <a:r>
              <a:rPr lang="en-US" altLang="en-US"/>
              <a:t>Decouple all three of Where/Whether/When</a:t>
            </a:r>
          </a:p>
          <a:p>
            <a:r>
              <a:rPr lang="en-US" altLang="en-US">
                <a:solidFill>
                  <a:srgbClr val="FF0000"/>
                </a:solidFill>
              </a:rPr>
              <a:t>Where</a:t>
            </a:r>
            <a:r>
              <a:rPr lang="en-US" altLang="en-US"/>
              <a:t>:		PBR	BTR1 = </a:t>
            </a:r>
            <a:r>
              <a:rPr lang="en-US" altLang="en-US" i="1"/>
              <a:t>destination</a:t>
            </a:r>
          </a:p>
          <a:p>
            <a:pPr lvl="1"/>
            <a:r>
              <a:rPr lang="en-US" altLang="en-US"/>
              <a:t>BTR1 = </a:t>
            </a:r>
            <a:r>
              <a:rPr lang="ja-JP" altLang="en-US"/>
              <a:t>“</a:t>
            </a:r>
            <a:r>
              <a:rPr lang="en-US" altLang="ja-JP"/>
              <a:t>Branch target register #1</a:t>
            </a:r>
            <a:r>
              <a:rPr lang="ja-JP" altLang="en-US"/>
              <a:t>”</a:t>
            </a:r>
            <a:endParaRPr lang="en-US" altLang="ja-JP"/>
          </a:p>
          <a:p>
            <a:r>
              <a:rPr lang="en-US" altLang="en-US">
                <a:solidFill>
                  <a:srgbClr val="FF0000"/>
                </a:solidFill>
              </a:rPr>
              <a:t>Whether</a:t>
            </a:r>
            <a:r>
              <a:rPr lang="en-US" altLang="en-US"/>
              <a:t>:	CMP PR2 = (R1 = R2)</a:t>
            </a:r>
          </a:p>
          <a:p>
            <a:pPr lvl="1"/>
            <a:r>
              <a:rPr lang="en-US" altLang="en-US"/>
              <a:t>PR2 = </a:t>
            </a:r>
            <a:r>
              <a:rPr lang="ja-JP" altLang="en-US"/>
              <a:t>“</a:t>
            </a:r>
            <a:r>
              <a:rPr lang="en-US" altLang="ja-JP"/>
              <a:t>Predicate register #2</a:t>
            </a:r>
            <a:r>
              <a:rPr lang="ja-JP" altLang="en-US"/>
              <a:t>”</a:t>
            </a:r>
            <a:endParaRPr lang="en-US" altLang="ja-JP"/>
          </a:p>
          <a:p>
            <a:r>
              <a:rPr lang="en-US" altLang="en-US">
                <a:solidFill>
                  <a:srgbClr val="FF0000"/>
                </a:solidFill>
              </a:rPr>
              <a:t>When</a:t>
            </a:r>
            <a:r>
              <a:rPr lang="en-US" altLang="en-US"/>
              <a:t>		BR BTR1 if PR2</a:t>
            </a:r>
          </a:p>
          <a:p>
            <a:r>
              <a:rPr lang="en-US" altLang="en-US"/>
              <a:t>(+) Schedule each instruction so it happens during </a:t>
            </a:r>
            <a:r>
              <a:rPr lang="ja-JP" altLang="en-US"/>
              <a:t>“</a:t>
            </a:r>
            <a:r>
              <a:rPr lang="en-US" altLang="ja-JP"/>
              <a:t>free time</a:t>
            </a:r>
            <a:r>
              <a:rPr lang="ja-JP" altLang="en-US"/>
              <a:t>”</a:t>
            </a:r>
            <a:r>
              <a:rPr lang="en-US" altLang="ja-JP"/>
              <a:t> when hardware is idle</a:t>
            </a:r>
          </a:p>
          <a:p>
            <a:r>
              <a:rPr lang="en-US" altLang="en-US"/>
              <a:t>(-) Three instructions: higher IC</a:t>
            </a:r>
          </a:p>
          <a:p>
            <a:r>
              <a:rPr lang="en-US" altLang="en-US"/>
              <a:t>From the HP Labs </a:t>
            </a:r>
            <a:r>
              <a:rPr lang="en-US" altLang="en-US" i="1"/>
              <a:t>PlayDoh</a:t>
            </a:r>
            <a:r>
              <a:rPr lang="en-US" altLang="en-US"/>
              <a:t> architecture</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1BC6A0A1-C329-5444-8F9D-A862A088C98E}"/>
              </a:ext>
            </a:extLst>
          </p:cNvPr>
          <p:cNvSpPr>
            <a:spLocks noGrp="1" noChangeArrowheads="1"/>
          </p:cNvSpPr>
          <p:nvPr>
            <p:ph type="title"/>
          </p:nvPr>
        </p:nvSpPr>
        <p:spPr/>
        <p:txBody>
          <a:bodyPr/>
          <a:lstStyle/>
          <a:p>
            <a:r>
              <a:rPr lang="en-US" altLang="en-US" dirty="0"/>
              <a:t>Instruction Encoding</a:t>
            </a:r>
          </a:p>
        </p:txBody>
      </p:sp>
      <p:sp>
        <p:nvSpPr>
          <p:cNvPr id="54275" name="Footer Placeholder 2">
            <a:extLst>
              <a:ext uri="{FF2B5EF4-FFF2-40B4-BE49-F238E27FC236}">
                <a16:creationId xmlns:a16="http://schemas.microsoft.com/office/drawing/2014/main" id="{A26DF896-64A1-3045-BA2D-928109735C6A}"/>
              </a:ext>
            </a:extLst>
          </p:cNvPr>
          <p:cNvSpPr>
            <a:spLocks noGrp="1" noChangeArrowheads="1"/>
          </p:cNvSpPr>
          <p:nvPr>
            <p:ph type="ftr" sz="quarter" idx="4294967295"/>
          </p:nvPr>
        </p:nvSpPr>
        <p:spPr bwMode="auto">
          <a:xfrm>
            <a:off x="5173663" y="6361113"/>
            <a:ext cx="3970337" cy="352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1363" indent="-284163">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Times New Roman" panose="02020603050405020304" pitchFamily="18" charset="0"/>
                <a:ea typeface="HG Mincho Light J" charset="0"/>
                <a:cs typeface="Arial" panose="020B0604020202020204" pitchFamily="34" charset="0"/>
              </a:rPr>
              <a:t>Copyright © 2011, Elsevier Inc. All rights Reserved.</a:t>
            </a:r>
          </a:p>
        </p:txBody>
      </p:sp>
      <p:pic>
        <p:nvPicPr>
          <p:cNvPr id="54276" name="Picture 4" descr="appa-18-9780123838728">
            <a:extLst>
              <a:ext uri="{FF2B5EF4-FFF2-40B4-BE49-F238E27FC236}">
                <a16:creationId xmlns:a16="http://schemas.microsoft.com/office/drawing/2014/main" id="{924032E1-E087-CF43-BE8E-97D05DA2A4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9063" y="1198563"/>
            <a:ext cx="5768975" cy="377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277" name="Rectangle 5">
            <a:extLst>
              <a:ext uri="{FF2B5EF4-FFF2-40B4-BE49-F238E27FC236}">
                <a16:creationId xmlns:a16="http://schemas.microsoft.com/office/drawing/2014/main" id="{5CF189C8-714B-EF44-B774-10473CDFEAA1}"/>
              </a:ext>
            </a:extLst>
          </p:cNvPr>
          <p:cNvSpPr>
            <a:spLocks noChangeArrowheads="1"/>
          </p:cNvSpPr>
          <p:nvPr/>
        </p:nvSpPr>
        <p:spPr bwMode="auto">
          <a:xfrm>
            <a:off x="474663" y="5029200"/>
            <a:ext cx="8194675"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just">
              <a:spcBef>
                <a:spcPct val="0"/>
              </a:spcBef>
              <a:buClrTx/>
              <a:buSzTx/>
              <a:buFontTx/>
              <a:buNone/>
            </a:pPr>
            <a:r>
              <a:rPr lang="en-US" altLang="en-US" sz="1200" b="1">
                <a:latin typeface="Times New Roman" panose="02020603050405020304" pitchFamily="18" charset="0"/>
              </a:rPr>
              <a:t>Figure A.18 Three basic variations in instruction encoding: variable length, fixed length, and hybrid. </a:t>
            </a:r>
            <a:r>
              <a:rPr lang="en-US" altLang="en-US" sz="1200">
                <a:latin typeface="Times New Roman" panose="02020603050405020304" pitchFamily="18" charset="0"/>
              </a:rPr>
              <a:t>The variable format can support any number of operands, with each address specifier determining the addressing mode and the length of the specifier for that operand. It generally enables the smallest code representation, since unused fields need not be included. The fixed format always has the same number of operands, with the addressing modes (if options exist) specified as part of the opcode. It generally results in the largest code size. Although the fields tend not to vary in their location, they will be used for different purposes by different instructions. The hybrid approach has multiple formats specified by the opcode, adding one or two fields to specify the addressing mode and one or two fields to specify the operand address.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A86A059-47A5-744A-830F-A0ED81C5207D}"/>
              </a:ext>
            </a:extLst>
          </p:cNvPr>
          <p:cNvSpPr>
            <a:spLocks noGrp="1" noChangeArrowheads="1"/>
          </p:cNvSpPr>
          <p:nvPr>
            <p:ph type="title"/>
          </p:nvPr>
        </p:nvSpPr>
        <p:spPr/>
        <p:txBody>
          <a:bodyPr>
            <a:normAutofit fontScale="90000"/>
          </a:bodyPr>
          <a:lstStyle/>
          <a:p>
            <a:pPr>
              <a:defRPr/>
            </a:pPr>
            <a:r>
              <a:rPr lang="en-US" altLang="en-US" dirty="0">
                <a:effectLst>
                  <a:outerShdw blurRad="38100" dist="38100" dir="2700000" algn="tl">
                    <a:srgbClr val="C0C0C0"/>
                  </a:outerShdw>
                </a:effectLst>
                <a:ea typeface="ＭＳ Ｐゴシック" charset="0"/>
              </a:rPr>
              <a:t>Summary: Instruction Encoding tradeoffs</a:t>
            </a:r>
          </a:p>
        </p:txBody>
      </p:sp>
      <p:sp>
        <p:nvSpPr>
          <p:cNvPr id="56323" name="Rectangle 3">
            <a:extLst>
              <a:ext uri="{FF2B5EF4-FFF2-40B4-BE49-F238E27FC236}">
                <a16:creationId xmlns:a16="http://schemas.microsoft.com/office/drawing/2014/main" id="{42056967-C7A3-8649-9EEB-E4B9655AFF20}"/>
              </a:ext>
            </a:extLst>
          </p:cNvPr>
          <p:cNvSpPr>
            <a:spLocks noGrp="1" noChangeArrowheads="1"/>
          </p:cNvSpPr>
          <p:nvPr>
            <p:ph idx="1"/>
          </p:nvPr>
        </p:nvSpPr>
        <p:spPr/>
        <p:txBody>
          <a:bodyPr/>
          <a:lstStyle/>
          <a:p>
            <a:pPr>
              <a:lnSpc>
                <a:spcPct val="80000"/>
              </a:lnSpc>
            </a:pPr>
            <a:r>
              <a:rPr lang="en-US" altLang="en-US" sz="2400"/>
              <a:t>Variable width</a:t>
            </a:r>
          </a:p>
          <a:p>
            <a:pPr lvl="1">
              <a:lnSpc>
                <a:spcPct val="80000"/>
              </a:lnSpc>
            </a:pPr>
            <a:r>
              <a:rPr lang="en-US" altLang="en-US" sz="1800"/>
              <a:t>Common instructions are short (1-2 bytes), less common or more complex instructions are long (&gt;2 bytes)</a:t>
            </a:r>
          </a:p>
          <a:p>
            <a:pPr lvl="1">
              <a:lnSpc>
                <a:spcPct val="80000"/>
              </a:lnSpc>
            </a:pPr>
            <a:r>
              <a:rPr lang="en-US" altLang="en-US" sz="1800"/>
              <a:t>(+) Very versatile, uses memory efficiently</a:t>
            </a:r>
          </a:p>
          <a:p>
            <a:pPr lvl="1">
              <a:lnSpc>
                <a:spcPct val="80000"/>
              </a:lnSpc>
            </a:pPr>
            <a:r>
              <a:rPr lang="en-US" altLang="en-US" sz="1800"/>
              <a:t>(-) Instruction words must be decoded before number of instructions is known</a:t>
            </a:r>
          </a:p>
          <a:p>
            <a:pPr lvl="1">
              <a:lnSpc>
                <a:spcPct val="80000"/>
              </a:lnSpc>
            </a:pPr>
            <a:r>
              <a:rPr lang="en-US" altLang="en-US" sz="1800"/>
              <a:t>E.g. VAX, x86 (instruction can be 1-17 bytes)</a:t>
            </a:r>
          </a:p>
          <a:p>
            <a:pPr>
              <a:lnSpc>
                <a:spcPct val="80000"/>
              </a:lnSpc>
            </a:pPr>
            <a:r>
              <a:rPr lang="en-US" altLang="en-US" sz="2400"/>
              <a:t>Fixed width</a:t>
            </a:r>
          </a:p>
          <a:p>
            <a:pPr lvl="1">
              <a:lnSpc>
                <a:spcPct val="80000"/>
              </a:lnSpc>
            </a:pPr>
            <a:r>
              <a:rPr lang="en-US" altLang="en-US" sz="1800"/>
              <a:t>Typically 1 instruction per 32-bit word (Alpha is 2 instructions per word)</a:t>
            </a:r>
          </a:p>
          <a:p>
            <a:pPr lvl="1">
              <a:lnSpc>
                <a:spcPct val="80000"/>
              </a:lnSpc>
            </a:pPr>
            <a:r>
              <a:rPr lang="en-US" altLang="en-US" sz="1800"/>
              <a:t>(+) Every instruction word is an instruction, Easier to fetch/decode</a:t>
            </a:r>
          </a:p>
          <a:p>
            <a:pPr lvl="1">
              <a:lnSpc>
                <a:spcPct val="80000"/>
              </a:lnSpc>
            </a:pPr>
            <a:r>
              <a:rPr lang="en-US" altLang="en-US" sz="1800"/>
              <a:t>(-) Uses memory inefficiently</a:t>
            </a:r>
          </a:p>
          <a:p>
            <a:pPr lvl="1">
              <a:lnSpc>
                <a:spcPct val="80000"/>
              </a:lnSpc>
            </a:pPr>
            <a:r>
              <a:rPr lang="en-US" altLang="en-US" sz="1800"/>
              <a:t>E.g. Alpha, ARM, MIPS, PowerPC, SPARC</a:t>
            </a:r>
          </a:p>
          <a:p>
            <a:pPr>
              <a:lnSpc>
                <a:spcPct val="80000"/>
              </a:lnSpc>
            </a:pPr>
            <a:r>
              <a:rPr lang="en-US" altLang="en-US" sz="2400"/>
              <a:t>Hybrid</a:t>
            </a:r>
          </a:p>
          <a:p>
            <a:pPr lvl="1">
              <a:lnSpc>
                <a:spcPct val="80000"/>
              </a:lnSpc>
            </a:pPr>
            <a:r>
              <a:rPr lang="en-US" altLang="en-US" sz="1800"/>
              <a:t>Primarily for embedded processor to conserve memory</a:t>
            </a:r>
          </a:p>
          <a:p>
            <a:pPr lvl="1">
              <a:lnSpc>
                <a:spcPct val="80000"/>
              </a:lnSpc>
            </a:pPr>
            <a:r>
              <a:rPr lang="en-US" altLang="en-US" sz="1800"/>
              <a:t>Often use subset of instructions, fewer registers, or even instruction compression (IBM)</a:t>
            </a:r>
          </a:p>
          <a:p>
            <a:pPr lvl="1">
              <a:lnSpc>
                <a:spcPct val="80000"/>
              </a:lnSpc>
            </a:pPr>
            <a:r>
              <a:rPr lang="en-US" altLang="en-US" sz="1800"/>
              <a:t>E.g. IBM 360/370, MIPS16, ARM Thumb</a:t>
            </a:r>
          </a:p>
        </p:txBody>
      </p:sp>
      <p:sp>
        <p:nvSpPr>
          <p:cNvPr id="4" name="Footer Placeholder 3">
            <a:extLst>
              <a:ext uri="{FF2B5EF4-FFF2-40B4-BE49-F238E27FC236}">
                <a16:creationId xmlns:a16="http://schemas.microsoft.com/office/drawing/2014/main" id="{F272C6B5-2579-1149-8931-569D2351A606}"/>
              </a:ext>
            </a:extLst>
          </p:cNvPr>
          <p:cNvSpPr>
            <a:spLocks noGrp="1"/>
          </p:cNvSpPr>
          <p:nvPr>
            <p:ph type="ftr" sz="quarter" idx="4294967295"/>
          </p:nvPr>
        </p:nvSpPr>
        <p:spPr bwMode="auto">
          <a:xfrm>
            <a:off x="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1DB658B6-E31B-E74B-9AC8-6C1C206D5C56}"/>
              </a:ext>
            </a:extLst>
          </p:cNvPr>
          <p:cNvSpPr>
            <a:spLocks noGrp="1" noChangeArrowheads="1"/>
          </p:cNvSpPr>
          <p:nvPr>
            <p:ph type="ctrTitle"/>
          </p:nvPr>
        </p:nvSpPr>
        <p:spPr>
          <a:xfrm>
            <a:off x="152400" y="1958975"/>
            <a:ext cx="8991600" cy="1470025"/>
          </a:xfrm>
        </p:spPr>
        <p:txBody>
          <a:bodyPr/>
          <a:lstStyle/>
          <a:p>
            <a:pPr eaLnBrk="1" hangingPunct="1"/>
            <a:r>
              <a:rPr lang="en-US" altLang="en-US" dirty="0">
                <a:ea typeface="ＭＳ Ｐゴシック" panose="020B0600070205080204" pitchFamily="34" charset="-128"/>
              </a:rPr>
              <a:t>Module 3.3: Instruction Set Architecture Example</a:t>
            </a:r>
          </a:p>
        </p:txBody>
      </p:sp>
      <p:sp>
        <p:nvSpPr>
          <p:cNvPr id="43010" name="Subtitle 1">
            <a:extLst>
              <a:ext uri="{FF2B5EF4-FFF2-40B4-BE49-F238E27FC236}">
                <a16:creationId xmlns:a16="http://schemas.microsoft.com/office/drawing/2014/main" id="{5D942F35-A1F0-5446-95E7-17D5504FC33D}"/>
              </a:ext>
            </a:extLst>
          </p:cNvPr>
          <p:cNvSpPr>
            <a:spLocks noGrp="1" noChangeArrowheads="1"/>
          </p:cNvSpPr>
          <p:nvPr>
            <p:ph type="subTitle" idx="1"/>
          </p:nvPr>
        </p:nvSpPr>
        <p:spPr/>
        <p:txBody>
          <a:bodyPr/>
          <a:lstStyle/>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349468633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3815A0B-068C-F04D-B706-0686C5E5A828}"/>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RECAP: addressing modes</a:t>
            </a:r>
          </a:p>
        </p:txBody>
      </p:sp>
      <p:sp>
        <p:nvSpPr>
          <p:cNvPr id="36867" name="Rectangle 3">
            <a:extLst>
              <a:ext uri="{FF2B5EF4-FFF2-40B4-BE49-F238E27FC236}">
                <a16:creationId xmlns:a16="http://schemas.microsoft.com/office/drawing/2014/main" id="{66D33C90-92DC-3E40-9CA2-AA6FB75E89EF}"/>
              </a:ext>
            </a:extLst>
          </p:cNvPr>
          <p:cNvSpPr>
            <a:spLocks noGrp="1" noChangeArrowheads="1"/>
          </p:cNvSpPr>
          <p:nvPr>
            <p:ph idx="1"/>
          </p:nvPr>
        </p:nvSpPr>
        <p:spPr>
          <a:xfrm>
            <a:off x="457200" y="914400"/>
            <a:ext cx="8229600" cy="5562600"/>
          </a:xfrm>
        </p:spPr>
        <p:txBody>
          <a:bodyPr>
            <a:normAutofit/>
          </a:bodyPr>
          <a:lstStyle/>
          <a:p>
            <a:r>
              <a:rPr lang="en-US" altLang="en-US" sz="1400" dirty="0">
                <a:solidFill>
                  <a:srgbClr val="0432FF"/>
                </a:solidFill>
              </a:rPr>
              <a:t>Register</a:t>
            </a:r>
          </a:p>
          <a:p>
            <a:pPr lvl="1"/>
            <a:r>
              <a:rPr lang="en-US" altLang="en-US" sz="1400" dirty="0">
                <a:solidFill>
                  <a:srgbClr val="0432FF"/>
                </a:solidFill>
              </a:rPr>
              <a:t>R4 = R4 + R3</a:t>
            </a:r>
          </a:p>
          <a:p>
            <a:r>
              <a:rPr lang="en-US" altLang="en-US" sz="1400" dirty="0">
                <a:solidFill>
                  <a:srgbClr val="0432FF"/>
                </a:solidFill>
              </a:rPr>
              <a:t>Immediate</a:t>
            </a:r>
          </a:p>
          <a:p>
            <a:pPr lvl="1"/>
            <a:r>
              <a:rPr lang="en-US" altLang="en-US" sz="1400" dirty="0">
                <a:solidFill>
                  <a:srgbClr val="0432FF"/>
                </a:solidFill>
              </a:rPr>
              <a:t>R4 = R4 + 3</a:t>
            </a:r>
          </a:p>
          <a:p>
            <a:r>
              <a:rPr lang="en-US" altLang="en-US" sz="1400" dirty="0">
                <a:solidFill>
                  <a:srgbClr val="0432FF"/>
                </a:solidFill>
              </a:rPr>
              <a:t>Displacement</a:t>
            </a:r>
          </a:p>
          <a:p>
            <a:pPr lvl="1"/>
            <a:r>
              <a:rPr lang="en-US" altLang="en-US" sz="1400" dirty="0">
                <a:solidFill>
                  <a:srgbClr val="0432FF"/>
                </a:solidFill>
              </a:rPr>
              <a:t>R4 = R4 + Mem[100+R1]</a:t>
            </a:r>
          </a:p>
          <a:p>
            <a:r>
              <a:rPr lang="en-US" altLang="en-US" sz="1400" dirty="0"/>
              <a:t>Register deferred/Register indirect</a:t>
            </a:r>
          </a:p>
          <a:p>
            <a:pPr lvl="1"/>
            <a:r>
              <a:rPr lang="en-US" altLang="en-US" sz="1400" dirty="0"/>
              <a:t>R3 = R3 + </a:t>
            </a:r>
            <a:r>
              <a:rPr lang="en-US" altLang="en-US" sz="1400" dirty="0">
                <a:solidFill>
                  <a:srgbClr val="FF0000"/>
                </a:solidFill>
              </a:rPr>
              <a:t>Mem[R1]</a:t>
            </a:r>
          </a:p>
          <a:p>
            <a:r>
              <a:rPr lang="en-US" altLang="en-US" sz="1400" dirty="0"/>
              <a:t>Indexed</a:t>
            </a:r>
          </a:p>
          <a:p>
            <a:pPr lvl="1"/>
            <a:r>
              <a:rPr lang="en-US" altLang="en-US" sz="1400" dirty="0"/>
              <a:t>R3 = R3 + </a:t>
            </a:r>
            <a:r>
              <a:rPr lang="en-US" altLang="en-US" sz="1400" dirty="0">
                <a:solidFill>
                  <a:srgbClr val="FF0000"/>
                </a:solidFill>
              </a:rPr>
              <a:t>Mem[R1 + R2]</a:t>
            </a:r>
          </a:p>
          <a:p>
            <a:r>
              <a:rPr lang="en-US" altLang="en-US" sz="1400" dirty="0"/>
              <a:t>Direct/Absolute</a:t>
            </a:r>
          </a:p>
          <a:p>
            <a:pPr lvl="1"/>
            <a:r>
              <a:rPr lang="en-US" altLang="en-US" sz="1400" dirty="0"/>
              <a:t>R1 = R1 + </a:t>
            </a:r>
            <a:r>
              <a:rPr lang="en-US" altLang="en-US" sz="1400" dirty="0">
                <a:solidFill>
                  <a:srgbClr val="FF0000"/>
                </a:solidFill>
              </a:rPr>
              <a:t>Mem[1001]</a:t>
            </a:r>
          </a:p>
          <a:p>
            <a:r>
              <a:rPr lang="en-US" altLang="en-US" sz="1400" dirty="0"/>
              <a:t>Memory indirect/Memory deferred</a:t>
            </a:r>
          </a:p>
          <a:p>
            <a:pPr lvl="1"/>
            <a:r>
              <a:rPr lang="en-US" altLang="en-US" sz="1400" dirty="0"/>
              <a:t>R1 = R1 + </a:t>
            </a:r>
            <a:r>
              <a:rPr lang="en-US" altLang="en-US" sz="1400" dirty="0">
                <a:solidFill>
                  <a:srgbClr val="FF0000"/>
                </a:solidFill>
              </a:rPr>
              <a:t>Mem[Mem[R3]]</a:t>
            </a:r>
          </a:p>
          <a:p>
            <a:r>
              <a:rPr lang="en-US" altLang="en-US" sz="1400" dirty="0"/>
              <a:t>Autoincrement/</a:t>
            </a:r>
            <a:r>
              <a:rPr lang="en-US" altLang="en-US" sz="1400" dirty="0" err="1"/>
              <a:t>Postincrement</a:t>
            </a:r>
            <a:endParaRPr lang="en-US" altLang="en-US" sz="1400" dirty="0"/>
          </a:p>
          <a:p>
            <a:pPr lvl="1"/>
            <a:r>
              <a:rPr lang="en-US" altLang="en-US" sz="1400" dirty="0"/>
              <a:t>R1 = R1 + </a:t>
            </a:r>
            <a:r>
              <a:rPr lang="en-US" altLang="en-US" sz="1400" dirty="0">
                <a:solidFill>
                  <a:srgbClr val="FF0000"/>
                </a:solidFill>
              </a:rPr>
              <a:t>Mem[R2];  </a:t>
            </a:r>
            <a:r>
              <a:rPr lang="en-US" altLang="en-US" sz="1400" dirty="0"/>
              <a:t>R2 = R2 </a:t>
            </a:r>
            <a:r>
              <a:rPr lang="en-US" altLang="en-US" sz="1400" dirty="0">
                <a:solidFill>
                  <a:srgbClr val="FF0000"/>
                </a:solidFill>
              </a:rPr>
              <a:t>+ </a:t>
            </a:r>
            <a:r>
              <a:rPr lang="en-US" altLang="en-US" sz="1400" i="1" dirty="0">
                <a:solidFill>
                  <a:srgbClr val="FF0000"/>
                </a:solidFill>
              </a:rPr>
              <a:t>d</a:t>
            </a:r>
            <a:r>
              <a:rPr lang="en-US" altLang="en-US" sz="1400" dirty="0">
                <a:solidFill>
                  <a:srgbClr val="FF0000"/>
                </a:solidFill>
              </a:rPr>
              <a:t>  </a:t>
            </a:r>
            <a:r>
              <a:rPr lang="en-US" altLang="en-US" sz="1400" dirty="0"/>
              <a:t>(</a:t>
            </a:r>
            <a:r>
              <a:rPr lang="en-US" altLang="en-US" sz="1400" i="1" dirty="0"/>
              <a:t>d</a:t>
            </a:r>
            <a:r>
              <a:rPr lang="en-US" altLang="en-US" sz="1400" dirty="0"/>
              <a:t> is size of operation)</a:t>
            </a:r>
          </a:p>
          <a:p>
            <a:r>
              <a:rPr lang="en-US" altLang="en-US" sz="1400" dirty="0"/>
              <a:t>Autodecrement/</a:t>
            </a:r>
            <a:r>
              <a:rPr lang="en-US" altLang="en-US" sz="1400" dirty="0" err="1"/>
              <a:t>Predecrement</a:t>
            </a:r>
            <a:endParaRPr lang="en-US" altLang="en-US" sz="1400" dirty="0"/>
          </a:p>
          <a:p>
            <a:pPr lvl="1"/>
            <a:r>
              <a:rPr lang="en-US" altLang="en-US" sz="1400" dirty="0"/>
              <a:t>R2 = R2 - </a:t>
            </a:r>
            <a:r>
              <a:rPr lang="en-US" altLang="en-US" sz="1400" i="1" dirty="0"/>
              <a:t>d; </a:t>
            </a:r>
            <a:r>
              <a:rPr lang="en-US" altLang="en-US" sz="1400" dirty="0"/>
              <a:t> R1 = R1 + Mem[R2] (</a:t>
            </a:r>
            <a:r>
              <a:rPr lang="en-US" altLang="en-US" sz="1400" i="1" dirty="0"/>
              <a:t>d</a:t>
            </a:r>
            <a:r>
              <a:rPr lang="en-US" altLang="en-US" sz="1400" dirty="0"/>
              <a:t> is size of operation)</a:t>
            </a:r>
          </a:p>
          <a:p>
            <a:r>
              <a:rPr lang="en-US" altLang="en-US" sz="1400" dirty="0"/>
              <a:t>Scaled</a:t>
            </a:r>
          </a:p>
          <a:p>
            <a:pPr lvl="1"/>
            <a:r>
              <a:rPr lang="en-US" altLang="en-US" sz="1400" dirty="0"/>
              <a:t>R1 = R1 + Mem[</a:t>
            </a:r>
            <a:r>
              <a:rPr lang="en-US" altLang="en-US" sz="1400" dirty="0">
                <a:solidFill>
                  <a:srgbClr val="FF0000"/>
                </a:solidFill>
              </a:rPr>
              <a:t>100+R2+R3*</a:t>
            </a:r>
            <a:r>
              <a:rPr lang="en-US" altLang="en-US" sz="1400" i="1" dirty="0">
                <a:solidFill>
                  <a:srgbClr val="FF0000"/>
                </a:solidFill>
              </a:rPr>
              <a:t>d</a:t>
            </a:r>
            <a:r>
              <a:rPr lang="en-US" altLang="en-US" sz="1400" dirty="0"/>
              <a:t>] (</a:t>
            </a:r>
            <a:r>
              <a:rPr lang="en-US" altLang="en-US" sz="1400" i="1" dirty="0"/>
              <a:t>d</a:t>
            </a:r>
            <a:r>
              <a:rPr lang="en-US" altLang="en-US" sz="1400" dirty="0"/>
              <a:t> is size of operation)</a:t>
            </a:r>
            <a:endParaRPr lang="en-US" altLang="en-US" dirty="0">
              <a:solidFill>
                <a:srgbClr val="FF0000"/>
              </a:solidFill>
            </a:endParaRPr>
          </a:p>
        </p:txBody>
      </p:sp>
      <p:sp>
        <p:nvSpPr>
          <p:cNvPr id="2" name="TextBox 1">
            <a:extLst>
              <a:ext uri="{FF2B5EF4-FFF2-40B4-BE49-F238E27FC236}">
                <a16:creationId xmlns:a16="http://schemas.microsoft.com/office/drawing/2014/main" id="{4E91211A-1842-B2F5-8278-3A63298273D4}"/>
              </a:ext>
            </a:extLst>
          </p:cNvPr>
          <p:cNvSpPr txBox="1"/>
          <p:nvPr/>
        </p:nvSpPr>
        <p:spPr>
          <a:xfrm>
            <a:off x="6206836" y="4044434"/>
            <a:ext cx="2313454" cy="369332"/>
          </a:xfrm>
          <a:prstGeom prst="rect">
            <a:avLst/>
          </a:prstGeom>
          <a:noFill/>
        </p:spPr>
        <p:txBody>
          <a:bodyPr wrap="none" rtlCol="0">
            <a:spAutoFit/>
          </a:bodyPr>
          <a:lstStyle/>
          <a:p>
            <a:r>
              <a:rPr lang="en-US" dirty="0"/>
              <a:t>may be unnecessary</a:t>
            </a:r>
          </a:p>
        </p:txBody>
      </p:sp>
      <p:sp>
        <p:nvSpPr>
          <p:cNvPr id="3" name="Right Brace 2">
            <a:extLst>
              <a:ext uri="{FF2B5EF4-FFF2-40B4-BE49-F238E27FC236}">
                <a16:creationId xmlns:a16="http://schemas.microsoft.com/office/drawing/2014/main" id="{99053B58-D03C-A8CE-EF4E-800A02CB9F63}"/>
              </a:ext>
            </a:extLst>
          </p:cNvPr>
          <p:cNvSpPr/>
          <p:nvPr/>
        </p:nvSpPr>
        <p:spPr>
          <a:xfrm>
            <a:off x="5486400" y="2438400"/>
            <a:ext cx="685800" cy="35814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2864126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19C3BC5-0DDC-6E4E-B809-A432600E1A16}"/>
              </a:ext>
            </a:extLst>
          </p:cNvPr>
          <p:cNvSpPr>
            <a:spLocks noGrp="1"/>
          </p:cNvSpPr>
          <p:nvPr>
            <p:ph type="ftr" sz="quarter" idx="4294967295"/>
          </p:nvPr>
        </p:nvSpPr>
        <p:spPr bwMode="auto">
          <a:xfrm>
            <a:off x="914400" y="6324600"/>
            <a:ext cx="6324600" cy="381000"/>
          </a:xfrm>
          <a:prstGeom prst="rect">
            <a:avLst/>
          </a:prstGeom>
        </p:spPr>
        <p:txBody>
          <a:bodyPr wrap="none" lIns="92075" tIns="46038" rIns="92075" bIns="46038" anchor="ctr"/>
          <a:lstStyle>
            <a:defPPr>
              <a:defRPr lang="en-US"/>
            </a:defPPr>
            <a:lvl1pPr algn="l" rtl="0" eaLnBrk="0" fontAlgn="base" hangingPunct="0">
              <a:spcBef>
                <a:spcPct val="0"/>
              </a:spcBef>
              <a:spcAft>
                <a:spcPct val="0"/>
              </a:spcAft>
              <a:defRPr sz="1200" b="0" i="1" kern="1200">
                <a:solidFill>
                  <a:srgbClr val="000000"/>
                </a:solidFill>
                <a:effectLst>
                  <a:outerShdw blurRad="38100" dist="38100" dir="2700000" algn="tl">
                    <a:srgbClr val="C0C0C0"/>
                  </a:outerShdw>
                </a:effectLst>
                <a:latin typeface="Times" pitchFamily="2" charset="0"/>
                <a:ea typeface="ＭＳ Ｐゴシック" panose="020B0600070205080204" pitchFamily="34" charset="-128"/>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b="1"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ECE 463/521, Tom Conte, Eric Rotenberg, Yan Solihin, ECE Dept., NC State University</a:t>
            </a:r>
          </a:p>
        </p:txBody>
      </p:sp>
      <p:sp>
        <p:nvSpPr>
          <p:cNvPr id="75778" name="Rectangle 2">
            <a:extLst>
              <a:ext uri="{FF2B5EF4-FFF2-40B4-BE49-F238E27FC236}">
                <a16:creationId xmlns:a16="http://schemas.microsoft.com/office/drawing/2014/main" id="{B93C9BA6-0935-9C44-BB81-A359956BA259}"/>
              </a:ext>
            </a:extLst>
          </p:cNvPr>
          <p:cNvSpPr>
            <a:spLocks noGrp="1" noChangeArrowheads="1"/>
          </p:cNvSpPr>
          <p:nvPr>
            <p:ph type="title"/>
          </p:nvPr>
        </p:nvSpPr>
        <p:spPr/>
        <p:txBody>
          <a:bodyPr>
            <a:normAutofit fontScale="90000"/>
          </a:bodyPr>
          <a:lstStyle/>
          <a:p>
            <a:pPr>
              <a:defRPr/>
            </a:pPr>
            <a:r>
              <a:rPr lang="en-US" altLang="en-US" dirty="0"/>
              <a:t>RECAP: </a:t>
            </a:r>
            <a:r>
              <a:rPr lang="en-US" altLang="en-US" dirty="0">
                <a:effectLst>
                  <a:outerShdw blurRad="38100" dist="38100" dir="2700000" algn="tl">
                    <a:srgbClr val="C0C0C0"/>
                  </a:outerShdw>
                </a:effectLst>
                <a:ea typeface="ＭＳ Ｐゴシック" charset="0"/>
              </a:rPr>
              <a:t>Types of control transfer (</a:t>
            </a:r>
            <a:r>
              <a:rPr lang="en-US" altLang="en-US" dirty="0" err="1">
                <a:effectLst>
                  <a:outerShdw blurRad="38100" dist="38100" dir="2700000" algn="tl">
                    <a:srgbClr val="C0C0C0"/>
                  </a:outerShdw>
                </a:effectLst>
                <a:ea typeface="ＭＳ Ｐゴシック" charset="0"/>
              </a:rPr>
              <a:t>cont</a:t>
            </a:r>
            <a:r>
              <a:rPr lang="en-US" altLang="en-US" dirty="0">
                <a:effectLst>
                  <a:outerShdw blurRad="38100" dist="38100" dir="2700000" algn="tl">
                    <a:srgbClr val="C0C0C0"/>
                  </a:outerShdw>
                </a:effectLst>
                <a:ea typeface="ＭＳ Ｐゴシック" charset="0"/>
              </a:rPr>
              <a:t>).</a:t>
            </a:r>
          </a:p>
        </p:txBody>
      </p:sp>
      <p:sp>
        <p:nvSpPr>
          <p:cNvPr id="50180" name="Rectangle 3">
            <a:extLst>
              <a:ext uri="{FF2B5EF4-FFF2-40B4-BE49-F238E27FC236}">
                <a16:creationId xmlns:a16="http://schemas.microsoft.com/office/drawing/2014/main" id="{4391C54E-6C76-FC42-8743-580EF45A5AAB}"/>
              </a:ext>
            </a:extLst>
          </p:cNvPr>
          <p:cNvSpPr>
            <a:spLocks noGrp="1" noChangeArrowheads="1"/>
          </p:cNvSpPr>
          <p:nvPr>
            <p:ph type="body" idx="1"/>
          </p:nvPr>
        </p:nvSpPr>
        <p:spPr/>
        <p:txBody>
          <a:bodyPr>
            <a:normAutofit lnSpcReduction="10000"/>
          </a:bodyPr>
          <a:lstStyle/>
          <a:p>
            <a:r>
              <a:rPr lang="en-US" altLang="en-US" sz="2400"/>
              <a:t>All three: </a:t>
            </a:r>
            <a:r>
              <a:rPr lang="en-US" altLang="en-US" sz="2400" u="sng"/>
              <a:t>Compare and branch</a:t>
            </a:r>
            <a:r>
              <a:rPr lang="en-US" altLang="en-US" sz="2400"/>
              <a:t> instruction (e.g. VAX, PA-RISC)</a:t>
            </a:r>
          </a:p>
          <a:p>
            <a:pPr lvl="1"/>
            <a:r>
              <a:rPr lang="en-US" altLang="en-US" sz="2000"/>
              <a:t>Br (R1 = R2), </a:t>
            </a:r>
            <a:r>
              <a:rPr lang="en-US" altLang="en-US" sz="2000" i="1"/>
              <a:t>destination</a:t>
            </a:r>
          </a:p>
          <a:p>
            <a:pPr lvl="1"/>
            <a:r>
              <a:rPr lang="en-US" altLang="en-US" sz="2000"/>
              <a:t>(+) A single instruction</a:t>
            </a:r>
          </a:p>
          <a:p>
            <a:pPr lvl="1"/>
            <a:r>
              <a:rPr lang="en-US" altLang="en-US" sz="2000"/>
              <a:t>(-) Heavy hardware requirement, </a:t>
            </a:r>
            <a:r>
              <a:rPr lang="en-US" altLang="en-US" sz="2000" i="1"/>
              <a:t>inflexible scheduling</a:t>
            </a:r>
          </a:p>
          <a:p>
            <a:r>
              <a:rPr lang="en-US" altLang="en-US" sz="2400">
                <a:solidFill>
                  <a:srgbClr val="FF0000"/>
                </a:solidFill>
              </a:rPr>
              <a:t>Whether</a:t>
            </a:r>
            <a:r>
              <a:rPr lang="en-US" altLang="en-US" sz="2400"/>
              <a:t> separate from </a:t>
            </a:r>
            <a:r>
              <a:rPr lang="en-US" altLang="en-US" sz="2400">
                <a:solidFill>
                  <a:srgbClr val="FF0000"/>
                </a:solidFill>
              </a:rPr>
              <a:t>Where</a:t>
            </a:r>
            <a:r>
              <a:rPr lang="en-US" altLang="en-US" sz="2400"/>
              <a:t>/</a:t>
            </a:r>
            <a:r>
              <a:rPr lang="en-US" altLang="en-US" sz="2400">
                <a:solidFill>
                  <a:srgbClr val="FF0000"/>
                </a:solidFill>
              </a:rPr>
              <a:t>When</a:t>
            </a:r>
            <a:r>
              <a:rPr lang="en-US" altLang="en-US" sz="2400"/>
              <a:t>:</a:t>
            </a:r>
          </a:p>
          <a:p>
            <a:pPr lvl="1"/>
            <a:r>
              <a:rPr lang="en-US" altLang="en-US" sz="2000" u="sng"/>
              <a:t>Condition code register</a:t>
            </a:r>
            <a:r>
              <a:rPr lang="en-US" altLang="en-US" sz="2000"/>
              <a:t> (CMP R1,R2 … BEQ </a:t>
            </a:r>
            <a:r>
              <a:rPr lang="en-US" altLang="en-US" sz="2000" i="1"/>
              <a:t>dest</a:t>
            </a:r>
            <a:r>
              <a:rPr lang="en-US" altLang="en-US" sz="2000"/>
              <a:t>) (x86, PowerPC, SPARC)</a:t>
            </a:r>
          </a:p>
          <a:p>
            <a:pPr lvl="2"/>
            <a:r>
              <a:rPr lang="en-US" altLang="en-US" sz="1800"/>
              <a:t>(+) Sometimes test happens </a:t>
            </a:r>
            <a:r>
              <a:rPr lang="ja-JP" altLang="en-US" sz="1800"/>
              <a:t>“</a:t>
            </a:r>
            <a:r>
              <a:rPr lang="en-US" altLang="ja-JP" sz="1800"/>
              <a:t>for free</a:t>
            </a:r>
            <a:r>
              <a:rPr lang="ja-JP" altLang="en-US" sz="1800"/>
              <a:t>”</a:t>
            </a:r>
            <a:endParaRPr lang="en-US" altLang="ja-JP" sz="1800"/>
          </a:p>
          <a:p>
            <a:pPr lvl="2"/>
            <a:r>
              <a:rPr lang="en-US" altLang="en-US" sz="1800"/>
              <a:t>(-) Hard for compiler to figure out which instructions depend on CC register </a:t>
            </a:r>
          </a:p>
          <a:p>
            <a:pPr lvl="1"/>
            <a:r>
              <a:rPr lang="en-US" altLang="en-US" sz="2000" u="sng"/>
              <a:t>Condition register</a:t>
            </a:r>
            <a:r>
              <a:rPr lang="en-US" altLang="en-US" sz="2000"/>
              <a:t> (SUB R1,R2 … BEQ R1, </a:t>
            </a:r>
            <a:r>
              <a:rPr lang="en-US" altLang="en-US" sz="2000" i="1"/>
              <a:t>dest</a:t>
            </a:r>
            <a:r>
              <a:rPr lang="en-US" altLang="en-US" sz="2000"/>
              <a:t>) (Alpha, MIPS)</a:t>
            </a:r>
          </a:p>
          <a:p>
            <a:pPr lvl="2"/>
            <a:r>
              <a:rPr lang="en-US" altLang="en-US" sz="1800"/>
              <a:t>(+) Simple to implement, dependencies between instructions are obvious to compiler</a:t>
            </a:r>
          </a:p>
          <a:p>
            <a:pPr lvl="2"/>
            <a:r>
              <a:rPr lang="en-US" altLang="en-US" sz="1800"/>
              <a:t>(-) Uses a register (</a:t>
            </a:r>
            <a:r>
              <a:rPr lang="ja-JP" altLang="en-US" sz="1800"/>
              <a:t>“</a:t>
            </a:r>
            <a:r>
              <a:rPr lang="en-US" altLang="ja-JP" sz="1800"/>
              <a:t>register pressure</a:t>
            </a:r>
            <a:r>
              <a:rPr lang="ja-JP" altLang="en-US" sz="1800"/>
              <a:t>”</a:t>
            </a:r>
            <a:r>
              <a:rPr lang="en-US" altLang="ja-JP" sz="1800"/>
              <a:t>)</a:t>
            </a:r>
            <a:endParaRPr lang="en-US" altLang="en-US" sz="1800"/>
          </a:p>
        </p:txBody>
      </p:sp>
    </p:spTree>
    <p:extLst>
      <p:ext uri="{BB962C8B-B14F-4D97-AF65-F5344CB8AC3E}">
        <p14:creationId xmlns:p14="http://schemas.microsoft.com/office/powerpoint/2010/main" val="271822591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ACBDADA-0053-2343-8554-347243CC7138}"/>
              </a:ext>
            </a:extLst>
          </p:cNvPr>
          <p:cNvSpPr>
            <a:spLocks noGrp="1" noChangeArrowheads="1"/>
          </p:cNvSpPr>
          <p:nvPr>
            <p:ph type="title"/>
          </p:nvPr>
        </p:nvSpPr>
        <p:spPr/>
        <p:txBody>
          <a:bodyPr>
            <a:normAutofit fontScale="90000"/>
          </a:bodyPr>
          <a:lstStyle/>
          <a:p>
            <a:r>
              <a:rPr lang="en-US" altLang="en-US" dirty="0"/>
              <a:t>RECAP: </a:t>
            </a:r>
            <a:r>
              <a:rPr lang="en-US" altLang="en-US" u="sng" dirty="0"/>
              <a:t>Prepare-to-branch</a:t>
            </a:r>
            <a:r>
              <a:rPr lang="en-US" altLang="en-US" dirty="0"/>
              <a:t> Instruction</a:t>
            </a:r>
          </a:p>
        </p:txBody>
      </p:sp>
      <p:sp>
        <p:nvSpPr>
          <p:cNvPr id="52227" name="Rectangle 3">
            <a:extLst>
              <a:ext uri="{FF2B5EF4-FFF2-40B4-BE49-F238E27FC236}">
                <a16:creationId xmlns:a16="http://schemas.microsoft.com/office/drawing/2014/main" id="{69289ECE-C2FB-1241-9226-A3314643066C}"/>
              </a:ext>
            </a:extLst>
          </p:cNvPr>
          <p:cNvSpPr>
            <a:spLocks noGrp="1" noChangeArrowheads="1"/>
          </p:cNvSpPr>
          <p:nvPr>
            <p:ph type="body" idx="1"/>
          </p:nvPr>
        </p:nvSpPr>
        <p:spPr/>
        <p:txBody>
          <a:bodyPr/>
          <a:lstStyle/>
          <a:p>
            <a:r>
              <a:rPr lang="en-US" altLang="en-US"/>
              <a:t>Decouple all three of Where/Whether/When</a:t>
            </a:r>
          </a:p>
          <a:p>
            <a:r>
              <a:rPr lang="en-US" altLang="en-US">
                <a:solidFill>
                  <a:srgbClr val="FF0000"/>
                </a:solidFill>
              </a:rPr>
              <a:t>Where</a:t>
            </a:r>
            <a:r>
              <a:rPr lang="en-US" altLang="en-US"/>
              <a:t>:		PBR	BTR1 = </a:t>
            </a:r>
            <a:r>
              <a:rPr lang="en-US" altLang="en-US" i="1"/>
              <a:t>destination</a:t>
            </a:r>
          </a:p>
          <a:p>
            <a:pPr lvl="1"/>
            <a:r>
              <a:rPr lang="en-US" altLang="en-US"/>
              <a:t>BTR1 = </a:t>
            </a:r>
            <a:r>
              <a:rPr lang="ja-JP" altLang="en-US"/>
              <a:t>“</a:t>
            </a:r>
            <a:r>
              <a:rPr lang="en-US" altLang="ja-JP"/>
              <a:t>Branch target register #1</a:t>
            </a:r>
            <a:r>
              <a:rPr lang="ja-JP" altLang="en-US"/>
              <a:t>”</a:t>
            </a:r>
            <a:endParaRPr lang="en-US" altLang="ja-JP"/>
          </a:p>
          <a:p>
            <a:r>
              <a:rPr lang="en-US" altLang="en-US">
                <a:solidFill>
                  <a:srgbClr val="FF0000"/>
                </a:solidFill>
              </a:rPr>
              <a:t>Whether</a:t>
            </a:r>
            <a:r>
              <a:rPr lang="en-US" altLang="en-US"/>
              <a:t>:	CMP PR2 = (R1 = R2)</a:t>
            </a:r>
          </a:p>
          <a:p>
            <a:pPr lvl="1"/>
            <a:r>
              <a:rPr lang="en-US" altLang="en-US"/>
              <a:t>PR2 = </a:t>
            </a:r>
            <a:r>
              <a:rPr lang="ja-JP" altLang="en-US"/>
              <a:t>“</a:t>
            </a:r>
            <a:r>
              <a:rPr lang="en-US" altLang="ja-JP"/>
              <a:t>Predicate register #2</a:t>
            </a:r>
            <a:r>
              <a:rPr lang="ja-JP" altLang="en-US"/>
              <a:t>”</a:t>
            </a:r>
            <a:endParaRPr lang="en-US" altLang="ja-JP"/>
          </a:p>
          <a:p>
            <a:r>
              <a:rPr lang="en-US" altLang="en-US">
                <a:solidFill>
                  <a:srgbClr val="FF0000"/>
                </a:solidFill>
              </a:rPr>
              <a:t>When</a:t>
            </a:r>
            <a:r>
              <a:rPr lang="en-US" altLang="en-US"/>
              <a:t>		BR BTR1 if PR2</a:t>
            </a:r>
          </a:p>
          <a:p>
            <a:r>
              <a:rPr lang="en-US" altLang="en-US"/>
              <a:t>(+) Schedule each instruction so it happens during </a:t>
            </a:r>
            <a:r>
              <a:rPr lang="ja-JP" altLang="en-US"/>
              <a:t>“</a:t>
            </a:r>
            <a:r>
              <a:rPr lang="en-US" altLang="ja-JP"/>
              <a:t>free time</a:t>
            </a:r>
            <a:r>
              <a:rPr lang="ja-JP" altLang="en-US"/>
              <a:t>”</a:t>
            </a:r>
            <a:r>
              <a:rPr lang="en-US" altLang="ja-JP"/>
              <a:t> when hardware is idle</a:t>
            </a:r>
          </a:p>
          <a:p>
            <a:r>
              <a:rPr lang="en-US" altLang="en-US"/>
              <a:t>(-) Three instructions: higher IC</a:t>
            </a:r>
          </a:p>
          <a:p>
            <a:r>
              <a:rPr lang="en-US" altLang="en-US"/>
              <a:t>From the HP Labs </a:t>
            </a:r>
            <a:r>
              <a:rPr lang="en-US" altLang="en-US" i="1"/>
              <a:t>PlayDoh</a:t>
            </a:r>
            <a:r>
              <a:rPr lang="en-US" altLang="en-US"/>
              <a:t> architecture</a:t>
            </a:r>
          </a:p>
        </p:txBody>
      </p:sp>
    </p:spTree>
    <p:extLst>
      <p:ext uri="{BB962C8B-B14F-4D97-AF65-F5344CB8AC3E}">
        <p14:creationId xmlns:p14="http://schemas.microsoft.com/office/powerpoint/2010/main" val="135980809"/>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E4B4C9AF-3826-BA4A-8C01-0515DB672C71}"/>
              </a:ext>
            </a:extLst>
          </p:cNvPr>
          <p:cNvSpPr>
            <a:spLocks noGrp="1" noChangeArrowheads="1"/>
          </p:cNvSpPr>
          <p:nvPr>
            <p:ph type="title"/>
          </p:nvPr>
        </p:nvSpPr>
        <p:spPr/>
        <p:txBody>
          <a:bodyPr/>
          <a:lstStyle/>
          <a:p>
            <a:r>
              <a:rPr lang="en-US" altLang="en-US"/>
              <a:t>MIPS</a:t>
            </a:r>
          </a:p>
        </p:txBody>
      </p:sp>
      <p:sp>
        <p:nvSpPr>
          <p:cNvPr id="62467" name="Content Placeholder 2">
            <a:extLst>
              <a:ext uri="{FF2B5EF4-FFF2-40B4-BE49-F238E27FC236}">
                <a16:creationId xmlns:a16="http://schemas.microsoft.com/office/drawing/2014/main" id="{C62BCACA-5319-DD47-9782-CC3BFF56A97B}"/>
              </a:ext>
            </a:extLst>
          </p:cNvPr>
          <p:cNvSpPr>
            <a:spLocks noGrp="1" noChangeArrowheads="1"/>
          </p:cNvSpPr>
          <p:nvPr>
            <p:ph idx="1"/>
          </p:nvPr>
        </p:nvSpPr>
        <p:spPr/>
        <p:txBody>
          <a:bodyPr/>
          <a:lstStyle/>
          <a:p>
            <a:pPr>
              <a:buFont typeface="Wingdings" pitchFamily="2" charset="2"/>
              <a:buChar char="w"/>
            </a:pPr>
            <a:r>
              <a:rPr lang="en-US" altLang="en-US"/>
              <a:t>An example of RISC ISA, designed from the ground up for easy pipelining and exploitation of instruction level parallelism. </a:t>
            </a:r>
          </a:p>
          <a:p>
            <a:pPr>
              <a:buFont typeface="Wingdings" pitchFamily="2" charset="2"/>
              <a:buChar char="w"/>
            </a:pPr>
            <a:r>
              <a:rPr lang="en-US" altLang="en-US"/>
              <a:t>Main characteristics</a:t>
            </a:r>
          </a:p>
          <a:p>
            <a:pPr lvl="1"/>
            <a:r>
              <a:rPr lang="en-US" altLang="en-US"/>
              <a:t>Load/store ISA: only loads/stores can have memory operand =&gt; easy pipelining and uniform instruction width</a:t>
            </a:r>
          </a:p>
          <a:p>
            <a:pPr lvl="1"/>
            <a:r>
              <a:rPr lang="en-US" altLang="en-US"/>
              <a:t>Fixed instruction width =&gt; easy fetch and decode</a:t>
            </a:r>
          </a:p>
          <a:p>
            <a:pPr lvl="1"/>
            <a:r>
              <a:rPr lang="en-US" altLang="en-US"/>
              <a:t>Small number of addressing modes =&gt; easy pipelining</a:t>
            </a:r>
          </a:p>
          <a:p>
            <a:pPr lvl="1"/>
            <a:r>
              <a:rPr lang="en-US" altLang="en-US"/>
              <a:t>Large register file =&gt; 32 int + 32 fp registers</a:t>
            </a:r>
          </a:p>
          <a:p>
            <a:pPr lvl="1"/>
            <a:r>
              <a:rPr lang="en-US" altLang="en-US"/>
              <a:t>Aligned memory =&gt; easy data fetch</a:t>
            </a:r>
          </a:p>
          <a:p>
            <a:pPr lvl="1"/>
            <a:r>
              <a:rPr lang="en-US" altLang="en-US"/>
              <a:t>Quantitatively designed</a:t>
            </a:r>
          </a:p>
          <a:p>
            <a:pPr lvl="1"/>
            <a:endParaRPr lang="en-US" altLang="en-US"/>
          </a:p>
          <a:p>
            <a:pPr lvl="1"/>
            <a:endParaRPr lang="en-US" altLang="en-US"/>
          </a:p>
        </p:txBody>
      </p:sp>
      <p:sp>
        <p:nvSpPr>
          <p:cNvPr id="62468" name="Footer Placeholder 3">
            <a:extLst>
              <a:ext uri="{FF2B5EF4-FFF2-40B4-BE49-F238E27FC236}">
                <a16:creationId xmlns:a16="http://schemas.microsoft.com/office/drawing/2014/main" id="{C53D3A93-E326-BB4C-A565-3E9F66BEF593}"/>
              </a:ext>
            </a:extLst>
          </p:cNvPr>
          <p:cNvSpPr>
            <a:spLocks noGrp="1" noChangeArrowheads="1"/>
          </p:cNvSpPr>
          <p:nvPr>
            <p:ph type="ftr" sz="quarter" idx="4294967295"/>
          </p:nvPr>
        </p:nvSpPr>
        <p:spPr bwMode="auto">
          <a:xfrm>
            <a:off x="1066800" y="6324600"/>
            <a:ext cx="6858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1363" indent="-284163">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solidFill>
                  <a:schemeClr val="bg2"/>
                </a:solidFill>
                <a:latin typeface="Comic Sans MS" panose="030F0902030302020204" pitchFamily="66" charset="0"/>
              </a:rPr>
              <a:t>ECE 463/521 - Yan Solihin</a:t>
            </a:r>
            <a:endParaRPr lang="en-US" altLang="en-US" sz="1000">
              <a:solidFill>
                <a:schemeClr val="bg2"/>
              </a:solidFill>
              <a:latin typeface="Comic Sans MS" panose="030F0902030302020204" pitchFamily="66" charset="0"/>
            </a:endParaRPr>
          </a:p>
        </p:txBody>
      </p:sp>
      <p:sp>
        <p:nvSpPr>
          <p:cNvPr id="62469" name="Slide Number Placeholder 4">
            <a:extLst>
              <a:ext uri="{FF2B5EF4-FFF2-40B4-BE49-F238E27FC236}">
                <a16:creationId xmlns:a16="http://schemas.microsoft.com/office/drawing/2014/main" id="{5BEA3F9F-D667-8C48-B50F-E21534C29C8D}"/>
              </a:ext>
            </a:extLst>
          </p:cNvPr>
          <p:cNvSpPr>
            <a:spLocks noGrp="1" noChangeArrowheads="1"/>
          </p:cNvSpPr>
          <p:nvPr>
            <p:ph type="sldNum" sz="quarter" idx="4294967295"/>
          </p:nvPr>
        </p:nvSpPr>
        <p:spPr bwMode="auto">
          <a:xfrm>
            <a:off x="8305800" y="6324600"/>
            <a:ext cx="4572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1363" indent="-284163">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r" eaLnBrk="1" hangingPunct="1">
              <a:spcBef>
                <a:spcPct val="0"/>
              </a:spcBef>
              <a:buClrTx/>
              <a:buSzTx/>
              <a:buFontTx/>
              <a:buNone/>
            </a:pPr>
            <a:fld id="{4513571F-3E5F-B246-BA23-7750D9ACF576}" type="slidenum">
              <a:rPr lang="en-US" altLang="en-US" sz="1400">
                <a:solidFill>
                  <a:schemeClr val="tx1"/>
                </a:solidFill>
                <a:latin typeface="Times New Roman" panose="02020603050405020304" pitchFamily="18" charset="0"/>
              </a:rPr>
              <a:pPr algn="r" eaLnBrk="1" hangingPunct="1">
                <a:spcBef>
                  <a:spcPct val="0"/>
                </a:spcBef>
                <a:buClrTx/>
                <a:buSzTx/>
                <a:buFontTx/>
                <a:buNone/>
              </a:pPr>
              <a:t>44</a:t>
            </a:fld>
            <a:endParaRPr lang="en-US" altLang="en-US" sz="1400">
              <a:solidFill>
                <a:schemeClr val="tx1"/>
              </a:solidFill>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F2CA1EC-4D4C-D04C-B51C-407C27228225}"/>
              </a:ext>
            </a:extLst>
          </p:cNvPr>
          <p:cNvSpPr>
            <a:spLocks noGrp="1" noChangeArrowheads="1"/>
          </p:cNvSpPr>
          <p:nvPr>
            <p:ph type="title"/>
          </p:nvPr>
        </p:nvSpPr>
        <p:spPr/>
        <p:txBody>
          <a:bodyPr/>
          <a:lstStyle/>
          <a:p>
            <a:r>
              <a:rPr lang="en-US" altLang="en-US"/>
              <a:t>Addressing</a:t>
            </a:r>
          </a:p>
        </p:txBody>
      </p:sp>
      <p:sp>
        <p:nvSpPr>
          <p:cNvPr id="64516" name="Picture 3">
            <a:extLst>
              <a:ext uri="{FF2B5EF4-FFF2-40B4-BE49-F238E27FC236}">
                <a16:creationId xmlns:a16="http://schemas.microsoft.com/office/drawing/2014/main" id="{88E9A348-1A3C-474E-AAC9-0EC0B845EF5E}"/>
              </a:ext>
            </a:extLst>
          </p:cNvPr>
          <p:cNvSpPr>
            <a:spLocks noChangeArrowheads="1"/>
          </p:cNvSpPr>
          <p:nvPr/>
        </p:nvSpPr>
        <p:spPr bwMode="auto">
          <a:xfrm>
            <a:off x="1905000" y="1125538"/>
            <a:ext cx="53340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4517" name="TextBox 1">
            <a:extLst>
              <a:ext uri="{FF2B5EF4-FFF2-40B4-BE49-F238E27FC236}">
                <a16:creationId xmlns:a16="http://schemas.microsoft.com/office/drawing/2014/main" id="{1849C998-2A0A-3D49-AAFA-DB807EBBFD2E}"/>
              </a:ext>
            </a:extLst>
          </p:cNvPr>
          <p:cNvSpPr txBox="1">
            <a:spLocks noChangeArrowheads="1"/>
          </p:cNvSpPr>
          <p:nvPr/>
        </p:nvSpPr>
        <p:spPr bwMode="auto">
          <a:xfrm>
            <a:off x="7823200" y="6596063"/>
            <a:ext cx="13208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a:solidFill>
                  <a:schemeClr val="tx1"/>
                </a:solidFill>
                <a:latin typeface="Times New Roman" panose="02020603050405020304" pitchFamily="18" charset="0"/>
              </a:rPr>
              <a:t>Source:Corporaal05</a:t>
            </a:r>
          </a:p>
        </p:txBody>
      </p:sp>
      <p:pic>
        <p:nvPicPr>
          <p:cNvPr id="7" name="Picture 3">
            <a:extLst>
              <a:ext uri="{FF2B5EF4-FFF2-40B4-BE49-F238E27FC236}">
                <a16:creationId xmlns:a16="http://schemas.microsoft.com/office/drawing/2014/main" id="{B9D71360-74F0-E141-AA6A-3EA1492FD5D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77938"/>
            <a:ext cx="53340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FD16DA9-ECEB-7A49-8D9A-9B572AE22863}"/>
              </a:ext>
            </a:extLst>
          </p:cNvPr>
          <p:cNvSpPr>
            <a:spLocks noGrp="1" noChangeArrowheads="1"/>
          </p:cNvSpPr>
          <p:nvPr>
            <p:ph type="title"/>
          </p:nvPr>
        </p:nvSpPr>
        <p:spPr/>
        <p:txBody>
          <a:bodyPr/>
          <a:lstStyle/>
          <a:p>
            <a:r>
              <a:rPr lang="en-US" altLang="en-US"/>
              <a:t>Instruction format</a:t>
            </a:r>
          </a:p>
        </p:txBody>
      </p:sp>
      <p:sp>
        <p:nvSpPr>
          <p:cNvPr id="65539" name="Rectangle 3">
            <a:extLst>
              <a:ext uri="{FF2B5EF4-FFF2-40B4-BE49-F238E27FC236}">
                <a16:creationId xmlns:a16="http://schemas.microsoft.com/office/drawing/2014/main" id="{AAEA29D1-A353-7644-A7E3-797874485629}"/>
              </a:ext>
            </a:extLst>
          </p:cNvPr>
          <p:cNvSpPr>
            <a:spLocks noChangeArrowheads="1"/>
          </p:cNvSpPr>
          <p:nvPr/>
        </p:nvSpPr>
        <p:spPr bwMode="auto">
          <a:xfrm>
            <a:off x="762000" y="3429000"/>
            <a:ext cx="7696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20000"/>
              </a:spcBef>
              <a:buClr>
                <a:schemeClr val="hlink"/>
              </a:buClr>
              <a:buSzPct val="50000"/>
              <a:buFont typeface="Monotype Sorts" pitchFamily="2" charset="2"/>
              <a:buNone/>
            </a:pPr>
            <a:r>
              <a:rPr lang="en-US" altLang="en-US" sz="1800">
                <a:latin typeface="Arial" panose="020B0604020202020204" pitchFamily="34" charset="0"/>
              </a:rPr>
              <a:t>Example instructions</a:t>
            </a:r>
          </a:p>
          <a:p>
            <a:pPr>
              <a:spcBef>
                <a:spcPct val="20000"/>
              </a:spcBef>
              <a:buClr>
                <a:schemeClr val="hlink"/>
              </a:buClr>
              <a:buSzPct val="50000"/>
              <a:buFont typeface="Monotype Sorts" pitchFamily="2" charset="2"/>
              <a:buNone/>
            </a:pPr>
            <a:r>
              <a:rPr lang="en-US" altLang="en-US" sz="1800">
                <a:latin typeface="Arial" panose="020B0604020202020204" pitchFamily="34" charset="0"/>
              </a:rPr>
              <a:t>  Instruction		            Meaning</a:t>
            </a:r>
          </a:p>
          <a:p>
            <a:pPr>
              <a:spcBef>
                <a:spcPct val="20000"/>
              </a:spcBef>
              <a:buClr>
                <a:schemeClr val="hlink"/>
              </a:buClr>
              <a:buSzPct val="50000"/>
              <a:buFont typeface="Monotype Sorts" pitchFamily="2" charset="2"/>
              <a:buNone/>
            </a:pPr>
            <a:r>
              <a:rPr lang="en-US" altLang="en-US" sz="1800">
                <a:latin typeface="Courier New" panose="02070309020205020404" pitchFamily="49" charset="0"/>
              </a:rPr>
              <a:t>  add  $s1,$s2,$s3         $s1 = $s2 + $s3</a:t>
            </a:r>
          </a:p>
          <a:p>
            <a:pPr>
              <a:spcBef>
                <a:spcPct val="20000"/>
              </a:spcBef>
              <a:buClr>
                <a:schemeClr val="hlink"/>
              </a:buClr>
              <a:buSzPct val="50000"/>
              <a:buFont typeface="Monotype Sorts" pitchFamily="2" charset="2"/>
              <a:buNone/>
            </a:pPr>
            <a:r>
              <a:rPr lang="en-US" altLang="en-US" sz="1800">
                <a:latin typeface="Courier New" panose="02070309020205020404" pitchFamily="49" charset="0"/>
              </a:rPr>
              <a:t>  addi $s2,$s3,4	       $s2 = $s3 + 4  </a:t>
            </a:r>
          </a:p>
          <a:p>
            <a:pPr>
              <a:spcBef>
                <a:spcPct val="20000"/>
              </a:spcBef>
              <a:buClr>
                <a:schemeClr val="hlink"/>
              </a:buClr>
              <a:buSzPct val="50000"/>
              <a:buFont typeface="Monotype Sorts" pitchFamily="2" charset="2"/>
              <a:buNone/>
            </a:pPr>
            <a:r>
              <a:rPr lang="en-US" altLang="en-US" sz="1800">
                <a:latin typeface="Courier New" panose="02070309020205020404" pitchFamily="49" charset="0"/>
              </a:rPr>
              <a:t>  lw $s1,100($s2)	       $s1 = Memory[$s2+100] </a:t>
            </a:r>
          </a:p>
          <a:p>
            <a:pPr>
              <a:spcBef>
                <a:spcPct val="20000"/>
              </a:spcBef>
              <a:buClr>
                <a:schemeClr val="hlink"/>
              </a:buClr>
              <a:buSzPct val="50000"/>
              <a:buFont typeface="Monotype Sorts" pitchFamily="2" charset="2"/>
              <a:buNone/>
            </a:pPr>
            <a:r>
              <a:rPr lang="en-US" altLang="en-US" sz="1800">
                <a:latin typeface="Courier New" panose="02070309020205020404" pitchFamily="49" charset="0"/>
              </a:rPr>
              <a:t>  bne $s4,$s5,L	       if $s4&lt;&gt;$s5 goto L</a:t>
            </a:r>
          </a:p>
          <a:p>
            <a:pPr>
              <a:spcBef>
                <a:spcPct val="20000"/>
              </a:spcBef>
              <a:buClr>
                <a:schemeClr val="hlink"/>
              </a:buClr>
              <a:buSzPct val="50000"/>
              <a:buFont typeface="Monotype Sorts" pitchFamily="2" charset="2"/>
              <a:buNone/>
            </a:pPr>
            <a:r>
              <a:rPr lang="en-US" altLang="en-US" sz="1800">
                <a:latin typeface="Courier New" panose="02070309020205020404" pitchFamily="49" charset="0"/>
              </a:rPr>
              <a:t>  j Label		       goto Label</a:t>
            </a:r>
          </a:p>
        </p:txBody>
      </p:sp>
      <p:grpSp>
        <p:nvGrpSpPr>
          <p:cNvPr id="65540" name="Group 5">
            <a:extLst>
              <a:ext uri="{FF2B5EF4-FFF2-40B4-BE49-F238E27FC236}">
                <a16:creationId xmlns:a16="http://schemas.microsoft.com/office/drawing/2014/main" id="{1C4E9754-DD64-044E-A2F8-1704DB411665}"/>
              </a:ext>
            </a:extLst>
          </p:cNvPr>
          <p:cNvGrpSpPr>
            <a:grpSpLocks/>
          </p:cNvGrpSpPr>
          <p:nvPr/>
        </p:nvGrpSpPr>
        <p:grpSpPr bwMode="auto">
          <a:xfrm>
            <a:off x="1143000" y="1600200"/>
            <a:ext cx="6445250" cy="1379538"/>
            <a:chOff x="420" y="2891"/>
            <a:chExt cx="4060" cy="869"/>
          </a:xfrm>
        </p:grpSpPr>
        <p:grpSp>
          <p:nvGrpSpPr>
            <p:cNvPr id="65543" name="Group 6">
              <a:extLst>
                <a:ext uri="{FF2B5EF4-FFF2-40B4-BE49-F238E27FC236}">
                  <a16:creationId xmlns:a16="http://schemas.microsoft.com/office/drawing/2014/main" id="{136A9C9B-AB7A-5B4F-B1B6-D4CD6C1B9078}"/>
                </a:ext>
              </a:extLst>
            </p:cNvPr>
            <p:cNvGrpSpPr>
              <a:grpSpLocks/>
            </p:cNvGrpSpPr>
            <p:nvPr/>
          </p:nvGrpSpPr>
          <p:grpSpPr bwMode="auto">
            <a:xfrm>
              <a:off x="645" y="3171"/>
              <a:ext cx="3835" cy="213"/>
              <a:chOff x="645" y="3171"/>
              <a:chExt cx="3835" cy="213"/>
            </a:xfrm>
          </p:grpSpPr>
          <p:sp>
            <p:nvSpPr>
              <p:cNvPr id="65558" name="Rectangle 7">
                <a:extLst>
                  <a:ext uri="{FF2B5EF4-FFF2-40B4-BE49-F238E27FC236}">
                    <a16:creationId xmlns:a16="http://schemas.microsoft.com/office/drawing/2014/main" id="{E01D8DBB-FC08-2140-A82C-4F3A9081B6FF}"/>
                  </a:ext>
                </a:extLst>
              </p:cNvPr>
              <p:cNvSpPr>
                <a:spLocks noChangeArrowheads="1"/>
              </p:cNvSpPr>
              <p:nvPr/>
            </p:nvSpPr>
            <p:spPr bwMode="auto">
              <a:xfrm>
                <a:off x="645" y="3171"/>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59" name="Rectangle 8">
                <a:extLst>
                  <a:ext uri="{FF2B5EF4-FFF2-40B4-BE49-F238E27FC236}">
                    <a16:creationId xmlns:a16="http://schemas.microsoft.com/office/drawing/2014/main" id="{C2046691-58BA-B741-957A-BC81223F6E17}"/>
                  </a:ext>
                </a:extLst>
              </p:cNvPr>
              <p:cNvSpPr>
                <a:spLocks noChangeArrowheads="1"/>
              </p:cNvSpPr>
              <p:nvPr/>
            </p:nvSpPr>
            <p:spPr bwMode="auto">
              <a:xfrm>
                <a:off x="1284" y="3171"/>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60" name="Rectangle 9">
                <a:extLst>
                  <a:ext uri="{FF2B5EF4-FFF2-40B4-BE49-F238E27FC236}">
                    <a16:creationId xmlns:a16="http://schemas.microsoft.com/office/drawing/2014/main" id="{F961A0E4-2145-C344-B1E6-132E0BA45CA8}"/>
                  </a:ext>
                </a:extLst>
              </p:cNvPr>
              <p:cNvSpPr>
                <a:spLocks noChangeArrowheads="1"/>
              </p:cNvSpPr>
              <p:nvPr/>
            </p:nvSpPr>
            <p:spPr bwMode="auto">
              <a:xfrm>
                <a:off x="1923" y="3171"/>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61" name="Rectangle 10">
                <a:extLst>
                  <a:ext uri="{FF2B5EF4-FFF2-40B4-BE49-F238E27FC236}">
                    <a16:creationId xmlns:a16="http://schemas.microsoft.com/office/drawing/2014/main" id="{8B17185E-DA7A-ED4A-85C2-FBDEE0517C26}"/>
                  </a:ext>
                </a:extLst>
              </p:cNvPr>
              <p:cNvSpPr>
                <a:spLocks noChangeArrowheads="1"/>
              </p:cNvSpPr>
              <p:nvPr/>
            </p:nvSpPr>
            <p:spPr bwMode="auto">
              <a:xfrm>
                <a:off x="2562" y="3171"/>
                <a:ext cx="1918"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5544" name="Group 11">
              <a:extLst>
                <a:ext uri="{FF2B5EF4-FFF2-40B4-BE49-F238E27FC236}">
                  <a16:creationId xmlns:a16="http://schemas.microsoft.com/office/drawing/2014/main" id="{685BDEBB-FFA8-3941-93B5-F860D22CB2E0}"/>
                </a:ext>
              </a:extLst>
            </p:cNvPr>
            <p:cNvGrpSpPr>
              <a:grpSpLocks/>
            </p:cNvGrpSpPr>
            <p:nvPr/>
          </p:nvGrpSpPr>
          <p:grpSpPr bwMode="auto">
            <a:xfrm>
              <a:off x="645" y="2918"/>
              <a:ext cx="3835" cy="213"/>
              <a:chOff x="645" y="2918"/>
              <a:chExt cx="3835" cy="213"/>
            </a:xfrm>
          </p:grpSpPr>
          <p:sp>
            <p:nvSpPr>
              <p:cNvPr id="65552" name="Rectangle 12">
                <a:extLst>
                  <a:ext uri="{FF2B5EF4-FFF2-40B4-BE49-F238E27FC236}">
                    <a16:creationId xmlns:a16="http://schemas.microsoft.com/office/drawing/2014/main" id="{0ACA4672-DB7D-5F49-8991-28521B7DBA88}"/>
                  </a:ext>
                </a:extLst>
              </p:cNvPr>
              <p:cNvSpPr>
                <a:spLocks noChangeArrowheads="1"/>
              </p:cNvSpPr>
              <p:nvPr/>
            </p:nvSpPr>
            <p:spPr bwMode="auto">
              <a:xfrm>
                <a:off x="645" y="2918"/>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53" name="Rectangle 13">
                <a:extLst>
                  <a:ext uri="{FF2B5EF4-FFF2-40B4-BE49-F238E27FC236}">
                    <a16:creationId xmlns:a16="http://schemas.microsoft.com/office/drawing/2014/main" id="{AC47995E-5154-7941-8BD9-47B2A9F6FC55}"/>
                  </a:ext>
                </a:extLst>
              </p:cNvPr>
              <p:cNvSpPr>
                <a:spLocks noChangeArrowheads="1"/>
              </p:cNvSpPr>
              <p:nvPr/>
            </p:nvSpPr>
            <p:spPr bwMode="auto">
              <a:xfrm>
                <a:off x="1284" y="2918"/>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54" name="Rectangle 14">
                <a:extLst>
                  <a:ext uri="{FF2B5EF4-FFF2-40B4-BE49-F238E27FC236}">
                    <a16:creationId xmlns:a16="http://schemas.microsoft.com/office/drawing/2014/main" id="{2FCFDF60-586B-D943-AA01-2E6B5941D497}"/>
                  </a:ext>
                </a:extLst>
              </p:cNvPr>
              <p:cNvSpPr>
                <a:spLocks noChangeArrowheads="1"/>
              </p:cNvSpPr>
              <p:nvPr/>
            </p:nvSpPr>
            <p:spPr bwMode="auto">
              <a:xfrm>
                <a:off x="1923" y="2918"/>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55" name="Rectangle 15">
                <a:extLst>
                  <a:ext uri="{FF2B5EF4-FFF2-40B4-BE49-F238E27FC236}">
                    <a16:creationId xmlns:a16="http://schemas.microsoft.com/office/drawing/2014/main" id="{4F423BF0-7807-134F-A93D-179C48A4D87E}"/>
                  </a:ext>
                </a:extLst>
              </p:cNvPr>
              <p:cNvSpPr>
                <a:spLocks noChangeArrowheads="1"/>
              </p:cNvSpPr>
              <p:nvPr/>
            </p:nvSpPr>
            <p:spPr bwMode="auto">
              <a:xfrm>
                <a:off x="2562" y="2918"/>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56" name="Rectangle 16">
                <a:extLst>
                  <a:ext uri="{FF2B5EF4-FFF2-40B4-BE49-F238E27FC236}">
                    <a16:creationId xmlns:a16="http://schemas.microsoft.com/office/drawing/2014/main" id="{71F0E9B6-9670-9E45-AB5C-A6A3BACF808A}"/>
                  </a:ext>
                </a:extLst>
              </p:cNvPr>
              <p:cNvSpPr>
                <a:spLocks noChangeArrowheads="1"/>
              </p:cNvSpPr>
              <p:nvPr/>
            </p:nvSpPr>
            <p:spPr bwMode="auto">
              <a:xfrm>
                <a:off x="3202" y="2918"/>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57" name="Rectangle 17">
                <a:extLst>
                  <a:ext uri="{FF2B5EF4-FFF2-40B4-BE49-F238E27FC236}">
                    <a16:creationId xmlns:a16="http://schemas.microsoft.com/office/drawing/2014/main" id="{EF6B30A6-A152-0040-8929-D54AF9FB1715}"/>
                  </a:ext>
                </a:extLst>
              </p:cNvPr>
              <p:cNvSpPr>
                <a:spLocks noChangeArrowheads="1"/>
              </p:cNvSpPr>
              <p:nvPr/>
            </p:nvSpPr>
            <p:spPr bwMode="auto">
              <a:xfrm>
                <a:off x="3841" y="2918"/>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5545" name="Group 18">
              <a:extLst>
                <a:ext uri="{FF2B5EF4-FFF2-40B4-BE49-F238E27FC236}">
                  <a16:creationId xmlns:a16="http://schemas.microsoft.com/office/drawing/2014/main" id="{F645FED9-38E0-5242-A708-6F59AAC4E733}"/>
                </a:ext>
              </a:extLst>
            </p:cNvPr>
            <p:cNvGrpSpPr>
              <a:grpSpLocks/>
            </p:cNvGrpSpPr>
            <p:nvPr/>
          </p:nvGrpSpPr>
          <p:grpSpPr bwMode="auto">
            <a:xfrm>
              <a:off x="645" y="3424"/>
              <a:ext cx="3835" cy="213"/>
              <a:chOff x="645" y="3424"/>
              <a:chExt cx="3835" cy="213"/>
            </a:xfrm>
          </p:grpSpPr>
          <p:sp>
            <p:nvSpPr>
              <p:cNvPr id="65550" name="Rectangle 19">
                <a:extLst>
                  <a:ext uri="{FF2B5EF4-FFF2-40B4-BE49-F238E27FC236}">
                    <a16:creationId xmlns:a16="http://schemas.microsoft.com/office/drawing/2014/main" id="{E8D08949-5799-8748-929B-1689589A5C1F}"/>
                  </a:ext>
                </a:extLst>
              </p:cNvPr>
              <p:cNvSpPr>
                <a:spLocks noChangeArrowheads="1"/>
              </p:cNvSpPr>
              <p:nvPr/>
            </p:nvSpPr>
            <p:spPr bwMode="auto">
              <a:xfrm>
                <a:off x="645" y="3424"/>
                <a:ext cx="639"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551" name="Rectangle 20">
                <a:extLst>
                  <a:ext uri="{FF2B5EF4-FFF2-40B4-BE49-F238E27FC236}">
                    <a16:creationId xmlns:a16="http://schemas.microsoft.com/office/drawing/2014/main" id="{BC4EDD2F-1F78-0543-BBBD-191427ED5FA6}"/>
                  </a:ext>
                </a:extLst>
              </p:cNvPr>
              <p:cNvSpPr>
                <a:spLocks noChangeArrowheads="1"/>
              </p:cNvSpPr>
              <p:nvPr/>
            </p:nvSpPr>
            <p:spPr bwMode="auto">
              <a:xfrm>
                <a:off x="1284" y="3424"/>
                <a:ext cx="3196" cy="2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5546" name="Group 21">
              <a:extLst>
                <a:ext uri="{FF2B5EF4-FFF2-40B4-BE49-F238E27FC236}">
                  <a16:creationId xmlns:a16="http://schemas.microsoft.com/office/drawing/2014/main" id="{CDFEFB5B-439A-9D44-9711-CD1F4F184F9B}"/>
                </a:ext>
              </a:extLst>
            </p:cNvPr>
            <p:cNvGrpSpPr>
              <a:grpSpLocks/>
            </p:cNvGrpSpPr>
            <p:nvPr/>
          </p:nvGrpSpPr>
          <p:grpSpPr bwMode="auto">
            <a:xfrm>
              <a:off x="420" y="2891"/>
              <a:ext cx="4040" cy="869"/>
              <a:chOff x="420" y="2891"/>
              <a:chExt cx="4040" cy="869"/>
            </a:xfrm>
          </p:grpSpPr>
          <p:sp>
            <p:nvSpPr>
              <p:cNvPr id="65547" name="Rectangle 22">
                <a:extLst>
                  <a:ext uri="{FF2B5EF4-FFF2-40B4-BE49-F238E27FC236}">
                    <a16:creationId xmlns:a16="http://schemas.microsoft.com/office/drawing/2014/main" id="{F7A3E59E-2069-3446-864A-DD81B96FC746}"/>
                  </a:ext>
                </a:extLst>
              </p:cNvPr>
              <p:cNvSpPr>
                <a:spLocks noChangeArrowheads="1"/>
              </p:cNvSpPr>
              <p:nvPr/>
            </p:nvSpPr>
            <p:spPr bwMode="auto">
              <a:xfrm>
                <a:off x="436" y="2891"/>
                <a:ext cx="4024"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9050" tIns="26988" rIns="19050" bIns="26988"/>
              <a:lstStyle>
                <a:lvl1pPr marL="112713" defTabSz="904875">
                  <a:spcBef>
                    <a:spcPts val="688"/>
                  </a:spcBef>
                  <a:buClr>
                    <a:srgbClr val="FFC000"/>
                  </a:buClr>
                  <a:buSzPct val="100000"/>
                  <a:buFont typeface="Wingdings" pitchFamily="2" charset="2"/>
                  <a:buChar char=""/>
                  <a:tabLst>
                    <a:tab pos="452438" algn="l"/>
                    <a:tab pos="1520825" algn="l"/>
                    <a:tab pos="2540000" algn="l"/>
                    <a:tab pos="3557588" algn="l"/>
                    <a:tab pos="4638675" algn="l"/>
                    <a:tab pos="5594350" algn="l"/>
                  </a:tabLst>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defTabSz="904875">
                  <a:spcBef>
                    <a:spcPts val="588"/>
                  </a:spcBef>
                  <a:buClr>
                    <a:srgbClr val="000000"/>
                  </a:buClr>
                  <a:buSzPct val="100000"/>
                  <a:buFont typeface="Times New Roman" panose="02020603050405020304" pitchFamily="18" charset="0"/>
                  <a:buChar char="–"/>
                  <a:tabLst>
                    <a:tab pos="452438" algn="l"/>
                    <a:tab pos="1520825" algn="l"/>
                    <a:tab pos="2540000" algn="l"/>
                    <a:tab pos="3557588" algn="l"/>
                    <a:tab pos="4638675" algn="l"/>
                    <a:tab pos="5594350" algn="l"/>
                  </a:tabLst>
                  <a:defRPr sz="2400">
                    <a:solidFill>
                      <a:srgbClr val="000000"/>
                    </a:solidFill>
                    <a:latin typeface="Garamond" panose="02020404030301010803" pitchFamily="18" charset="0"/>
                    <a:ea typeface="HG Mincho Light J" charset="0"/>
                    <a:cs typeface="HG Mincho Light J" charset="0"/>
                  </a:defRPr>
                </a:lvl2pPr>
                <a:lvl3pPr marL="1143000" indent="-228600" defTabSz="904875">
                  <a:spcBef>
                    <a:spcPts val="588"/>
                  </a:spcBef>
                  <a:buClr>
                    <a:srgbClr val="000000"/>
                  </a:buClr>
                  <a:buSzPct val="100000"/>
                  <a:buFont typeface="Times New Roman" panose="02020603050405020304" pitchFamily="18" charset="0"/>
                  <a:buChar char="•"/>
                  <a:tabLst>
                    <a:tab pos="452438" algn="l"/>
                    <a:tab pos="1520825" algn="l"/>
                    <a:tab pos="2540000" algn="l"/>
                    <a:tab pos="3557588" algn="l"/>
                    <a:tab pos="4638675" algn="l"/>
                    <a:tab pos="5594350" algn="l"/>
                  </a:tabLst>
                  <a:defRPr sz="2000">
                    <a:solidFill>
                      <a:srgbClr val="000000"/>
                    </a:solidFill>
                    <a:latin typeface="Garamond" panose="02020404030301010803" pitchFamily="18" charset="0"/>
                    <a:ea typeface="HG Mincho Light J" charset="0"/>
                    <a:cs typeface="HG Mincho Light J" charset="0"/>
                  </a:defRPr>
                </a:lvl3pPr>
                <a:lvl4pPr marL="1600200" indent="-228600" defTabSz="904875">
                  <a:spcBef>
                    <a:spcPts val="488"/>
                  </a:spcBef>
                  <a:buClr>
                    <a:srgbClr val="000000"/>
                  </a:buClr>
                  <a:buSzPct val="100000"/>
                  <a:buFont typeface="Wingdings" pitchFamily="2" charset="2"/>
                  <a:tabLst>
                    <a:tab pos="452438" algn="l"/>
                    <a:tab pos="1520825" algn="l"/>
                    <a:tab pos="2540000" algn="l"/>
                    <a:tab pos="3557588" algn="l"/>
                    <a:tab pos="4638675" algn="l"/>
                    <a:tab pos="5594350" algn="l"/>
                  </a:tabLst>
                  <a:defRPr>
                    <a:solidFill>
                      <a:srgbClr val="000000"/>
                    </a:solidFill>
                    <a:latin typeface="Garamond" panose="02020404030301010803" pitchFamily="18" charset="0"/>
                    <a:ea typeface="HG Mincho Light J" charset="0"/>
                    <a:cs typeface="HG Mincho Light J" charset="0"/>
                  </a:defRPr>
                </a:lvl4pPr>
                <a:lvl5pPr marL="2057400" indent="-228600" defTabSz="904875">
                  <a:spcBef>
                    <a:spcPts val="488"/>
                  </a:spcBef>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5pPr>
                <a:lvl6pPr marL="25146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6pPr>
                <a:lvl7pPr marL="29718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7pPr>
                <a:lvl8pPr marL="34290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8pPr>
                <a:lvl9pPr marL="38862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9pPr>
              </a:lstStyle>
              <a:p>
                <a:pPr>
                  <a:lnSpc>
                    <a:spcPts val="2700"/>
                  </a:lnSpc>
                  <a:spcBef>
                    <a:spcPts val="600"/>
                  </a:spcBef>
                  <a:spcAft>
                    <a:spcPts val="600"/>
                  </a:spcAft>
                  <a:buClrTx/>
                  <a:buSzTx/>
                  <a:buFontTx/>
                  <a:buNone/>
                </a:pPr>
                <a:r>
                  <a:rPr lang="en-US" altLang="en-US" sz="1800">
                    <a:latin typeface="Courier New" panose="02070309020205020404" pitchFamily="49" charset="0"/>
                  </a:rPr>
                  <a:t>	  op	  rs	  rt	  rd	shamt	funct</a:t>
                </a:r>
              </a:p>
            </p:txBody>
          </p:sp>
          <p:sp>
            <p:nvSpPr>
              <p:cNvPr id="65548" name="Rectangle 23">
                <a:extLst>
                  <a:ext uri="{FF2B5EF4-FFF2-40B4-BE49-F238E27FC236}">
                    <a16:creationId xmlns:a16="http://schemas.microsoft.com/office/drawing/2014/main" id="{8A5D4F74-BEC1-6E4D-864A-F5E9E65EEAB5}"/>
                  </a:ext>
                </a:extLst>
              </p:cNvPr>
              <p:cNvSpPr>
                <a:spLocks noChangeArrowheads="1"/>
              </p:cNvSpPr>
              <p:nvPr/>
            </p:nvSpPr>
            <p:spPr bwMode="auto">
              <a:xfrm>
                <a:off x="420" y="3120"/>
                <a:ext cx="3701"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9050" tIns="26988" rIns="19050" bIns="26988"/>
              <a:lstStyle>
                <a:lvl1pPr marL="112713" defTabSz="904875">
                  <a:spcBef>
                    <a:spcPts val="688"/>
                  </a:spcBef>
                  <a:buClr>
                    <a:srgbClr val="FFC000"/>
                  </a:buClr>
                  <a:buSzPct val="100000"/>
                  <a:buFont typeface="Wingdings" pitchFamily="2" charset="2"/>
                  <a:buChar char=""/>
                  <a:tabLst>
                    <a:tab pos="452438" algn="l"/>
                    <a:tab pos="1520825" algn="l"/>
                    <a:tab pos="2540000" algn="l"/>
                    <a:tab pos="3557588" algn="l"/>
                    <a:tab pos="4638675" algn="l"/>
                    <a:tab pos="5594350" algn="l"/>
                  </a:tabLst>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defTabSz="904875">
                  <a:spcBef>
                    <a:spcPts val="588"/>
                  </a:spcBef>
                  <a:buClr>
                    <a:srgbClr val="000000"/>
                  </a:buClr>
                  <a:buSzPct val="100000"/>
                  <a:buFont typeface="Times New Roman" panose="02020603050405020304" pitchFamily="18" charset="0"/>
                  <a:buChar char="–"/>
                  <a:tabLst>
                    <a:tab pos="452438" algn="l"/>
                    <a:tab pos="1520825" algn="l"/>
                    <a:tab pos="2540000" algn="l"/>
                    <a:tab pos="3557588" algn="l"/>
                    <a:tab pos="4638675" algn="l"/>
                    <a:tab pos="5594350" algn="l"/>
                  </a:tabLst>
                  <a:defRPr sz="2400">
                    <a:solidFill>
                      <a:srgbClr val="000000"/>
                    </a:solidFill>
                    <a:latin typeface="Garamond" panose="02020404030301010803" pitchFamily="18" charset="0"/>
                    <a:ea typeface="HG Mincho Light J" charset="0"/>
                    <a:cs typeface="HG Mincho Light J" charset="0"/>
                  </a:defRPr>
                </a:lvl2pPr>
                <a:lvl3pPr marL="1143000" indent="-228600" defTabSz="904875">
                  <a:spcBef>
                    <a:spcPts val="588"/>
                  </a:spcBef>
                  <a:buClr>
                    <a:srgbClr val="000000"/>
                  </a:buClr>
                  <a:buSzPct val="100000"/>
                  <a:buFont typeface="Times New Roman" panose="02020603050405020304" pitchFamily="18" charset="0"/>
                  <a:buChar char="•"/>
                  <a:tabLst>
                    <a:tab pos="452438" algn="l"/>
                    <a:tab pos="1520825" algn="l"/>
                    <a:tab pos="2540000" algn="l"/>
                    <a:tab pos="3557588" algn="l"/>
                    <a:tab pos="4638675" algn="l"/>
                    <a:tab pos="5594350" algn="l"/>
                  </a:tabLst>
                  <a:defRPr sz="2000">
                    <a:solidFill>
                      <a:srgbClr val="000000"/>
                    </a:solidFill>
                    <a:latin typeface="Garamond" panose="02020404030301010803" pitchFamily="18" charset="0"/>
                    <a:ea typeface="HG Mincho Light J" charset="0"/>
                    <a:cs typeface="HG Mincho Light J" charset="0"/>
                  </a:defRPr>
                </a:lvl3pPr>
                <a:lvl4pPr marL="1600200" indent="-228600" defTabSz="904875">
                  <a:spcBef>
                    <a:spcPts val="488"/>
                  </a:spcBef>
                  <a:buClr>
                    <a:srgbClr val="000000"/>
                  </a:buClr>
                  <a:buSzPct val="100000"/>
                  <a:buFont typeface="Wingdings" pitchFamily="2" charset="2"/>
                  <a:tabLst>
                    <a:tab pos="452438" algn="l"/>
                    <a:tab pos="1520825" algn="l"/>
                    <a:tab pos="2540000" algn="l"/>
                    <a:tab pos="3557588" algn="l"/>
                    <a:tab pos="4638675" algn="l"/>
                    <a:tab pos="5594350" algn="l"/>
                  </a:tabLst>
                  <a:defRPr>
                    <a:solidFill>
                      <a:srgbClr val="000000"/>
                    </a:solidFill>
                    <a:latin typeface="Garamond" panose="02020404030301010803" pitchFamily="18" charset="0"/>
                    <a:ea typeface="HG Mincho Light J" charset="0"/>
                    <a:cs typeface="HG Mincho Light J" charset="0"/>
                  </a:defRPr>
                </a:lvl4pPr>
                <a:lvl5pPr marL="2057400" indent="-228600" defTabSz="904875">
                  <a:spcBef>
                    <a:spcPts val="488"/>
                  </a:spcBef>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5pPr>
                <a:lvl6pPr marL="25146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6pPr>
                <a:lvl7pPr marL="29718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7pPr>
                <a:lvl8pPr marL="34290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8pPr>
                <a:lvl9pPr marL="38862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9pPr>
              </a:lstStyle>
              <a:p>
                <a:pPr>
                  <a:lnSpc>
                    <a:spcPts val="2700"/>
                  </a:lnSpc>
                  <a:spcBef>
                    <a:spcPts val="600"/>
                  </a:spcBef>
                  <a:spcAft>
                    <a:spcPts val="600"/>
                  </a:spcAft>
                  <a:buClrTx/>
                  <a:buSzTx/>
                  <a:buFontTx/>
                  <a:buNone/>
                </a:pPr>
                <a:r>
                  <a:rPr lang="en-US" altLang="en-US" sz="1800">
                    <a:latin typeface="Courier New" panose="02070309020205020404" pitchFamily="49" charset="0"/>
                  </a:rPr>
                  <a:t>	  op	  rs	  rt	  16 bit address</a:t>
                </a:r>
                <a:br>
                  <a:rPr lang="en-US" altLang="en-US" sz="1800">
                    <a:latin typeface="Courier New" panose="02070309020205020404" pitchFamily="49" charset="0"/>
                  </a:rPr>
                </a:br>
                <a:endParaRPr lang="en-US" altLang="en-US" sz="1800">
                  <a:latin typeface="Courier New" panose="02070309020205020404" pitchFamily="49" charset="0"/>
                </a:endParaRPr>
              </a:p>
            </p:txBody>
          </p:sp>
          <p:sp>
            <p:nvSpPr>
              <p:cNvPr id="65549" name="Rectangle 24">
                <a:extLst>
                  <a:ext uri="{FF2B5EF4-FFF2-40B4-BE49-F238E27FC236}">
                    <a16:creationId xmlns:a16="http://schemas.microsoft.com/office/drawing/2014/main" id="{67EA5B7C-63E7-A745-8293-BF567AB48E9C}"/>
                  </a:ext>
                </a:extLst>
              </p:cNvPr>
              <p:cNvSpPr>
                <a:spLocks noChangeArrowheads="1"/>
              </p:cNvSpPr>
              <p:nvPr/>
            </p:nvSpPr>
            <p:spPr bwMode="auto">
              <a:xfrm>
                <a:off x="420" y="3373"/>
                <a:ext cx="3062"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9050" tIns="26988" rIns="19050" bIns="26988"/>
              <a:lstStyle>
                <a:lvl1pPr marL="112713" defTabSz="904875">
                  <a:spcBef>
                    <a:spcPts val="688"/>
                  </a:spcBef>
                  <a:buClr>
                    <a:srgbClr val="FFC000"/>
                  </a:buClr>
                  <a:buSzPct val="100000"/>
                  <a:buFont typeface="Wingdings" pitchFamily="2" charset="2"/>
                  <a:buChar char=""/>
                  <a:tabLst>
                    <a:tab pos="452438" algn="l"/>
                    <a:tab pos="1520825" algn="l"/>
                    <a:tab pos="2540000" algn="l"/>
                    <a:tab pos="3557588" algn="l"/>
                    <a:tab pos="4638675" algn="l"/>
                    <a:tab pos="5594350" algn="l"/>
                  </a:tabLst>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defTabSz="904875">
                  <a:spcBef>
                    <a:spcPts val="588"/>
                  </a:spcBef>
                  <a:buClr>
                    <a:srgbClr val="000000"/>
                  </a:buClr>
                  <a:buSzPct val="100000"/>
                  <a:buFont typeface="Times New Roman" panose="02020603050405020304" pitchFamily="18" charset="0"/>
                  <a:buChar char="–"/>
                  <a:tabLst>
                    <a:tab pos="452438" algn="l"/>
                    <a:tab pos="1520825" algn="l"/>
                    <a:tab pos="2540000" algn="l"/>
                    <a:tab pos="3557588" algn="l"/>
                    <a:tab pos="4638675" algn="l"/>
                    <a:tab pos="5594350" algn="l"/>
                  </a:tabLst>
                  <a:defRPr sz="2400">
                    <a:solidFill>
                      <a:srgbClr val="000000"/>
                    </a:solidFill>
                    <a:latin typeface="Garamond" panose="02020404030301010803" pitchFamily="18" charset="0"/>
                    <a:ea typeface="HG Mincho Light J" charset="0"/>
                    <a:cs typeface="HG Mincho Light J" charset="0"/>
                  </a:defRPr>
                </a:lvl2pPr>
                <a:lvl3pPr marL="1143000" indent="-228600" defTabSz="904875">
                  <a:spcBef>
                    <a:spcPts val="588"/>
                  </a:spcBef>
                  <a:buClr>
                    <a:srgbClr val="000000"/>
                  </a:buClr>
                  <a:buSzPct val="100000"/>
                  <a:buFont typeface="Times New Roman" panose="02020603050405020304" pitchFamily="18" charset="0"/>
                  <a:buChar char="•"/>
                  <a:tabLst>
                    <a:tab pos="452438" algn="l"/>
                    <a:tab pos="1520825" algn="l"/>
                    <a:tab pos="2540000" algn="l"/>
                    <a:tab pos="3557588" algn="l"/>
                    <a:tab pos="4638675" algn="l"/>
                    <a:tab pos="5594350" algn="l"/>
                  </a:tabLst>
                  <a:defRPr sz="2000">
                    <a:solidFill>
                      <a:srgbClr val="000000"/>
                    </a:solidFill>
                    <a:latin typeface="Garamond" panose="02020404030301010803" pitchFamily="18" charset="0"/>
                    <a:ea typeface="HG Mincho Light J" charset="0"/>
                    <a:cs typeface="HG Mincho Light J" charset="0"/>
                  </a:defRPr>
                </a:lvl3pPr>
                <a:lvl4pPr marL="1600200" indent="-228600" defTabSz="904875">
                  <a:spcBef>
                    <a:spcPts val="488"/>
                  </a:spcBef>
                  <a:buClr>
                    <a:srgbClr val="000000"/>
                  </a:buClr>
                  <a:buSzPct val="100000"/>
                  <a:buFont typeface="Wingdings" pitchFamily="2" charset="2"/>
                  <a:tabLst>
                    <a:tab pos="452438" algn="l"/>
                    <a:tab pos="1520825" algn="l"/>
                    <a:tab pos="2540000" algn="l"/>
                    <a:tab pos="3557588" algn="l"/>
                    <a:tab pos="4638675" algn="l"/>
                    <a:tab pos="5594350" algn="l"/>
                  </a:tabLst>
                  <a:defRPr>
                    <a:solidFill>
                      <a:srgbClr val="000000"/>
                    </a:solidFill>
                    <a:latin typeface="Garamond" panose="02020404030301010803" pitchFamily="18" charset="0"/>
                    <a:ea typeface="HG Mincho Light J" charset="0"/>
                    <a:cs typeface="HG Mincho Light J" charset="0"/>
                  </a:defRPr>
                </a:lvl4pPr>
                <a:lvl5pPr marL="2057400" indent="-228600" defTabSz="904875">
                  <a:spcBef>
                    <a:spcPts val="488"/>
                  </a:spcBef>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5pPr>
                <a:lvl6pPr marL="25146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6pPr>
                <a:lvl7pPr marL="29718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7pPr>
                <a:lvl8pPr marL="34290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8pPr>
                <a:lvl9pPr marL="38862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1520825" algn="l"/>
                    <a:tab pos="2540000" algn="l"/>
                    <a:tab pos="3557588" algn="l"/>
                    <a:tab pos="4638675" algn="l"/>
                    <a:tab pos="5594350" algn="l"/>
                  </a:tabLst>
                  <a:defRPr sz="1400">
                    <a:solidFill>
                      <a:srgbClr val="000000"/>
                    </a:solidFill>
                    <a:latin typeface="Garamond" panose="02020404030301010803" pitchFamily="18" charset="0"/>
                    <a:ea typeface="HG Mincho Light J" charset="0"/>
                    <a:cs typeface="HG Mincho Light J" charset="0"/>
                  </a:defRPr>
                </a:lvl9pPr>
              </a:lstStyle>
              <a:p>
                <a:pPr>
                  <a:lnSpc>
                    <a:spcPts val="2700"/>
                  </a:lnSpc>
                  <a:spcBef>
                    <a:spcPts val="600"/>
                  </a:spcBef>
                  <a:spcAft>
                    <a:spcPts val="600"/>
                  </a:spcAft>
                  <a:buClrTx/>
                  <a:buSzTx/>
                  <a:buFontTx/>
                  <a:buNone/>
                </a:pPr>
                <a:r>
                  <a:rPr lang="en-US" altLang="en-US" sz="1800">
                    <a:latin typeface="Courier New" panose="02070309020205020404" pitchFamily="49" charset="0"/>
                  </a:rPr>
                  <a:t>	  op	  	  26 bit address</a:t>
                </a:r>
              </a:p>
            </p:txBody>
          </p:sp>
        </p:grpSp>
      </p:grpSp>
      <p:sp>
        <p:nvSpPr>
          <p:cNvPr id="65541" name="Rectangle 25">
            <a:extLst>
              <a:ext uri="{FF2B5EF4-FFF2-40B4-BE49-F238E27FC236}">
                <a16:creationId xmlns:a16="http://schemas.microsoft.com/office/drawing/2014/main" id="{56BD6FC8-2644-AC42-8BEF-6DF5AC54EA90}"/>
              </a:ext>
            </a:extLst>
          </p:cNvPr>
          <p:cNvSpPr>
            <a:spLocks noChangeArrowheads="1"/>
          </p:cNvSpPr>
          <p:nvPr/>
        </p:nvSpPr>
        <p:spPr bwMode="auto">
          <a:xfrm>
            <a:off x="1143000" y="1646238"/>
            <a:ext cx="400050"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9050" tIns="26988" rIns="19050" bIns="26988"/>
          <a:lstStyle>
            <a:lvl1pPr defTabSz="904875">
              <a:spcBef>
                <a:spcPts val="688"/>
              </a:spcBef>
              <a:buClr>
                <a:srgbClr val="FFC000"/>
              </a:buClr>
              <a:buSzPct val="100000"/>
              <a:buFont typeface="Wingdings" pitchFamily="2" charset="2"/>
              <a:buChar char=""/>
              <a:tabLst>
                <a:tab pos="452438" algn="l"/>
                <a:tab pos="904875" algn="l"/>
                <a:tab pos="1357313" algn="l"/>
              </a:tabLst>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defTabSz="904875">
              <a:spcBef>
                <a:spcPts val="588"/>
              </a:spcBef>
              <a:buClr>
                <a:srgbClr val="000000"/>
              </a:buClr>
              <a:buSzPct val="100000"/>
              <a:buFont typeface="Times New Roman" panose="02020603050405020304" pitchFamily="18" charset="0"/>
              <a:buChar char="–"/>
              <a:tabLst>
                <a:tab pos="452438" algn="l"/>
                <a:tab pos="904875" algn="l"/>
                <a:tab pos="1357313" algn="l"/>
              </a:tabLst>
              <a:defRPr sz="2400">
                <a:solidFill>
                  <a:srgbClr val="000000"/>
                </a:solidFill>
                <a:latin typeface="Garamond" panose="02020404030301010803" pitchFamily="18" charset="0"/>
                <a:ea typeface="HG Mincho Light J" charset="0"/>
                <a:cs typeface="HG Mincho Light J" charset="0"/>
              </a:defRPr>
            </a:lvl2pPr>
            <a:lvl3pPr marL="1143000" indent="-228600" defTabSz="904875">
              <a:spcBef>
                <a:spcPts val="588"/>
              </a:spcBef>
              <a:buClr>
                <a:srgbClr val="000000"/>
              </a:buClr>
              <a:buSzPct val="100000"/>
              <a:buFont typeface="Times New Roman" panose="02020603050405020304" pitchFamily="18" charset="0"/>
              <a:buChar char="•"/>
              <a:tabLst>
                <a:tab pos="452438" algn="l"/>
                <a:tab pos="904875" algn="l"/>
                <a:tab pos="1357313" algn="l"/>
              </a:tabLst>
              <a:defRPr sz="2000">
                <a:solidFill>
                  <a:srgbClr val="000000"/>
                </a:solidFill>
                <a:latin typeface="Garamond" panose="02020404030301010803" pitchFamily="18" charset="0"/>
                <a:ea typeface="HG Mincho Light J" charset="0"/>
                <a:cs typeface="HG Mincho Light J" charset="0"/>
              </a:defRPr>
            </a:lvl3pPr>
            <a:lvl4pPr marL="1600200" indent="-228600" defTabSz="904875">
              <a:spcBef>
                <a:spcPts val="488"/>
              </a:spcBef>
              <a:buClr>
                <a:srgbClr val="000000"/>
              </a:buClr>
              <a:buSzPct val="100000"/>
              <a:buFont typeface="Wingdings" pitchFamily="2" charset="2"/>
              <a:tabLst>
                <a:tab pos="452438" algn="l"/>
                <a:tab pos="904875" algn="l"/>
                <a:tab pos="1357313" algn="l"/>
              </a:tabLst>
              <a:defRPr>
                <a:solidFill>
                  <a:srgbClr val="000000"/>
                </a:solidFill>
                <a:latin typeface="Garamond" panose="02020404030301010803" pitchFamily="18" charset="0"/>
                <a:ea typeface="HG Mincho Light J" charset="0"/>
                <a:cs typeface="HG Mincho Light J" charset="0"/>
              </a:defRPr>
            </a:lvl4pPr>
            <a:lvl5pPr marL="2057400" indent="-228600" defTabSz="904875">
              <a:spcBef>
                <a:spcPts val="488"/>
              </a:spcBef>
              <a:buClr>
                <a:srgbClr val="000000"/>
              </a:buClr>
              <a:buSzPct val="100000"/>
              <a:buFont typeface="Times New Roman" panose="02020603050405020304" pitchFamily="18" charset="0"/>
              <a:tabLst>
                <a:tab pos="452438" algn="l"/>
                <a:tab pos="904875" algn="l"/>
                <a:tab pos="1357313" algn="l"/>
              </a:tabLst>
              <a:defRPr sz="1400">
                <a:solidFill>
                  <a:srgbClr val="000000"/>
                </a:solidFill>
                <a:latin typeface="Garamond" panose="02020404030301010803" pitchFamily="18" charset="0"/>
                <a:ea typeface="HG Mincho Light J" charset="0"/>
                <a:cs typeface="HG Mincho Light J" charset="0"/>
              </a:defRPr>
            </a:lvl5pPr>
            <a:lvl6pPr marL="25146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904875" algn="l"/>
                <a:tab pos="1357313" algn="l"/>
              </a:tabLst>
              <a:defRPr sz="1400">
                <a:solidFill>
                  <a:srgbClr val="000000"/>
                </a:solidFill>
                <a:latin typeface="Garamond" panose="02020404030301010803" pitchFamily="18" charset="0"/>
                <a:ea typeface="HG Mincho Light J" charset="0"/>
                <a:cs typeface="HG Mincho Light J" charset="0"/>
              </a:defRPr>
            </a:lvl6pPr>
            <a:lvl7pPr marL="29718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904875" algn="l"/>
                <a:tab pos="1357313" algn="l"/>
              </a:tabLst>
              <a:defRPr sz="1400">
                <a:solidFill>
                  <a:srgbClr val="000000"/>
                </a:solidFill>
                <a:latin typeface="Garamond" panose="02020404030301010803" pitchFamily="18" charset="0"/>
                <a:ea typeface="HG Mincho Light J" charset="0"/>
                <a:cs typeface="HG Mincho Light J" charset="0"/>
              </a:defRPr>
            </a:lvl7pPr>
            <a:lvl8pPr marL="34290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904875" algn="l"/>
                <a:tab pos="1357313" algn="l"/>
              </a:tabLst>
              <a:defRPr sz="1400">
                <a:solidFill>
                  <a:srgbClr val="000000"/>
                </a:solidFill>
                <a:latin typeface="Garamond" panose="02020404030301010803" pitchFamily="18" charset="0"/>
                <a:ea typeface="HG Mincho Light J" charset="0"/>
                <a:cs typeface="HG Mincho Light J" charset="0"/>
              </a:defRPr>
            </a:lvl8pPr>
            <a:lvl9pPr marL="3886200" indent="-228600" defTabSz="904875" eaLnBrk="0" fontAlgn="base" hangingPunct="0">
              <a:spcBef>
                <a:spcPts val="488"/>
              </a:spcBef>
              <a:spcAft>
                <a:spcPct val="0"/>
              </a:spcAft>
              <a:buClr>
                <a:srgbClr val="000000"/>
              </a:buClr>
              <a:buSzPct val="100000"/>
              <a:buFont typeface="Times New Roman" panose="02020603050405020304" pitchFamily="18" charset="0"/>
              <a:tabLst>
                <a:tab pos="452438" algn="l"/>
                <a:tab pos="904875" algn="l"/>
                <a:tab pos="1357313" algn="l"/>
              </a:tabLst>
              <a:defRPr sz="1400">
                <a:solidFill>
                  <a:srgbClr val="000000"/>
                </a:solidFill>
                <a:latin typeface="Garamond" panose="02020404030301010803" pitchFamily="18" charset="0"/>
                <a:ea typeface="HG Mincho Light J" charset="0"/>
                <a:cs typeface="HG Mincho Light J" charset="0"/>
              </a:defRPr>
            </a:lvl9pPr>
          </a:lstStyle>
          <a:p>
            <a:pPr>
              <a:lnSpc>
                <a:spcPts val="2100"/>
              </a:lnSpc>
              <a:spcBef>
                <a:spcPts val="600"/>
              </a:spcBef>
              <a:spcAft>
                <a:spcPts val="600"/>
              </a:spcAft>
              <a:buClrTx/>
              <a:buSzTx/>
              <a:buFontTx/>
              <a:buNone/>
            </a:pPr>
            <a:r>
              <a:rPr lang="en-US" altLang="en-US" sz="1800">
                <a:latin typeface="Courier New" panose="02070309020205020404" pitchFamily="49" charset="0"/>
              </a:rPr>
              <a:t>R</a:t>
            </a:r>
          </a:p>
          <a:p>
            <a:pPr>
              <a:lnSpc>
                <a:spcPts val="2100"/>
              </a:lnSpc>
              <a:spcBef>
                <a:spcPts val="600"/>
              </a:spcBef>
              <a:spcAft>
                <a:spcPts val="600"/>
              </a:spcAft>
              <a:buClrTx/>
              <a:buSzTx/>
              <a:buFontTx/>
              <a:buNone/>
            </a:pPr>
            <a:r>
              <a:rPr lang="en-US" altLang="en-US" sz="1800">
                <a:latin typeface="Courier New" panose="02070309020205020404" pitchFamily="49" charset="0"/>
              </a:rPr>
              <a:t>I</a:t>
            </a:r>
          </a:p>
          <a:p>
            <a:pPr>
              <a:lnSpc>
                <a:spcPts val="2100"/>
              </a:lnSpc>
              <a:spcBef>
                <a:spcPts val="600"/>
              </a:spcBef>
              <a:spcAft>
                <a:spcPts val="600"/>
              </a:spcAft>
              <a:buClrTx/>
              <a:buSzTx/>
              <a:buFontTx/>
              <a:buNone/>
            </a:pPr>
            <a:r>
              <a:rPr lang="en-US" altLang="en-US" sz="1800">
                <a:latin typeface="Courier New" panose="02070309020205020404" pitchFamily="49" charset="0"/>
              </a:rPr>
              <a:t>J</a:t>
            </a:r>
          </a:p>
        </p:txBody>
      </p:sp>
      <p:sp>
        <p:nvSpPr>
          <p:cNvPr id="65542" name="TextBox 26">
            <a:extLst>
              <a:ext uri="{FF2B5EF4-FFF2-40B4-BE49-F238E27FC236}">
                <a16:creationId xmlns:a16="http://schemas.microsoft.com/office/drawing/2014/main" id="{223B68D9-D1A0-A644-886B-CC5306D660DA}"/>
              </a:ext>
            </a:extLst>
          </p:cNvPr>
          <p:cNvSpPr txBox="1">
            <a:spLocks noChangeArrowheads="1"/>
          </p:cNvSpPr>
          <p:nvPr/>
        </p:nvSpPr>
        <p:spPr bwMode="auto">
          <a:xfrm>
            <a:off x="7823200" y="6596063"/>
            <a:ext cx="13208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a:solidFill>
                  <a:schemeClr val="tx1"/>
                </a:solidFill>
                <a:latin typeface="Times New Roman" panose="02020603050405020304" pitchFamily="18" charset="0"/>
              </a:rPr>
              <a:t>Source:Corporaal05</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8AF6132-F244-C343-9848-628DDD068B67}"/>
              </a:ext>
            </a:extLst>
          </p:cNvPr>
          <p:cNvSpPr>
            <a:spLocks noGrp="1" noChangeArrowheads="1"/>
          </p:cNvSpPr>
          <p:nvPr>
            <p:ph type="title"/>
          </p:nvPr>
        </p:nvSpPr>
        <p:spPr/>
        <p:txBody>
          <a:bodyPr/>
          <a:lstStyle/>
          <a:p>
            <a:r>
              <a:rPr lang="en-US" altLang="en-US"/>
              <a:t>Pipelining</a:t>
            </a:r>
          </a:p>
        </p:txBody>
      </p:sp>
      <p:grpSp>
        <p:nvGrpSpPr>
          <p:cNvPr id="67587" name="Group 3">
            <a:extLst>
              <a:ext uri="{FF2B5EF4-FFF2-40B4-BE49-F238E27FC236}">
                <a16:creationId xmlns:a16="http://schemas.microsoft.com/office/drawing/2014/main" id="{6FB0CD05-178B-2B4D-BFAD-6F3A8CC06F55}"/>
              </a:ext>
            </a:extLst>
          </p:cNvPr>
          <p:cNvGrpSpPr>
            <a:grpSpLocks/>
          </p:cNvGrpSpPr>
          <p:nvPr/>
        </p:nvGrpSpPr>
        <p:grpSpPr bwMode="auto">
          <a:xfrm>
            <a:off x="152400" y="2057400"/>
            <a:ext cx="8505825" cy="3354388"/>
            <a:chOff x="550" y="1599"/>
            <a:chExt cx="4586" cy="1809"/>
          </a:xfrm>
        </p:grpSpPr>
        <p:sp>
          <p:nvSpPr>
            <p:cNvPr id="67591" name="Line 4">
              <a:extLst>
                <a:ext uri="{FF2B5EF4-FFF2-40B4-BE49-F238E27FC236}">
                  <a16:creationId xmlns:a16="http://schemas.microsoft.com/office/drawing/2014/main" id="{D40B715B-9778-BE4B-9967-3ABD8EB25353}"/>
                </a:ext>
              </a:extLst>
            </p:cNvPr>
            <p:cNvSpPr>
              <a:spLocks noChangeShapeType="1"/>
            </p:cNvSpPr>
            <p:nvPr/>
          </p:nvSpPr>
          <p:spPr bwMode="auto">
            <a:xfrm>
              <a:off x="796" y="1700"/>
              <a:ext cx="480" cy="0"/>
            </a:xfrm>
            <a:prstGeom prst="line">
              <a:avLst/>
            </a:prstGeom>
            <a:noFill/>
            <a:ln w="19050">
              <a:solidFill>
                <a:srgbClr val="000000"/>
              </a:solidFill>
              <a:round/>
              <a:headEnd/>
              <a:tailEnd type="stealth"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67592" name="Text Box 5">
              <a:extLst>
                <a:ext uri="{FF2B5EF4-FFF2-40B4-BE49-F238E27FC236}">
                  <a16:creationId xmlns:a16="http://schemas.microsoft.com/office/drawing/2014/main" id="{D800B5C5-DB32-D044-90A2-7CC2CC1FED8B}"/>
                </a:ext>
              </a:extLst>
            </p:cNvPr>
            <p:cNvSpPr txBox="1">
              <a:spLocks noChangeArrowheads="1"/>
            </p:cNvSpPr>
            <p:nvPr/>
          </p:nvSpPr>
          <p:spPr bwMode="auto">
            <a:xfrm>
              <a:off x="1307" y="1599"/>
              <a:ext cx="32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time</a:t>
              </a:r>
            </a:p>
          </p:txBody>
        </p:sp>
        <p:sp>
          <p:nvSpPr>
            <p:cNvPr id="67593" name="Text Box 6">
              <a:extLst>
                <a:ext uri="{FF2B5EF4-FFF2-40B4-BE49-F238E27FC236}">
                  <a16:creationId xmlns:a16="http://schemas.microsoft.com/office/drawing/2014/main" id="{07E51E9E-0A62-7D48-80D5-6CE0D45F841A}"/>
                </a:ext>
              </a:extLst>
            </p:cNvPr>
            <p:cNvSpPr txBox="1">
              <a:spLocks noChangeArrowheads="1"/>
            </p:cNvSpPr>
            <p:nvPr/>
          </p:nvSpPr>
          <p:spPr bwMode="auto">
            <a:xfrm rot="-5389182">
              <a:off x="23" y="2288"/>
              <a:ext cx="123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Instruction stream</a:t>
              </a:r>
            </a:p>
          </p:txBody>
        </p:sp>
        <p:grpSp>
          <p:nvGrpSpPr>
            <p:cNvPr id="67594" name="Group 7">
              <a:extLst>
                <a:ext uri="{FF2B5EF4-FFF2-40B4-BE49-F238E27FC236}">
                  <a16:creationId xmlns:a16="http://schemas.microsoft.com/office/drawing/2014/main" id="{CBD8D41B-2BBE-CE4C-867F-85CE05305931}"/>
                </a:ext>
              </a:extLst>
            </p:cNvPr>
            <p:cNvGrpSpPr>
              <a:grpSpLocks/>
            </p:cNvGrpSpPr>
            <p:nvPr/>
          </p:nvGrpSpPr>
          <p:grpSpPr bwMode="auto">
            <a:xfrm>
              <a:off x="816" y="1824"/>
              <a:ext cx="2400" cy="240"/>
              <a:chOff x="1056" y="2160"/>
              <a:chExt cx="2400" cy="240"/>
            </a:xfrm>
          </p:grpSpPr>
          <p:sp>
            <p:nvSpPr>
              <p:cNvPr id="67640" name="Text Box 8">
                <a:extLst>
                  <a:ext uri="{FF2B5EF4-FFF2-40B4-BE49-F238E27FC236}">
                    <a16:creationId xmlns:a16="http://schemas.microsoft.com/office/drawing/2014/main" id="{8B247598-C854-884A-A79C-34B91062FD36}"/>
                  </a:ext>
                </a:extLst>
              </p:cNvPr>
              <p:cNvSpPr txBox="1">
                <a:spLocks noChangeArrowheads="1"/>
              </p:cNvSpPr>
              <p:nvPr/>
            </p:nvSpPr>
            <p:spPr bwMode="auto">
              <a:xfrm>
                <a:off x="1152" y="2160"/>
                <a:ext cx="22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IF</a:t>
                </a:r>
              </a:p>
            </p:txBody>
          </p:sp>
          <p:sp>
            <p:nvSpPr>
              <p:cNvPr id="67641" name="Text Box 9">
                <a:extLst>
                  <a:ext uri="{FF2B5EF4-FFF2-40B4-BE49-F238E27FC236}">
                    <a16:creationId xmlns:a16="http://schemas.microsoft.com/office/drawing/2014/main" id="{9EB0734E-F4E8-8041-8A24-2D8E84EAE921}"/>
                  </a:ext>
                </a:extLst>
              </p:cNvPr>
              <p:cNvSpPr txBox="1">
                <a:spLocks noChangeArrowheads="1"/>
              </p:cNvSpPr>
              <p:nvPr/>
            </p:nvSpPr>
            <p:spPr bwMode="auto">
              <a:xfrm>
                <a:off x="1632" y="2160"/>
                <a:ext cx="24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ID</a:t>
                </a:r>
              </a:p>
            </p:txBody>
          </p:sp>
          <p:sp>
            <p:nvSpPr>
              <p:cNvPr id="67642" name="Text Box 10">
                <a:extLst>
                  <a:ext uri="{FF2B5EF4-FFF2-40B4-BE49-F238E27FC236}">
                    <a16:creationId xmlns:a16="http://schemas.microsoft.com/office/drawing/2014/main" id="{81E95504-18B8-4A44-8380-183872870B3D}"/>
                  </a:ext>
                </a:extLst>
              </p:cNvPr>
              <p:cNvSpPr txBox="1">
                <a:spLocks noChangeArrowheads="1"/>
              </p:cNvSpPr>
              <p:nvPr/>
            </p:nvSpPr>
            <p:spPr bwMode="auto">
              <a:xfrm>
                <a:off x="2064" y="2160"/>
                <a:ext cx="28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EX</a:t>
                </a:r>
              </a:p>
            </p:txBody>
          </p:sp>
          <p:sp>
            <p:nvSpPr>
              <p:cNvPr id="67643" name="Text Box 11">
                <a:extLst>
                  <a:ext uri="{FF2B5EF4-FFF2-40B4-BE49-F238E27FC236}">
                    <a16:creationId xmlns:a16="http://schemas.microsoft.com/office/drawing/2014/main" id="{D97F852C-8497-B84A-8C30-3B41C0C9913D}"/>
                  </a:ext>
                </a:extLst>
              </p:cNvPr>
              <p:cNvSpPr txBox="1">
                <a:spLocks noChangeArrowheads="1"/>
              </p:cNvSpPr>
              <p:nvPr/>
            </p:nvSpPr>
            <p:spPr bwMode="auto">
              <a:xfrm>
                <a:off x="2496" y="2160"/>
                <a:ext cx="42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MEM</a:t>
                </a:r>
              </a:p>
            </p:txBody>
          </p:sp>
          <p:sp>
            <p:nvSpPr>
              <p:cNvPr id="67644" name="Text Box 12">
                <a:extLst>
                  <a:ext uri="{FF2B5EF4-FFF2-40B4-BE49-F238E27FC236}">
                    <a16:creationId xmlns:a16="http://schemas.microsoft.com/office/drawing/2014/main" id="{902B3F2C-FF8A-4D43-B98D-DEB47811368A}"/>
                  </a:ext>
                </a:extLst>
              </p:cNvPr>
              <p:cNvSpPr txBox="1">
                <a:spLocks noChangeArrowheads="1"/>
              </p:cNvSpPr>
              <p:nvPr/>
            </p:nvSpPr>
            <p:spPr bwMode="auto">
              <a:xfrm>
                <a:off x="3024" y="2160"/>
                <a:ext cx="32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WB</a:t>
                </a:r>
              </a:p>
            </p:txBody>
          </p:sp>
          <p:sp>
            <p:nvSpPr>
              <p:cNvPr id="67645" name="Rectangle 13">
                <a:extLst>
                  <a:ext uri="{FF2B5EF4-FFF2-40B4-BE49-F238E27FC236}">
                    <a16:creationId xmlns:a16="http://schemas.microsoft.com/office/drawing/2014/main" id="{190A7C20-D87B-4046-AD79-33E5454C56A8}"/>
                  </a:ext>
                </a:extLst>
              </p:cNvPr>
              <p:cNvSpPr>
                <a:spLocks noChangeArrowheads="1"/>
              </p:cNvSpPr>
              <p:nvPr/>
            </p:nvSpPr>
            <p:spPr bwMode="auto">
              <a:xfrm>
                <a:off x="105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46" name="Rectangle 14">
                <a:extLst>
                  <a:ext uri="{FF2B5EF4-FFF2-40B4-BE49-F238E27FC236}">
                    <a16:creationId xmlns:a16="http://schemas.microsoft.com/office/drawing/2014/main" id="{E563CD4D-2BFD-EB4E-A3EB-FA0C542E518C}"/>
                  </a:ext>
                </a:extLst>
              </p:cNvPr>
              <p:cNvSpPr>
                <a:spLocks noChangeArrowheads="1"/>
              </p:cNvSpPr>
              <p:nvPr/>
            </p:nvSpPr>
            <p:spPr bwMode="auto">
              <a:xfrm>
                <a:off x="153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47" name="Rectangle 15">
                <a:extLst>
                  <a:ext uri="{FF2B5EF4-FFF2-40B4-BE49-F238E27FC236}">
                    <a16:creationId xmlns:a16="http://schemas.microsoft.com/office/drawing/2014/main" id="{8FD904A9-93A8-3442-9240-D38E67A00D81}"/>
                  </a:ext>
                </a:extLst>
              </p:cNvPr>
              <p:cNvSpPr>
                <a:spLocks noChangeArrowheads="1"/>
              </p:cNvSpPr>
              <p:nvPr/>
            </p:nvSpPr>
            <p:spPr bwMode="auto">
              <a:xfrm>
                <a:off x="2017" y="2160"/>
                <a:ext cx="479"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48" name="Rectangle 16">
                <a:extLst>
                  <a:ext uri="{FF2B5EF4-FFF2-40B4-BE49-F238E27FC236}">
                    <a16:creationId xmlns:a16="http://schemas.microsoft.com/office/drawing/2014/main" id="{3D4785B1-0EC8-8544-BC5E-C9A4DBAF851A}"/>
                  </a:ext>
                </a:extLst>
              </p:cNvPr>
              <p:cNvSpPr>
                <a:spLocks noChangeArrowheads="1"/>
              </p:cNvSpPr>
              <p:nvPr/>
            </p:nvSpPr>
            <p:spPr bwMode="auto">
              <a:xfrm>
                <a:off x="249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49" name="Rectangle 17">
                <a:extLst>
                  <a:ext uri="{FF2B5EF4-FFF2-40B4-BE49-F238E27FC236}">
                    <a16:creationId xmlns:a16="http://schemas.microsoft.com/office/drawing/2014/main" id="{4B243D4A-42D0-4D48-ACC5-49A5BD61F4BF}"/>
                  </a:ext>
                </a:extLst>
              </p:cNvPr>
              <p:cNvSpPr>
                <a:spLocks noChangeArrowheads="1"/>
              </p:cNvSpPr>
              <p:nvPr/>
            </p:nvSpPr>
            <p:spPr bwMode="auto">
              <a:xfrm>
                <a:off x="297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7595" name="Group 18">
              <a:extLst>
                <a:ext uri="{FF2B5EF4-FFF2-40B4-BE49-F238E27FC236}">
                  <a16:creationId xmlns:a16="http://schemas.microsoft.com/office/drawing/2014/main" id="{243A6BD8-4E7C-074E-A8D5-5EB706D04A66}"/>
                </a:ext>
              </a:extLst>
            </p:cNvPr>
            <p:cNvGrpSpPr>
              <a:grpSpLocks/>
            </p:cNvGrpSpPr>
            <p:nvPr/>
          </p:nvGrpSpPr>
          <p:grpSpPr bwMode="auto">
            <a:xfrm>
              <a:off x="1296" y="2160"/>
              <a:ext cx="2400" cy="240"/>
              <a:chOff x="1056" y="2160"/>
              <a:chExt cx="2400" cy="240"/>
            </a:xfrm>
          </p:grpSpPr>
          <p:sp>
            <p:nvSpPr>
              <p:cNvPr id="67630" name="Text Box 19">
                <a:extLst>
                  <a:ext uri="{FF2B5EF4-FFF2-40B4-BE49-F238E27FC236}">
                    <a16:creationId xmlns:a16="http://schemas.microsoft.com/office/drawing/2014/main" id="{500276E7-6BEA-9F43-B11A-AEC850C1C3DD}"/>
                  </a:ext>
                </a:extLst>
              </p:cNvPr>
              <p:cNvSpPr txBox="1">
                <a:spLocks noChangeArrowheads="1"/>
              </p:cNvSpPr>
              <p:nvPr/>
            </p:nvSpPr>
            <p:spPr bwMode="auto">
              <a:xfrm>
                <a:off x="1152" y="2160"/>
                <a:ext cx="22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IF</a:t>
                </a:r>
              </a:p>
            </p:txBody>
          </p:sp>
          <p:sp>
            <p:nvSpPr>
              <p:cNvPr id="67631" name="Text Box 20">
                <a:extLst>
                  <a:ext uri="{FF2B5EF4-FFF2-40B4-BE49-F238E27FC236}">
                    <a16:creationId xmlns:a16="http://schemas.microsoft.com/office/drawing/2014/main" id="{4AD48B1B-1659-0147-8D7A-DA0D3415D50D}"/>
                  </a:ext>
                </a:extLst>
              </p:cNvPr>
              <p:cNvSpPr txBox="1">
                <a:spLocks noChangeArrowheads="1"/>
              </p:cNvSpPr>
              <p:nvPr/>
            </p:nvSpPr>
            <p:spPr bwMode="auto">
              <a:xfrm>
                <a:off x="1632" y="2160"/>
                <a:ext cx="24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ID</a:t>
                </a:r>
              </a:p>
            </p:txBody>
          </p:sp>
          <p:sp>
            <p:nvSpPr>
              <p:cNvPr id="67632" name="Text Box 21">
                <a:extLst>
                  <a:ext uri="{FF2B5EF4-FFF2-40B4-BE49-F238E27FC236}">
                    <a16:creationId xmlns:a16="http://schemas.microsoft.com/office/drawing/2014/main" id="{972E602C-B96A-3F4D-A22E-998B9C3FFB03}"/>
                  </a:ext>
                </a:extLst>
              </p:cNvPr>
              <p:cNvSpPr txBox="1">
                <a:spLocks noChangeArrowheads="1"/>
              </p:cNvSpPr>
              <p:nvPr/>
            </p:nvSpPr>
            <p:spPr bwMode="auto">
              <a:xfrm>
                <a:off x="2065" y="2160"/>
                <a:ext cx="28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EX</a:t>
                </a:r>
              </a:p>
            </p:txBody>
          </p:sp>
          <p:sp>
            <p:nvSpPr>
              <p:cNvPr id="67633" name="Text Box 22">
                <a:extLst>
                  <a:ext uri="{FF2B5EF4-FFF2-40B4-BE49-F238E27FC236}">
                    <a16:creationId xmlns:a16="http://schemas.microsoft.com/office/drawing/2014/main" id="{E9FEDB38-0C55-F149-9815-1C43BD100445}"/>
                  </a:ext>
                </a:extLst>
              </p:cNvPr>
              <p:cNvSpPr txBox="1">
                <a:spLocks noChangeArrowheads="1"/>
              </p:cNvSpPr>
              <p:nvPr/>
            </p:nvSpPr>
            <p:spPr bwMode="auto">
              <a:xfrm>
                <a:off x="2495" y="2160"/>
                <a:ext cx="42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MEM</a:t>
                </a:r>
              </a:p>
            </p:txBody>
          </p:sp>
          <p:sp>
            <p:nvSpPr>
              <p:cNvPr id="67634" name="Text Box 23">
                <a:extLst>
                  <a:ext uri="{FF2B5EF4-FFF2-40B4-BE49-F238E27FC236}">
                    <a16:creationId xmlns:a16="http://schemas.microsoft.com/office/drawing/2014/main" id="{B42803D1-62A9-B346-96F5-75F2BC96F117}"/>
                  </a:ext>
                </a:extLst>
              </p:cNvPr>
              <p:cNvSpPr txBox="1">
                <a:spLocks noChangeArrowheads="1"/>
              </p:cNvSpPr>
              <p:nvPr/>
            </p:nvSpPr>
            <p:spPr bwMode="auto">
              <a:xfrm>
                <a:off x="3023" y="2160"/>
                <a:ext cx="32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WB</a:t>
                </a:r>
              </a:p>
            </p:txBody>
          </p:sp>
          <p:sp>
            <p:nvSpPr>
              <p:cNvPr id="67635" name="Rectangle 24">
                <a:extLst>
                  <a:ext uri="{FF2B5EF4-FFF2-40B4-BE49-F238E27FC236}">
                    <a16:creationId xmlns:a16="http://schemas.microsoft.com/office/drawing/2014/main" id="{6375817A-D4EF-1440-A0A6-BD06FF09139C}"/>
                  </a:ext>
                </a:extLst>
              </p:cNvPr>
              <p:cNvSpPr>
                <a:spLocks noChangeArrowheads="1"/>
              </p:cNvSpPr>
              <p:nvPr/>
            </p:nvSpPr>
            <p:spPr bwMode="auto">
              <a:xfrm>
                <a:off x="1056" y="2160"/>
                <a:ext cx="480"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36" name="Rectangle 25">
                <a:extLst>
                  <a:ext uri="{FF2B5EF4-FFF2-40B4-BE49-F238E27FC236}">
                    <a16:creationId xmlns:a16="http://schemas.microsoft.com/office/drawing/2014/main" id="{2E222247-0253-3F43-8F18-97CF0CF327DC}"/>
                  </a:ext>
                </a:extLst>
              </p:cNvPr>
              <p:cNvSpPr>
                <a:spLocks noChangeArrowheads="1"/>
              </p:cNvSpPr>
              <p:nvPr/>
            </p:nvSpPr>
            <p:spPr bwMode="auto">
              <a:xfrm>
                <a:off x="1537" y="2160"/>
                <a:ext cx="480"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37" name="Rectangle 26">
                <a:extLst>
                  <a:ext uri="{FF2B5EF4-FFF2-40B4-BE49-F238E27FC236}">
                    <a16:creationId xmlns:a16="http://schemas.microsoft.com/office/drawing/2014/main" id="{A9A51FED-3A06-DE43-A183-C8B93BD9C06B}"/>
                  </a:ext>
                </a:extLst>
              </p:cNvPr>
              <p:cNvSpPr>
                <a:spLocks noChangeArrowheads="1"/>
              </p:cNvSpPr>
              <p:nvPr/>
            </p:nvSpPr>
            <p:spPr bwMode="auto">
              <a:xfrm>
                <a:off x="2017" y="2160"/>
                <a:ext cx="479"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38" name="Rectangle 27">
                <a:extLst>
                  <a:ext uri="{FF2B5EF4-FFF2-40B4-BE49-F238E27FC236}">
                    <a16:creationId xmlns:a16="http://schemas.microsoft.com/office/drawing/2014/main" id="{E2181F41-8469-694A-8225-08C4A7C10584}"/>
                  </a:ext>
                </a:extLst>
              </p:cNvPr>
              <p:cNvSpPr>
                <a:spLocks noChangeArrowheads="1"/>
              </p:cNvSpPr>
              <p:nvPr/>
            </p:nvSpPr>
            <p:spPr bwMode="auto">
              <a:xfrm>
                <a:off x="2496" y="2160"/>
                <a:ext cx="480"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39" name="Rectangle 28">
                <a:extLst>
                  <a:ext uri="{FF2B5EF4-FFF2-40B4-BE49-F238E27FC236}">
                    <a16:creationId xmlns:a16="http://schemas.microsoft.com/office/drawing/2014/main" id="{87A0B868-5E49-5340-A222-3B03E9184AFA}"/>
                  </a:ext>
                </a:extLst>
              </p:cNvPr>
              <p:cNvSpPr>
                <a:spLocks noChangeArrowheads="1"/>
              </p:cNvSpPr>
              <p:nvPr/>
            </p:nvSpPr>
            <p:spPr bwMode="auto">
              <a:xfrm>
                <a:off x="2976" y="2160"/>
                <a:ext cx="480"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7596" name="Group 29">
              <a:extLst>
                <a:ext uri="{FF2B5EF4-FFF2-40B4-BE49-F238E27FC236}">
                  <a16:creationId xmlns:a16="http://schemas.microsoft.com/office/drawing/2014/main" id="{C621B83F-720C-514E-8A44-2191DA478229}"/>
                </a:ext>
              </a:extLst>
            </p:cNvPr>
            <p:cNvGrpSpPr>
              <a:grpSpLocks/>
            </p:cNvGrpSpPr>
            <p:nvPr/>
          </p:nvGrpSpPr>
          <p:grpSpPr bwMode="auto">
            <a:xfrm>
              <a:off x="1776" y="2496"/>
              <a:ext cx="2400" cy="240"/>
              <a:chOff x="1056" y="2160"/>
              <a:chExt cx="2400" cy="240"/>
            </a:xfrm>
          </p:grpSpPr>
          <p:sp>
            <p:nvSpPr>
              <p:cNvPr id="67620" name="Text Box 30">
                <a:extLst>
                  <a:ext uri="{FF2B5EF4-FFF2-40B4-BE49-F238E27FC236}">
                    <a16:creationId xmlns:a16="http://schemas.microsoft.com/office/drawing/2014/main" id="{FA82E84F-BA3F-2B41-8A63-5688FBE526FB}"/>
                  </a:ext>
                </a:extLst>
              </p:cNvPr>
              <p:cNvSpPr txBox="1">
                <a:spLocks noChangeArrowheads="1"/>
              </p:cNvSpPr>
              <p:nvPr/>
            </p:nvSpPr>
            <p:spPr bwMode="auto">
              <a:xfrm>
                <a:off x="1152" y="2160"/>
                <a:ext cx="22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IF</a:t>
                </a:r>
              </a:p>
            </p:txBody>
          </p:sp>
          <p:sp>
            <p:nvSpPr>
              <p:cNvPr id="67621" name="Text Box 31">
                <a:extLst>
                  <a:ext uri="{FF2B5EF4-FFF2-40B4-BE49-F238E27FC236}">
                    <a16:creationId xmlns:a16="http://schemas.microsoft.com/office/drawing/2014/main" id="{CB0783DB-156C-1D41-B07A-BD3AE5373920}"/>
                  </a:ext>
                </a:extLst>
              </p:cNvPr>
              <p:cNvSpPr txBox="1">
                <a:spLocks noChangeArrowheads="1"/>
              </p:cNvSpPr>
              <p:nvPr/>
            </p:nvSpPr>
            <p:spPr bwMode="auto">
              <a:xfrm>
                <a:off x="1632" y="2160"/>
                <a:ext cx="24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ID</a:t>
                </a:r>
              </a:p>
            </p:txBody>
          </p:sp>
          <p:sp>
            <p:nvSpPr>
              <p:cNvPr id="67622" name="Text Box 32">
                <a:extLst>
                  <a:ext uri="{FF2B5EF4-FFF2-40B4-BE49-F238E27FC236}">
                    <a16:creationId xmlns:a16="http://schemas.microsoft.com/office/drawing/2014/main" id="{768B0528-BD28-184F-9787-21E975A78976}"/>
                  </a:ext>
                </a:extLst>
              </p:cNvPr>
              <p:cNvSpPr txBox="1">
                <a:spLocks noChangeArrowheads="1"/>
              </p:cNvSpPr>
              <p:nvPr/>
            </p:nvSpPr>
            <p:spPr bwMode="auto">
              <a:xfrm>
                <a:off x="2064" y="2160"/>
                <a:ext cx="28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EX</a:t>
                </a:r>
              </a:p>
            </p:txBody>
          </p:sp>
          <p:sp>
            <p:nvSpPr>
              <p:cNvPr id="67623" name="Text Box 33">
                <a:extLst>
                  <a:ext uri="{FF2B5EF4-FFF2-40B4-BE49-F238E27FC236}">
                    <a16:creationId xmlns:a16="http://schemas.microsoft.com/office/drawing/2014/main" id="{8F3AEE8F-DF1D-9248-8380-0986E9A99AB7}"/>
                  </a:ext>
                </a:extLst>
              </p:cNvPr>
              <p:cNvSpPr txBox="1">
                <a:spLocks noChangeArrowheads="1"/>
              </p:cNvSpPr>
              <p:nvPr/>
            </p:nvSpPr>
            <p:spPr bwMode="auto">
              <a:xfrm>
                <a:off x="2494" y="2160"/>
                <a:ext cx="4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MEM</a:t>
                </a:r>
              </a:p>
            </p:txBody>
          </p:sp>
          <p:sp>
            <p:nvSpPr>
              <p:cNvPr id="67624" name="Text Box 34">
                <a:extLst>
                  <a:ext uri="{FF2B5EF4-FFF2-40B4-BE49-F238E27FC236}">
                    <a16:creationId xmlns:a16="http://schemas.microsoft.com/office/drawing/2014/main" id="{61D6E9B3-1617-C04E-B590-02653C94AEBE}"/>
                  </a:ext>
                </a:extLst>
              </p:cNvPr>
              <p:cNvSpPr txBox="1">
                <a:spLocks noChangeArrowheads="1"/>
              </p:cNvSpPr>
              <p:nvPr/>
            </p:nvSpPr>
            <p:spPr bwMode="auto">
              <a:xfrm>
                <a:off x="3023" y="2160"/>
                <a:ext cx="32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WB</a:t>
                </a:r>
              </a:p>
            </p:txBody>
          </p:sp>
          <p:sp>
            <p:nvSpPr>
              <p:cNvPr id="67625" name="Rectangle 35">
                <a:extLst>
                  <a:ext uri="{FF2B5EF4-FFF2-40B4-BE49-F238E27FC236}">
                    <a16:creationId xmlns:a16="http://schemas.microsoft.com/office/drawing/2014/main" id="{11B71F24-3433-9F41-B849-D29A9FC38025}"/>
                  </a:ext>
                </a:extLst>
              </p:cNvPr>
              <p:cNvSpPr>
                <a:spLocks noChangeArrowheads="1"/>
              </p:cNvSpPr>
              <p:nvPr/>
            </p:nvSpPr>
            <p:spPr bwMode="auto">
              <a:xfrm>
                <a:off x="105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26" name="Rectangle 36">
                <a:extLst>
                  <a:ext uri="{FF2B5EF4-FFF2-40B4-BE49-F238E27FC236}">
                    <a16:creationId xmlns:a16="http://schemas.microsoft.com/office/drawing/2014/main" id="{91DB9E4B-96EF-C144-9717-39D3EE11E15C}"/>
                  </a:ext>
                </a:extLst>
              </p:cNvPr>
              <p:cNvSpPr>
                <a:spLocks noChangeArrowheads="1"/>
              </p:cNvSpPr>
              <p:nvPr/>
            </p:nvSpPr>
            <p:spPr bwMode="auto">
              <a:xfrm>
                <a:off x="153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27" name="Rectangle 37">
                <a:extLst>
                  <a:ext uri="{FF2B5EF4-FFF2-40B4-BE49-F238E27FC236}">
                    <a16:creationId xmlns:a16="http://schemas.microsoft.com/office/drawing/2014/main" id="{82630971-C4A1-4048-9D60-048722988FE8}"/>
                  </a:ext>
                </a:extLst>
              </p:cNvPr>
              <p:cNvSpPr>
                <a:spLocks noChangeArrowheads="1"/>
              </p:cNvSpPr>
              <p:nvPr/>
            </p:nvSpPr>
            <p:spPr bwMode="auto">
              <a:xfrm>
                <a:off x="2016" y="2160"/>
                <a:ext cx="479"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28" name="Rectangle 38">
                <a:extLst>
                  <a:ext uri="{FF2B5EF4-FFF2-40B4-BE49-F238E27FC236}">
                    <a16:creationId xmlns:a16="http://schemas.microsoft.com/office/drawing/2014/main" id="{A4575DE4-9661-7242-9BF1-80216F0FD5D4}"/>
                  </a:ext>
                </a:extLst>
              </p:cNvPr>
              <p:cNvSpPr>
                <a:spLocks noChangeArrowheads="1"/>
              </p:cNvSpPr>
              <p:nvPr/>
            </p:nvSpPr>
            <p:spPr bwMode="auto">
              <a:xfrm>
                <a:off x="2495"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29" name="Rectangle 39">
                <a:extLst>
                  <a:ext uri="{FF2B5EF4-FFF2-40B4-BE49-F238E27FC236}">
                    <a16:creationId xmlns:a16="http://schemas.microsoft.com/office/drawing/2014/main" id="{2CD9DE29-8427-994D-96C1-A823A02642C0}"/>
                  </a:ext>
                </a:extLst>
              </p:cNvPr>
              <p:cNvSpPr>
                <a:spLocks noChangeArrowheads="1"/>
              </p:cNvSpPr>
              <p:nvPr/>
            </p:nvSpPr>
            <p:spPr bwMode="auto">
              <a:xfrm>
                <a:off x="2975"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7597" name="Group 40">
              <a:extLst>
                <a:ext uri="{FF2B5EF4-FFF2-40B4-BE49-F238E27FC236}">
                  <a16:creationId xmlns:a16="http://schemas.microsoft.com/office/drawing/2014/main" id="{B8CDE5E7-ACAB-634F-9273-0355AE0B101B}"/>
                </a:ext>
              </a:extLst>
            </p:cNvPr>
            <p:cNvGrpSpPr>
              <a:grpSpLocks/>
            </p:cNvGrpSpPr>
            <p:nvPr/>
          </p:nvGrpSpPr>
          <p:grpSpPr bwMode="auto">
            <a:xfrm>
              <a:off x="2256" y="2832"/>
              <a:ext cx="2400" cy="240"/>
              <a:chOff x="1056" y="2160"/>
              <a:chExt cx="2400" cy="240"/>
            </a:xfrm>
          </p:grpSpPr>
          <p:sp>
            <p:nvSpPr>
              <p:cNvPr id="67610" name="Text Box 41">
                <a:extLst>
                  <a:ext uri="{FF2B5EF4-FFF2-40B4-BE49-F238E27FC236}">
                    <a16:creationId xmlns:a16="http://schemas.microsoft.com/office/drawing/2014/main" id="{19F2203B-1D92-5940-BB4B-A3BA72478A47}"/>
                  </a:ext>
                </a:extLst>
              </p:cNvPr>
              <p:cNvSpPr txBox="1">
                <a:spLocks noChangeArrowheads="1"/>
              </p:cNvSpPr>
              <p:nvPr/>
            </p:nvSpPr>
            <p:spPr bwMode="auto">
              <a:xfrm>
                <a:off x="1152" y="2160"/>
                <a:ext cx="22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IF</a:t>
                </a:r>
              </a:p>
            </p:txBody>
          </p:sp>
          <p:sp>
            <p:nvSpPr>
              <p:cNvPr id="67611" name="Text Box 42">
                <a:extLst>
                  <a:ext uri="{FF2B5EF4-FFF2-40B4-BE49-F238E27FC236}">
                    <a16:creationId xmlns:a16="http://schemas.microsoft.com/office/drawing/2014/main" id="{6FEA506E-B261-1D4F-9ACD-A5DFCBD9A31D}"/>
                  </a:ext>
                </a:extLst>
              </p:cNvPr>
              <p:cNvSpPr txBox="1">
                <a:spLocks noChangeArrowheads="1"/>
              </p:cNvSpPr>
              <p:nvPr/>
            </p:nvSpPr>
            <p:spPr bwMode="auto">
              <a:xfrm>
                <a:off x="1632" y="2160"/>
                <a:ext cx="24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ID</a:t>
                </a:r>
              </a:p>
            </p:txBody>
          </p:sp>
          <p:sp>
            <p:nvSpPr>
              <p:cNvPr id="67612" name="Text Box 43">
                <a:extLst>
                  <a:ext uri="{FF2B5EF4-FFF2-40B4-BE49-F238E27FC236}">
                    <a16:creationId xmlns:a16="http://schemas.microsoft.com/office/drawing/2014/main" id="{E3B24EF7-05D0-E34F-8B59-2A04A5E2713F}"/>
                  </a:ext>
                </a:extLst>
              </p:cNvPr>
              <p:cNvSpPr txBox="1">
                <a:spLocks noChangeArrowheads="1"/>
              </p:cNvSpPr>
              <p:nvPr/>
            </p:nvSpPr>
            <p:spPr bwMode="auto">
              <a:xfrm>
                <a:off x="2064" y="2160"/>
                <a:ext cx="28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EX</a:t>
                </a:r>
              </a:p>
            </p:txBody>
          </p:sp>
          <p:sp>
            <p:nvSpPr>
              <p:cNvPr id="67613" name="Text Box 44">
                <a:extLst>
                  <a:ext uri="{FF2B5EF4-FFF2-40B4-BE49-F238E27FC236}">
                    <a16:creationId xmlns:a16="http://schemas.microsoft.com/office/drawing/2014/main" id="{16E275B1-1786-E841-AA86-36102329DF7E}"/>
                  </a:ext>
                </a:extLst>
              </p:cNvPr>
              <p:cNvSpPr txBox="1">
                <a:spLocks noChangeArrowheads="1"/>
              </p:cNvSpPr>
              <p:nvPr/>
            </p:nvSpPr>
            <p:spPr bwMode="auto">
              <a:xfrm>
                <a:off x="2495" y="2160"/>
                <a:ext cx="42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MEM</a:t>
                </a:r>
              </a:p>
            </p:txBody>
          </p:sp>
          <p:sp>
            <p:nvSpPr>
              <p:cNvPr id="67614" name="Text Box 45">
                <a:extLst>
                  <a:ext uri="{FF2B5EF4-FFF2-40B4-BE49-F238E27FC236}">
                    <a16:creationId xmlns:a16="http://schemas.microsoft.com/office/drawing/2014/main" id="{ADC6F6B5-8887-134F-B169-3EAC83F8E2A9}"/>
                  </a:ext>
                </a:extLst>
              </p:cNvPr>
              <p:cNvSpPr txBox="1">
                <a:spLocks noChangeArrowheads="1"/>
              </p:cNvSpPr>
              <p:nvPr/>
            </p:nvSpPr>
            <p:spPr bwMode="auto">
              <a:xfrm>
                <a:off x="3024" y="2160"/>
                <a:ext cx="320"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WB</a:t>
                </a:r>
              </a:p>
            </p:txBody>
          </p:sp>
          <p:sp>
            <p:nvSpPr>
              <p:cNvPr id="67615" name="Rectangle 46">
                <a:extLst>
                  <a:ext uri="{FF2B5EF4-FFF2-40B4-BE49-F238E27FC236}">
                    <a16:creationId xmlns:a16="http://schemas.microsoft.com/office/drawing/2014/main" id="{F2AE564B-6593-2F40-AF46-83395DF10CED}"/>
                  </a:ext>
                </a:extLst>
              </p:cNvPr>
              <p:cNvSpPr>
                <a:spLocks noChangeArrowheads="1"/>
              </p:cNvSpPr>
              <p:nvPr/>
            </p:nvSpPr>
            <p:spPr bwMode="auto">
              <a:xfrm>
                <a:off x="1056" y="2160"/>
                <a:ext cx="480"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16" name="Rectangle 47">
                <a:extLst>
                  <a:ext uri="{FF2B5EF4-FFF2-40B4-BE49-F238E27FC236}">
                    <a16:creationId xmlns:a16="http://schemas.microsoft.com/office/drawing/2014/main" id="{618A971B-F99E-C542-86F6-6E00DBCB9749}"/>
                  </a:ext>
                </a:extLst>
              </p:cNvPr>
              <p:cNvSpPr>
                <a:spLocks noChangeArrowheads="1"/>
              </p:cNvSpPr>
              <p:nvPr/>
            </p:nvSpPr>
            <p:spPr bwMode="auto">
              <a:xfrm>
                <a:off x="1536" y="2160"/>
                <a:ext cx="480"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17" name="Rectangle 48">
                <a:extLst>
                  <a:ext uri="{FF2B5EF4-FFF2-40B4-BE49-F238E27FC236}">
                    <a16:creationId xmlns:a16="http://schemas.microsoft.com/office/drawing/2014/main" id="{7A8DDD5B-1EAC-2049-BB9E-22C28FEBA4CE}"/>
                  </a:ext>
                </a:extLst>
              </p:cNvPr>
              <p:cNvSpPr>
                <a:spLocks noChangeArrowheads="1"/>
              </p:cNvSpPr>
              <p:nvPr/>
            </p:nvSpPr>
            <p:spPr bwMode="auto">
              <a:xfrm>
                <a:off x="2016" y="2160"/>
                <a:ext cx="479"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18" name="Rectangle 49">
                <a:extLst>
                  <a:ext uri="{FF2B5EF4-FFF2-40B4-BE49-F238E27FC236}">
                    <a16:creationId xmlns:a16="http://schemas.microsoft.com/office/drawing/2014/main" id="{B4137C01-25B4-F646-8F75-F24EF4957A79}"/>
                  </a:ext>
                </a:extLst>
              </p:cNvPr>
              <p:cNvSpPr>
                <a:spLocks noChangeArrowheads="1"/>
              </p:cNvSpPr>
              <p:nvPr/>
            </p:nvSpPr>
            <p:spPr bwMode="auto">
              <a:xfrm>
                <a:off x="2495" y="2160"/>
                <a:ext cx="480"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19" name="Rectangle 50">
                <a:extLst>
                  <a:ext uri="{FF2B5EF4-FFF2-40B4-BE49-F238E27FC236}">
                    <a16:creationId xmlns:a16="http://schemas.microsoft.com/office/drawing/2014/main" id="{22B747DF-C3FB-6C46-9137-BACAA9E2CFB0}"/>
                  </a:ext>
                </a:extLst>
              </p:cNvPr>
              <p:cNvSpPr>
                <a:spLocks noChangeArrowheads="1"/>
              </p:cNvSpPr>
              <p:nvPr/>
            </p:nvSpPr>
            <p:spPr bwMode="auto">
              <a:xfrm>
                <a:off x="2976" y="2160"/>
                <a:ext cx="480" cy="24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7598" name="Group 51">
              <a:extLst>
                <a:ext uri="{FF2B5EF4-FFF2-40B4-BE49-F238E27FC236}">
                  <a16:creationId xmlns:a16="http://schemas.microsoft.com/office/drawing/2014/main" id="{C21D0CA8-4434-1E47-9860-386E5A3F8F98}"/>
                </a:ext>
              </a:extLst>
            </p:cNvPr>
            <p:cNvGrpSpPr>
              <a:grpSpLocks/>
            </p:cNvGrpSpPr>
            <p:nvPr/>
          </p:nvGrpSpPr>
          <p:grpSpPr bwMode="auto">
            <a:xfrm>
              <a:off x="2736" y="3168"/>
              <a:ext cx="2400" cy="240"/>
              <a:chOff x="1056" y="2160"/>
              <a:chExt cx="2400" cy="240"/>
            </a:xfrm>
          </p:grpSpPr>
          <p:sp>
            <p:nvSpPr>
              <p:cNvPr id="67600" name="Text Box 52">
                <a:extLst>
                  <a:ext uri="{FF2B5EF4-FFF2-40B4-BE49-F238E27FC236}">
                    <a16:creationId xmlns:a16="http://schemas.microsoft.com/office/drawing/2014/main" id="{04381DA6-B69F-184C-8293-8254954512CA}"/>
                  </a:ext>
                </a:extLst>
              </p:cNvPr>
              <p:cNvSpPr txBox="1">
                <a:spLocks noChangeArrowheads="1"/>
              </p:cNvSpPr>
              <p:nvPr/>
            </p:nvSpPr>
            <p:spPr bwMode="auto">
              <a:xfrm>
                <a:off x="1152" y="2160"/>
                <a:ext cx="22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IF</a:t>
                </a:r>
              </a:p>
            </p:txBody>
          </p:sp>
          <p:sp>
            <p:nvSpPr>
              <p:cNvPr id="67601" name="Text Box 53">
                <a:extLst>
                  <a:ext uri="{FF2B5EF4-FFF2-40B4-BE49-F238E27FC236}">
                    <a16:creationId xmlns:a16="http://schemas.microsoft.com/office/drawing/2014/main" id="{AEEBBB96-7FC5-B445-A0AA-910C006E95ED}"/>
                  </a:ext>
                </a:extLst>
              </p:cNvPr>
              <p:cNvSpPr txBox="1">
                <a:spLocks noChangeArrowheads="1"/>
              </p:cNvSpPr>
              <p:nvPr/>
            </p:nvSpPr>
            <p:spPr bwMode="auto">
              <a:xfrm>
                <a:off x="1632" y="2160"/>
                <a:ext cx="24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ID</a:t>
                </a:r>
              </a:p>
            </p:txBody>
          </p:sp>
          <p:sp>
            <p:nvSpPr>
              <p:cNvPr id="67602" name="Text Box 54">
                <a:extLst>
                  <a:ext uri="{FF2B5EF4-FFF2-40B4-BE49-F238E27FC236}">
                    <a16:creationId xmlns:a16="http://schemas.microsoft.com/office/drawing/2014/main" id="{0EB6A40C-6CC8-7D4A-97F6-5BC373CAD2D1}"/>
                  </a:ext>
                </a:extLst>
              </p:cNvPr>
              <p:cNvSpPr txBox="1">
                <a:spLocks noChangeArrowheads="1"/>
              </p:cNvSpPr>
              <p:nvPr/>
            </p:nvSpPr>
            <p:spPr bwMode="auto">
              <a:xfrm>
                <a:off x="2064" y="2160"/>
                <a:ext cx="28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EX</a:t>
                </a:r>
              </a:p>
            </p:txBody>
          </p:sp>
          <p:sp>
            <p:nvSpPr>
              <p:cNvPr id="67603" name="Text Box 55">
                <a:extLst>
                  <a:ext uri="{FF2B5EF4-FFF2-40B4-BE49-F238E27FC236}">
                    <a16:creationId xmlns:a16="http://schemas.microsoft.com/office/drawing/2014/main" id="{E13C5D41-9D62-044C-9D7A-3C7372557400}"/>
                  </a:ext>
                </a:extLst>
              </p:cNvPr>
              <p:cNvSpPr txBox="1">
                <a:spLocks noChangeArrowheads="1"/>
              </p:cNvSpPr>
              <p:nvPr/>
            </p:nvSpPr>
            <p:spPr bwMode="auto">
              <a:xfrm>
                <a:off x="2496" y="2160"/>
                <a:ext cx="42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MEM</a:t>
                </a:r>
              </a:p>
            </p:txBody>
          </p:sp>
          <p:sp>
            <p:nvSpPr>
              <p:cNvPr id="67604" name="Text Box 56">
                <a:extLst>
                  <a:ext uri="{FF2B5EF4-FFF2-40B4-BE49-F238E27FC236}">
                    <a16:creationId xmlns:a16="http://schemas.microsoft.com/office/drawing/2014/main" id="{16C590CF-900A-5A46-8DB2-25D4BEE00D35}"/>
                  </a:ext>
                </a:extLst>
              </p:cNvPr>
              <p:cNvSpPr txBox="1">
                <a:spLocks noChangeArrowheads="1"/>
              </p:cNvSpPr>
              <p:nvPr/>
            </p:nvSpPr>
            <p:spPr bwMode="auto">
              <a:xfrm>
                <a:off x="3024" y="2160"/>
                <a:ext cx="32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eaLnBrk="1" hangingPunct="1">
                  <a:spcBef>
                    <a:spcPct val="0"/>
                  </a:spcBef>
                  <a:buClrTx/>
                  <a:buSzTx/>
                  <a:buFontTx/>
                  <a:buNone/>
                </a:pPr>
                <a:r>
                  <a:rPr lang="en-US" altLang="en-US" sz="2400">
                    <a:latin typeface="Times New Roman" panose="02020603050405020304" pitchFamily="18" charset="0"/>
                  </a:rPr>
                  <a:t>WB</a:t>
                </a:r>
              </a:p>
            </p:txBody>
          </p:sp>
          <p:sp>
            <p:nvSpPr>
              <p:cNvPr id="67605" name="Rectangle 57">
                <a:extLst>
                  <a:ext uri="{FF2B5EF4-FFF2-40B4-BE49-F238E27FC236}">
                    <a16:creationId xmlns:a16="http://schemas.microsoft.com/office/drawing/2014/main" id="{3876FFAD-3535-5144-9DAE-652D667A7F7C}"/>
                  </a:ext>
                </a:extLst>
              </p:cNvPr>
              <p:cNvSpPr>
                <a:spLocks noChangeArrowheads="1"/>
              </p:cNvSpPr>
              <p:nvPr/>
            </p:nvSpPr>
            <p:spPr bwMode="auto">
              <a:xfrm>
                <a:off x="105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06" name="Rectangle 58">
                <a:extLst>
                  <a:ext uri="{FF2B5EF4-FFF2-40B4-BE49-F238E27FC236}">
                    <a16:creationId xmlns:a16="http://schemas.microsoft.com/office/drawing/2014/main" id="{305B2C19-CE4F-9C43-8709-42859F4805CE}"/>
                  </a:ext>
                </a:extLst>
              </p:cNvPr>
              <p:cNvSpPr>
                <a:spLocks noChangeArrowheads="1"/>
              </p:cNvSpPr>
              <p:nvPr/>
            </p:nvSpPr>
            <p:spPr bwMode="auto">
              <a:xfrm>
                <a:off x="153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07" name="Rectangle 59">
                <a:extLst>
                  <a:ext uri="{FF2B5EF4-FFF2-40B4-BE49-F238E27FC236}">
                    <a16:creationId xmlns:a16="http://schemas.microsoft.com/office/drawing/2014/main" id="{28B3FFC1-78B6-9743-9BE9-A2AD3997B3A6}"/>
                  </a:ext>
                </a:extLst>
              </p:cNvPr>
              <p:cNvSpPr>
                <a:spLocks noChangeArrowheads="1"/>
              </p:cNvSpPr>
              <p:nvPr/>
            </p:nvSpPr>
            <p:spPr bwMode="auto">
              <a:xfrm>
                <a:off x="2016" y="2160"/>
                <a:ext cx="479"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08" name="Rectangle 60">
                <a:extLst>
                  <a:ext uri="{FF2B5EF4-FFF2-40B4-BE49-F238E27FC236}">
                    <a16:creationId xmlns:a16="http://schemas.microsoft.com/office/drawing/2014/main" id="{BAB6B310-9F3A-BB4C-BC50-31B5F7CB96FD}"/>
                  </a:ext>
                </a:extLst>
              </p:cNvPr>
              <p:cNvSpPr>
                <a:spLocks noChangeArrowheads="1"/>
              </p:cNvSpPr>
              <p:nvPr/>
            </p:nvSpPr>
            <p:spPr bwMode="auto">
              <a:xfrm>
                <a:off x="249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609" name="Rectangle 61">
                <a:extLst>
                  <a:ext uri="{FF2B5EF4-FFF2-40B4-BE49-F238E27FC236}">
                    <a16:creationId xmlns:a16="http://schemas.microsoft.com/office/drawing/2014/main" id="{AE52289A-861F-BB4C-B0DB-488E30897C36}"/>
                  </a:ext>
                </a:extLst>
              </p:cNvPr>
              <p:cNvSpPr>
                <a:spLocks noChangeArrowheads="1"/>
              </p:cNvSpPr>
              <p:nvPr/>
            </p:nvSpPr>
            <p:spPr bwMode="auto">
              <a:xfrm>
                <a:off x="2976" y="2160"/>
                <a:ext cx="480"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67599" name="Line 62">
              <a:extLst>
                <a:ext uri="{FF2B5EF4-FFF2-40B4-BE49-F238E27FC236}">
                  <a16:creationId xmlns:a16="http://schemas.microsoft.com/office/drawing/2014/main" id="{545D4C2E-276F-B542-BC2F-3A853582B5B1}"/>
                </a:ext>
              </a:extLst>
            </p:cNvPr>
            <p:cNvSpPr>
              <a:spLocks noChangeShapeType="1"/>
            </p:cNvSpPr>
            <p:nvPr/>
          </p:nvSpPr>
          <p:spPr bwMode="auto">
            <a:xfrm>
              <a:off x="768" y="1824"/>
              <a:ext cx="0" cy="153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67588" name="Text Box 63">
            <a:extLst>
              <a:ext uri="{FF2B5EF4-FFF2-40B4-BE49-F238E27FC236}">
                <a16:creationId xmlns:a16="http://schemas.microsoft.com/office/drawing/2014/main" id="{F218B4BC-36A9-E54C-B06E-BEF2D9893255}"/>
              </a:ext>
            </a:extLst>
          </p:cNvPr>
          <p:cNvSpPr txBox="1">
            <a:spLocks noChangeArrowheads="1"/>
          </p:cNvSpPr>
          <p:nvPr/>
        </p:nvSpPr>
        <p:spPr bwMode="auto">
          <a:xfrm>
            <a:off x="533400" y="1295400"/>
            <a:ext cx="5565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Times New Roman" panose="02020603050405020304" pitchFamily="18" charset="0"/>
              </a:rPr>
              <a:t>All integer instructions fit into the following pipeline</a:t>
            </a:r>
          </a:p>
        </p:txBody>
      </p:sp>
      <p:sp>
        <p:nvSpPr>
          <p:cNvPr id="67589" name="TextBox 65">
            <a:extLst>
              <a:ext uri="{FF2B5EF4-FFF2-40B4-BE49-F238E27FC236}">
                <a16:creationId xmlns:a16="http://schemas.microsoft.com/office/drawing/2014/main" id="{23B1A563-F4A6-004A-BCA9-30CA4EEF55E2}"/>
              </a:ext>
            </a:extLst>
          </p:cNvPr>
          <p:cNvSpPr txBox="1">
            <a:spLocks noChangeArrowheads="1"/>
          </p:cNvSpPr>
          <p:nvPr/>
        </p:nvSpPr>
        <p:spPr bwMode="auto">
          <a:xfrm>
            <a:off x="7823200" y="6596063"/>
            <a:ext cx="13208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a:solidFill>
                  <a:schemeClr val="tx1"/>
                </a:solidFill>
                <a:latin typeface="Times New Roman" panose="02020603050405020304" pitchFamily="18" charset="0"/>
              </a:rPr>
              <a:t>Source:Corporaal05</a:t>
            </a:r>
          </a:p>
        </p:txBody>
      </p:sp>
      <p:pic>
        <p:nvPicPr>
          <p:cNvPr id="67590" name="Picture 2">
            <a:extLst>
              <a:ext uri="{FF2B5EF4-FFF2-40B4-BE49-F238E27FC236}">
                <a16:creationId xmlns:a16="http://schemas.microsoft.com/office/drawing/2014/main" id="{E38B7C20-12E4-A945-AEAE-06E925D81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0138" y="1790700"/>
            <a:ext cx="285591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8CC56B7F-DE7C-0844-871F-93AC195135B9}"/>
              </a:ext>
            </a:extLst>
          </p:cNvPr>
          <p:cNvSpPr>
            <a:spLocks noGrp="1" noChangeArrowheads="1"/>
          </p:cNvSpPr>
          <p:nvPr>
            <p:ph type="title"/>
          </p:nvPr>
        </p:nvSpPr>
        <p:spPr/>
        <p:txBody>
          <a:bodyPr/>
          <a:lstStyle/>
          <a:p>
            <a:r>
              <a:rPr lang="en-US" altLang="en-US"/>
              <a:t>Case Study: x86</a:t>
            </a:r>
          </a:p>
        </p:txBody>
      </p:sp>
      <p:sp>
        <p:nvSpPr>
          <p:cNvPr id="68611" name="Content Placeholder 2">
            <a:extLst>
              <a:ext uri="{FF2B5EF4-FFF2-40B4-BE49-F238E27FC236}">
                <a16:creationId xmlns:a16="http://schemas.microsoft.com/office/drawing/2014/main" id="{AFDF68D7-BE40-DD45-ADC6-C465D8EC48F4}"/>
              </a:ext>
            </a:extLst>
          </p:cNvPr>
          <p:cNvSpPr>
            <a:spLocks noGrp="1" noChangeArrowheads="1"/>
          </p:cNvSpPr>
          <p:nvPr>
            <p:ph idx="1"/>
          </p:nvPr>
        </p:nvSpPr>
        <p:spPr/>
        <p:txBody>
          <a:bodyPr/>
          <a:lstStyle/>
          <a:p>
            <a:r>
              <a:rPr lang="en-US" altLang="en-US"/>
              <a:t>X86 = Instruction set architecture originating from Intel 8086</a:t>
            </a:r>
          </a:p>
          <a:p>
            <a:pPr lvl="1"/>
            <a:r>
              <a:rPr lang="en-US" altLang="en-US"/>
              <a:t>Designed “quickly” as processors for first IBM PC</a:t>
            </a:r>
          </a:p>
          <a:p>
            <a:pPr lvl="2"/>
            <a:r>
              <a:rPr lang="en-US" altLang="en-US"/>
              <a:t>IBM required second sourcing (hence Intel &amp; AMD)</a:t>
            </a:r>
          </a:p>
          <a:p>
            <a:pPr lvl="1"/>
            <a:r>
              <a:rPr lang="en-US" altLang="en-US"/>
              <a:t>Most popular today, despite drawbacks</a:t>
            </a:r>
          </a:p>
          <a:p>
            <a:pPr lvl="1"/>
            <a:r>
              <a:rPr lang="en-US" altLang="en-US"/>
              <a:t>Has been implemented in processors made by Intel, AMD, Cytrix, VIA, etc.  </a:t>
            </a:r>
          </a:p>
          <a:p>
            <a:pPr lvl="1"/>
            <a:r>
              <a:rPr lang="en-US" altLang="en-US"/>
              <a:t>Started off as 16-bit (1978), then 32-bit (1985), 64-bit (1999)</a:t>
            </a:r>
          </a:p>
          <a:p>
            <a:pPr lvl="1"/>
            <a:r>
              <a:rPr lang="en-US" altLang="en-US"/>
              <a:t>Over the years, new instructions were added, more registers were added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6B4969AB-ABDE-CE47-904D-7E35474D2F01}"/>
              </a:ext>
            </a:extLst>
          </p:cNvPr>
          <p:cNvSpPr>
            <a:spLocks noGrp="1" noChangeArrowheads="1"/>
          </p:cNvSpPr>
          <p:nvPr>
            <p:ph type="title"/>
          </p:nvPr>
        </p:nvSpPr>
        <p:spPr/>
        <p:txBody>
          <a:bodyPr/>
          <a:lstStyle/>
          <a:p>
            <a:r>
              <a:rPr lang="en-US" altLang="en-US"/>
              <a:t>x86 Registers: too few</a:t>
            </a:r>
          </a:p>
        </p:txBody>
      </p:sp>
      <p:sp>
        <p:nvSpPr>
          <p:cNvPr id="69635" name="Rectangle 4">
            <a:extLst>
              <a:ext uri="{FF2B5EF4-FFF2-40B4-BE49-F238E27FC236}">
                <a16:creationId xmlns:a16="http://schemas.microsoft.com/office/drawing/2014/main" id="{9C5F636F-372B-1548-830B-24D3E9B5FF6F}"/>
              </a:ext>
            </a:extLst>
          </p:cNvPr>
          <p:cNvSpPr>
            <a:spLocks noChangeArrowheads="1"/>
          </p:cNvSpPr>
          <p:nvPr/>
        </p:nvSpPr>
        <p:spPr bwMode="auto">
          <a:xfrm>
            <a:off x="5337175" y="1143000"/>
            <a:ext cx="13716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36" name="Rectangle 5">
            <a:extLst>
              <a:ext uri="{FF2B5EF4-FFF2-40B4-BE49-F238E27FC236}">
                <a16:creationId xmlns:a16="http://schemas.microsoft.com/office/drawing/2014/main" id="{1211F36F-8D14-CE42-8348-8EBB854FDE67}"/>
              </a:ext>
            </a:extLst>
          </p:cNvPr>
          <p:cNvSpPr>
            <a:spLocks noChangeArrowheads="1"/>
          </p:cNvSpPr>
          <p:nvPr/>
        </p:nvSpPr>
        <p:spPr bwMode="auto">
          <a:xfrm>
            <a:off x="6708775" y="1143000"/>
            <a:ext cx="13716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37" name="Rectangle 6">
            <a:extLst>
              <a:ext uri="{FF2B5EF4-FFF2-40B4-BE49-F238E27FC236}">
                <a16:creationId xmlns:a16="http://schemas.microsoft.com/office/drawing/2014/main" id="{145AAA62-A9F4-7D4C-B42B-B39FAC406E31}"/>
              </a:ext>
            </a:extLst>
          </p:cNvPr>
          <p:cNvSpPr>
            <a:spLocks noChangeArrowheads="1"/>
          </p:cNvSpPr>
          <p:nvPr/>
        </p:nvSpPr>
        <p:spPr bwMode="auto">
          <a:xfrm>
            <a:off x="2593975" y="1143000"/>
            <a:ext cx="27432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38" name="Rectangle 7">
            <a:extLst>
              <a:ext uri="{FF2B5EF4-FFF2-40B4-BE49-F238E27FC236}">
                <a16:creationId xmlns:a16="http://schemas.microsoft.com/office/drawing/2014/main" id="{2CB369B3-984D-5D42-8E91-C4F868599499}"/>
              </a:ext>
            </a:extLst>
          </p:cNvPr>
          <p:cNvSpPr>
            <a:spLocks noChangeArrowheads="1"/>
          </p:cNvSpPr>
          <p:nvPr/>
        </p:nvSpPr>
        <p:spPr bwMode="auto">
          <a:xfrm>
            <a:off x="5337175" y="1447800"/>
            <a:ext cx="13716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39" name="Rectangle 8">
            <a:extLst>
              <a:ext uri="{FF2B5EF4-FFF2-40B4-BE49-F238E27FC236}">
                <a16:creationId xmlns:a16="http://schemas.microsoft.com/office/drawing/2014/main" id="{6B718DFD-45DA-CB48-838D-2DC90A63C356}"/>
              </a:ext>
            </a:extLst>
          </p:cNvPr>
          <p:cNvSpPr>
            <a:spLocks noChangeArrowheads="1"/>
          </p:cNvSpPr>
          <p:nvPr/>
        </p:nvSpPr>
        <p:spPr bwMode="auto">
          <a:xfrm>
            <a:off x="6708775" y="1447800"/>
            <a:ext cx="13716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0" name="Rectangle 9">
            <a:extLst>
              <a:ext uri="{FF2B5EF4-FFF2-40B4-BE49-F238E27FC236}">
                <a16:creationId xmlns:a16="http://schemas.microsoft.com/office/drawing/2014/main" id="{3461C71A-1AE7-784B-86B5-0971CFB91E87}"/>
              </a:ext>
            </a:extLst>
          </p:cNvPr>
          <p:cNvSpPr>
            <a:spLocks noChangeArrowheads="1"/>
          </p:cNvSpPr>
          <p:nvPr/>
        </p:nvSpPr>
        <p:spPr bwMode="auto">
          <a:xfrm>
            <a:off x="2593975" y="1447800"/>
            <a:ext cx="27432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1" name="Rectangle 10">
            <a:extLst>
              <a:ext uri="{FF2B5EF4-FFF2-40B4-BE49-F238E27FC236}">
                <a16:creationId xmlns:a16="http://schemas.microsoft.com/office/drawing/2014/main" id="{19945DA0-E934-BD4D-8446-F0BC16787A84}"/>
              </a:ext>
            </a:extLst>
          </p:cNvPr>
          <p:cNvSpPr>
            <a:spLocks noChangeArrowheads="1"/>
          </p:cNvSpPr>
          <p:nvPr/>
        </p:nvSpPr>
        <p:spPr bwMode="auto">
          <a:xfrm>
            <a:off x="5337175" y="1752600"/>
            <a:ext cx="13716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2" name="Rectangle 11">
            <a:extLst>
              <a:ext uri="{FF2B5EF4-FFF2-40B4-BE49-F238E27FC236}">
                <a16:creationId xmlns:a16="http://schemas.microsoft.com/office/drawing/2014/main" id="{DF637AC3-02B4-664B-82FE-67F04C30AEA3}"/>
              </a:ext>
            </a:extLst>
          </p:cNvPr>
          <p:cNvSpPr>
            <a:spLocks noChangeArrowheads="1"/>
          </p:cNvSpPr>
          <p:nvPr/>
        </p:nvSpPr>
        <p:spPr bwMode="auto">
          <a:xfrm>
            <a:off x="6708775" y="1752600"/>
            <a:ext cx="13716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3" name="Rectangle 12">
            <a:extLst>
              <a:ext uri="{FF2B5EF4-FFF2-40B4-BE49-F238E27FC236}">
                <a16:creationId xmlns:a16="http://schemas.microsoft.com/office/drawing/2014/main" id="{1014FF59-4521-0D4C-BFF6-D4D340829053}"/>
              </a:ext>
            </a:extLst>
          </p:cNvPr>
          <p:cNvSpPr>
            <a:spLocks noChangeArrowheads="1"/>
          </p:cNvSpPr>
          <p:nvPr/>
        </p:nvSpPr>
        <p:spPr bwMode="auto">
          <a:xfrm>
            <a:off x="2593975" y="1752600"/>
            <a:ext cx="27432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4" name="Rectangle 13">
            <a:extLst>
              <a:ext uri="{FF2B5EF4-FFF2-40B4-BE49-F238E27FC236}">
                <a16:creationId xmlns:a16="http://schemas.microsoft.com/office/drawing/2014/main" id="{81EE5C3F-79C0-1B4A-8B37-6BD0E8CE1B2E}"/>
              </a:ext>
            </a:extLst>
          </p:cNvPr>
          <p:cNvSpPr>
            <a:spLocks noChangeArrowheads="1"/>
          </p:cNvSpPr>
          <p:nvPr/>
        </p:nvSpPr>
        <p:spPr bwMode="auto">
          <a:xfrm>
            <a:off x="5337175" y="2057400"/>
            <a:ext cx="13716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5" name="Rectangle 14">
            <a:extLst>
              <a:ext uri="{FF2B5EF4-FFF2-40B4-BE49-F238E27FC236}">
                <a16:creationId xmlns:a16="http://schemas.microsoft.com/office/drawing/2014/main" id="{C0A83FDD-A176-874B-BB64-F98ED35D5EF5}"/>
              </a:ext>
            </a:extLst>
          </p:cNvPr>
          <p:cNvSpPr>
            <a:spLocks noChangeArrowheads="1"/>
          </p:cNvSpPr>
          <p:nvPr/>
        </p:nvSpPr>
        <p:spPr bwMode="auto">
          <a:xfrm>
            <a:off x="6708775" y="2057400"/>
            <a:ext cx="13716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6" name="Rectangle 15">
            <a:extLst>
              <a:ext uri="{FF2B5EF4-FFF2-40B4-BE49-F238E27FC236}">
                <a16:creationId xmlns:a16="http://schemas.microsoft.com/office/drawing/2014/main" id="{60FF47EE-846C-6641-A855-4547FC16474E}"/>
              </a:ext>
            </a:extLst>
          </p:cNvPr>
          <p:cNvSpPr>
            <a:spLocks noChangeArrowheads="1"/>
          </p:cNvSpPr>
          <p:nvPr/>
        </p:nvSpPr>
        <p:spPr bwMode="auto">
          <a:xfrm>
            <a:off x="2593975" y="2057400"/>
            <a:ext cx="27432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7" name="Rectangle 16">
            <a:extLst>
              <a:ext uri="{FF2B5EF4-FFF2-40B4-BE49-F238E27FC236}">
                <a16:creationId xmlns:a16="http://schemas.microsoft.com/office/drawing/2014/main" id="{D3ED1FC3-AD73-FC46-8B1F-3013DA2A8D1C}"/>
              </a:ext>
            </a:extLst>
          </p:cNvPr>
          <p:cNvSpPr>
            <a:spLocks noChangeArrowheads="1"/>
          </p:cNvSpPr>
          <p:nvPr/>
        </p:nvSpPr>
        <p:spPr bwMode="auto">
          <a:xfrm>
            <a:off x="2593975" y="2438400"/>
            <a:ext cx="5486400" cy="304800"/>
          </a:xfrm>
          <a:prstGeom prst="rect">
            <a:avLst/>
          </a:prstGeom>
          <a:solidFill>
            <a:srgbClr val="FFCC99"/>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8" name="Rectangle 17">
            <a:extLst>
              <a:ext uri="{FF2B5EF4-FFF2-40B4-BE49-F238E27FC236}">
                <a16:creationId xmlns:a16="http://schemas.microsoft.com/office/drawing/2014/main" id="{BDE22045-E907-2E4E-BC06-D517FD66A9D6}"/>
              </a:ext>
            </a:extLst>
          </p:cNvPr>
          <p:cNvSpPr>
            <a:spLocks noChangeArrowheads="1"/>
          </p:cNvSpPr>
          <p:nvPr/>
        </p:nvSpPr>
        <p:spPr bwMode="auto">
          <a:xfrm>
            <a:off x="2593975" y="2743200"/>
            <a:ext cx="5486400" cy="304800"/>
          </a:xfrm>
          <a:prstGeom prst="rect">
            <a:avLst/>
          </a:prstGeom>
          <a:solidFill>
            <a:srgbClr val="FFCC99"/>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49" name="Rectangle 18">
            <a:extLst>
              <a:ext uri="{FF2B5EF4-FFF2-40B4-BE49-F238E27FC236}">
                <a16:creationId xmlns:a16="http://schemas.microsoft.com/office/drawing/2014/main" id="{3D0F421B-8721-2841-848C-45D673C28D9C}"/>
              </a:ext>
            </a:extLst>
          </p:cNvPr>
          <p:cNvSpPr>
            <a:spLocks noChangeArrowheads="1"/>
          </p:cNvSpPr>
          <p:nvPr/>
        </p:nvSpPr>
        <p:spPr bwMode="auto">
          <a:xfrm>
            <a:off x="2593975" y="3124200"/>
            <a:ext cx="5486400" cy="304800"/>
          </a:xfrm>
          <a:prstGeom prst="rect">
            <a:avLst/>
          </a:prstGeom>
          <a:solidFill>
            <a:srgbClr val="FFCC99"/>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0" name="Rectangle 19">
            <a:extLst>
              <a:ext uri="{FF2B5EF4-FFF2-40B4-BE49-F238E27FC236}">
                <a16:creationId xmlns:a16="http://schemas.microsoft.com/office/drawing/2014/main" id="{55752893-F929-824F-B3CA-FF8095633809}"/>
              </a:ext>
            </a:extLst>
          </p:cNvPr>
          <p:cNvSpPr>
            <a:spLocks noChangeArrowheads="1"/>
          </p:cNvSpPr>
          <p:nvPr/>
        </p:nvSpPr>
        <p:spPr bwMode="auto">
          <a:xfrm>
            <a:off x="2593975" y="3429000"/>
            <a:ext cx="5486400" cy="304800"/>
          </a:xfrm>
          <a:prstGeom prst="rect">
            <a:avLst/>
          </a:prstGeom>
          <a:solidFill>
            <a:srgbClr val="FFCC99"/>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1" name="Rectangle 20">
            <a:extLst>
              <a:ext uri="{FF2B5EF4-FFF2-40B4-BE49-F238E27FC236}">
                <a16:creationId xmlns:a16="http://schemas.microsoft.com/office/drawing/2014/main" id="{E5678F02-9F26-A749-8070-CBB45D3EFDB3}"/>
              </a:ext>
            </a:extLst>
          </p:cNvPr>
          <p:cNvSpPr>
            <a:spLocks noChangeArrowheads="1"/>
          </p:cNvSpPr>
          <p:nvPr/>
        </p:nvSpPr>
        <p:spPr bwMode="auto">
          <a:xfrm>
            <a:off x="5337175" y="3810000"/>
            <a:ext cx="2743200" cy="304800"/>
          </a:xfrm>
          <a:prstGeom prst="rect">
            <a:avLst/>
          </a:prstGeom>
          <a:solidFill>
            <a:srgbClr val="CCFF33"/>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2" name="Rectangle 21">
            <a:extLst>
              <a:ext uri="{FF2B5EF4-FFF2-40B4-BE49-F238E27FC236}">
                <a16:creationId xmlns:a16="http://schemas.microsoft.com/office/drawing/2014/main" id="{E9C33D6C-6581-EC49-8547-6715DF6373F5}"/>
              </a:ext>
            </a:extLst>
          </p:cNvPr>
          <p:cNvSpPr>
            <a:spLocks noChangeArrowheads="1"/>
          </p:cNvSpPr>
          <p:nvPr/>
        </p:nvSpPr>
        <p:spPr bwMode="auto">
          <a:xfrm>
            <a:off x="5337175" y="4114800"/>
            <a:ext cx="2743200" cy="304800"/>
          </a:xfrm>
          <a:prstGeom prst="rect">
            <a:avLst/>
          </a:prstGeom>
          <a:solidFill>
            <a:srgbClr val="CCFF33"/>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3" name="Rectangle 22">
            <a:extLst>
              <a:ext uri="{FF2B5EF4-FFF2-40B4-BE49-F238E27FC236}">
                <a16:creationId xmlns:a16="http://schemas.microsoft.com/office/drawing/2014/main" id="{CF9EC6B9-A09B-D043-96DD-5B7702C1F2BF}"/>
              </a:ext>
            </a:extLst>
          </p:cNvPr>
          <p:cNvSpPr>
            <a:spLocks noChangeArrowheads="1"/>
          </p:cNvSpPr>
          <p:nvPr/>
        </p:nvSpPr>
        <p:spPr bwMode="auto">
          <a:xfrm>
            <a:off x="5337175" y="4419600"/>
            <a:ext cx="2743200" cy="304800"/>
          </a:xfrm>
          <a:prstGeom prst="rect">
            <a:avLst/>
          </a:prstGeom>
          <a:solidFill>
            <a:srgbClr val="CCFF33"/>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4" name="Rectangle 23">
            <a:extLst>
              <a:ext uri="{FF2B5EF4-FFF2-40B4-BE49-F238E27FC236}">
                <a16:creationId xmlns:a16="http://schemas.microsoft.com/office/drawing/2014/main" id="{3DFBDF09-0650-C647-B9F6-80A93B15480E}"/>
              </a:ext>
            </a:extLst>
          </p:cNvPr>
          <p:cNvSpPr>
            <a:spLocks noChangeArrowheads="1"/>
          </p:cNvSpPr>
          <p:nvPr/>
        </p:nvSpPr>
        <p:spPr bwMode="auto">
          <a:xfrm>
            <a:off x="5337175" y="4724400"/>
            <a:ext cx="2743200" cy="304800"/>
          </a:xfrm>
          <a:prstGeom prst="rect">
            <a:avLst/>
          </a:prstGeom>
          <a:solidFill>
            <a:srgbClr val="CCFF33"/>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5" name="Rectangle 24">
            <a:extLst>
              <a:ext uri="{FF2B5EF4-FFF2-40B4-BE49-F238E27FC236}">
                <a16:creationId xmlns:a16="http://schemas.microsoft.com/office/drawing/2014/main" id="{D1D0AF22-DB86-BE4D-9902-FA8FB651C98C}"/>
              </a:ext>
            </a:extLst>
          </p:cNvPr>
          <p:cNvSpPr>
            <a:spLocks noChangeArrowheads="1"/>
          </p:cNvSpPr>
          <p:nvPr/>
        </p:nvSpPr>
        <p:spPr bwMode="auto">
          <a:xfrm>
            <a:off x="5337175" y="5029200"/>
            <a:ext cx="2743200" cy="304800"/>
          </a:xfrm>
          <a:prstGeom prst="rect">
            <a:avLst/>
          </a:prstGeom>
          <a:solidFill>
            <a:srgbClr val="CCFF33"/>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6" name="Rectangle 25">
            <a:extLst>
              <a:ext uri="{FF2B5EF4-FFF2-40B4-BE49-F238E27FC236}">
                <a16:creationId xmlns:a16="http://schemas.microsoft.com/office/drawing/2014/main" id="{EE99D3FA-011B-6248-9473-2E7CC6F7C8E3}"/>
              </a:ext>
            </a:extLst>
          </p:cNvPr>
          <p:cNvSpPr>
            <a:spLocks noChangeArrowheads="1"/>
          </p:cNvSpPr>
          <p:nvPr/>
        </p:nvSpPr>
        <p:spPr bwMode="auto">
          <a:xfrm>
            <a:off x="5337175" y="5334000"/>
            <a:ext cx="2743200" cy="304800"/>
          </a:xfrm>
          <a:prstGeom prst="rect">
            <a:avLst/>
          </a:prstGeom>
          <a:solidFill>
            <a:srgbClr val="CCFF33"/>
          </a:solidFill>
          <a:ln w="19050">
            <a:solidFill>
              <a:schemeClr val="bg2"/>
            </a:solidFill>
            <a:miter lim="800000"/>
            <a:headEnd/>
            <a:tailEnd/>
          </a:ln>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7" name="Rectangle 26">
            <a:extLst>
              <a:ext uri="{FF2B5EF4-FFF2-40B4-BE49-F238E27FC236}">
                <a16:creationId xmlns:a16="http://schemas.microsoft.com/office/drawing/2014/main" id="{FA19A5CB-D964-0645-9C23-09935448CDE6}"/>
              </a:ext>
            </a:extLst>
          </p:cNvPr>
          <p:cNvSpPr>
            <a:spLocks noChangeArrowheads="1"/>
          </p:cNvSpPr>
          <p:nvPr/>
        </p:nvSpPr>
        <p:spPr bwMode="auto">
          <a:xfrm>
            <a:off x="2593975" y="5715000"/>
            <a:ext cx="54864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8" name="Rectangle 27">
            <a:extLst>
              <a:ext uri="{FF2B5EF4-FFF2-40B4-BE49-F238E27FC236}">
                <a16:creationId xmlns:a16="http://schemas.microsoft.com/office/drawing/2014/main" id="{3777D883-69F7-B249-BC67-34707269DCA6}"/>
              </a:ext>
            </a:extLst>
          </p:cNvPr>
          <p:cNvSpPr>
            <a:spLocks noChangeArrowheads="1"/>
          </p:cNvSpPr>
          <p:nvPr/>
        </p:nvSpPr>
        <p:spPr bwMode="auto">
          <a:xfrm>
            <a:off x="2593975" y="6096000"/>
            <a:ext cx="5486400" cy="3048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9659" name="Line 28">
            <a:extLst>
              <a:ext uri="{FF2B5EF4-FFF2-40B4-BE49-F238E27FC236}">
                <a16:creationId xmlns:a16="http://schemas.microsoft.com/office/drawing/2014/main" id="{D86A5633-69CA-6247-ABBF-2E040FF75FA4}"/>
              </a:ext>
            </a:extLst>
          </p:cNvPr>
          <p:cNvSpPr>
            <a:spLocks noChangeShapeType="1"/>
          </p:cNvSpPr>
          <p:nvPr/>
        </p:nvSpPr>
        <p:spPr bwMode="auto">
          <a:xfrm>
            <a:off x="5337175" y="1219200"/>
            <a:ext cx="27432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9660" name="Line 29">
            <a:extLst>
              <a:ext uri="{FF2B5EF4-FFF2-40B4-BE49-F238E27FC236}">
                <a16:creationId xmlns:a16="http://schemas.microsoft.com/office/drawing/2014/main" id="{E162B120-6F0A-8D43-A4EA-2A80E7BD2EA8}"/>
              </a:ext>
            </a:extLst>
          </p:cNvPr>
          <p:cNvSpPr>
            <a:spLocks noChangeShapeType="1"/>
          </p:cNvSpPr>
          <p:nvPr/>
        </p:nvSpPr>
        <p:spPr bwMode="auto">
          <a:xfrm>
            <a:off x="6708775" y="1066800"/>
            <a:ext cx="13716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69661" name="Line 30">
            <a:extLst>
              <a:ext uri="{FF2B5EF4-FFF2-40B4-BE49-F238E27FC236}">
                <a16:creationId xmlns:a16="http://schemas.microsoft.com/office/drawing/2014/main" id="{4A88A587-3BA6-DD42-A58A-C120B77EDF8D}"/>
              </a:ext>
            </a:extLst>
          </p:cNvPr>
          <p:cNvSpPr>
            <a:spLocks noChangeShapeType="1"/>
          </p:cNvSpPr>
          <p:nvPr/>
        </p:nvSpPr>
        <p:spPr bwMode="auto">
          <a:xfrm>
            <a:off x="5337175" y="1066800"/>
            <a:ext cx="13716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69662" name="Line 31">
            <a:extLst>
              <a:ext uri="{FF2B5EF4-FFF2-40B4-BE49-F238E27FC236}">
                <a16:creationId xmlns:a16="http://schemas.microsoft.com/office/drawing/2014/main" id="{97EAE4ED-FE2C-4A4A-A5C8-3B34381D91BB}"/>
              </a:ext>
            </a:extLst>
          </p:cNvPr>
          <p:cNvSpPr>
            <a:spLocks noChangeShapeType="1"/>
          </p:cNvSpPr>
          <p:nvPr/>
        </p:nvSpPr>
        <p:spPr bwMode="auto">
          <a:xfrm>
            <a:off x="2593975" y="1066800"/>
            <a:ext cx="27432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69663" name="Text Box 32">
            <a:extLst>
              <a:ext uri="{FF2B5EF4-FFF2-40B4-BE49-F238E27FC236}">
                <a16:creationId xmlns:a16="http://schemas.microsoft.com/office/drawing/2014/main" id="{4EEDCE10-1909-B44C-AE8F-1C3D0F097F26}"/>
              </a:ext>
            </a:extLst>
          </p:cNvPr>
          <p:cNvSpPr txBox="1">
            <a:spLocks noChangeArrowheads="1"/>
          </p:cNvSpPr>
          <p:nvPr/>
        </p:nvSpPr>
        <p:spPr bwMode="auto">
          <a:xfrm>
            <a:off x="5794375" y="1187450"/>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AH</a:t>
            </a:r>
          </a:p>
        </p:txBody>
      </p:sp>
      <p:sp>
        <p:nvSpPr>
          <p:cNvPr id="69664" name="Text Box 33">
            <a:extLst>
              <a:ext uri="{FF2B5EF4-FFF2-40B4-BE49-F238E27FC236}">
                <a16:creationId xmlns:a16="http://schemas.microsoft.com/office/drawing/2014/main" id="{918F01EE-539C-9B40-958E-B6778EA750ED}"/>
              </a:ext>
            </a:extLst>
          </p:cNvPr>
          <p:cNvSpPr txBox="1">
            <a:spLocks noChangeArrowheads="1"/>
          </p:cNvSpPr>
          <p:nvPr/>
        </p:nvSpPr>
        <p:spPr bwMode="auto">
          <a:xfrm>
            <a:off x="7158038" y="1187450"/>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AL</a:t>
            </a:r>
          </a:p>
        </p:txBody>
      </p:sp>
      <p:sp>
        <p:nvSpPr>
          <p:cNvPr id="69665" name="Text Box 34">
            <a:extLst>
              <a:ext uri="{FF2B5EF4-FFF2-40B4-BE49-F238E27FC236}">
                <a16:creationId xmlns:a16="http://schemas.microsoft.com/office/drawing/2014/main" id="{E631E340-7F77-0F42-837E-4B1337ED87C6}"/>
              </a:ext>
            </a:extLst>
          </p:cNvPr>
          <p:cNvSpPr txBox="1">
            <a:spLocks noChangeArrowheads="1"/>
          </p:cNvSpPr>
          <p:nvPr/>
        </p:nvSpPr>
        <p:spPr bwMode="auto">
          <a:xfrm>
            <a:off x="5794375" y="1492250"/>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BH</a:t>
            </a:r>
          </a:p>
        </p:txBody>
      </p:sp>
      <p:sp>
        <p:nvSpPr>
          <p:cNvPr id="69666" name="Text Box 35">
            <a:extLst>
              <a:ext uri="{FF2B5EF4-FFF2-40B4-BE49-F238E27FC236}">
                <a16:creationId xmlns:a16="http://schemas.microsoft.com/office/drawing/2014/main" id="{3308C321-05C7-9547-A3C8-81E21C4D4353}"/>
              </a:ext>
            </a:extLst>
          </p:cNvPr>
          <p:cNvSpPr txBox="1">
            <a:spLocks noChangeArrowheads="1"/>
          </p:cNvSpPr>
          <p:nvPr/>
        </p:nvSpPr>
        <p:spPr bwMode="auto">
          <a:xfrm>
            <a:off x="5794375" y="1797050"/>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CH</a:t>
            </a:r>
          </a:p>
        </p:txBody>
      </p:sp>
      <p:sp>
        <p:nvSpPr>
          <p:cNvPr id="69667" name="Text Box 36">
            <a:extLst>
              <a:ext uri="{FF2B5EF4-FFF2-40B4-BE49-F238E27FC236}">
                <a16:creationId xmlns:a16="http://schemas.microsoft.com/office/drawing/2014/main" id="{B9B5EF05-71BC-4845-A6ED-25E01A3D51E7}"/>
              </a:ext>
            </a:extLst>
          </p:cNvPr>
          <p:cNvSpPr txBox="1">
            <a:spLocks noChangeArrowheads="1"/>
          </p:cNvSpPr>
          <p:nvPr/>
        </p:nvSpPr>
        <p:spPr bwMode="auto">
          <a:xfrm>
            <a:off x="5794375" y="2101850"/>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DH</a:t>
            </a:r>
          </a:p>
        </p:txBody>
      </p:sp>
      <p:sp>
        <p:nvSpPr>
          <p:cNvPr id="69668" name="Text Box 37">
            <a:extLst>
              <a:ext uri="{FF2B5EF4-FFF2-40B4-BE49-F238E27FC236}">
                <a16:creationId xmlns:a16="http://schemas.microsoft.com/office/drawing/2014/main" id="{16209AAA-C2A4-2542-9688-9B35BB6B5503}"/>
              </a:ext>
            </a:extLst>
          </p:cNvPr>
          <p:cNvSpPr txBox="1">
            <a:spLocks noChangeArrowheads="1"/>
          </p:cNvSpPr>
          <p:nvPr/>
        </p:nvSpPr>
        <p:spPr bwMode="auto">
          <a:xfrm>
            <a:off x="7165975" y="1492250"/>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BL</a:t>
            </a:r>
          </a:p>
        </p:txBody>
      </p:sp>
      <p:sp>
        <p:nvSpPr>
          <p:cNvPr id="69669" name="Text Box 38">
            <a:extLst>
              <a:ext uri="{FF2B5EF4-FFF2-40B4-BE49-F238E27FC236}">
                <a16:creationId xmlns:a16="http://schemas.microsoft.com/office/drawing/2014/main" id="{8FF147EC-1893-A642-A120-957A627FE612}"/>
              </a:ext>
            </a:extLst>
          </p:cNvPr>
          <p:cNvSpPr txBox="1">
            <a:spLocks noChangeArrowheads="1"/>
          </p:cNvSpPr>
          <p:nvPr/>
        </p:nvSpPr>
        <p:spPr bwMode="auto">
          <a:xfrm>
            <a:off x="7173913" y="1797050"/>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CL</a:t>
            </a:r>
          </a:p>
        </p:txBody>
      </p:sp>
      <p:sp>
        <p:nvSpPr>
          <p:cNvPr id="69670" name="Text Box 39">
            <a:extLst>
              <a:ext uri="{FF2B5EF4-FFF2-40B4-BE49-F238E27FC236}">
                <a16:creationId xmlns:a16="http://schemas.microsoft.com/office/drawing/2014/main" id="{910820A6-6B66-1F41-95F7-2EDA3BBFD7B7}"/>
              </a:ext>
            </a:extLst>
          </p:cNvPr>
          <p:cNvSpPr txBox="1">
            <a:spLocks noChangeArrowheads="1"/>
          </p:cNvSpPr>
          <p:nvPr/>
        </p:nvSpPr>
        <p:spPr bwMode="auto">
          <a:xfrm>
            <a:off x="7181850" y="2101850"/>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DL</a:t>
            </a:r>
          </a:p>
        </p:txBody>
      </p:sp>
      <p:sp>
        <p:nvSpPr>
          <p:cNvPr id="69671" name="Text Box 40">
            <a:extLst>
              <a:ext uri="{FF2B5EF4-FFF2-40B4-BE49-F238E27FC236}">
                <a16:creationId xmlns:a16="http://schemas.microsoft.com/office/drawing/2014/main" id="{AF7D3706-7658-0F4B-AA01-BE3B4F7C283D}"/>
              </a:ext>
            </a:extLst>
          </p:cNvPr>
          <p:cNvSpPr txBox="1">
            <a:spLocks noChangeArrowheads="1"/>
          </p:cNvSpPr>
          <p:nvPr/>
        </p:nvSpPr>
        <p:spPr bwMode="auto">
          <a:xfrm>
            <a:off x="6467475" y="1111250"/>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AX</a:t>
            </a:r>
          </a:p>
        </p:txBody>
      </p:sp>
      <p:sp>
        <p:nvSpPr>
          <p:cNvPr id="69672" name="Text Box 41">
            <a:extLst>
              <a:ext uri="{FF2B5EF4-FFF2-40B4-BE49-F238E27FC236}">
                <a16:creationId xmlns:a16="http://schemas.microsoft.com/office/drawing/2014/main" id="{7FA71ED8-1F29-FB49-8881-17779F62D932}"/>
              </a:ext>
            </a:extLst>
          </p:cNvPr>
          <p:cNvSpPr txBox="1">
            <a:spLocks noChangeArrowheads="1"/>
          </p:cNvSpPr>
          <p:nvPr/>
        </p:nvSpPr>
        <p:spPr bwMode="auto">
          <a:xfrm>
            <a:off x="6480175" y="1416050"/>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BX</a:t>
            </a:r>
          </a:p>
        </p:txBody>
      </p:sp>
      <p:sp>
        <p:nvSpPr>
          <p:cNvPr id="69673" name="Text Box 42">
            <a:extLst>
              <a:ext uri="{FF2B5EF4-FFF2-40B4-BE49-F238E27FC236}">
                <a16:creationId xmlns:a16="http://schemas.microsoft.com/office/drawing/2014/main" id="{FAC49CC3-8A99-C24A-938F-1A1564394B96}"/>
              </a:ext>
            </a:extLst>
          </p:cNvPr>
          <p:cNvSpPr txBox="1">
            <a:spLocks noChangeArrowheads="1"/>
          </p:cNvSpPr>
          <p:nvPr/>
        </p:nvSpPr>
        <p:spPr bwMode="auto">
          <a:xfrm>
            <a:off x="6480175" y="1720850"/>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CX</a:t>
            </a:r>
          </a:p>
        </p:txBody>
      </p:sp>
      <p:sp>
        <p:nvSpPr>
          <p:cNvPr id="69674" name="Text Box 43">
            <a:extLst>
              <a:ext uri="{FF2B5EF4-FFF2-40B4-BE49-F238E27FC236}">
                <a16:creationId xmlns:a16="http://schemas.microsoft.com/office/drawing/2014/main" id="{09F4128C-EEA0-8942-99C0-A5E374F1A6A6}"/>
              </a:ext>
            </a:extLst>
          </p:cNvPr>
          <p:cNvSpPr txBox="1">
            <a:spLocks noChangeArrowheads="1"/>
          </p:cNvSpPr>
          <p:nvPr/>
        </p:nvSpPr>
        <p:spPr bwMode="auto">
          <a:xfrm>
            <a:off x="6480175" y="2025650"/>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DX</a:t>
            </a:r>
          </a:p>
        </p:txBody>
      </p:sp>
      <p:sp>
        <p:nvSpPr>
          <p:cNvPr id="69675" name="Line 44">
            <a:extLst>
              <a:ext uri="{FF2B5EF4-FFF2-40B4-BE49-F238E27FC236}">
                <a16:creationId xmlns:a16="http://schemas.microsoft.com/office/drawing/2014/main" id="{5108C727-9B39-3347-A622-0BA1325D1345}"/>
              </a:ext>
            </a:extLst>
          </p:cNvPr>
          <p:cNvSpPr>
            <a:spLocks noChangeShapeType="1"/>
          </p:cNvSpPr>
          <p:nvPr/>
        </p:nvSpPr>
        <p:spPr bwMode="auto">
          <a:xfrm>
            <a:off x="5337175" y="1524000"/>
            <a:ext cx="27432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9676" name="Line 45">
            <a:extLst>
              <a:ext uri="{FF2B5EF4-FFF2-40B4-BE49-F238E27FC236}">
                <a16:creationId xmlns:a16="http://schemas.microsoft.com/office/drawing/2014/main" id="{EAB48E27-D5E7-334E-A0C5-2B36BB3D0CA2}"/>
              </a:ext>
            </a:extLst>
          </p:cNvPr>
          <p:cNvSpPr>
            <a:spLocks noChangeShapeType="1"/>
          </p:cNvSpPr>
          <p:nvPr/>
        </p:nvSpPr>
        <p:spPr bwMode="auto">
          <a:xfrm>
            <a:off x="5337175" y="1828800"/>
            <a:ext cx="27432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9677" name="Line 46">
            <a:extLst>
              <a:ext uri="{FF2B5EF4-FFF2-40B4-BE49-F238E27FC236}">
                <a16:creationId xmlns:a16="http://schemas.microsoft.com/office/drawing/2014/main" id="{4B52301E-96D3-C543-B1AF-45D2347DF890}"/>
              </a:ext>
            </a:extLst>
          </p:cNvPr>
          <p:cNvSpPr>
            <a:spLocks noChangeShapeType="1"/>
          </p:cNvSpPr>
          <p:nvPr/>
        </p:nvSpPr>
        <p:spPr bwMode="auto">
          <a:xfrm>
            <a:off x="5337175" y="2133600"/>
            <a:ext cx="27432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9678" name="Text Box 47">
            <a:extLst>
              <a:ext uri="{FF2B5EF4-FFF2-40B4-BE49-F238E27FC236}">
                <a16:creationId xmlns:a16="http://schemas.microsoft.com/office/drawing/2014/main" id="{1A27E797-F77F-2045-B469-8572DC17097D}"/>
              </a:ext>
            </a:extLst>
          </p:cNvPr>
          <p:cNvSpPr txBox="1">
            <a:spLocks noChangeArrowheads="1"/>
          </p:cNvSpPr>
          <p:nvPr/>
        </p:nvSpPr>
        <p:spPr bwMode="auto">
          <a:xfrm>
            <a:off x="7245350" y="8064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8</a:t>
            </a:r>
          </a:p>
        </p:txBody>
      </p:sp>
      <p:sp>
        <p:nvSpPr>
          <p:cNvPr id="69679" name="Text Box 48">
            <a:extLst>
              <a:ext uri="{FF2B5EF4-FFF2-40B4-BE49-F238E27FC236}">
                <a16:creationId xmlns:a16="http://schemas.microsoft.com/office/drawing/2014/main" id="{93CDE015-C463-514C-B8A3-B38F17A258A0}"/>
              </a:ext>
            </a:extLst>
          </p:cNvPr>
          <p:cNvSpPr txBox="1">
            <a:spLocks noChangeArrowheads="1"/>
          </p:cNvSpPr>
          <p:nvPr/>
        </p:nvSpPr>
        <p:spPr bwMode="auto">
          <a:xfrm>
            <a:off x="5878513" y="8064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8</a:t>
            </a:r>
          </a:p>
        </p:txBody>
      </p:sp>
      <p:sp>
        <p:nvSpPr>
          <p:cNvPr id="69680" name="Text Box 49">
            <a:extLst>
              <a:ext uri="{FF2B5EF4-FFF2-40B4-BE49-F238E27FC236}">
                <a16:creationId xmlns:a16="http://schemas.microsoft.com/office/drawing/2014/main" id="{18D7206F-8F87-BC4B-9A33-6FC0B2F2E6A9}"/>
              </a:ext>
            </a:extLst>
          </p:cNvPr>
          <p:cNvSpPr txBox="1">
            <a:spLocks noChangeArrowheads="1"/>
          </p:cNvSpPr>
          <p:nvPr/>
        </p:nvSpPr>
        <p:spPr bwMode="auto">
          <a:xfrm>
            <a:off x="3841750" y="806450"/>
            <a:ext cx="409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16</a:t>
            </a:r>
          </a:p>
        </p:txBody>
      </p:sp>
      <p:sp>
        <p:nvSpPr>
          <p:cNvPr id="69681" name="Text Box 50">
            <a:extLst>
              <a:ext uri="{FF2B5EF4-FFF2-40B4-BE49-F238E27FC236}">
                <a16:creationId xmlns:a16="http://schemas.microsoft.com/office/drawing/2014/main" id="{ABD8254A-DE84-4141-A671-820CC550707F}"/>
              </a:ext>
            </a:extLst>
          </p:cNvPr>
          <p:cNvSpPr txBox="1">
            <a:spLocks noChangeArrowheads="1"/>
          </p:cNvSpPr>
          <p:nvPr/>
        </p:nvSpPr>
        <p:spPr bwMode="auto">
          <a:xfrm>
            <a:off x="8088313" y="1187450"/>
            <a:ext cx="600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EAX</a:t>
            </a:r>
          </a:p>
        </p:txBody>
      </p:sp>
      <p:sp>
        <p:nvSpPr>
          <p:cNvPr id="69682" name="Text Box 51">
            <a:extLst>
              <a:ext uri="{FF2B5EF4-FFF2-40B4-BE49-F238E27FC236}">
                <a16:creationId xmlns:a16="http://schemas.microsoft.com/office/drawing/2014/main" id="{68488C76-B6C8-2C4E-ABE8-20A65AA75664}"/>
              </a:ext>
            </a:extLst>
          </p:cNvPr>
          <p:cNvSpPr txBox="1">
            <a:spLocks noChangeArrowheads="1"/>
          </p:cNvSpPr>
          <p:nvPr/>
        </p:nvSpPr>
        <p:spPr bwMode="auto">
          <a:xfrm>
            <a:off x="8089900" y="1492250"/>
            <a:ext cx="600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EBX</a:t>
            </a:r>
          </a:p>
        </p:txBody>
      </p:sp>
      <p:sp>
        <p:nvSpPr>
          <p:cNvPr id="69683" name="Text Box 52">
            <a:extLst>
              <a:ext uri="{FF2B5EF4-FFF2-40B4-BE49-F238E27FC236}">
                <a16:creationId xmlns:a16="http://schemas.microsoft.com/office/drawing/2014/main" id="{BBEA19A7-8A8C-E440-B356-C6F429005222}"/>
              </a:ext>
            </a:extLst>
          </p:cNvPr>
          <p:cNvSpPr txBox="1">
            <a:spLocks noChangeArrowheads="1"/>
          </p:cNvSpPr>
          <p:nvPr/>
        </p:nvSpPr>
        <p:spPr bwMode="auto">
          <a:xfrm>
            <a:off x="8091488" y="1797050"/>
            <a:ext cx="600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ECX</a:t>
            </a:r>
          </a:p>
        </p:txBody>
      </p:sp>
      <p:sp>
        <p:nvSpPr>
          <p:cNvPr id="69684" name="Text Box 53">
            <a:extLst>
              <a:ext uri="{FF2B5EF4-FFF2-40B4-BE49-F238E27FC236}">
                <a16:creationId xmlns:a16="http://schemas.microsoft.com/office/drawing/2014/main" id="{71D53389-5C08-A04C-8C2D-C486A26AEE8F}"/>
              </a:ext>
            </a:extLst>
          </p:cNvPr>
          <p:cNvSpPr txBox="1">
            <a:spLocks noChangeArrowheads="1"/>
          </p:cNvSpPr>
          <p:nvPr/>
        </p:nvSpPr>
        <p:spPr bwMode="auto">
          <a:xfrm>
            <a:off x="8093075" y="2101850"/>
            <a:ext cx="600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EDX</a:t>
            </a:r>
          </a:p>
        </p:txBody>
      </p:sp>
      <p:sp>
        <p:nvSpPr>
          <p:cNvPr id="69685" name="Text Box 54">
            <a:extLst>
              <a:ext uri="{FF2B5EF4-FFF2-40B4-BE49-F238E27FC236}">
                <a16:creationId xmlns:a16="http://schemas.microsoft.com/office/drawing/2014/main" id="{76EE5480-7206-524F-82E9-EE97E9224CCC}"/>
              </a:ext>
            </a:extLst>
          </p:cNvPr>
          <p:cNvSpPr txBox="1">
            <a:spLocks noChangeArrowheads="1"/>
          </p:cNvSpPr>
          <p:nvPr/>
        </p:nvSpPr>
        <p:spPr bwMode="auto">
          <a:xfrm>
            <a:off x="8139113" y="2482850"/>
            <a:ext cx="514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ESI</a:t>
            </a:r>
          </a:p>
        </p:txBody>
      </p:sp>
      <p:sp>
        <p:nvSpPr>
          <p:cNvPr id="69686" name="Text Box 55">
            <a:extLst>
              <a:ext uri="{FF2B5EF4-FFF2-40B4-BE49-F238E27FC236}">
                <a16:creationId xmlns:a16="http://schemas.microsoft.com/office/drawing/2014/main" id="{5013BAE8-0495-C840-A837-503B55654B75}"/>
              </a:ext>
            </a:extLst>
          </p:cNvPr>
          <p:cNvSpPr txBox="1">
            <a:spLocks noChangeArrowheads="1"/>
          </p:cNvSpPr>
          <p:nvPr/>
        </p:nvSpPr>
        <p:spPr bwMode="auto">
          <a:xfrm>
            <a:off x="8134350" y="2787650"/>
            <a:ext cx="522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EDI</a:t>
            </a:r>
          </a:p>
        </p:txBody>
      </p:sp>
      <p:sp>
        <p:nvSpPr>
          <p:cNvPr id="69687" name="Text Box 56">
            <a:extLst>
              <a:ext uri="{FF2B5EF4-FFF2-40B4-BE49-F238E27FC236}">
                <a16:creationId xmlns:a16="http://schemas.microsoft.com/office/drawing/2014/main" id="{092DB996-F440-134E-8851-388ABEB00E38}"/>
              </a:ext>
            </a:extLst>
          </p:cNvPr>
          <p:cNvSpPr txBox="1">
            <a:spLocks noChangeArrowheads="1"/>
          </p:cNvSpPr>
          <p:nvPr/>
        </p:nvSpPr>
        <p:spPr bwMode="auto">
          <a:xfrm>
            <a:off x="8097838" y="3168650"/>
            <a:ext cx="600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EBP</a:t>
            </a:r>
          </a:p>
        </p:txBody>
      </p:sp>
      <p:sp>
        <p:nvSpPr>
          <p:cNvPr id="69688" name="Text Box 57">
            <a:extLst>
              <a:ext uri="{FF2B5EF4-FFF2-40B4-BE49-F238E27FC236}">
                <a16:creationId xmlns:a16="http://schemas.microsoft.com/office/drawing/2014/main" id="{EC1E7E8C-FBA7-9344-BF59-720CAFE3F36A}"/>
              </a:ext>
            </a:extLst>
          </p:cNvPr>
          <p:cNvSpPr txBox="1">
            <a:spLocks noChangeArrowheads="1"/>
          </p:cNvSpPr>
          <p:nvPr/>
        </p:nvSpPr>
        <p:spPr bwMode="auto">
          <a:xfrm>
            <a:off x="8105775" y="3473450"/>
            <a:ext cx="588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ESP</a:t>
            </a:r>
          </a:p>
        </p:txBody>
      </p:sp>
      <p:sp>
        <p:nvSpPr>
          <p:cNvPr id="69689" name="Text Box 58">
            <a:extLst>
              <a:ext uri="{FF2B5EF4-FFF2-40B4-BE49-F238E27FC236}">
                <a16:creationId xmlns:a16="http://schemas.microsoft.com/office/drawing/2014/main" id="{525E7F31-E045-4540-A80F-BE3CC982B268}"/>
              </a:ext>
            </a:extLst>
          </p:cNvPr>
          <p:cNvSpPr txBox="1">
            <a:spLocks noChangeArrowheads="1"/>
          </p:cNvSpPr>
          <p:nvPr/>
        </p:nvSpPr>
        <p:spPr bwMode="auto">
          <a:xfrm>
            <a:off x="8167688" y="3810000"/>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CS</a:t>
            </a:r>
          </a:p>
        </p:txBody>
      </p:sp>
      <p:sp>
        <p:nvSpPr>
          <p:cNvPr id="69690" name="Text Box 59">
            <a:extLst>
              <a:ext uri="{FF2B5EF4-FFF2-40B4-BE49-F238E27FC236}">
                <a16:creationId xmlns:a16="http://schemas.microsoft.com/office/drawing/2014/main" id="{479AB1DD-1AB9-BB4B-9D94-8F9CAF7BDFF3}"/>
              </a:ext>
            </a:extLst>
          </p:cNvPr>
          <p:cNvSpPr txBox="1">
            <a:spLocks noChangeArrowheads="1"/>
          </p:cNvSpPr>
          <p:nvPr/>
        </p:nvSpPr>
        <p:spPr bwMode="auto">
          <a:xfrm>
            <a:off x="8175625" y="4146550"/>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SS</a:t>
            </a:r>
          </a:p>
        </p:txBody>
      </p:sp>
      <p:sp>
        <p:nvSpPr>
          <p:cNvPr id="69691" name="Text Box 60">
            <a:extLst>
              <a:ext uri="{FF2B5EF4-FFF2-40B4-BE49-F238E27FC236}">
                <a16:creationId xmlns:a16="http://schemas.microsoft.com/office/drawing/2014/main" id="{808F608D-69B1-9940-8E57-B98626DA80E3}"/>
              </a:ext>
            </a:extLst>
          </p:cNvPr>
          <p:cNvSpPr txBox="1">
            <a:spLocks noChangeArrowheads="1"/>
          </p:cNvSpPr>
          <p:nvPr/>
        </p:nvSpPr>
        <p:spPr bwMode="auto">
          <a:xfrm>
            <a:off x="8170863" y="4483100"/>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DS</a:t>
            </a:r>
          </a:p>
        </p:txBody>
      </p:sp>
      <p:sp>
        <p:nvSpPr>
          <p:cNvPr id="69692" name="Text Box 61">
            <a:extLst>
              <a:ext uri="{FF2B5EF4-FFF2-40B4-BE49-F238E27FC236}">
                <a16:creationId xmlns:a16="http://schemas.microsoft.com/office/drawing/2014/main" id="{B0D39D62-F9E7-654C-8D42-F29DC5E32AB3}"/>
              </a:ext>
            </a:extLst>
          </p:cNvPr>
          <p:cNvSpPr txBox="1">
            <a:spLocks noChangeArrowheads="1"/>
          </p:cNvSpPr>
          <p:nvPr/>
        </p:nvSpPr>
        <p:spPr bwMode="auto">
          <a:xfrm>
            <a:off x="8178800" y="4768850"/>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ES</a:t>
            </a:r>
          </a:p>
        </p:txBody>
      </p:sp>
      <p:sp>
        <p:nvSpPr>
          <p:cNvPr id="69693" name="Text Box 62">
            <a:extLst>
              <a:ext uri="{FF2B5EF4-FFF2-40B4-BE49-F238E27FC236}">
                <a16:creationId xmlns:a16="http://schemas.microsoft.com/office/drawing/2014/main" id="{D380DE6F-65BC-7B4B-B426-3F4E99B194B4}"/>
              </a:ext>
            </a:extLst>
          </p:cNvPr>
          <p:cNvSpPr txBox="1">
            <a:spLocks noChangeArrowheads="1"/>
          </p:cNvSpPr>
          <p:nvPr/>
        </p:nvSpPr>
        <p:spPr bwMode="auto">
          <a:xfrm>
            <a:off x="8185150" y="5054600"/>
            <a:ext cx="442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FS</a:t>
            </a:r>
          </a:p>
        </p:txBody>
      </p:sp>
      <p:sp>
        <p:nvSpPr>
          <p:cNvPr id="69694" name="Text Box 63">
            <a:extLst>
              <a:ext uri="{FF2B5EF4-FFF2-40B4-BE49-F238E27FC236}">
                <a16:creationId xmlns:a16="http://schemas.microsoft.com/office/drawing/2014/main" id="{D9CEC29F-AB7C-9F49-A42F-1FC34CB267BC}"/>
              </a:ext>
            </a:extLst>
          </p:cNvPr>
          <p:cNvSpPr txBox="1">
            <a:spLocks noChangeArrowheads="1"/>
          </p:cNvSpPr>
          <p:nvPr/>
        </p:nvSpPr>
        <p:spPr bwMode="auto">
          <a:xfrm>
            <a:off x="8169275" y="5340350"/>
            <a:ext cx="477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GS</a:t>
            </a:r>
          </a:p>
        </p:txBody>
      </p:sp>
      <p:sp>
        <p:nvSpPr>
          <p:cNvPr id="69695" name="Text Box 64">
            <a:extLst>
              <a:ext uri="{FF2B5EF4-FFF2-40B4-BE49-F238E27FC236}">
                <a16:creationId xmlns:a16="http://schemas.microsoft.com/office/drawing/2014/main" id="{E9DC9B09-7C0F-2D43-B95B-E63A6F308234}"/>
              </a:ext>
            </a:extLst>
          </p:cNvPr>
          <p:cNvSpPr txBox="1">
            <a:spLocks noChangeArrowheads="1"/>
          </p:cNvSpPr>
          <p:nvPr/>
        </p:nvSpPr>
        <p:spPr bwMode="auto">
          <a:xfrm>
            <a:off x="8154988" y="5715000"/>
            <a:ext cx="511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EIP</a:t>
            </a:r>
          </a:p>
        </p:txBody>
      </p:sp>
      <p:sp>
        <p:nvSpPr>
          <p:cNvPr id="69696" name="Text Box 65">
            <a:extLst>
              <a:ext uri="{FF2B5EF4-FFF2-40B4-BE49-F238E27FC236}">
                <a16:creationId xmlns:a16="http://schemas.microsoft.com/office/drawing/2014/main" id="{08FBB861-2AB3-824A-BE9D-FC9B4E2FDB8B}"/>
              </a:ext>
            </a:extLst>
          </p:cNvPr>
          <p:cNvSpPr txBox="1">
            <a:spLocks noChangeArrowheads="1"/>
          </p:cNvSpPr>
          <p:nvPr/>
        </p:nvSpPr>
        <p:spPr bwMode="auto">
          <a:xfrm>
            <a:off x="722313" y="1203325"/>
            <a:ext cx="115728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nSpc>
                <a:spcPct val="80000"/>
              </a:lnSpc>
              <a:spcBef>
                <a:spcPct val="0"/>
              </a:spcBef>
              <a:buClrTx/>
              <a:buSzTx/>
              <a:buFontTx/>
              <a:buNone/>
            </a:pPr>
            <a:r>
              <a:rPr lang="en-US" altLang="en-US" sz="2400">
                <a:solidFill>
                  <a:srgbClr val="009900"/>
                </a:solidFill>
                <a:latin typeface="Arial" panose="020B0604020202020204" pitchFamily="34" charset="0"/>
              </a:rPr>
              <a:t>general</a:t>
            </a:r>
          </a:p>
          <a:p>
            <a:pPr>
              <a:lnSpc>
                <a:spcPct val="80000"/>
              </a:lnSpc>
              <a:spcBef>
                <a:spcPct val="0"/>
              </a:spcBef>
              <a:buClrTx/>
              <a:buSzTx/>
              <a:buFontTx/>
              <a:buNone/>
            </a:pPr>
            <a:r>
              <a:rPr lang="en-US" altLang="en-US" sz="2400">
                <a:solidFill>
                  <a:srgbClr val="009900"/>
                </a:solidFill>
                <a:latin typeface="Arial" panose="020B0604020202020204" pitchFamily="34" charset="0"/>
              </a:rPr>
              <a:t>purpose</a:t>
            </a:r>
          </a:p>
          <a:p>
            <a:pPr>
              <a:lnSpc>
                <a:spcPct val="80000"/>
              </a:lnSpc>
              <a:spcBef>
                <a:spcPct val="0"/>
              </a:spcBef>
              <a:buClrTx/>
              <a:buSzTx/>
              <a:buFontTx/>
              <a:buNone/>
            </a:pPr>
            <a:r>
              <a:rPr lang="en-US" altLang="en-US" sz="2400">
                <a:solidFill>
                  <a:srgbClr val="009900"/>
                </a:solidFill>
                <a:latin typeface="Arial" panose="020B0604020202020204" pitchFamily="34" charset="0"/>
              </a:rPr>
              <a:t>registers</a:t>
            </a:r>
          </a:p>
        </p:txBody>
      </p:sp>
      <p:sp>
        <p:nvSpPr>
          <p:cNvPr id="69697" name="Text Box 66">
            <a:extLst>
              <a:ext uri="{FF2B5EF4-FFF2-40B4-BE49-F238E27FC236}">
                <a16:creationId xmlns:a16="http://schemas.microsoft.com/office/drawing/2014/main" id="{C2A318E8-51F4-664A-9C92-170F37FA1A88}"/>
              </a:ext>
            </a:extLst>
          </p:cNvPr>
          <p:cNvSpPr txBox="1">
            <a:spLocks noChangeArrowheads="1"/>
          </p:cNvSpPr>
          <p:nvPr/>
        </p:nvSpPr>
        <p:spPr bwMode="auto">
          <a:xfrm>
            <a:off x="722313" y="2398713"/>
            <a:ext cx="11572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nSpc>
                <a:spcPct val="80000"/>
              </a:lnSpc>
              <a:spcBef>
                <a:spcPct val="0"/>
              </a:spcBef>
              <a:buClrTx/>
              <a:buSzTx/>
              <a:buFontTx/>
              <a:buNone/>
            </a:pPr>
            <a:r>
              <a:rPr lang="en-US" altLang="en-US" sz="2400">
                <a:solidFill>
                  <a:srgbClr val="009900"/>
                </a:solidFill>
                <a:latin typeface="Arial" panose="020B0604020202020204" pitchFamily="34" charset="0"/>
              </a:rPr>
              <a:t>index</a:t>
            </a:r>
          </a:p>
          <a:p>
            <a:pPr>
              <a:lnSpc>
                <a:spcPct val="80000"/>
              </a:lnSpc>
              <a:spcBef>
                <a:spcPct val="0"/>
              </a:spcBef>
              <a:buClrTx/>
              <a:buSzTx/>
              <a:buFontTx/>
              <a:buNone/>
            </a:pPr>
            <a:r>
              <a:rPr lang="en-US" altLang="en-US" sz="2400">
                <a:solidFill>
                  <a:srgbClr val="009900"/>
                </a:solidFill>
                <a:latin typeface="Arial" panose="020B0604020202020204" pitchFamily="34" charset="0"/>
              </a:rPr>
              <a:t>registers</a:t>
            </a:r>
          </a:p>
        </p:txBody>
      </p:sp>
      <p:sp>
        <p:nvSpPr>
          <p:cNvPr id="69698" name="Text Box 67">
            <a:extLst>
              <a:ext uri="{FF2B5EF4-FFF2-40B4-BE49-F238E27FC236}">
                <a16:creationId xmlns:a16="http://schemas.microsoft.com/office/drawing/2014/main" id="{CB6B7210-C3E6-C843-BB25-A56D87164A4F}"/>
              </a:ext>
            </a:extLst>
          </p:cNvPr>
          <p:cNvSpPr txBox="1">
            <a:spLocks noChangeArrowheads="1"/>
          </p:cNvSpPr>
          <p:nvPr/>
        </p:nvSpPr>
        <p:spPr bwMode="auto">
          <a:xfrm>
            <a:off x="722313" y="3084513"/>
            <a:ext cx="11572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nSpc>
                <a:spcPct val="80000"/>
              </a:lnSpc>
              <a:spcBef>
                <a:spcPct val="0"/>
              </a:spcBef>
              <a:buClrTx/>
              <a:buSzTx/>
              <a:buFontTx/>
              <a:buNone/>
            </a:pPr>
            <a:r>
              <a:rPr lang="en-US" altLang="en-US" sz="2400">
                <a:solidFill>
                  <a:srgbClr val="009900"/>
                </a:solidFill>
                <a:latin typeface="Arial" panose="020B0604020202020204" pitchFamily="34" charset="0"/>
              </a:rPr>
              <a:t>pointer</a:t>
            </a:r>
          </a:p>
          <a:p>
            <a:pPr>
              <a:lnSpc>
                <a:spcPct val="80000"/>
              </a:lnSpc>
              <a:spcBef>
                <a:spcPct val="0"/>
              </a:spcBef>
              <a:buClrTx/>
              <a:buSzTx/>
              <a:buFontTx/>
              <a:buNone/>
            </a:pPr>
            <a:r>
              <a:rPr lang="en-US" altLang="en-US" sz="2400">
                <a:solidFill>
                  <a:srgbClr val="009900"/>
                </a:solidFill>
                <a:latin typeface="Arial" panose="020B0604020202020204" pitchFamily="34" charset="0"/>
              </a:rPr>
              <a:t>registers</a:t>
            </a:r>
          </a:p>
        </p:txBody>
      </p:sp>
      <p:sp>
        <p:nvSpPr>
          <p:cNvPr id="69699" name="Text Box 68">
            <a:extLst>
              <a:ext uri="{FF2B5EF4-FFF2-40B4-BE49-F238E27FC236}">
                <a16:creationId xmlns:a16="http://schemas.microsoft.com/office/drawing/2014/main" id="{AF454BD5-7122-4B46-809D-4C4D46DC456A}"/>
              </a:ext>
            </a:extLst>
          </p:cNvPr>
          <p:cNvSpPr txBox="1">
            <a:spLocks noChangeArrowheads="1"/>
          </p:cNvSpPr>
          <p:nvPr/>
        </p:nvSpPr>
        <p:spPr bwMode="auto">
          <a:xfrm>
            <a:off x="722313" y="4379913"/>
            <a:ext cx="11572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nSpc>
                <a:spcPct val="80000"/>
              </a:lnSpc>
              <a:spcBef>
                <a:spcPct val="0"/>
              </a:spcBef>
              <a:buClrTx/>
              <a:buSzTx/>
              <a:buFontTx/>
              <a:buNone/>
            </a:pPr>
            <a:r>
              <a:rPr lang="en-US" altLang="en-US" sz="2400">
                <a:solidFill>
                  <a:srgbClr val="009900"/>
                </a:solidFill>
                <a:latin typeface="Arial" panose="020B0604020202020204" pitchFamily="34" charset="0"/>
              </a:rPr>
              <a:t>segment</a:t>
            </a:r>
          </a:p>
          <a:p>
            <a:pPr>
              <a:lnSpc>
                <a:spcPct val="80000"/>
              </a:lnSpc>
              <a:spcBef>
                <a:spcPct val="0"/>
              </a:spcBef>
              <a:buClrTx/>
              <a:buSzTx/>
              <a:buFontTx/>
              <a:buNone/>
            </a:pPr>
            <a:r>
              <a:rPr lang="en-US" altLang="en-US" sz="2400">
                <a:solidFill>
                  <a:srgbClr val="009900"/>
                </a:solidFill>
                <a:latin typeface="Arial" panose="020B0604020202020204" pitchFamily="34" charset="0"/>
              </a:rPr>
              <a:t>registers</a:t>
            </a:r>
          </a:p>
        </p:txBody>
      </p:sp>
      <p:sp>
        <p:nvSpPr>
          <p:cNvPr id="69700" name="Text Box 69">
            <a:extLst>
              <a:ext uri="{FF2B5EF4-FFF2-40B4-BE49-F238E27FC236}">
                <a16:creationId xmlns:a16="http://schemas.microsoft.com/office/drawing/2014/main" id="{3218FDAD-523C-204D-8A0E-DAB4D21A0B8E}"/>
              </a:ext>
            </a:extLst>
          </p:cNvPr>
          <p:cNvSpPr txBox="1">
            <a:spLocks noChangeArrowheads="1"/>
          </p:cNvSpPr>
          <p:nvPr/>
        </p:nvSpPr>
        <p:spPr bwMode="auto">
          <a:xfrm>
            <a:off x="1028700" y="5735638"/>
            <a:ext cx="538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nSpc>
                <a:spcPct val="80000"/>
              </a:lnSpc>
              <a:spcBef>
                <a:spcPct val="0"/>
              </a:spcBef>
              <a:buClrTx/>
              <a:buSzTx/>
              <a:buFontTx/>
              <a:buNone/>
            </a:pPr>
            <a:r>
              <a:rPr lang="en-US" altLang="en-US" sz="2400">
                <a:solidFill>
                  <a:srgbClr val="009900"/>
                </a:solidFill>
                <a:latin typeface="Arial" panose="020B0604020202020204" pitchFamily="34" charset="0"/>
              </a:rPr>
              <a:t>PC</a:t>
            </a:r>
          </a:p>
        </p:txBody>
      </p:sp>
      <p:sp>
        <p:nvSpPr>
          <p:cNvPr id="69701" name="Text Box 70">
            <a:extLst>
              <a:ext uri="{FF2B5EF4-FFF2-40B4-BE49-F238E27FC236}">
                <a16:creationId xmlns:a16="http://schemas.microsoft.com/office/drawing/2014/main" id="{14222163-9458-F84B-8253-3F5DBE6C0F4B}"/>
              </a:ext>
            </a:extLst>
          </p:cNvPr>
          <p:cNvSpPr txBox="1">
            <a:spLocks noChangeArrowheads="1"/>
          </p:cNvSpPr>
          <p:nvPr/>
        </p:nvSpPr>
        <p:spPr bwMode="auto">
          <a:xfrm>
            <a:off x="0" y="6116638"/>
            <a:ext cx="2609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nSpc>
                <a:spcPct val="80000"/>
              </a:lnSpc>
              <a:spcBef>
                <a:spcPct val="0"/>
              </a:spcBef>
              <a:buClrTx/>
              <a:buSzTx/>
              <a:buFontTx/>
              <a:buNone/>
            </a:pPr>
            <a:r>
              <a:rPr lang="en-US" altLang="en-US" sz="2400">
                <a:solidFill>
                  <a:srgbClr val="009900"/>
                </a:solidFill>
                <a:latin typeface="Arial" panose="020B0604020202020204" pitchFamily="34" charset="0"/>
              </a:rPr>
              <a:t>condition codes (a.o.)</a:t>
            </a:r>
          </a:p>
        </p:txBody>
      </p:sp>
      <p:sp>
        <p:nvSpPr>
          <p:cNvPr id="69702" name="TextBox 71">
            <a:extLst>
              <a:ext uri="{FF2B5EF4-FFF2-40B4-BE49-F238E27FC236}">
                <a16:creationId xmlns:a16="http://schemas.microsoft.com/office/drawing/2014/main" id="{08F869C9-5C5B-6241-AB8B-BDB541A86425}"/>
              </a:ext>
            </a:extLst>
          </p:cNvPr>
          <p:cNvSpPr txBox="1">
            <a:spLocks noChangeArrowheads="1"/>
          </p:cNvSpPr>
          <p:nvPr/>
        </p:nvSpPr>
        <p:spPr bwMode="auto">
          <a:xfrm>
            <a:off x="7823200" y="6748463"/>
            <a:ext cx="13208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a:solidFill>
                  <a:schemeClr val="tx1"/>
                </a:solidFill>
                <a:latin typeface="Times New Roman" panose="02020603050405020304" pitchFamily="18" charset="0"/>
              </a:rPr>
              <a:t>Source:Corporaal05</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F6E3CE46-B903-8D41-B510-510C537518AD}"/>
              </a:ext>
            </a:extLst>
          </p:cNvPr>
          <p:cNvSpPr>
            <a:spLocks noGrp="1" noChangeArrowheads="1"/>
          </p:cNvSpPr>
          <p:nvPr>
            <p:ph type="title"/>
          </p:nvPr>
        </p:nvSpPr>
        <p:spPr/>
        <p:txBody>
          <a:bodyPr/>
          <a:lstStyle/>
          <a:p>
            <a:r>
              <a:rPr lang="en-US" altLang="en-US"/>
              <a:t>Example Usage</a:t>
            </a:r>
          </a:p>
        </p:txBody>
      </p:sp>
      <p:sp>
        <p:nvSpPr>
          <p:cNvPr id="71683" name="Content Placeholder 2">
            <a:extLst>
              <a:ext uri="{FF2B5EF4-FFF2-40B4-BE49-F238E27FC236}">
                <a16:creationId xmlns:a16="http://schemas.microsoft.com/office/drawing/2014/main" id="{9A62B2DF-6346-2241-9ACA-11CC8A333170}"/>
              </a:ext>
            </a:extLst>
          </p:cNvPr>
          <p:cNvSpPr>
            <a:spLocks noGrp="1" noChangeArrowheads="1"/>
          </p:cNvSpPr>
          <p:nvPr>
            <p:ph idx="1"/>
          </p:nvPr>
        </p:nvSpPr>
        <p:spPr/>
        <p:txBody>
          <a:bodyPr/>
          <a:lstStyle/>
          <a:p>
            <a:pPr>
              <a:buFont typeface="Wingdings" pitchFamily="2" charset="2"/>
              <a:buChar char="w"/>
            </a:pPr>
            <a:r>
              <a:rPr lang="en-US" altLang="en-US"/>
              <a:t>Addressing Modes</a:t>
            </a:r>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r>
              <a:rPr lang="en-US" altLang="en-US"/>
              <a:t>Simple Example</a:t>
            </a:r>
          </a:p>
          <a:p>
            <a:pPr>
              <a:buFont typeface="Wingdings" pitchFamily="2" charset="2"/>
              <a:buChar char="w"/>
            </a:pPr>
            <a:endParaRPr lang="en-US" altLang="en-US"/>
          </a:p>
        </p:txBody>
      </p:sp>
      <p:pic>
        <p:nvPicPr>
          <p:cNvPr id="71684" name="Picture 6">
            <a:extLst>
              <a:ext uri="{FF2B5EF4-FFF2-40B4-BE49-F238E27FC236}">
                <a16:creationId xmlns:a16="http://schemas.microsoft.com/office/drawing/2014/main" id="{32946E2C-5517-7347-8BDA-770EFA533D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905000"/>
            <a:ext cx="519747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TextBox 7">
            <a:extLst>
              <a:ext uri="{FF2B5EF4-FFF2-40B4-BE49-F238E27FC236}">
                <a16:creationId xmlns:a16="http://schemas.microsoft.com/office/drawing/2014/main" id="{F3FDB19B-36CA-F640-A366-7366CE17A995}"/>
              </a:ext>
            </a:extLst>
          </p:cNvPr>
          <p:cNvSpPr txBox="1">
            <a:spLocks noChangeArrowheads="1"/>
          </p:cNvSpPr>
          <p:nvPr/>
        </p:nvSpPr>
        <p:spPr bwMode="auto">
          <a:xfrm>
            <a:off x="914400" y="4495800"/>
            <a:ext cx="22780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solidFill>
                  <a:schemeClr val="tx1"/>
                </a:solidFill>
                <a:latin typeface="Courier New" panose="02070309020205020404" pitchFamily="49" charset="0"/>
              </a:rPr>
              <a:t>Void MyFunction()</a:t>
            </a:r>
          </a:p>
          <a:p>
            <a:pPr>
              <a:spcBef>
                <a:spcPct val="0"/>
              </a:spcBef>
              <a:buClrTx/>
              <a:buSzTx/>
              <a:buFontTx/>
              <a:buNone/>
            </a:pPr>
            <a:r>
              <a:rPr lang="en-US" altLang="en-US" sz="1600">
                <a:solidFill>
                  <a:schemeClr val="tx1"/>
                </a:solidFill>
                <a:latin typeface="Courier New" panose="02070309020205020404" pitchFamily="49" charset="0"/>
              </a:rPr>
              <a:t>{</a:t>
            </a:r>
          </a:p>
          <a:p>
            <a:pPr>
              <a:spcBef>
                <a:spcPct val="0"/>
              </a:spcBef>
              <a:buClrTx/>
              <a:buSzTx/>
              <a:buFontTx/>
              <a:buNone/>
            </a:pPr>
            <a:r>
              <a:rPr lang="en-US" altLang="en-US" sz="1600">
                <a:solidFill>
                  <a:schemeClr val="tx1"/>
                </a:solidFill>
                <a:latin typeface="Courier New" panose="02070309020205020404" pitchFamily="49" charset="0"/>
              </a:rPr>
              <a:t>  int a, b, c;</a:t>
            </a:r>
          </a:p>
          <a:p>
            <a:pPr>
              <a:spcBef>
                <a:spcPct val="0"/>
              </a:spcBef>
              <a:buClrTx/>
              <a:buSzTx/>
              <a:buFontTx/>
              <a:buNone/>
            </a:pPr>
            <a:r>
              <a:rPr lang="en-US" altLang="en-US" sz="1600">
                <a:solidFill>
                  <a:schemeClr val="tx1"/>
                </a:solidFill>
                <a:latin typeface="Courier New" panose="02070309020205020404" pitchFamily="49" charset="0"/>
              </a:rPr>
              <a:t>  a = 10; </a:t>
            </a:r>
          </a:p>
          <a:p>
            <a:pPr>
              <a:spcBef>
                <a:spcPct val="0"/>
              </a:spcBef>
              <a:buClrTx/>
              <a:buSzTx/>
              <a:buFontTx/>
              <a:buNone/>
            </a:pPr>
            <a:r>
              <a:rPr lang="en-US" altLang="en-US" sz="1600">
                <a:solidFill>
                  <a:schemeClr val="tx1"/>
                </a:solidFill>
                <a:latin typeface="Courier New" panose="02070309020205020404" pitchFamily="49" charset="0"/>
              </a:rPr>
              <a:t>  b = 5;</a:t>
            </a:r>
          </a:p>
          <a:p>
            <a:pPr>
              <a:spcBef>
                <a:spcPct val="0"/>
              </a:spcBef>
              <a:buClrTx/>
              <a:buSzTx/>
              <a:buFontTx/>
              <a:buNone/>
            </a:pPr>
            <a:r>
              <a:rPr lang="en-US" altLang="en-US" sz="1600">
                <a:solidFill>
                  <a:schemeClr val="tx1"/>
                </a:solidFill>
                <a:latin typeface="Courier New" panose="02070309020205020404" pitchFamily="49" charset="0"/>
              </a:rPr>
              <a:t>  c = 2;</a:t>
            </a:r>
          </a:p>
          <a:p>
            <a:pPr>
              <a:spcBef>
                <a:spcPct val="0"/>
              </a:spcBef>
              <a:buClrTx/>
              <a:buSzTx/>
              <a:buFontTx/>
              <a:buNone/>
            </a:pPr>
            <a:r>
              <a:rPr lang="en-US" altLang="en-US" sz="1600">
                <a:solidFill>
                  <a:schemeClr val="tx1"/>
                </a:solidFill>
                <a:latin typeface="Courier New" panose="02070309020205020404" pitchFamily="49" charset="0"/>
              </a:rPr>
              <a:t>}</a:t>
            </a:r>
          </a:p>
        </p:txBody>
      </p:sp>
      <p:sp>
        <p:nvSpPr>
          <p:cNvPr id="71686" name="TextBox 8">
            <a:extLst>
              <a:ext uri="{FF2B5EF4-FFF2-40B4-BE49-F238E27FC236}">
                <a16:creationId xmlns:a16="http://schemas.microsoft.com/office/drawing/2014/main" id="{8DB4B4A8-541B-7C49-BDAB-6A5FA787609C}"/>
              </a:ext>
            </a:extLst>
          </p:cNvPr>
          <p:cNvSpPr txBox="1">
            <a:spLocks noChangeArrowheads="1"/>
          </p:cNvSpPr>
          <p:nvPr/>
        </p:nvSpPr>
        <p:spPr bwMode="auto">
          <a:xfrm>
            <a:off x="3962400" y="4618831"/>
            <a:ext cx="4419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dirty="0">
                <a:solidFill>
                  <a:schemeClr val="tx1"/>
                </a:solidFill>
                <a:latin typeface="Courier New" panose="02070309020205020404" pitchFamily="49" charset="0"/>
              </a:rPr>
              <a:t>push </a:t>
            </a:r>
            <a:r>
              <a:rPr lang="en-US" altLang="en-US" sz="1600" dirty="0" err="1">
                <a:solidFill>
                  <a:schemeClr val="tx1"/>
                </a:solidFill>
                <a:latin typeface="Courier New" panose="02070309020205020404" pitchFamily="49" charset="0"/>
              </a:rPr>
              <a:t>ebp</a:t>
            </a:r>
            <a:r>
              <a:rPr lang="en-US" altLang="en-US" sz="1600" dirty="0">
                <a:solidFill>
                  <a:schemeClr val="tx1"/>
                </a:solidFill>
                <a:latin typeface="Courier New" panose="02070309020205020404" pitchFamily="49" charset="0"/>
              </a:rPr>
              <a:t>     ; save </a:t>
            </a:r>
            <a:r>
              <a:rPr lang="en-US" altLang="en-US" sz="1600" dirty="0" err="1">
                <a:solidFill>
                  <a:schemeClr val="tx1"/>
                </a:solidFill>
                <a:latin typeface="Courier New" panose="02070309020205020404" pitchFamily="49" charset="0"/>
              </a:rPr>
              <a:t>ebp</a:t>
            </a:r>
            <a:endParaRPr lang="en-US" altLang="en-US" sz="1600" dirty="0">
              <a:solidFill>
                <a:schemeClr val="tx1"/>
              </a:solidFill>
              <a:latin typeface="Courier New" panose="02070309020205020404" pitchFamily="49" charset="0"/>
            </a:endParaRPr>
          </a:p>
          <a:p>
            <a:pPr>
              <a:spcBef>
                <a:spcPct val="0"/>
              </a:spcBef>
              <a:buClrTx/>
              <a:buSzTx/>
              <a:buFontTx/>
              <a:buNone/>
            </a:pPr>
            <a:r>
              <a:rPr lang="en-US" altLang="en-US" sz="1600" dirty="0">
                <a:solidFill>
                  <a:schemeClr val="tx1"/>
                </a:solidFill>
                <a:latin typeface="Courier New" panose="02070309020205020404" pitchFamily="49" charset="0"/>
              </a:rPr>
              <a:t>mov </a:t>
            </a:r>
            <a:r>
              <a:rPr lang="en-US" altLang="en-US" sz="1600" dirty="0" err="1">
                <a:solidFill>
                  <a:schemeClr val="tx1"/>
                </a:solidFill>
                <a:latin typeface="Courier New" panose="02070309020205020404" pitchFamily="49" charset="0"/>
              </a:rPr>
              <a:t>ebp</a:t>
            </a:r>
            <a:r>
              <a:rPr lang="en-US" altLang="en-US" sz="1600" dirty="0">
                <a:solidFill>
                  <a:schemeClr val="tx1"/>
                </a:solidFill>
                <a:latin typeface="Courier New" panose="02070309020205020404" pitchFamily="49" charset="0"/>
              </a:rPr>
              <a:t>, </a:t>
            </a:r>
            <a:r>
              <a:rPr lang="en-US" altLang="en-US" sz="1600" dirty="0" err="1">
                <a:solidFill>
                  <a:schemeClr val="tx1"/>
                </a:solidFill>
                <a:latin typeface="Courier New" panose="02070309020205020404" pitchFamily="49" charset="0"/>
              </a:rPr>
              <a:t>esp</a:t>
            </a:r>
            <a:r>
              <a:rPr lang="en-US" altLang="en-US" sz="1600" dirty="0">
                <a:solidFill>
                  <a:schemeClr val="tx1"/>
                </a:solidFill>
                <a:latin typeface="Courier New" panose="02070309020205020404" pitchFamily="49" charset="0"/>
              </a:rPr>
              <a:t> ; </a:t>
            </a:r>
            <a:r>
              <a:rPr lang="en-US" altLang="en-US" sz="1600" dirty="0" err="1">
                <a:solidFill>
                  <a:schemeClr val="tx1"/>
                </a:solidFill>
                <a:latin typeface="Courier New" panose="02070309020205020404" pitchFamily="49" charset="0"/>
              </a:rPr>
              <a:t>ebp</a:t>
            </a:r>
            <a:r>
              <a:rPr lang="en-US" altLang="en-US" sz="1600" dirty="0">
                <a:solidFill>
                  <a:schemeClr val="tx1"/>
                </a:solidFill>
                <a:latin typeface="Courier New" panose="02070309020205020404" pitchFamily="49" charset="0"/>
              </a:rPr>
              <a:t> points to TOS</a:t>
            </a:r>
          </a:p>
          <a:p>
            <a:pPr>
              <a:spcBef>
                <a:spcPct val="0"/>
              </a:spcBef>
              <a:buClrTx/>
              <a:buSzTx/>
              <a:buFontTx/>
              <a:buNone/>
            </a:pPr>
            <a:r>
              <a:rPr lang="en-US" altLang="en-US" sz="1600" dirty="0">
                <a:solidFill>
                  <a:schemeClr val="tx1"/>
                </a:solidFill>
                <a:latin typeface="Courier New" panose="02070309020205020404" pitchFamily="49" charset="0"/>
              </a:rPr>
              <a:t>sub </a:t>
            </a:r>
            <a:r>
              <a:rPr lang="en-US" altLang="en-US" sz="1600" dirty="0" err="1">
                <a:solidFill>
                  <a:schemeClr val="tx1"/>
                </a:solidFill>
                <a:latin typeface="Courier New" panose="02070309020205020404" pitchFamily="49" charset="0"/>
              </a:rPr>
              <a:t>esp</a:t>
            </a:r>
            <a:r>
              <a:rPr lang="en-US" altLang="en-US" sz="1600" dirty="0">
                <a:solidFill>
                  <a:schemeClr val="tx1"/>
                </a:solidFill>
                <a:latin typeface="Courier New" panose="02070309020205020404" pitchFamily="49" charset="0"/>
              </a:rPr>
              <a:t>, 12  ; allocate local vars</a:t>
            </a:r>
          </a:p>
          <a:p>
            <a:pPr>
              <a:spcBef>
                <a:spcPct val="0"/>
              </a:spcBef>
              <a:buClrTx/>
              <a:buSzTx/>
              <a:buFontTx/>
              <a:buNone/>
            </a:pPr>
            <a:r>
              <a:rPr lang="en-US" altLang="en-US" sz="1600" dirty="0">
                <a:solidFill>
                  <a:schemeClr val="tx1"/>
                </a:solidFill>
                <a:latin typeface="Courier New" panose="02070309020205020404" pitchFamily="49" charset="0"/>
              </a:rPr>
              <a:t>mov [ebp-4], 10</a:t>
            </a:r>
          </a:p>
          <a:p>
            <a:pPr>
              <a:spcBef>
                <a:spcPct val="0"/>
              </a:spcBef>
              <a:buClrTx/>
              <a:buSzTx/>
              <a:buFontTx/>
              <a:buNone/>
            </a:pPr>
            <a:r>
              <a:rPr lang="en-US" altLang="en-US" sz="1600" dirty="0">
                <a:solidFill>
                  <a:schemeClr val="tx1"/>
                </a:solidFill>
                <a:latin typeface="Courier New" panose="02070309020205020404" pitchFamily="49" charset="0"/>
              </a:rPr>
              <a:t>mov [ebp-8], 5</a:t>
            </a:r>
          </a:p>
          <a:p>
            <a:pPr>
              <a:spcBef>
                <a:spcPct val="0"/>
              </a:spcBef>
              <a:buClrTx/>
              <a:buSzTx/>
              <a:buFontTx/>
              <a:buNone/>
            </a:pPr>
            <a:r>
              <a:rPr lang="en-US" altLang="en-US" sz="1600" dirty="0">
                <a:solidFill>
                  <a:schemeClr val="tx1"/>
                </a:solidFill>
                <a:latin typeface="Courier New" panose="02070309020205020404" pitchFamily="49" charset="0"/>
              </a:rPr>
              <a:t>mov [ebp-12], 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5EC119A6-0183-E542-836A-96F9A64441B4}"/>
              </a:ext>
            </a:extLst>
          </p:cNvPr>
          <p:cNvSpPr>
            <a:spLocks noGrp="1" noChangeArrowheads="1"/>
          </p:cNvSpPr>
          <p:nvPr>
            <p:ph type="title"/>
          </p:nvPr>
        </p:nvSpPr>
        <p:spPr/>
        <p:txBody>
          <a:bodyPr/>
          <a:lstStyle/>
          <a:p>
            <a:r>
              <a:rPr lang="en-US" altLang="en-US"/>
              <a:t>Condition Code</a:t>
            </a:r>
          </a:p>
        </p:txBody>
      </p:sp>
      <p:graphicFrame>
        <p:nvGraphicFramePr>
          <p:cNvPr id="6" name="Content Placeholder 5">
            <a:extLst>
              <a:ext uri="{FF2B5EF4-FFF2-40B4-BE49-F238E27FC236}">
                <a16:creationId xmlns:a16="http://schemas.microsoft.com/office/drawing/2014/main" id="{E31B5EB2-B6A9-894E-828F-B0E208931295}"/>
              </a:ext>
            </a:extLst>
          </p:cNvPr>
          <p:cNvGraphicFramePr>
            <a:graphicFrameLocks noGrp="1"/>
          </p:cNvGraphicFramePr>
          <p:nvPr>
            <p:ph idx="1"/>
          </p:nvPr>
        </p:nvGraphicFramePr>
        <p:xfrm>
          <a:off x="533400" y="1371600"/>
          <a:ext cx="8382000" cy="2936878"/>
        </p:xfrm>
        <a:graphic>
          <a:graphicData uri="http://schemas.openxmlformats.org/drawingml/2006/table">
            <a:tbl>
              <a:tblPr/>
              <a:tblGrid>
                <a:gridCol w="11430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5257800">
                  <a:extLst>
                    <a:ext uri="{9D8B030D-6E8A-4147-A177-3AD203B41FA5}">
                      <a16:colId xmlns:a16="http://schemas.microsoft.com/office/drawing/2014/main" val="20002"/>
                    </a:ext>
                  </a:extLst>
                </a:gridCol>
              </a:tblGrid>
              <a:tr h="371243">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Garamond" panose="02020404030301010803" pitchFamily="18" charset="0"/>
                          <a:ea typeface="ＭＳ Ｐゴシック" panose="020B0600070205080204" pitchFamily="34" charset="-128"/>
                        </a:rPr>
                        <a:t>Flag</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Garamond" panose="02020404030301010803" pitchFamily="18" charset="0"/>
                          <a:ea typeface="ＭＳ Ｐゴシック" panose="020B0600070205080204" pitchFamily="34" charset="-128"/>
                        </a:rPr>
                        <a:t>Name</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Garamond" panose="02020404030301010803" pitchFamily="18" charset="0"/>
                          <a:ea typeface="ＭＳ Ｐゴシック" panose="020B0600070205080204" pitchFamily="34" charset="-128"/>
                        </a:rPr>
                        <a:t>Description</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40023">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Z</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3CB"/>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Zero flag</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3CB"/>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Indicates that the result of arithmetic/logical operation is zero</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3CB"/>
                    </a:solidFill>
                  </a:tcPr>
                </a:tc>
                <a:extLst>
                  <a:ext uri="{0D108BD9-81ED-4DB2-BD59-A6C34878D82A}">
                    <a16:rowId xmlns:a16="http://schemas.microsoft.com/office/drawing/2014/main" val="10001"/>
                  </a:ext>
                </a:extLst>
              </a:tr>
              <a:tr h="914342">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C</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AE7"/>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Carry flag</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AE7"/>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Indicates that an operation has a carry out. Enables numbers larger than a single word to be added/subtracted</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AE7"/>
                    </a:solidFill>
                  </a:tcPr>
                </a:tc>
                <a:extLst>
                  <a:ext uri="{0D108BD9-81ED-4DB2-BD59-A6C34878D82A}">
                    <a16:rowId xmlns:a16="http://schemas.microsoft.com/office/drawing/2014/main" val="10002"/>
                  </a:ext>
                </a:extLst>
              </a:tr>
              <a:tr h="371243">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S/N</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3CB"/>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Sign/negative flag</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3CB"/>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Indicates that the result of an operation is negative. </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3CB"/>
                    </a:solidFill>
                  </a:tcPr>
                </a:tc>
                <a:extLst>
                  <a:ext uri="{0D108BD9-81ED-4DB2-BD59-A6C34878D82A}">
                    <a16:rowId xmlns:a16="http://schemas.microsoft.com/office/drawing/2014/main" val="10003"/>
                  </a:ext>
                </a:extLst>
              </a:tr>
              <a:tr h="640023">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V/O/W</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AE7"/>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Overflow flag</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AE7"/>
                    </a:solidFill>
                  </a:tcPr>
                </a:tc>
                <a:tc>
                  <a:txBody>
                    <a:bodyPr/>
                    <a:lstStyle>
                      <a:lvl1pPr defTabSz="457200">
                        <a:spcBef>
                          <a:spcPct val="20000"/>
                        </a:spcBef>
                        <a:buClr>
                          <a:srgbClr val="FF0000"/>
                        </a:buClr>
                        <a:buFont typeface="Wingdings" pitchFamily="2" charset="2"/>
                        <a:defRPr sz="2400">
                          <a:solidFill>
                            <a:schemeClr val="tx1"/>
                          </a:solidFill>
                          <a:latin typeface="Garamond" panose="02020404030301010803" pitchFamily="18" charset="0"/>
                          <a:ea typeface="ＭＳ Ｐゴシック" panose="020B0600070205080204" pitchFamily="34" charset="-128"/>
                        </a:defRPr>
                      </a:lvl1pPr>
                      <a:lvl2pPr marL="742950" indent="-285750" defTabSz="457200">
                        <a:spcBef>
                          <a:spcPct val="20000"/>
                        </a:spcBef>
                        <a:defRPr sz="2000">
                          <a:solidFill>
                            <a:schemeClr val="tx1"/>
                          </a:solidFill>
                          <a:latin typeface="Garamond" panose="02020404030301010803" pitchFamily="18" charset="0"/>
                          <a:ea typeface="ＭＳ Ｐゴシック" panose="020B0600070205080204" pitchFamily="34" charset="-128"/>
                        </a:defRPr>
                      </a:lvl2pPr>
                      <a:lvl3pPr marL="1143000" indent="-228600" defTabSz="457200">
                        <a:spcBef>
                          <a:spcPct val="20000"/>
                        </a:spcBef>
                        <a:defRPr sz="2000">
                          <a:solidFill>
                            <a:schemeClr val="tx1"/>
                          </a:solidFill>
                          <a:latin typeface="Garamond" panose="02020404030301010803" pitchFamily="18" charset="0"/>
                          <a:ea typeface="ＭＳ Ｐゴシック" panose="020B0600070205080204" pitchFamily="34" charset="-128"/>
                        </a:defRPr>
                      </a:lvl3pPr>
                      <a:lvl4pPr marL="1600200" indent="-228600" defTabSz="457200">
                        <a:spcBef>
                          <a:spcPct val="20000"/>
                        </a:spcBef>
                        <a:buFont typeface="Wingdings" pitchFamily="2" charset="2"/>
                        <a:defRPr>
                          <a:solidFill>
                            <a:schemeClr val="tx1"/>
                          </a:solidFill>
                          <a:latin typeface="Garamond" panose="02020404030301010803" pitchFamily="18" charset="0"/>
                          <a:ea typeface="ＭＳ Ｐゴシック" panose="020B0600070205080204" pitchFamily="34" charset="-128"/>
                        </a:defRPr>
                      </a:lvl4pPr>
                      <a:lvl5pPr marL="2057400" indent="-228600" defTabSz="457200">
                        <a:spcBef>
                          <a:spcPct val="20000"/>
                        </a:spcBef>
                        <a:defRPr>
                          <a:solidFill>
                            <a:schemeClr val="tx1"/>
                          </a:solidFill>
                          <a:latin typeface="Garamond" panose="02020404030301010803" pitchFamily="18"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Garamond" panose="02020404030301010803" pitchFamily="18" charset="0"/>
                          <a:ea typeface="ＭＳ Ｐゴシック" panose="020B0600070205080204" pitchFamily="34" charset="-128"/>
                        </a:rPr>
                        <a:t>Indicates that the result of an operation is too large to fit in a register (using two’s complement representation)</a:t>
                      </a: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AE7"/>
                    </a:solidFill>
                  </a:tcPr>
                </a:tc>
                <a:extLst>
                  <a:ext uri="{0D108BD9-81ED-4DB2-BD59-A6C34878D82A}">
                    <a16:rowId xmlns:a16="http://schemas.microsoft.com/office/drawing/2014/main" val="10004"/>
                  </a:ext>
                </a:extLst>
              </a:tr>
            </a:tbl>
          </a:graphicData>
        </a:graphic>
      </p:graphicFrame>
      <p:sp>
        <p:nvSpPr>
          <p:cNvPr id="73757" name="TextBox 6">
            <a:extLst>
              <a:ext uri="{FF2B5EF4-FFF2-40B4-BE49-F238E27FC236}">
                <a16:creationId xmlns:a16="http://schemas.microsoft.com/office/drawing/2014/main" id="{9362ADEC-C356-394C-814E-39672183D109}"/>
              </a:ext>
            </a:extLst>
          </p:cNvPr>
          <p:cNvSpPr txBox="1">
            <a:spLocks noChangeArrowheads="1"/>
          </p:cNvSpPr>
          <p:nvPr/>
        </p:nvSpPr>
        <p:spPr bwMode="auto">
          <a:xfrm>
            <a:off x="1177925" y="4849813"/>
            <a:ext cx="69881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solidFill>
                  <a:schemeClr val="tx1"/>
                </a:solidFill>
              </a:rPr>
              <a:t>Subsequent conditional branch may test condition code</a:t>
            </a:r>
          </a:p>
          <a:p>
            <a:pPr>
              <a:spcBef>
                <a:spcPct val="0"/>
              </a:spcBef>
              <a:buClrTx/>
              <a:buSzTx/>
              <a:buFontTx/>
              <a:buNone/>
            </a:pPr>
            <a:r>
              <a:rPr lang="en-US" altLang="en-US" sz="2400">
                <a:solidFill>
                  <a:schemeClr val="tx1"/>
                </a:solidFill>
              </a:rPr>
              <a:t>to determine whether it should be taken/not taken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EF74BEB-7746-4E4E-8923-C5A6290A891A}"/>
              </a:ext>
            </a:extLst>
          </p:cNvPr>
          <p:cNvSpPr>
            <a:spLocks noGrp="1" noChangeArrowheads="1"/>
          </p:cNvSpPr>
          <p:nvPr>
            <p:ph type="title"/>
          </p:nvPr>
        </p:nvSpPr>
        <p:spPr/>
        <p:txBody>
          <a:bodyPr/>
          <a:lstStyle/>
          <a:p>
            <a:r>
              <a:rPr lang="en-US" altLang="en-US"/>
              <a:t>X86 is Evolving: New Instructions</a:t>
            </a:r>
          </a:p>
        </p:txBody>
      </p:sp>
      <p:sp>
        <p:nvSpPr>
          <p:cNvPr id="3" name="Content Placeholder 2">
            <a:extLst>
              <a:ext uri="{FF2B5EF4-FFF2-40B4-BE49-F238E27FC236}">
                <a16:creationId xmlns:a16="http://schemas.microsoft.com/office/drawing/2014/main" id="{9EA073CD-E878-D34F-942B-7F7786465404}"/>
              </a:ext>
            </a:extLst>
          </p:cNvPr>
          <p:cNvSpPr>
            <a:spLocks noGrp="1"/>
          </p:cNvSpPr>
          <p:nvPr>
            <p:ph idx="1"/>
          </p:nvPr>
        </p:nvSpPr>
        <p:spPr/>
        <p:txBody>
          <a:bodyPr/>
          <a:lstStyle/>
          <a:p>
            <a:pPr>
              <a:buFont typeface="Wingdings" pitchFamily="2" charset="2"/>
              <a:buChar char="w"/>
            </a:pPr>
            <a:r>
              <a:rPr lang="en-US" altLang="en-US" sz="2400"/>
              <a:t>MMX (1996)</a:t>
            </a:r>
          </a:p>
          <a:p>
            <a:pPr>
              <a:buFont typeface="Wingdings" pitchFamily="2" charset="2"/>
              <a:buChar char="w"/>
            </a:pPr>
            <a:r>
              <a:rPr lang="en-US" altLang="en-US" sz="2400"/>
              <a:t>SSE (1999) - Pentium III</a:t>
            </a:r>
          </a:p>
          <a:p>
            <a:pPr>
              <a:buFont typeface="Wingdings" pitchFamily="2" charset="2"/>
              <a:buChar char="w"/>
            </a:pPr>
            <a:r>
              <a:rPr lang="en-US" altLang="en-US" sz="2400"/>
              <a:t>SSE2 (2001) - Pentium 4</a:t>
            </a:r>
          </a:p>
          <a:p>
            <a:pPr>
              <a:buFont typeface="Wingdings" pitchFamily="2" charset="2"/>
              <a:buChar char="w"/>
            </a:pPr>
            <a:r>
              <a:rPr lang="en-US" altLang="en-US" sz="2400"/>
              <a:t>SSE3 (2004)</a:t>
            </a:r>
          </a:p>
          <a:p>
            <a:pPr>
              <a:buFont typeface="Wingdings" pitchFamily="2" charset="2"/>
              <a:buChar char="w"/>
            </a:pPr>
            <a:r>
              <a:rPr lang="en-US" altLang="en-US" sz="2400"/>
              <a:t>SSSE3 (2006) - Intel Core</a:t>
            </a:r>
          </a:p>
          <a:p>
            <a:pPr>
              <a:buFont typeface="Wingdings" pitchFamily="2" charset="2"/>
              <a:buChar char="w"/>
            </a:pPr>
            <a:r>
              <a:rPr lang="en-US" altLang="en-US" sz="2400"/>
              <a:t>SSE4 (2006)</a:t>
            </a:r>
          </a:p>
          <a:p>
            <a:pPr>
              <a:buFont typeface="Wingdings" pitchFamily="2" charset="2"/>
              <a:buChar char="w"/>
            </a:pPr>
            <a:r>
              <a:rPr lang="en-US" altLang="en-US" sz="2400"/>
              <a:t>AVX (2011) - Sandy Bridge</a:t>
            </a:r>
          </a:p>
          <a:p>
            <a:pPr>
              <a:buFont typeface="Wingdings" pitchFamily="2" charset="2"/>
              <a:buChar char="w"/>
            </a:pPr>
            <a:r>
              <a:rPr lang="en-US" altLang="en-US" sz="2400"/>
              <a:t>AVX2 (2013) - Haswell (successor of Ivy Bridge)</a:t>
            </a:r>
          </a:p>
          <a:p>
            <a:pPr>
              <a:buFont typeface="Wingdings" pitchFamily="2" charset="2"/>
              <a:buChar char="w"/>
            </a:pPr>
            <a:r>
              <a:rPr lang="en-US" altLang="en-US" sz="2400"/>
              <a:t>SGX, MPX, SHA (2015) - </a:t>
            </a:r>
          </a:p>
          <a:p>
            <a:pPr>
              <a:buFont typeface="Wingdings" pitchFamily="2" charset="2"/>
              <a:buChar char="w"/>
            </a:pPr>
            <a:r>
              <a:rPr lang="en-US" altLang="en-US" sz="2400"/>
              <a:t>SME – Secure Memory Extension</a:t>
            </a:r>
          </a:p>
          <a:p>
            <a:pPr>
              <a:buFont typeface="Wingdings" pitchFamily="2" charset="2"/>
              <a:buChar char="w"/>
            </a:pPr>
            <a:r>
              <a:rPr lang="en-US" altLang="en-US" sz="2400"/>
              <a:t>TME - Total Memory Encryption</a:t>
            </a:r>
          </a:p>
          <a:p>
            <a:pPr>
              <a:buFont typeface="Wingdings" pitchFamily="2" charset="2"/>
              <a:buNone/>
            </a:pPr>
            <a:endParaRPr lang="en-US" altLang="en-US" sz="2400"/>
          </a:p>
        </p:txBody>
      </p:sp>
      <p:sp>
        <p:nvSpPr>
          <p:cNvPr id="76804" name="Slide Number Placeholder 4">
            <a:extLst>
              <a:ext uri="{FF2B5EF4-FFF2-40B4-BE49-F238E27FC236}">
                <a16:creationId xmlns:a16="http://schemas.microsoft.com/office/drawing/2014/main" id="{73FE27C7-851A-5C41-B2B5-6F74570E6999}"/>
              </a:ext>
            </a:extLst>
          </p:cNvPr>
          <p:cNvSpPr>
            <a:spLocks noGrp="1" noChangeArrowheads="1"/>
          </p:cNvSpPr>
          <p:nvPr>
            <p:ph type="sldNum" sz="quarter" idx="4294967295"/>
          </p:nvPr>
        </p:nvSpPr>
        <p:spPr bwMode="auto">
          <a:xfrm>
            <a:off x="8305800" y="6324600"/>
            <a:ext cx="4572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1363" indent="-284163">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r" eaLnBrk="1" hangingPunct="1">
              <a:spcBef>
                <a:spcPct val="0"/>
              </a:spcBef>
              <a:buClrTx/>
              <a:buSzTx/>
              <a:buFontTx/>
              <a:buNone/>
            </a:pPr>
            <a:fld id="{C5889F11-2ECC-724A-9FD3-AF73157EEB59}" type="slidenum">
              <a:rPr lang="en-US" altLang="en-US" sz="1400">
                <a:solidFill>
                  <a:schemeClr val="tx1"/>
                </a:solidFill>
                <a:latin typeface="Times New Roman" panose="02020603050405020304" pitchFamily="18" charset="0"/>
              </a:rPr>
              <a:pPr algn="r" eaLnBrk="1" hangingPunct="1">
                <a:spcBef>
                  <a:spcPct val="0"/>
                </a:spcBef>
                <a:buClrTx/>
                <a:buSzTx/>
                <a:buFontTx/>
                <a:buNone/>
              </a:pPr>
              <a:t>52</a:t>
            </a:fld>
            <a:endParaRPr lang="en-US" altLang="en-US" sz="1400">
              <a:solidFill>
                <a:schemeClr val="tx1"/>
              </a:solidFill>
              <a:latin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F3E79B1A-FB01-9F4D-A74E-FC6C596884C3}"/>
              </a:ext>
            </a:extLst>
          </p:cNvPr>
          <p:cNvSpPr>
            <a:spLocks noGrp="1" noChangeArrowheads="1"/>
          </p:cNvSpPr>
          <p:nvPr>
            <p:ph type="title"/>
          </p:nvPr>
        </p:nvSpPr>
        <p:spPr/>
        <p:txBody>
          <a:bodyPr/>
          <a:lstStyle/>
          <a:p>
            <a:r>
              <a:rPr lang="en-US" altLang="en-US" dirty="0"/>
              <a:t>Aside: Additional Registers</a:t>
            </a:r>
          </a:p>
        </p:txBody>
      </p:sp>
      <p:sp>
        <p:nvSpPr>
          <p:cNvPr id="77827" name="Content Placeholder 2">
            <a:extLst>
              <a:ext uri="{FF2B5EF4-FFF2-40B4-BE49-F238E27FC236}">
                <a16:creationId xmlns:a16="http://schemas.microsoft.com/office/drawing/2014/main" id="{87EEC62B-7157-5C45-9999-E28153EC6793}"/>
              </a:ext>
            </a:extLst>
          </p:cNvPr>
          <p:cNvSpPr>
            <a:spLocks noGrp="1" noChangeArrowheads="1"/>
          </p:cNvSpPr>
          <p:nvPr>
            <p:ph idx="1"/>
          </p:nvPr>
        </p:nvSpPr>
        <p:spPr/>
        <p:txBody>
          <a:bodyPr/>
          <a:lstStyle/>
          <a:p>
            <a:pPr>
              <a:buFont typeface="Wingdings" pitchFamily="2" charset="2"/>
              <a:buChar char="w"/>
            </a:pPr>
            <a:r>
              <a:rPr lang="en-US" altLang="en-US"/>
              <a:t>Pentium MMX added:</a:t>
            </a:r>
          </a:p>
          <a:p>
            <a:pPr lvl="1"/>
            <a:r>
              <a:rPr lang="en-US" altLang="en-US"/>
              <a:t>Eight 64-bit MMX integer registers (MMX0 to MMX7) </a:t>
            </a:r>
          </a:p>
          <a:p>
            <a:pPr>
              <a:buFont typeface="Wingdings" pitchFamily="2" charset="2"/>
              <a:buChar char="w"/>
            </a:pPr>
            <a:r>
              <a:rPr lang="en-US" altLang="en-US"/>
              <a:t>Pentium III added:</a:t>
            </a:r>
          </a:p>
          <a:p>
            <a:pPr lvl="1"/>
            <a:r>
              <a:rPr lang="en-US" altLang="en-US"/>
              <a:t>Streaming SIMD Extensions (SSE) status register (MXCSR)</a:t>
            </a:r>
          </a:p>
          <a:p>
            <a:pPr lvl="1"/>
            <a:r>
              <a:rPr lang="en-US" altLang="en-US"/>
              <a:t>Eight 128-bit SSE floating point registers (XMM0 to XMM7)</a:t>
            </a:r>
          </a:p>
          <a:p>
            <a:pPr>
              <a:buFont typeface="Wingdings" pitchFamily="2" charset="2"/>
              <a:buChar char="w"/>
            </a:pPr>
            <a:r>
              <a:rPr lang="en-US" altLang="en-US"/>
              <a:t>64-bit mode added: </a:t>
            </a:r>
          </a:p>
          <a:p>
            <a:pPr lvl="1"/>
            <a:r>
              <a:rPr lang="en-US" altLang="en-US"/>
              <a:t>Eight 64-bit general registers (R8-R15)</a:t>
            </a:r>
          </a:p>
          <a:p>
            <a:pPr lvl="1"/>
            <a:r>
              <a:rPr lang="en-US" altLang="en-US"/>
              <a:t>R-prefix replaces E-prefix for other registers, e.g. RAX, RBX</a:t>
            </a:r>
          </a:p>
          <a:p>
            <a:pPr>
              <a:buFont typeface="Wingdings" pitchFamily="2" charset="2"/>
              <a:buChar char="w"/>
            </a:pPr>
            <a:r>
              <a:rPr lang="en-US" altLang="en-US"/>
              <a:t>SIMD extension added</a:t>
            </a:r>
          </a:p>
          <a:p>
            <a:pPr lvl="1"/>
            <a:r>
              <a:rPr lang="en-US" altLang="en-US"/>
              <a:t>128-bit registers, 256-bit registers, and 512-bit registers</a:t>
            </a:r>
          </a:p>
        </p:txBody>
      </p:sp>
      <p:sp>
        <p:nvSpPr>
          <p:cNvPr id="77828" name="Slide Number Placeholder 4">
            <a:extLst>
              <a:ext uri="{FF2B5EF4-FFF2-40B4-BE49-F238E27FC236}">
                <a16:creationId xmlns:a16="http://schemas.microsoft.com/office/drawing/2014/main" id="{0A8AEC88-6D43-1946-B455-0BA0E2340CDC}"/>
              </a:ext>
            </a:extLst>
          </p:cNvPr>
          <p:cNvSpPr>
            <a:spLocks noGrp="1" noChangeArrowheads="1"/>
          </p:cNvSpPr>
          <p:nvPr>
            <p:ph type="sldNum" sz="quarter" idx="4294967295"/>
          </p:nvPr>
        </p:nvSpPr>
        <p:spPr bwMode="auto">
          <a:xfrm>
            <a:off x="8305800" y="6324600"/>
            <a:ext cx="4572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1363" indent="-284163">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r" eaLnBrk="1" hangingPunct="1">
              <a:spcBef>
                <a:spcPct val="0"/>
              </a:spcBef>
              <a:buClrTx/>
              <a:buSzTx/>
              <a:buFontTx/>
              <a:buNone/>
            </a:pPr>
            <a:fld id="{C6CFE4FC-D484-FA42-8672-85F808EDA53E}" type="slidenum">
              <a:rPr lang="en-US" altLang="en-US" sz="1400">
                <a:solidFill>
                  <a:schemeClr val="tx1"/>
                </a:solidFill>
                <a:latin typeface="Times New Roman" panose="02020603050405020304" pitchFamily="18" charset="0"/>
              </a:rPr>
              <a:pPr algn="r" eaLnBrk="1" hangingPunct="1">
                <a:spcBef>
                  <a:spcPct val="0"/>
                </a:spcBef>
                <a:buClrTx/>
                <a:buSzTx/>
                <a:buFontTx/>
                <a:buNone/>
              </a:pPr>
              <a:t>53</a:t>
            </a:fld>
            <a:endParaRPr lang="en-US" altLang="en-US" sz="1400">
              <a:solidFill>
                <a:schemeClr val="tx1"/>
              </a:solidFill>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BC3B-1EFE-E541-947D-442DB4B0C0B9}"/>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7FCAD57A-9253-C444-BC1F-76F413475093}"/>
              </a:ext>
            </a:extLst>
          </p:cNvPr>
          <p:cNvSpPr>
            <a:spLocks noGrp="1"/>
          </p:cNvSpPr>
          <p:nvPr>
            <p:ph idx="1"/>
          </p:nvPr>
        </p:nvSpPr>
        <p:spPr>
          <a:xfrm>
            <a:off x="457200" y="1143000"/>
            <a:ext cx="8229600" cy="5334000"/>
          </a:xfrm>
        </p:spPr>
        <p:txBody>
          <a:bodyPr>
            <a:normAutofit lnSpcReduction="10000"/>
          </a:bodyPr>
          <a:lstStyle/>
          <a:p>
            <a:r>
              <a:rPr lang="en-US" dirty="0">
                <a:effectLst/>
                <a:latin typeface="CMR10"/>
              </a:rPr>
              <a:t>Explain each line of the following MIPS code and describe in a sentence or two what it computes. Assume that </a:t>
            </a:r>
            <a:r>
              <a:rPr lang="en-US" dirty="0">
                <a:effectLst/>
                <a:latin typeface="SFRM1095"/>
              </a:rPr>
              <a:t>$</a:t>
            </a:r>
            <a:r>
              <a:rPr lang="en-US" dirty="0">
                <a:effectLst/>
                <a:latin typeface="CMR10"/>
              </a:rPr>
              <a:t>a0 is used for the input and initially contains n (let’s say 10), a positive integer. Assume that </a:t>
            </a:r>
            <a:r>
              <a:rPr lang="en-US" dirty="0">
                <a:effectLst/>
                <a:latin typeface="SFRM1095"/>
              </a:rPr>
              <a:t>$</a:t>
            </a:r>
            <a:r>
              <a:rPr lang="en-US" dirty="0">
                <a:effectLst/>
                <a:latin typeface="CMR10"/>
              </a:rPr>
              <a:t>v0 is used for returning the output value.</a:t>
            </a:r>
          </a:p>
          <a:p>
            <a:r>
              <a:rPr lang="en-US" dirty="0">
                <a:effectLst/>
                <a:latin typeface="CMR10"/>
              </a:rPr>
              <a:t>What is the expected result in $v0 from this code?</a:t>
            </a:r>
          </a:p>
          <a:p>
            <a:pPr marL="0" indent="0">
              <a:buNone/>
            </a:pPr>
            <a:endParaRPr lang="en-US" dirty="0"/>
          </a:p>
          <a:p>
            <a:pPr marL="0" indent="0">
              <a:buNone/>
            </a:pPr>
            <a:r>
              <a:rPr lang="en-US" dirty="0">
                <a:effectLst/>
                <a:latin typeface="CMR10"/>
              </a:rPr>
              <a:t>begin: </a:t>
            </a:r>
            <a:r>
              <a:rPr lang="en-US" dirty="0" err="1">
                <a:effectLst/>
                <a:latin typeface="CMR10"/>
              </a:rPr>
              <a:t>addi</a:t>
            </a:r>
            <a:r>
              <a:rPr lang="en-US" dirty="0">
                <a:effectLst/>
                <a:latin typeface="CMR10"/>
              </a:rPr>
              <a:t> </a:t>
            </a:r>
            <a:r>
              <a:rPr lang="en-US" dirty="0">
                <a:effectLst/>
                <a:latin typeface="SFRM1095"/>
              </a:rPr>
              <a:t>$</a:t>
            </a:r>
            <a:r>
              <a:rPr lang="en-US" dirty="0">
                <a:effectLst/>
                <a:latin typeface="CMR10"/>
              </a:rPr>
              <a:t>t0, </a:t>
            </a:r>
            <a:r>
              <a:rPr lang="en-US" dirty="0">
                <a:effectLst/>
                <a:latin typeface="SFRM1095"/>
              </a:rPr>
              <a:t>$</a:t>
            </a:r>
            <a:r>
              <a:rPr lang="en-US" dirty="0">
                <a:effectLst/>
                <a:latin typeface="CMR10"/>
              </a:rPr>
              <a:t>zero, 0 </a:t>
            </a:r>
          </a:p>
          <a:p>
            <a:pPr marL="0" indent="0">
              <a:buNone/>
            </a:pPr>
            <a:r>
              <a:rPr lang="en-US" dirty="0">
                <a:effectLst/>
                <a:latin typeface="CMR10"/>
              </a:rPr>
              <a:t>            </a:t>
            </a:r>
            <a:r>
              <a:rPr lang="en-US" dirty="0" err="1">
                <a:effectLst/>
                <a:latin typeface="CMR10"/>
              </a:rPr>
              <a:t>addi</a:t>
            </a:r>
            <a:r>
              <a:rPr lang="en-US" dirty="0">
                <a:effectLst/>
                <a:latin typeface="CMR10"/>
              </a:rPr>
              <a:t> </a:t>
            </a:r>
            <a:r>
              <a:rPr lang="en-US" dirty="0">
                <a:effectLst/>
                <a:latin typeface="SFRM1095"/>
              </a:rPr>
              <a:t>$</a:t>
            </a:r>
            <a:r>
              <a:rPr lang="en-US" dirty="0">
                <a:effectLst/>
                <a:latin typeface="CMR10"/>
              </a:rPr>
              <a:t>t1, </a:t>
            </a:r>
            <a:r>
              <a:rPr lang="en-US" dirty="0">
                <a:effectLst/>
                <a:latin typeface="SFRM1095"/>
              </a:rPr>
              <a:t>$</a:t>
            </a:r>
            <a:r>
              <a:rPr lang="en-US" dirty="0">
                <a:effectLst/>
                <a:latin typeface="CMR10"/>
              </a:rPr>
              <a:t>zero, 1 </a:t>
            </a:r>
            <a:endParaRPr lang="en-US" sz="3200" dirty="0"/>
          </a:p>
          <a:p>
            <a:pPr marL="0" indent="0">
              <a:buNone/>
            </a:pPr>
            <a:r>
              <a:rPr lang="en-US" dirty="0">
                <a:effectLst/>
                <a:latin typeface="CMR10"/>
              </a:rPr>
              <a:t>loop:   </a:t>
            </a:r>
            <a:r>
              <a:rPr lang="en-US" dirty="0" err="1">
                <a:effectLst/>
                <a:latin typeface="CMR10"/>
              </a:rPr>
              <a:t>slt</a:t>
            </a:r>
            <a:r>
              <a:rPr lang="en-US" dirty="0">
                <a:effectLst/>
                <a:latin typeface="CMR10"/>
              </a:rPr>
              <a:t> </a:t>
            </a:r>
            <a:r>
              <a:rPr lang="en-US" dirty="0">
                <a:effectLst/>
                <a:latin typeface="SFRM1095"/>
              </a:rPr>
              <a:t>$</a:t>
            </a:r>
            <a:r>
              <a:rPr lang="en-US" dirty="0">
                <a:effectLst/>
                <a:latin typeface="CMR10"/>
              </a:rPr>
              <a:t>t2, </a:t>
            </a:r>
            <a:r>
              <a:rPr lang="en-US" dirty="0">
                <a:effectLst/>
                <a:latin typeface="SFRM1095"/>
              </a:rPr>
              <a:t>$</a:t>
            </a:r>
            <a:r>
              <a:rPr lang="en-US" dirty="0">
                <a:effectLst/>
                <a:latin typeface="CMR10"/>
              </a:rPr>
              <a:t>a0, </a:t>
            </a:r>
            <a:r>
              <a:rPr lang="en-US" dirty="0">
                <a:effectLst/>
                <a:latin typeface="SFRM1095"/>
              </a:rPr>
              <a:t>$</a:t>
            </a:r>
            <a:r>
              <a:rPr lang="en-US" dirty="0">
                <a:effectLst/>
                <a:latin typeface="CMR10"/>
              </a:rPr>
              <a:t>t1 </a:t>
            </a:r>
            <a:br>
              <a:rPr lang="en-US" dirty="0">
                <a:effectLst/>
                <a:latin typeface="CMR10"/>
              </a:rPr>
            </a:br>
            <a:r>
              <a:rPr lang="en-US" dirty="0">
                <a:effectLst/>
                <a:latin typeface="CMR10"/>
              </a:rPr>
              <a:t>            </a:t>
            </a:r>
            <a:r>
              <a:rPr lang="en-US" dirty="0" err="1">
                <a:effectLst/>
                <a:latin typeface="CMR10"/>
              </a:rPr>
              <a:t>bne</a:t>
            </a:r>
            <a:r>
              <a:rPr lang="en-US" dirty="0">
                <a:effectLst/>
                <a:latin typeface="CMR10"/>
              </a:rPr>
              <a:t> </a:t>
            </a:r>
            <a:r>
              <a:rPr lang="en-US" dirty="0">
                <a:effectLst/>
                <a:latin typeface="SFRM1095"/>
              </a:rPr>
              <a:t>$</a:t>
            </a:r>
            <a:r>
              <a:rPr lang="en-US" dirty="0">
                <a:effectLst/>
                <a:latin typeface="CMR10"/>
              </a:rPr>
              <a:t>t2, </a:t>
            </a:r>
            <a:r>
              <a:rPr lang="en-US" dirty="0">
                <a:effectLst/>
                <a:latin typeface="SFRM1095"/>
              </a:rPr>
              <a:t>$</a:t>
            </a:r>
            <a:r>
              <a:rPr lang="en-US" dirty="0">
                <a:effectLst/>
                <a:latin typeface="CMR10"/>
              </a:rPr>
              <a:t>zero, finish  </a:t>
            </a:r>
          </a:p>
          <a:p>
            <a:pPr marL="0" indent="0">
              <a:buNone/>
            </a:pPr>
            <a:r>
              <a:rPr lang="en-US" dirty="0">
                <a:effectLst/>
                <a:latin typeface="CMR10"/>
              </a:rPr>
              <a:t>            add </a:t>
            </a:r>
            <a:r>
              <a:rPr lang="en-US" dirty="0">
                <a:effectLst/>
                <a:latin typeface="SFRM1095"/>
              </a:rPr>
              <a:t>$</a:t>
            </a:r>
            <a:r>
              <a:rPr lang="en-US" dirty="0">
                <a:effectLst/>
                <a:latin typeface="CMR10"/>
              </a:rPr>
              <a:t>t0, </a:t>
            </a:r>
            <a:r>
              <a:rPr lang="en-US" dirty="0">
                <a:effectLst/>
                <a:latin typeface="SFRM1095"/>
              </a:rPr>
              <a:t>$</a:t>
            </a:r>
            <a:r>
              <a:rPr lang="en-US" dirty="0">
                <a:effectLst/>
                <a:latin typeface="CMR10"/>
              </a:rPr>
              <a:t>t0, </a:t>
            </a:r>
            <a:r>
              <a:rPr lang="en-US" dirty="0">
                <a:effectLst/>
                <a:latin typeface="SFRM1095"/>
              </a:rPr>
              <a:t>$</a:t>
            </a:r>
            <a:r>
              <a:rPr lang="en-US" dirty="0">
                <a:effectLst/>
                <a:latin typeface="CMR10"/>
              </a:rPr>
              <a:t>t1  </a:t>
            </a:r>
          </a:p>
          <a:p>
            <a:pPr marL="0" indent="0">
              <a:buNone/>
            </a:pPr>
            <a:r>
              <a:rPr lang="en-US" dirty="0">
                <a:effectLst/>
                <a:latin typeface="CMR10"/>
              </a:rPr>
              <a:t>            </a:t>
            </a:r>
            <a:r>
              <a:rPr lang="en-US" dirty="0" err="1">
                <a:effectLst/>
                <a:latin typeface="CMR10"/>
              </a:rPr>
              <a:t>addi</a:t>
            </a:r>
            <a:r>
              <a:rPr lang="en-US" dirty="0">
                <a:effectLst/>
                <a:latin typeface="CMR10"/>
              </a:rPr>
              <a:t> </a:t>
            </a:r>
            <a:r>
              <a:rPr lang="en-US" dirty="0">
                <a:effectLst/>
                <a:latin typeface="SFRM1095"/>
              </a:rPr>
              <a:t>$</a:t>
            </a:r>
            <a:r>
              <a:rPr lang="en-US" dirty="0">
                <a:effectLst/>
                <a:latin typeface="CMR10"/>
              </a:rPr>
              <a:t>t1, </a:t>
            </a:r>
            <a:r>
              <a:rPr lang="en-US" dirty="0">
                <a:effectLst/>
                <a:latin typeface="SFRM1095"/>
              </a:rPr>
              <a:t>$</a:t>
            </a:r>
            <a:r>
              <a:rPr lang="en-US" dirty="0">
                <a:effectLst/>
                <a:latin typeface="CMR10"/>
              </a:rPr>
              <a:t>t1, 2 </a:t>
            </a:r>
            <a:br>
              <a:rPr lang="en-US" dirty="0">
                <a:effectLst/>
                <a:latin typeface="CMR10"/>
              </a:rPr>
            </a:br>
            <a:r>
              <a:rPr lang="en-US" dirty="0">
                <a:effectLst/>
                <a:latin typeface="CMR10"/>
              </a:rPr>
              <a:t>            j loop  </a:t>
            </a:r>
            <a:endParaRPr lang="en-US" sz="3200" dirty="0"/>
          </a:p>
          <a:p>
            <a:pPr marL="0" indent="0">
              <a:buNone/>
            </a:pPr>
            <a:r>
              <a:rPr lang="en-US" dirty="0">
                <a:effectLst/>
                <a:latin typeface="CMR10"/>
              </a:rPr>
              <a:t>finish: add </a:t>
            </a:r>
            <a:r>
              <a:rPr lang="en-US" dirty="0">
                <a:effectLst/>
                <a:latin typeface="SFRM1095"/>
              </a:rPr>
              <a:t>$</a:t>
            </a:r>
            <a:r>
              <a:rPr lang="en-US" dirty="0">
                <a:effectLst/>
                <a:latin typeface="CMR10"/>
              </a:rPr>
              <a:t>v0, </a:t>
            </a:r>
            <a:r>
              <a:rPr lang="en-US" dirty="0">
                <a:effectLst/>
                <a:latin typeface="SFRM1095"/>
              </a:rPr>
              <a:t>$</a:t>
            </a:r>
            <a:r>
              <a:rPr lang="en-US" dirty="0">
                <a:effectLst/>
                <a:latin typeface="CMR10"/>
              </a:rPr>
              <a:t>t0, </a:t>
            </a:r>
            <a:r>
              <a:rPr lang="en-US" dirty="0">
                <a:effectLst/>
                <a:latin typeface="SFRM1095"/>
              </a:rPr>
              <a:t>$</a:t>
            </a:r>
            <a:r>
              <a:rPr lang="en-US" dirty="0">
                <a:effectLst/>
                <a:latin typeface="CMR10"/>
              </a:rPr>
              <a:t>zero  </a:t>
            </a:r>
            <a:endParaRPr lang="en-US" sz="3200" dirty="0"/>
          </a:p>
          <a:p>
            <a:endParaRPr lang="en-US" dirty="0"/>
          </a:p>
        </p:txBody>
      </p:sp>
    </p:spTree>
    <p:extLst>
      <p:ext uri="{BB962C8B-B14F-4D97-AF65-F5344CB8AC3E}">
        <p14:creationId xmlns:p14="http://schemas.microsoft.com/office/powerpoint/2010/main" val="4454331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BC3B-1EFE-E541-947D-442DB4B0C0B9}"/>
              </a:ext>
            </a:extLst>
          </p:cNvPr>
          <p:cNvSpPr>
            <a:spLocks noGrp="1"/>
          </p:cNvSpPr>
          <p:nvPr>
            <p:ph type="title"/>
          </p:nvPr>
        </p:nvSpPr>
        <p:spPr/>
        <p:txBody>
          <a:bodyPr/>
          <a:lstStyle/>
          <a:p>
            <a:r>
              <a:rPr lang="en-US" dirty="0"/>
              <a:t>Exercise (Solution)</a:t>
            </a:r>
          </a:p>
        </p:txBody>
      </p:sp>
      <p:sp>
        <p:nvSpPr>
          <p:cNvPr id="3" name="Content Placeholder 2">
            <a:extLst>
              <a:ext uri="{FF2B5EF4-FFF2-40B4-BE49-F238E27FC236}">
                <a16:creationId xmlns:a16="http://schemas.microsoft.com/office/drawing/2014/main" id="{7FCAD57A-9253-C444-BC1F-76F413475093}"/>
              </a:ext>
            </a:extLst>
          </p:cNvPr>
          <p:cNvSpPr>
            <a:spLocks noGrp="1"/>
          </p:cNvSpPr>
          <p:nvPr>
            <p:ph idx="1"/>
          </p:nvPr>
        </p:nvSpPr>
        <p:spPr>
          <a:xfrm>
            <a:off x="457200" y="1143000"/>
            <a:ext cx="8229600" cy="5334000"/>
          </a:xfrm>
        </p:spPr>
        <p:txBody>
          <a:bodyPr>
            <a:normAutofit lnSpcReduction="10000"/>
          </a:bodyPr>
          <a:lstStyle/>
          <a:p>
            <a:r>
              <a:rPr lang="en-US" dirty="0">
                <a:effectLst/>
                <a:latin typeface="CMR10"/>
              </a:rPr>
              <a:t>Explain each line of the following MIPS code and describe in a sentence or two what it computes. Assume that </a:t>
            </a:r>
            <a:r>
              <a:rPr lang="en-US" dirty="0">
                <a:effectLst/>
                <a:latin typeface="SFRM1095"/>
              </a:rPr>
              <a:t>$</a:t>
            </a:r>
            <a:r>
              <a:rPr lang="en-US" dirty="0">
                <a:effectLst/>
                <a:latin typeface="CMR10"/>
              </a:rPr>
              <a:t>a0 is used for the input and initially contains n (let’s say 10), a positive integer. Assume that </a:t>
            </a:r>
            <a:r>
              <a:rPr lang="en-US" dirty="0">
                <a:effectLst/>
                <a:latin typeface="SFRM1095"/>
              </a:rPr>
              <a:t>$</a:t>
            </a:r>
            <a:r>
              <a:rPr lang="en-US" dirty="0">
                <a:effectLst/>
                <a:latin typeface="CMR10"/>
              </a:rPr>
              <a:t>v0 is used for returning the output value.</a:t>
            </a:r>
          </a:p>
          <a:p>
            <a:r>
              <a:rPr lang="en-US" dirty="0">
                <a:effectLst/>
                <a:latin typeface="CMR10"/>
              </a:rPr>
              <a:t>What is the expected result in $v0 from this code? </a:t>
            </a:r>
          </a:p>
          <a:p>
            <a:pPr marL="0" indent="0">
              <a:buNone/>
            </a:pPr>
            <a:endParaRPr lang="en-US" dirty="0">
              <a:effectLst/>
              <a:latin typeface="CMR10"/>
            </a:endParaRPr>
          </a:p>
          <a:p>
            <a:pPr marL="0" indent="0">
              <a:buNone/>
            </a:pPr>
            <a:r>
              <a:rPr lang="en-US" dirty="0">
                <a:effectLst/>
                <a:latin typeface="CMR10"/>
              </a:rPr>
              <a:t>begin: </a:t>
            </a:r>
            <a:r>
              <a:rPr lang="en-US" dirty="0" err="1">
                <a:effectLst/>
                <a:latin typeface="CMR10"/>
              </a:rPr>
              <a:t>addi</a:t>
            </a:r>
            <a:r>
              <a:rPr lang="en-US" dirty="0">
                <a:effectLst/>
                <a:latin typeface="CMR10"/>
              </a:rPr>
              <a:t> </a:t>
            </a:r>
            <a:r>
              <a:rPr lang="en-US" dirty="0">
                <a:effectLst/>
                <a:latin typeface="SFRM1095"/>
              </a:rPr>
              <a:t>$</a:t>
            </a:r>
            <a:r>
              <a:rPr lang="en-US" dirty="0">
                <a:effectLst/>
                <a:latin typeface="CMR10"/>
              </a:rPr>
              <a:t>t0, </a:t>
            </a:r>
            <a:r>
              <a:rPr lang="en-US" dirty="0">
                <a:effectLst/>
                <a:latin typeface="SFRM1095"/>
              </a:rPr>
              <a:t>$</a:t>
            </a:r>
            <a:r>
              <a:rPr lang="en-US" dirty="0">
                <a:effectLst/>
                <a:latin typeface="CMR10"/>
              </a:rPr>
              <a:t>zero, 0 // initialize $t0 = 0</a:t>
            </a:r>
          </a:p>
          <a:p>
            <a:pPr marL="0" indent="0">
              <a:buNone/>
            </a:pPr>
            <a:r>
              <a:rPr lang="en-US" dirty="0">
                <a:effectLst/>
                <a:latin typeface="CMR10"/>
              </a:rPr>
              <a:t>            </a:t>
            </a:r>
            <a:r>
              <a:rPr lang="en-US" dirty="0" err="1">
                <a:effectLst/>
                <a:latin typeface="CMR10"/>
              </a:rPr>
              <a:t>addi</a:t>
            </a:r>
            <a:r>
              <a:rPr lang="en-US" dirty="0">
                <a:effectLst/>
                <a:latin typeface="CMR10"/>
              </a:rPr>
              <a:t> </a:t>
            </a:r>
            <a:r>
              <a:rPr lang="en-US" dirty="0">
                <a:effectLst/>
                <a:latin typeface="SFRM1095"/>
              </a:rPr>
              <a:t>$</a:t>
            </a:r>
            <a:r>
              <a:rPr lang="en-US" dirty="0">
                <a:effectLst/>
                <a:latin typeface="CMR10"/>
              </a:rPr>
              <a:t>t1, </a:t>
            </a:r>
            <a:r>
              <a:rPr lang="en-US" dirty="0">
                <a:effectLst/>
                <a:latin typeface="SFRM1095"/>
              </a:rPr>
              <a:t>$</a:t>
            </a:r>
            <a:r>
              <a:rPr lang="en-US" dirty="0">
                <a:effectLst/>
                <a:latin typeface="CMR10"/>
              </a:rPr>
              <a:t>zero, 1 // initialize $t1 = 1</a:t>
            </a:r>
            <a:endParaRPr lang="en-US" sz="3200" dirty="0"/>
          </a:p>
          <a:p>
            <a:pPr marL="0" indent="0">
              <a:buNone/>
            </a:pPr>
            <a:r>
              <a:rPr lang="en-US" dirty="0">
                <a:effectLst/>
                <a:latin typeface="CMR10"/>
              </a:rPr>
              <a:t>loop:   </a:t>
            </a:r>
            <a:r>
              <a:rPr lang="en-US" dirty="0" err="1">
                <a:effectLst/>
                <a:latin typeface="CMR10"/>
              </a:rPr>
              <a:t>slt</a:t>
            </a:r>
            <a:r>
              <a:rPr lang="en-US" dirty="0">
                <a:effectLst/>
                <a:latin typeface="CMR10"/>
              </a:rPr>
              <a:t> </a:t>
            </a:r>
            <a:r>
              <a:rPr lang="en-US" dirty="0">
                <a:effectLst/>
                <a:latin typeface="SFRM1095"/>
              </a:rPr>
              <a:t>$</a:t>
            </a:r>
            <a:r>
              <a:rPr lang="en-US" dirty="0">
                <a:effectLst/>
                <a:latin typeface="CMR10"/>
              </a:rPr>
              <a:t>t2, </a:t>
            </a:r>
            <a:r>
              <a:rPr lang="en-US" dirty="0">
                <a:effectLst/>
                <a:latin typeface="SFRM1095"/>
              </a:rPr>
              <a:t>$</a:t>
            </a:r>
            <a:r>
              <a:rPr lang="en-US" dirty="0">
                <a:effectLst/>
                <a:latin typeface="CMR10"/>
              </a:rPr>
              <a:t>a0, </a:t>
            </a:r>
            <a:r>
              <a:rPr lang="en-US" dirty="0">
                <a:effectLst/>
                <a:latin typeface="SFRM1095"/>
              </a:rPr>
              <a:t>$</a:t>
            </a:r>
            <a:r>
              <a:rPr lang="en-US" dirty="0">
                <a:effectLst/>
                <a:latin typeface="CMR10"/>
              </a:rPr>
              <a:t>t1 // is n &lt; $t1?</a:t>
            </a:r>
            <a:br>
              <a:rPr lang="en-US" dirty="0">
                <a:effectLst/>
                <a:latin typeface="CMR10"/>
              </a:rPr>
            </a:br>
            <a:r>
              <a:rPr lang="en-US" dirty="0">
                <a:effectLst/>
                <a:latin typeface="CMR10"/>
              </a:rPr>
              <a:t>            </a:t>
            </a:r>
            <a:r>
              <a:rPr lang="en-US" dirty="0" err="1">
                <a:effectLst/>
                <a:latin typeface="CMR10"/>
              </a:rPr>
              <a:t>bne</a:t>
            </a:r>
            <a:r>
              <a:rPr lang="en-US" dirty="0">
                <a:effectLst/>
                <a:latin typeface="CMR10"/>
              </a:rPr>
              <a:t> </a:t>
            </a:r>
            <a:r>
              <a:rPr lang="en-US" dirty="0">
                <a:effectLst/>
                <a:latin typeface="SFRM1095"/>
              </a:rPr>
              <a:t>$</a:t>
            </a:r>
            <a:r>
              <a:rPr lang="en-US" dirty="0">
                <a:effectLst/>
                <a:latin typeface="CMR10"/>
              </a:rPr>
              <a:t>t2, </a:t>
            </a:r>
            <a:r>
              <a:rPr lang="en-US" dirty="0">
                <a:effectLst/>
                <a:latin typeface="SFRM1095"/>
              </a:rPr>
              <a:t>$</a:t>
            </a:r>
            <a:r>
              <a:rPr lang="en-US" dirty="0">
                <a:effectLst/>
                <a:latin typeface="CMR10"/>
              </a:rPr>
              <a:t>zero, finish  // if so, then go to finish</a:t>
            </a:r>
          </a:p>
          <a:p>
            <a:pPr marL="0" indent="0">
              <a:buNone/>
            </a:pPr>
            <a:r>
              <a:rPr lang="en-US" dirty="0">
                <a:effectLst/>
                <a:latin typeface="CMR10"/>
              </a:rPr>
              <a:t>            add </a:t>
            </a:r>
            <a:r>
              <a:rPr lang="en-US" dirty="0">
                <a:effectLst/>
                <a:latin typeface="SFRM1095"/>
              </a:rPr>
              <a:t>$</a:t>
            </a:r>
            <a:r>
              <a:rPr lang="en-US" dirty="0">
                <a:effectLst/>
                <a:latin typeface="CMR10"/>
              </a:rPr>
              <a:t>t0, </a:t>
            </a:r>
            <a:r>
              <a:rPr lang="en-US" dirty="0">
                <a:effectLst/>
                <a:latin typeface="SFRM1095"/>
              </a:rPr>
              <a:t>$</a:t>
            </a:r>
            <a:r>
              <a:rPr lang="en-US" dirty="0">
                <a:effectLst/>
                <a:latin typeface="CMR10"/>
              </a:rPr>
              <a:t>t0, </a:t>
            </a:r>
            <a:r>
              <a:rPr lang="en-US" dirty="0">
                <a:effectLst/>
                <a:latin typeface="SFRM1095"/>
              </a:rPr>
              <a:t>$</a:t>
            </a:r>
            <a:r>
              <a:rPr lang="en-US" dirty="0">
                <a:effectLst/>
                <a:latin typeface="CMR10"/>
              </a:rPr>
              <a:t>t1 // else $t0 = sum of odd numbers &lt; n</a:t>
            </a:r>
          </a:p>
          <a:p>
            <a:pPr marL="0" indent="0">
              <a:buNone/>
            </a:pPr>
            <a:r>
              <a:rPr lang="en-US" dirty="0">
                <a:effectLst/>
                <a:latin typeface="CMR10"/>
              </a:rPr>
              <a:t>            </a:t>
            </a:r>
            <a:r>
              <a:rPr lang="en-US" dirty="0" err="1">
                <a:effectLst/>
                <a:latin typeface="CMR10"/>
              </a:rPr>
              <a:t>addi</a:t>
            </a:r>
            <a:r>
              <a:rPr lang="en-US" dirty="0">
                <a:effectLst/>
                <a:latin typeface="CMR10"/>
              </a:rPr>
              <a:t> </a:t>
            </a:r>
            <a:r>
              <a:rPr lang="en-US" dirty="0">
                <a:effectLst/>
                <a:latin typeface="SFRM1095"/>
              </a:rPr>
              <a:t>$</a:t>
            </a:r>
            <a:r>
              <a:rPr lang="en-US" dirty="0">
                <a:effectLst/>
                <a:latin typeface="CMR10"/>
              </a:rPr>
              <a:t>t1, </a:t>
            </a:r>
            <a:r>
              <a:rPr lang="en-US" dirty="0">
                <a:effectLst/>
                <a:latin typeface="SFRM1095"/>
              </a:rPr>
              <a:t>$</a:t>
            </a:r>
            <a:r>
              <a:rPr lang="en-US" dirty="0">
                <a:effectLst/>
                <a:latin typeface="CMR10"/>
              </a:rPr>
              <a:t>t1, 2 // increment $t1 by 2</a:t>
            </a:r>
            <a:br>
              <a:rPr lang="en-US" dirty="0">
                <a:effectLst/>
                <a:latin typeface="CMR10"/>
              </a:rPr>
            </a:br>
            <a:r>
              <a:rPr lang="en-US" dirty="0">
                <a:effectLst/>
                <a:latin typeface="CMR10"/>
              </a:rPr>
              <a:t>            j loop  // repeat loop</a:t>
            </a:r>
            <a:endParaRPr lang="en-US" sz="3200" dirty="0"/>
          </a:p>
          <a:p>
            <a:pPr marL="0" indent="0">
              <a:buNone/>
            </a:pPr>
            <a:r>
              <a:rPr lang="en-US" dirty="0">
                <a:effectLst/>
                <a:latin typeface="CMR10"/>
              </a:rPr>
              <a:t>finish: add </a:t>
            </a:r>
            <a:r>
              <a:rPr lang="en-US" dirty="0">
                <a:effectLst/>
                <a:latin typeface="SFRM1095"/>
              </a:rPr>
              <a:t>$</a:t>
            </a:r>
            <a:r>
              <a:rPr lang="en-US" dirty="0">
                <a:effectLst/>
                <a:latin typeface="CMR10"/>
              </a:rPr>
              <a:t>v0, </a:t>
            </a:r>
            <a:r>
              <a:rPr lang="en-US" dirty="0">
                <a:effectLst/>
                <a:latin typeface="SFRM1095"/>
              </a:rPr>
              <a:t>$</a:t>
            </a:r>
            <a:r>
              <a:rPr lang="en-US" dirty="0">
                <a:effectLst/>
                <a:latin typeface="CMR10"/>
              </a:rPr>
              <a:t>t0, </a:t>
            </a:r>
            <a:r>
              <a:rPr lang="en-US" dirty="0">
                <a:effectLst/>
                <a:latin typeface="SFRM1095"/>
              </a:rPr>
              <a:t>$</a:t>
            </a:r>
            <a:r>
              <a:rPr lang="en-US" dirty="0">
                <a:effectLst/>
                <a:latin typeface="CMR10"/>
              </a:rPr>
              <a:t>zero   // return $t0 in $v0</a:t>
            </a:r>
            <a:endParaRPr lang="en-US" sz="3200" dirty="0"/>
          </a:p>
          <a:p>
            <a:endParaRPr lang="en-US" dirty="0"/>
          </a:p>
        </p:txBody>
      </p:sp>
      <p:sp>
        <p:nvSpPr>
          <p:cNvPr id="5" name="TextBox 4">
            <a:extLst>
              <a:ext uri="{FF2B5EF4-FFF2-40B4-BE49-F238E27FC236}">
                <a16:creationId xmlns:a16="http://schemas.microsoft.com/office/drawing/2014/main" id="{831FE3EE-7ABE-B241-81C0-5BC49D9D6984}"/>
              </a:ext>
            </a:extLst>
          </p:cNvPr>
          <p:cNvSpPr txBox="1"/>
          <p:nvPr/>
        </p:nvSpPr>
        <p:spPr>
          <a:xfrm>
            <a:off x="609600" y="2971800"/>
            <a:ext cx="4688958" cy="369332"/>
          </a:xfrm>
          <a:prstGeom prst="rect">
            <a:avLst/>
          </a:prstGeom>
          <a:noFill/>
        </p:spPr>
        <p:txBody>
          <a:bodyPr wrap="square">
            <a:spAutoFit/>
          </a:bodyPr>
          <a:lstStyle/>
          <a:p>
            <a:pPr marL="0" indent="0">
              <a:buNone/>
            </a:pPr>
            <a:r>
              <a:rPr lang="en-US" dirty="0">
                <a:solidFill>
                  <a:srgbClr val="FF0000"/>
                </a:solidFill>
              </a:rPr>
              <a:t>1 + 3 + 5 + ... + n (or n – 1 if n is even)</a:t>
            </a:r>
          </a:p>
        </p:txBody>
      </p:sp>
      <p:sp>
        <p:nvSpPr>
          <p:cNvPr id="6" name="TextBox 5">
            <a:extLst>
              <a:ext uri="{FF2B5EF4-FFF2-40B4-BE49-F238E27FC236}">
                <a16:creationId xmlns:a16="http://schemas.microsoft.com/office/drawing/2014/main" id="{AB771120-B97B-6B44-934C-F559FBE863EE}"/>
              </a:ext>
            </a:extLst>
          </p:cNvPr>
          <p:cNvSpPr txBox="1"/>
          <p:nvPr/>
        </p:nvSpPr>
        <p:spPr>
          <a:xfrm>
            <a:off x="6858000" y="3105834"/>
            <a:ext cx="2174358" cy="646331"/>
          </a:xfrm>
          <a:prstGeom prst="rect">
            <a:avLst/>
          </a:prstGeom>
          <a:noFill/>
        </p:spPr>
        <p:txBody>
          <a:bodyPr wrap="square">
            <a:spAutoFit/>
          </a:bodyPr>
          <a:lstStyle/>
          <a:p>
            <a:pPr marL="0" indent="0">
              <a:buNone/>
            </a:pPr>
            <a:r>
              <a:rPr lang="en-US" dirty="0">
                <a:solidFill>
                  <a:srgbClr val="FF0000"/>
                </a:solidFill>
              </a:rPr>
              <a:t>1 + 3 + 5 + 7 + 9 = 25</a:t>
            </a:r>
          </a:p>
        </p:txBody>
      </p:sp>
    </p:spTree>
    <p:extLst>
      <p:ext uri="{BB962C8B-B14F-4D97-AF65-F5344CB8AC3E}">
        <p14:creationId xmlns:p14="http://schemas.microsoft.com/office/powerpoint/2010/main" val="1002297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6C666-8599-A447-A75C-C58E360D2DF1}"/>
              </a:ext>
            </a:extLst>
          </p:cNvPr>
          <p:cNvSpPr>
            <a:spLocks noGrp="1"/>
          </p:cNvSpPr>
          <p:nvPr>
            <p:ph type="title"/>
          </p:nvPr>
        </p:nvSpPr>
        <p:spPr/>
        <p:txBody>
          <a:bodyPr/>
          <a:lstStyle/>
          <a:p>
            <a:r>
              <a:rPr lang="en-US" dirty="0"/>
              <a:t>Further Study…</a:t>
            </a:r>
          </a:p>
        </p:txBody>
      </p:sp>
      <p:sp>
        <p:nvSpPr>
          <p:cNvPr id="3" name="Content Placeholder 2">
            <a:extLst>
              <a:ext uri="{FF2B5EF4-FFF2-40B4-BE49-F238E27FC236}">
                <a16:creationId xmlns:a16="http://schemas.microsoft.com/office/drawing/2014/main" id="{9ABB3C39-8EC0-0C4D-B927-F90CDC72867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394702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5099AE36-BADD-6343-A997-927AFC6FF54A}"/>
              </a:ext>
            </a:extLst>
          </p:cNvPr>
          <p:cNvSpPr>
            <a:spLocks noGrp="1" noChangeArrowheads="1"/>
          </p:cNvSpPr>
          <p:nvPr>
            <p:ph type="title"/>
          </p:nvPr>
        </p:nvSpPr>
        <p:spPr/>
        <p:txBody>
          <a:bodyPr/>
          <a:lstStyle/>
          <a:p>
            <a:r>
              <a:rPr lang="en-US" altLang="en-US"/>
              <a:t>Using Condition Code in a Branch</a:t>
            </a:r>
          </a:p>
        </p:txBody>
      </p:sp>
      <p:sp>
        <p:nvSpPr>
          <p:cNvPr id="74755" name="Rectangle 3">
            <a:extLst>
              <a:ext uri="{FF2B5EF4-FFF2-40B4-BE49-F238E27FC236}">
                <a16:creationId xmlns:a16="http://schemas.microsoft.com/office/drawing/2014/main" id="{94020FAF-4FEF-1643-A421-CEA9D4F68982}"/>
              </a:ext>
            </a:extLst>
          </p:cNvPr>
          <p:cNvSpPr>
            <a:spLocks noGrp="1" noChangeArrowheads="1"/>
          </p:cNvSpPr>
          <p:nvPr>
            <p:ph type="body" idx="1"/>
          </p:nvPr>
        </p:nvSpPr>
        <p:spPr/>
        <p:txBody>
          <a:bodyPr/>
          <a:lstStyle/>
          <a:p>
            <a:r>
              <a:rPr lang="en-US" altLang="en-US" sz="2400"/>
              <a:t>Special instruction: compare</a:t>
            </a:r>
          </a:p>
          <a:p>
            <a:pPr lvl="2">
              <a:buFont typeface="Monotype Sorts" pitchFamily="2" charset="2"/>
              <a:buNone/>
            </a:pPr>
            <a:r>
              <a:rPr lang="en-US" altLang="en-US">
                <a:latin typeface="Courier New" panose="02070309020205020404" pitchFamily="49" charset="0"/>
              </a:rPr>
              <a:t>CMP SRC1,SRC2	; </a:t>
            </a:r>
            <a:r>
              <a:rPr lang="en-US" altLang="en-US"/>
              <a:t>set  (</a:t>
            </a:r>
            <a:r>
              <a:rPr lang="en-US" altLang="ja-JP"/>
              <a:t>Z,O,C,S) based on SRC1-SRC2</a:t>
            </a:r>
          </a:p>
          <a:p>
            <a:r>
              <a:rPr lang="en-US" altLang="en-US" sz="2400"/>
              <a:t>Example</a:t>
            </a:r>
          </a:p>
          <a:p>
            <a:pPr lvl="2">
              <a:buFont typeface="Monotype Sorts" pitchFamily="2" charset="2"/>
              <a:buNone/>
            </a:pPr>
            <a:r>
              <a:rPr lang="en-US" altLang="en-US">
                <a:latin typeface="Courier New" panose="02070309020205020404" pitchFamily="49" charset="0"/>
              </a:rPr>
              <a:t>for (i=0; i&lt;10; i++)</a:t>
            </a:r>
          </a:p>
          <a:p>
            <a:pPr lvl="2">
              <a:buFont typeface="Monotype Sorts" pitchFamily="2" charset="2"/>
              <a:buNone/>
            </a:pPr>
            <a:r>
              <a:rPr lang="en-US" altLang="en-US">
                <a:latin typeface="Courier New" panose="02070309020205020404" pitchFamily="49" charset="0"/>
              </a:rPr>
              <a:t>   a[i]++;</a:t>
            </a:r>
          </a:p>
          <a:p>
            <a:pPr lvl="1">
              <a:buFont typeface="Monotype Sorts" pitchFamily="2" charset="2"/>
              <a:buNone/>
            </a:pPr>
            <a:r>
              <a:rPr lang="en-US" altLang="en-US" sz="2000">
                <a:latin typeface="Courier New" panose="02070309020205020404" pitchFamily="49" charset="0"/>
              </a:rPr>
              <a:t>			MOV EAX,0	; EAX = i = 0</a:t>
            </a:r>
          </a:p>
          <a:p>
            <a:pPr lvl="1">
              <a:buFont typeface="Monotype Sorts" pitchFamily="2" charset="2"/>
              <a:buNone/>
            </a:pPr>
            <a:r>
              <a:rPr lang="en-US" altLang="en-US" sz="2000">
                <a:latin typeface="Courier New" panose="02070309020205020404" pitchFamily="49" charset="0"/>
              </a:rPr>
              <a:t>_L:	CMP EAX,10	; </a:t>
            </a:r>
            <a:r>
              <a:rPr lang="en-US" altLang="en-US" sz="2000">
                <a:solidFill>
                  <a:srgbClr val="FF0000"/>
                </a:solidFill>
                <a:latin typeface="Courier New" panose="02070309020205020404" pitchFamily="49" charset="0"/>
              </a:rPr>
              <a:t>performs EAX-10, set CC’s</a:t>
            </a:r>
          </a:p>
          <a:p>
            <a:pPr lvl="1">
              <a:buFont typeface="Monotype Sorts" pitchFamily="2" charset="2"/>
              <a:buNone/>
            </a:pPr>
            <a:r>
              <a:rPr lang="en-US" altLang="en-US" sz="2000">
                <a:latin typeface="Courier New" panose="02070309020205020404" pitchFamily="49" charset="0"/>
              </a:rPr>
              <a:t>			JNL _EXIT	; </a:t>
            </a:r>
            <a:r>
              <a:rPr lang="en-US" altLang="en-US" sz="2000">
                <a:solidFill>
                  <a:srgbClr val="FF0000"/>
                </a:solidFill>
                <a:latin typeface="Courier New" panose="02070309020205020404" pitchFamily="49" charset="0"/>
              </a:rPr>
              <a:t>jump if not less to _EXIT</a:t>
            </a:r>
          </a:p>
          <a:p>
            <a:pPr lvl="1">
              <a:buFont typeface="Monotype Sorts" pitchFamily="2" charset="2"/>
              <a:buNone/>
            </a:pPr>
            <a:r>
              <a:rPr lang="en-US" altLang="en-US" sz="2000">
                <a:latin typeface="Courier New" panose="02070309020205020404" pitchFamily="49" charset="0"/>
              </a:rPr>
              <a:t>			INC [EBX]	; Mem[EBX](=a[i])++</a:t>
            </a:r>
          </a:p>
          <a:p>
            <a:pPr lvl="1">
              <a:buFont typeface="Monotype Sorts" pitchFamily="2" charset="2"/>
              <a:buNone/>
            </a:pPr>
            <a:r>
              <a:rPr lang="en-US" altLang="en-US" sz="2000">
                <a:latin typeface="Courier New" panose="02070309020205020404" pitchFamily="49" charset="0"/>
              </a:rPr>
              <a:t>			ADD EBX,4	; EBX = &amp;a[i+1]</a:t>
            </a:r>
          </a:p>
          <a:p>
            <a:pPr lvl="1">
              <a:buFont typeface="Monotype Sorts" pitchFamily="2" charset="2"/>
              <a:buNone/>
            </a:pPr>
            <a:r>
              <a:rPr lang="en-US" altLang="en-US" sz="2000">
                <a:latin typeface="Courier New" panose="02070309020205020404" pitchFamily="49" charset="0"/>
              </a:rPr>
              <a:t>			INC EAX	; EAX++</a:t>
            </a:r>
          </a:p>
          <a:p>
            <a:pPr lvl="1">
              <a:buFont typeface="Monotype Sorts" pitchFamily="2" charset="2"/>
              <a:buNone/>
            </a:pPr>
            <a:r>
              <a:rPr lang="en-US" altLang="en-US" sz="2000">
                <a:latin typeface="Courier New" panose="02070309020205020404" pitchFamily="49" charset="0"/>
              </a:rPr>
              <a:t>			JMP _L	; goto _L</a:t>
            </a:r>
          </a:p>
          <a:p>
            <a:pPr lvl="1">
              <a:buFont typeface="Monotype Sorts" pitchFamily="2" charset="2"/>
              <a:buNone/>
            </a:pPr>
            <a:r>
              <a:rPr lang="en-US" altLang="en-US" sz="2000">
                <a:latin typeface="Courier New" panose="02070309020205020404" pitchFamily="49" charset="0"/>
              </a:rPr>
              <a:t>_EXIT:	...</a:t>
            </a:r>
            <a:endParaRPr lang="en-US" altLang="en-US" sz="2000"/>
          </a:p>
        </p:txBody>
      </p:sp>
      <p:sp>
        <p:nvSpPr>
          <p:cNvPr id="74756" name="TextBox 5">
            <a:extLst>
              <a:ext uri="{FF2B5EF4-FFF2-40B4-BE49-F238E27FC236}">
                <a16:creationId xmlns:a16="http://schemas.microsoft.com/office/drawing/2014/main" id="{B72BBB56-B0B6-D644-8C75-BFC81D1FDEC8}"/>
              </a:ext>
            </a:extLst>
          </p:cNvPr>
          <p:cNvSpPr txBox="1">
            <a:spLocks noChangeArrowheads="1"/>
          </p:cNvSpPr>
          <p:nvPr/>
        </p:nvSpPr>
        <p:spPr bwMode="auto">
          <a:xfrm>
            <a:off x="7823200" y="6596063"/>
            <a:ext cx="13208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a:solidFill>
                  <a:schemeClr val="tx1"/>
                </a:solidFill>
                <a:latin typeface="Times New Roman" panose="02020603050405020304" pitchFamily="18" charset="0"/>
              </a:rPr>
              <a:t>Source:Corporaal05</a:t>
            </a:r>
          </a:p>
        </p:txBody>
      </p:sp>
    </p:spTree>
    <p:extLst>
      <p:ext uri="{BB962C8B-B14F-4D97-AF65-F5344CB8AC3E}">
        <p14:creationId xmlns:p14="http://schemas.microsoft.com/office/powerpoint/2010/main" val="5360851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6">
            <a:extLst>
              <a:ext uri="{FF2B5EF4-FFF2-40B4-BE49-F238E27FC236}">
                <a16:creationId xmlns:a16="http://schemas.microsoft.com/office/drawing/2014/main" id="{5E732408-AB22-6848-AE0B-C9F99A6D5643}"/>
              </a:ext>
            </a:extLst>
          </p:cNvPr>
          <p:cNvSpPr>
            <a:spLocks noGrp="1" noChangeArrowheads="1"/>
          </p:cNvSpPr>
          <p:nvPr>
            <p:ph type="title"/>
          </p:nvPr>
        </p:nvSpPr>
        <p:spPr/>
        <p:txBody>
          <a:bodyPr/>
          <a:lstStyle/>
          <a:p>
            <a:r>
              <a:rPr lang="en-US" altLang="en-US"/>
              <a:t>Example of Adding Vectors</a:t>
            </a:r>
          </a:p>
        </p:txBody>
      </p:sp>
      <p:sp>
        <p:nvSpPr>
          <p:cNvPr id="79875" name="Slide Number Placeholder 5">
            <a:extLst>
              <a:ext uri="{FF2B5EF4-FFF2-40B4-BE49-F238E27FC236}">
                <a16:creationId xmlns:a16="http://schemas.microsoft.com/office/drawing/2014/main" id="{A8450977-A438-B447-9B94-D400BF7E2FBA}"/>
              </a:ext>
            </a:extLst>
          </p:cNvPr>
          <p:cNvSpPr>
            <a:spLocks noGrp="1" noChangeArrowheads="1"/>
          </p:cNvSpPr>
          <p:nvPr>
            <p:ph type="sldNum" sz="quarter" idx="4294967295"/>
          </p:nvPr>
        </p:nvSpPr>
        <p:spPr bwMode="auto">
          <a:xfrm>
            <a:off x="8305800" y="6324600"/>
            <a:ext cx="4572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1363" indent="-284163">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r" eaLnBrk="1" hangingPunct="1">
              <a:spcBef>
                <a:spcPct val="0"/>
              </a:spcBef>
              <a:buClrTx/>
              <a:buSzTx/>
              <a:buFontTx/>
              <a:buNone/>
            </a:pPr>
            <a:fld id="{4C77733D-A160-B349-92A5-B09E5F686FFA}" type="slidenum">
              <a:rPr lang="en-US" altLang="en-US" sz="1400">
                <a:solidFill>
                  <a:schemeClr val="tx1"/>
                </a:solidFill>
                <a:latin typeface="Times New Roman" panose="02020603050405020304" pitchFamily="18" charset="0"/>
              </a:rPr>
              <a:pPr algn="r" eaLnBrk="1" hangingPunct="1">
                <a:spcBef>
                  <a:spcPct val="0"/>
                </a:spcBef>
                <a:buClrTx/>
                <a:buSzTx/>
                <a:buFontTx/>
                <a:buNone/>
              </a:pPr>
              <a:t>58</a:t>
            </a:fld>
            <a:endParaRPr lang="en-US" altLang="en-US" sz="1400">
              <a:solidFill>
                <a:schemeClr val="tx1"/>
              </a:solidFill>
              <a:latin typeface="Times New Roman" panose="02020603050405020304" pitchFamily="18" charset="0"/>
            </a:endParaRPr>
          </a:p>
        </p:txBody>
      </p:sp>
      <p:sp>
        <p:nvSpPr>
          <p:cNvPr id="79876" name="TextBox 1">
            <a:extLst>
              <a:ext uri="{FF2B5EF4-FFF2-40B4-BE49-F238E27FC236}">
                <a16:creationId xmlns:a16="http://schemas.microsoft.com/office/drawing/2014/main" id="{83503200-CA8D-934C-8E1C-4234D24FA458}"/>
              </a:ext>
            </a:extLst>
          </p:cNvPr>
          <p:cNvSpPr txBox="1">
            <a:spLocks noChangeArrowheads="1"/>
          </p:cNvSpPr>
          <p:nvPr/>
        </p:nvSpPr>
        <p:spPr bwMode="auto">
          <a:xfrm>
            <a:off x="152400" y="1219200"/>
            <a:ext cx="8915400"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Courier New" panose="02070309020205020404" pitchFamily="49" charset="0"/>
              </a:rPr>
              <a:t>// A 16byte = 128bit vector struct</a:t>
            </a:r>
          </a:p>
          <a:p>
            <a:pPr>
              <a:spcBef>
                <a:spcPct val="0"/>
              </a:spcBef>
              <a:buClrTx/>
              <a:buSzTx/>
              <a:buFontTx/>
              <a:buNone/>
            </a:pPr>
            <a:r>
              <a:rPr lang="en-US" altLang="en-US" sz="1400">
                <a:latin typeface="Courier New" panose="02070309020205020404" pitchFamily="49" charset="0"/>
              </a:rPr>
              <a:t>struct Vector4</a:t>
            </a:r>
          </a:p>
          <a:p>
            <a:pPr>
              <a:spcBef>
                <a:spcPct val="0"/>
              </a:spcBef>
              <a:buClrTx/>
              <a:buSzTx/>
              <a:buFontTx/>
              <a:buNone/>
            </a:pPr>
            <a:r>
              <a:rPr lang="en-US" altLang="en-US" sz="1400">
                <a:latin typeface="Courier New" panose="02070309020205020404" pitchFamily="49" charset="0"/>
              </a:rPr>
              <a:t>{    </a:t>
            </a:r>
          </a:p>
          <a:p>
            <a:pPr>
              <a:spcBef>
                <a:spcPct val="0"/>
              </a:spcBef>
              <a:buClrTx/>
              <a:buSzTx/>
              <a:buFontTx/>
              <a:buNone/>
            </a:pPr>
            <a:r>
              <a:rPr lang="en-US" altLang="en-US" sz="1400">
                <a:latin typeface="Courier New" panose="02070309020205020404" pitchFamily="49" charset="0"/>
              </a:rPr>
              <a:t>        float x, y, z, w;        </a:t>
            </a:r>
          </a:p>
          <a:p>
            <a:pPr>
              <a:spcBef>
                <a:spcPct val="0"/>
              </a:spcBef>
              <a:buClrTx/>
              <a:buSzTx/>
              <a:buFontTx/>
              <a:buNone/>
            </a:pPr>
            <a:r>
              <a:rPr lang="en-US" altLang="en-US" sz="1400">
                <a:latin typeface="Courier New" panose="02070309020205020404" pitchFamily="49" charset="0"/>
              </a:rPr>
              <a:t>};</a:t>
            </a:r>
          </a:p>
          <a:p>
            <a:pPr>
              <a:spcBef>
                <a:spcPct val="0"/>
              </a:spcBef>
              <a:buClrTx/>
              <a:buSzTx/>
              <a:buFontTx/>
              <a:buNone/>
            </a:pPr>
            <a:endParaRPr lang="en-US" altLang="en-US" sz="1400">
              <a:latin typeface="Courier New" panose="02070309020205020404" pitchFamily="49" charset="0"/>
            </a:endParaRPr>
          </a:p>
          <a:p>
            <a:pPr>
              <a:spcBef>
                <a:spcPct val="0"/>
              </a:spcBef>
              <a:buClrTx/>
              <a:buSzTx/>
              <a:buFontTx/>
              <a:buNone/>
            </a:pPr>
            <a:r>
              <a:rPr lang="en-US" altLang="en-US" sz="1400">
                <a:latin typeface="Courier New" panose="02070309020205020404" pitchFamily="49" charset="0"/>
              </a:rPr>
              <a:t>// Add two constant vectors and return the resulting vector</a:t>
            </a:r>
          </a:p>
          <a:p>
            <a:pPr>
              <a:spcBef>
                <a:spcPct val="0"/>
              </a:spcBef>
              <a:buClrTx/>
              <a:buSzTx/>
              <a:buFontTx/>
              <a:buNone/>
            </a:pPr>
            <a:r>
              <a:rPr lang="en-US" altLang="en-US" sz="1400">
                <a:latin typeface="Courier New" panose="02070309020205020404" pitchFamily="49" charset="0"/>
              </a:rPr>
              <a:t>Vector4 SSE_Add ( const Vector4 &amp;Op_A, const Vector4 &amp;Op_B )</a:t>
            </a:r>
          </a:p>
          <a:p>
            <a:pPr>
              <a:spcBef>
                <a:spcPct val="0"/>
              </a:spcBef>
              <a:buClrTx/>
              <a:buSzTx/>
              <a:buFontTx/>
              <a:buNone/>
            </a:pPr>
            <a:r>
              <a:rPr lang="en-US" altLang="en-US" sz="1400">
                <a:latin typeface="Courier New" panose="02070309020205020404" pitchFamily="49" charset="0"/>
              </a:rPr>
              <a:t>{</a:t>
            </a:r>
          </a:p>
          <a:p>
            <a:pPr>
              <a:spcBef>
                <a:spcPct val="0"/>
              </a:spcBef>
              <a:buClrTx/>
              <a:buSzTx/>
              <a:buFontTx/>
              <a:buNone/>
            </a:pPr>
            <a:r>
              <a:rPr lang="en-US" altLang="en-US" sz="1400">
                <a:latin typeface="Courier New" panose="02070309020205020404" pitchFamily="49" charset="0"/>
              </a:rPr>
              <a:t>        Vector4 Ret_Vector;</a:t>
            </a:r>
          </a:p>
          <a:p>
            <a:pPr>
              <a:spcBef>
                <a:spcPct val="0"/>
              </a:spcBef>
              <a:buClrTx/>
              <a:buSzTx/>
              <a:buFontTx/>
              <a:buNone/>
            </a:pPr>
            <a:r>
              <a:rPr lang="en-US" altLang="en-US" sz="1400">
                <a:latin typeface="Courier New" panose="02070309020205020404" pitchFamily="49" charset="0"/>
              </a:rPr>
              <a:t>        __asm </a:t>
            </a:r>
          </a:p>
          <a:p>
            <a:pPr>
              <a:spcBef>
                <a:spcPct val="0"/>
              </a:spcBef>
              <a:buClrTx/>
              <a:buSzTx/>
              <a:buFontTx/>
              <a:buNone/>
            </a:pPr>
            <a:r>
              <a:rPr lang="en-US" altLang="en-US" sz="1400">
                <a:latin typeface="Courier New" panose="02070309020205020404" pitchFamily="49" charset="0"/>
              </a:rPr>
              <a:t>        {        </a:t>
            </a:r>
          </a:p>
          <a:p>
            <a:pPr>
              <a:spcBef>
                <a:spcPct val="0"/>
              </a:spcBef>
              <a:buClrTx/>
              <a:buSzTx/>
              <a:buFontTx/>
              <a:buNone/>
            </a:pPr>
            <a:r>
              <a:rPr lang="en-US" altLang="en-US" sz="1400">
                <a:latin typeface="Courier New" panose="02070309020205020404" pitchFamily="49" charset="0"/>
              </a:rPr>
              <a:t>                MOV EAX Op_A               // Load pointers into CPU regs</a:t>
            </a:r>
          </a:p>
          <a:p>
            <a:pPr>
              <a:spcBef>
                <a:spcPct val="0"/>
              </a:spcBef>
              <a:buClrTx/>
              <a:buSzTx/>
              <a:buFontTx/>
              <a:buNone/>
            </a:pPr>
            <a:r>
              <a:rPr lang="en-US" altLang="en-US" sz="1400">
                <a:latin typeface="Courier New" panose="02070309020205020404" pitchFamily="49" charset="0"/>
              </a:rPr>
              <a:t>                MOV EBX, Op_B</a:t>
            </a:r>
          </a:p>
          <a:p>
            <a:pPr>
              <a:spcBef>
                <a:spcPct val="0"/>
              </a:spcBef>
              <a:buClrTx/>
              <a:buSzTx/>
              <a:buFontTx/>
              <a:buNone/>
            </a:pPr>
            <a:r>
              <a:rPr lang="en-US" altLang="en-US" sz="1400">
                <a:latin typeface="Courier New" panose="02070309020205020404" pitchFamily="49" charset="0"/>
              </a:rPr>
              <a:t>                MOVUPS XMM0, [EAX]         // Move unaligned vectors to SSE regs</a:t>
            </a:r>
          </a:p>
          <a:p>
            <a:pPr>
              <a:spcBef>
                <a:spcPct val="0"/>
              </a:spcBef>
              <a:buClrTx/>
              <a:buSzTx/>
              <a:buFontTx/>
              <a:buNone/>
            </a:pPr>
            <a:r>
              <a:rPr lang="en-US" altLang="en-US" sz="1400">
                <a:latin typeface="Courier New" panose="02070309020205020404" pitchFamily="49" charset="0"/>
              </a:rPr>
              <a:t>                MOVUPS XMM1, [EBX]</a:t>
            </a:r>
          </a:p>
          <a:p>
            <a:pPr>
              <a:spcBef>
                <a:spcPct val="0"/>
              </a:spcBef>
              <a:buClrTx/>
              <a:buSzTx/>
              <a:buFontTx/>
              <a:buNone/>
            </a:pPr>
            <a:r>
              <a:rPr lang="en-US" altLang="en-US" sz="1400">
                <a:latin typeface="Courier New" panose="02070309020205020404" pitchFamily="49" charset="0"/>
              </a:rPr>
              <a:t>                ADDPS XMM0, XMM1           // Add vector elements</a:t>
            </a:r>
          </a:p>
          <a:p>
            <a:pPr>
              <a:spcBef>
                <a:spcPct val="0"/>
              </a:spcBef>
              <a:buClrTx/>
              <a:buSzTx/>
              <a:buFontTx/>
              <a:buNone/>
            </a:pPr>
            <a:r>
              <a:rPr lang="en-US" altLang="en-US" sz="1400">
                <a:latin typeface="Courier New" panose="02070309020205020404" pitchFamily="49" charset="0"/>
              </a:rPr>
              <a:t>                MOVUPS [Ret_Vector], XMM0  // Save the return vector</a:t>
            </a:r>
          </a:p>
          <a:p>
            <a:pPr>
              <a:spcBef>
                <a:spcPct val="0"/>
              </a:spcBef>
              <a:buClrTx/>
              <a:buSzTx/>
              <a:buFontTx/>
              <a:buNone/>
            </a:pPr>
            <a:r>
              <a:rPr lang="en-US" altLang="en-US" sz="1400">
                <a:latin typeface="Courier New" panose="02070309020205020404" pitchFamily="49" charset="0"/>
              </a:rPr>
              <a:t>        }</a:t>
            </a:r>
          </a:p>
          <a:p>
            <a:pPr>
              <a:spcBef>
                <a:spcPct val="0"/>
              </a:spcBef>
              <a:buClrTx/>
              <a:buSzTx/>
              <a:buFontTx/>
              <a:buNone/>
            </a:pPr>
            <a:r>
              <a:rPr lang="en-US" altLang="en-US" sz="1400">
                <a:latin typeface="Courier New" panose="02070309020205020404" pitchFamily="49" charset="0"/>
              </a:rPr>
              <a:t>        return Ret_Vector;</a:t>
            </a:r>
          </a:p>
          <a:p>
            <a:pPr>
              <a:spcBef>
                <a:spcPct val="0"/>
              </a:spcBef>
              <a:buClrTx/>
              <a:buSzTx/>
              <a:buFontTx/>
              <a:buNone/>
            </a:pPr>
            <a:r>
              <a:rPr lang="en-US" altLang="en-US" sz="1400">
                <a:latin typeface="Courier New" panose="02070309020205020404" pitchFamily="49" charset="0"/>
              </a:rPr>
              <a:t>}</a:t>
            </a:r>
          </a:p>
        </p:txBody>
      </p:sp>
    </p:spTree>
    <p:extLst>
      <p:ext uri="{BB962C8B-B14F-4D97-AF65-F5344CB8AC3E}">
        <p14:creationId xmlns:p14="http://schemas.microsoft.com/office/powerpoint/2010/main" val="40147746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FF8A3F1F-2217-B143-94FA-7A62DBC09A00}"/>
              </a:ext>
            </a:extLst>
          </p:cNvPr>
          <p:cNvSpPr>
            <a:spLocks noGrp="1" noChangeArrowheads="1"/>
          </p:cNvSpPr>
          <p:nvPr>
            <p:ph type="title"/>
          </p:nvPr>
        </p:nvSpPr>
        <p:spPr/>
        <p:txBody>
          <a:bodyPr/>
          <a:lstStyle/>
          <a:p>
            <a:r>
              <a:rPr lang="en-US" altLang="en-US"/>
              <a:t>Example of SSE</a:t>
            </a:r>
          </a:p>
        </p:txBody>
      </p:sp>
      <p:pic>
        <p:nvPicPr>
          <p:cNvPr id="78851" name="Content Placeholder 5">
            <a:extLst>
              <a:ext uri="{FF2B5EF4-FFF2-40B4-BE49-F238E27FC236}">
                <a16:creationId xmlns:a16="http://schemas.microsoft.com/office/drawing/2014/main" id="{D7B78BC0-62FC-EF41-80E9-F31856E61EA3}"/>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t="-55104" b="-55104"/>
          <a:stretch>
            <a:fillRect/>
          </a:stretch>
        </p:blipFill>
        <p:spPr>
          <a:xfrm>
            <a:off x="533400" y="533400"/>
            <a:ext cx="4114800" cy="4805363"/>
          </a:xfrm>
        </p:spPr>
      </p:pic>
      <p:sp>
        <p:nvSpPr>
          <p:cNvPr id="8" name="Content Placeholder 7">
            <a:extLst>
              <a:ext uri="{FF2B5EF4-FFF2-40B4-BE49-F238E27FC236}">
                <a16:creationId xmlns:a16="http://schemas.microsoft.com/office/drawing/2014/main" id="{96DAF8EC-47F4-0A41-B6AF-9B52D4198017}"/>
              </a:ext>
            </a:extLst>
          </p:cNvPr>
          <p:cNvSpPr>
            <a:spLocks noGrp="1"/>
          </p:cNvSpPr>
          <p:nvPr>
            <p:ph sz="half" idx="2"/>
          </p:nvPr>
        </p:nvSpPr>
        <p:spPr>
          <a:xfrm>
            <a:off x="4648200" y="911352"/>
            <a:ext cx="4038600" cy="4718304"/>
          </a:xfrm>
        </p:spPr>
        <p:txBody>
          <a:bodyPr>
            <a:normAutofit lnSpcReduction="10000"/>
          </a:bodyPr>
          <a:lstStyle/>
          <a:p>
            <a:pPr marL="0" indent="0">
              <a:buFont typeface="Wingdings" pitchFamily="2" charset="2"/>
              <a:buNone/>
            </a:pPr>
            <a:endParaRPr lang="en-US" altLang="en-US" sz="1600" dirty="0"/>
          </a:p>
          <a:p>
            <a:pPr marL="0" indent="0">
              <a:buFont typeface="Wingdings" pitchFamily="2" charset="2"/>
              <a:buNone/>
            </a:pPr>
            <a:endParaRPr lang="en-US" altLang="en-US" sz="1600" dirty="0"/>
          </a:p>
          <a:p>
            <a:pPr marL="0" indent="0">
              <a:buFont typeface="Wingdings" pitchFamily="2" charset="2"/>
              <a:buNone/>
            </a:pPr>
            <a:r>
              <a:rPr lang="en-US" altLang="en-US" sz="1600" dirty="0"/>
              <a:t>Parallel        Scalar</a:t>
            </a:r>
          </a:p>
          <a:p>
            <a:pPr marL="0" indent="0">
              <a:buFont typeface="Wingdings" pitchFamily="2" charset="2"/>
              <a:buNone/>
            </a:pPr>
            <a:endParaRPr lang="en-US" altLang="en-US" sz="1600" dirty="0"/>
          </a:p>
          <a:p>
            <a:pPr marL="0" indent="0">
              <a:buFont typeface="Wingdings" pitchFamily="2" charset="2"/>
              <a:buNone/>
            </a:pPr>
            <a:r>
              <a:rPr lang="en-US" altLang="en-US" sz="1600" dirty="0"/>
              <a:t>ADDPS       ADDSS - Adds operands</a:t>
            </a:r>
          </a:p>
          <a:p>
            <a:pPr marL="0" indent="0">
              <a:buFont typeface="Wingdings" pitchFamily="2" charset="2"/>
              <a:buNone/>
            </a:pPr>
            <a:r>
              <a:rPr lang="en-US" altLang="en-US" sz="1600" dirty="0"/>
              <a:t>SUBPS        SUBSS - Subtracts operands</a:t>
            </a:r>
          </a:p>
          <a:p>
            <a:pPr marL="0" indent="0">
              <a:buFont typeface="Wingdings" pitchFamily="2" charset="2"/>
              <a:buNone/>
            </a:pPr>
            <a:r>
              <a:rPr lang="en-US" altLang="en-US" sz="1600" dirty="0"/>
              <a:t>MULPS       MULSS - </a:t>
            </a:r>
            <a:r>
              <a:rPr lang="en-US" altLang="en-US" sz="1600" dirty="0" err="1"/>
              <a:t>Multiplys</a:t>
            </a:r>
            <a:r>
              <a:rPr lang="en-US" altLang="en-US" sz="1600" dirty="0"/>
              <a:t> operands</a:t>
            </a:r>
          </a:p>
          <a:p>
            <a:pPr marL="0" indent="0">
              <a:buFont typeface="Wingdings" pitchFamily="2" charset="2"/>
              <a:buNone/>
            </a:pPr>
            <a:r>
              <a:rPr lang="en-US" altLang="en-US" sz="1600" dirty="0"/>
              <a:t>DIVPS         DIVSS - Divides operands</a:t>
            </a:r>
          </a:p>
          <a:p>
            <a:pPr marL="0" indent="0">
              <a:buFont typeface="Wingdings" pitchFamily="2" charset="2"/>
              <a:buNone/>
            </a:pPr>
            <a:r>
              <a:rPr lang="en-US" altLang="en-US" sz="1600" dirty="0"/>
              <a:t>SQRTPS      SQRTSS - Square root of operand</a:t>
            </a:r>
          </a:p>
          <a:p>
            <a:pPr marL="0" indent="0">
              <a:buFont typeface="Wingdings" pitchFamily="2" charset="2"/>
              <a:buNone/>
            </a:pPr>
            <a:r>
              <a:rPr lang="en-US" altLang="en-US" sz="1600" dirty="0"/>
              <a:t>MAXPS      MAXSS - Maximum of operands</a:t>
            </a:r>
          </a:p>
          <a:p>
            <a:pPr marL="0" indent="0">
              <a:buFont typeface="Wingdings" pitchFamily="2" charset="2"/>
              <a:buNone/>
            </a:pPr>
            <a:r>
              <a:rPr lang="en-US" altLang="en-US" sz="1600" dirty="0"/>
              <a:t>MINPS        MINSS - Minimum of operands</a:t>
            </a:r>
          </a:p>
          <a:p>
            <a:pPr marL="0" indent="0">
              <a:buFont typeface="Wingdings" pitchFamily="2" charset="2"/>
              <a:buNone/>
            </a:pPr>
            <a:r>
              <a:rPr lang="en-US" altLang="en-US" sz="1600" dirty="0"/>
              <a:t>RCPPS         RCPSS - </a:t>
            </a:r>
            <a:r>
              <a:rPr lang="en-US" altLang="en-US" sz="1600" dirty="0" err="1"/>
              <a:t>Reciprical</a:t>
            </a:r>
            <a:r>
              <a:rPr lang="en-US" altLang="en-US" sz="1600" dirty="0"/>
              <a:t> of operand</a:t>
            </a:r>
          </a:p>
          <a:p>
            <a:pPr marL="0" indent="0">
              <a:buFont typeface="Wingdings" pitchFamily="2" charset="2"/>
              <a:buNone/>
            </a:pPr>
            <a:r>
              <a:rPr lang="en-US" altLang="en-US" sz="1600" dirty="0"/>
              <a:t>RSQRTPS   RSQRTSS - </a:t>
            </a:r>
            <a:r>
              <a:rPr lang="en-US" altLang="en-US" sz="1600" dirty="0" err="1"/>
              <a:t>Reciprical</a:t>
            </a:r>
            <a:r>
              <a:rPr lang="en-US" altLang="en-US" sz="1600" dirty="0"/>
              <a:t> of square root of operand</a:t>
            </a:r>
            <a:endParaRPr lang="en-US" altLang="en-US" sz="1400" dirty="0"/>
          </a:p>
          <a:p>
            <a:pPr marL="0" indent="0">
              <a:buFont typeface="Wingdings" pitchFamily="2" charset="2"/>
              <a:buChar char="w"/>
            </a:pPr>
            <a:endParaRPr lang="en-US" altLang="en-US" sz="1400" dirty="0"/>
          </a:p>
        </p:txBody>
      </p:sp>
      <p:sp>
        <p:nvSpPr>
          <p:cNvPr id="78853" name="Slide Number Placeholder 4">
            <a:extLst>
              <a:ext uri="{FF2B5EF4-FFF2-40B4-BE49-F238E27FC236}">
                <a16:creationId xmlns:a16="http://schemas.microsoft.com/office/drawing/2014/main" id="{E5573EAE-A7BD-184A-BDEB-16AC9D756EDD}"/>
              </a:ext>
            </a:extLst>
          </p:cNvPr>
          <p:cNvSpPr>
            <a:spLocks noGrp="1" noChangeArrowheads="1"/>
          </p:cNvSpPr>
          <p:nvPr>
            <p:ph type="sldNum" sz="quarter" idx="4294967295"/>
          </p:nvPr>
        </p:nvSpPr>
        <p:spPr bwMode="auto">
          <a:xfrm>
            <a:off x="8305800" y="6324600"/>
            <a:ext cx="4572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ＭＳ Ｐゴシック" panose="020B0600070205080204" pitchFamily="34" charset="-128"/>
                <a:cs typeface="HG Mincho Light J" charset="0"/>
              </a:defRPr>
            </a:lvl1pPr>
            <a:lvl2pPr marL="741363" indent="-284163">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r" eaLnBrk="1" hangingPunct="1">
              <a:spcBef>
                <a:spcPct val="0"/>
              </a:spcBef>
              <a:buClrTx/>
              <a:buSzTx/>
              <a:buFontTx/>
              <a:buNone/>
            </a:pPr>
            <a:fld id="{866EA0D9-1F28-3F40-8453-6B79444547E3}" type="slidenum">
              <a:rPr lang="en-US" altLang="en-US" sz="1400">
                <a:solidFill>
                  <a:schemeClr val="tx1"/>
                </a:solidFill>
                <a:latin typeface="Times New Roman" panose="02020603050405020304" pitchFamily="18" charset="0"/>
              </a:rPr>
              <a:pPr algn="r" eaLnBrk="1" hangingPunct="1">
                <a:spcBef>
                  <a:spcPct val="0"/>
                </a:spcBef>
                <a:buClrTx/>
                <a:buSzTx/>
                <a:buFontTx/>
                <a:buNone/>
              </a:pPr>
              <a:t>59</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0822286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50971</TotalTime>
  <Words>5575</Words>
  <Application>Microsoft Macintosh PowerPoint</Application>
  <PresentationFormat>On-screen Show (4:3)</PresentationFormat>
  <Paragraphs>828</Paragraphs>
  <Slides>59</Slides>
  <Notes>39</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76" baseType="lpstr">
      <vt:lpstr>CMR10</vt:lpstr>
      <vt:lpstr>ＭＳ Ｐゴシック</vt:lpstr>
      <vt:lpstr>SFRM1095</vt:lpstr>
      <vt:lpstr>Times</vt:lpstr>
      <vt:lpstr>ZapfDingbats</vt:lpstr>
      <vt:lpstr>Arial</vt:lpstr>
      <vt:lpstr>Calibri</vt:lpstr>
      <vt:lpstr>Comic Sans MS</vt:lpstr>
      <vt:lpstr>Courier New</vt:lpstr>
      <vt:lpstr>Garamond</vt:lpstr>
      <vt:lpstr>Helvetica</vt:lpstr>
      <vt:lpstr>Monotype Sorts</vt:lpstr>
      <vt:lpstr>Tahoma</vt:lpstr>
      <vt:lpstr>Times New Roman</vt:lpstr>
      <vt:lpstr>Wingdings</vt:lpstr>
      <vt:lpstr>Clarity</vt:lpstr>
      <vt:lpstr>Worksheet</vt:lpstr>
      <vt:lpstr>PowerPoint Presentation</vt:lpstr>
      <vt:lpstr>Objectives and Outline</vt:lpstr>
      <vt:lpstr>Module 3.1: Instruction Set Architecture1</vt:lpstr>
      <vt:lpstr>Programming language is booming up!</vt:lpstr>
      <vt:lpstr>Hardware Complexity is Blowing Up!</vt:lpstr>
      <vt:lpstr>Instruction Set Architecture</vt:lpstr>
      <vt:lpstr>What is ISA? </vt:lpstr>
      <vt:lpstr>Example: Arithmetic Operations</vt:lpstr>
      <vt:lpstr>Example: Arithmetic Operations</vt:lpstr>
      <vt:lpstr>Perspectives</vt:lpstr>
      <vt:lpstr>Why is the ISA important?</vt:lpstr>
      <vt:lpstr>Topics: ISA Design Decisions &amp; Outline</vt:lpstr>
      <vt:lpstr>Styles of ISAs</vt:lpstr>
      <vt:lpstr>PowerPoint Presentation</vt:lpstr>
      <vt:lpstr>PowerPoint Presentation</vt:lpstr>
      <vt:lpstr>PowerPoint Presentation</vt:lpstr>
      <vt:lpstr>PowerPoint Presentation</vt:lpstr>
      <vt:lpstr>PowerPoint Presentation</vt:lpstr>
      <vt:lpstr>Why stacks, accumulators?</vt:lpstr>
      <vt:lpstr>Why registers?</vt:lpstr>
      <vt:lpstr>Number of Registers? </vt:lpstr>
      <vt:lpstr>Operand access limitations</vt:lpstr>
      <vt:lpstr>Summary: Styles of ISAs</vt:lpstr>
      <vt:lpstr>Aside: Pros and cons of operand styles</vt:lpstr>
      <vt:lpstr>Aside: Alignment</vt:lpstr>
      <vt:lpstr>Aside: Endian-ness</vt:lpstr>
      <vt:lpstr>Module 3.2: Instruction Set Architecture2</vt:lpstr>
      <vt:lpstr>RISC-Style ISA</vt:lpstr>
      <vt:lpstr>Common addressing modes</vt:lpstr>
      <vt:lpstr>Addressing modes (cont.)</vt:lpstr>
      <vt:lpstr>Addressing modes (cont.)</vt:lpstr>
      <vt:lpstr>Wisdom about modes</vt:lpstr>
      <vt:lpstr>Only a Few Needed</vt:lpstr>
      <vt:lpstr>Control transfer semantics</vt:lpstr>
      <vt:lpstr>Parts of a control transfer</vt:lpstr>
      <vt:lpstr>Types of control transfer (cont).</vt:lpstr>
      <vt:lpstr>Prepare-to-branch Instruction</vt:lpstr>
      <vt:lpstr>Instruction Encoding</vt:lpstr>
      <vt:lpstr>Summary: Instruction Encoding tradeoffs</vt:lpstr>
      <vt:lpstr>Module 3.3: Instruction Set Architecture Example</vt:lpstr>
      <vt:lpstr>RECAP: addressing modes</vt:lpstr>
      <vt:lpstr>RECAP: Types of control transfer (cont).</vt:lpstr>
      <vt:lpstr>RECAP: Prepare-to-branch Instruction</vt:lpstr>
      <vt:lpstr>MIPS</vt:lpstr>
      <vt:lpstr>Addressing</vt:lpstr>
      <vt:lpstr>Instruction format</vt:lpstr>
      <vt:lpstr>Pipelining</vt:lpstr>
      <vt:lpstr>Case Study: x86</vt:lpstr>
      <vt:lpstr>x86 Registers: too few</vt:lpstr>
      <vt:lpstr>Example Usage</vt:lpstr>
      <vt:lpstr>Condition Code</vt:lpstr>
      <vt:lpstr>X86 is Evolving: New Instructions</vt:lpstr>
      <vt:lpstr>Aside: Additional Registers</vt:lpstr>
      <vt:lpstr>Exercise</vt:lpstr>
      <vt:lpstr>Exercise (Solution)</vt:lpstr>
      <vt:lpstr>Further Study…</vt:lpstr>
      <vt:lpstr>Using Condition Code in a Branch</vt:lpstr>
      <vt:lpstr>Example of Adding Vectors</vt:lpstr>
      <vt:lpstr>Example of SSE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Design</dc:title>
  <dc:creator>Sarah</dc:creator>
  <cp:lastModifiedBy>Jongouk Choi</cp:lastModifiedBy>
  <cp:revision>154</cp:revision>
  <dcterms:created xsi:type="dcterms:W3CDTF">2013-08-25T15:09:28Z</dcterms:created>
  <dcterms:modified xsi:type="dcterms:W3CDTF">2026-02-02T21:25:53Z</dcterms:modified>
</cp:coreProperties>
</file>
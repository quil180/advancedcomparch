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2"/>
  </p:notesMasterIdLst>
  <p:sldIdLst>
    <p:sldId id="256" r:id="rId2"/>
    <p:sldId id="270" r:id="rId3"/>
    <p:sldId id="709" r:id="rId4"/>
    <p:sldId id="796" r:id="rId5"/>
    <p:sldId id="706" r:id="rId6"/>
    <p:sldId id="257" r:id="rId7"/>
    <p:sldId id="258" r:id="rId8"/>
    <p:sldId id="260" r:id="rId9"/>
    <p:sldId id="261" r:id="rId10"/>
    <p:sldId id="262" r:id="rId11"/>
    <p:sldId id="756" r:id="rId12"/>
    <p:sldId id="757" r:id="rId13"/>
    <p:sldId id="758" r:id="rId14"/>
    <p:sldId id="760" r:id="rId15"/>
    <p:sldId id="797" r:id="rId16"/>
    <p:sldId id="798" r:id="rId17"/>
    <p:sldId id="761" r:id="rId18"/>
    <p:sldId id="821" r:id="rId19"/>
    <p:sldId id="800" r:id="rId20"/>
    <p:sldId id="315" r:id="rId21"/>
    <p:sldId id="803" r:id="rId22"/>
    <p:sldId id="763" r:id="rId23"/>
    <p:sldId id="317" r:id="rId24"/>
    <p:sldId id="318" r:id="rId25"/>
    <p:sldId id="319" r:id="rId26"/>
    <p:sldId id="321" r:id="rId27"/>
    <p:sldId id="323" r:id="rId28"/>
    <p:sldId id="324" r:id="rId29"/>
    <p:sldId id="790" r:id="rId30"/>
    <p:sldId id="811" r:id="rId31"/>
    <p:sldId id="812" r:id="rId32"/>
    <p:sldId id="813" r:id="rId33"/>
    <p:sldId id="793" r:id="rId34"/>
    <p:sldId id="325" r:id="rId35"/>
    <p:sldId id="326" r:id="rId36"/>
    <p:sldId id="799" r:id="rId37"/>
    <p:sldId id="820" r:id="rId38"/>
    <p:sldId id="328" r:id="rId39"/>
    <p:sldId id="329" r:id="rId40"/>
    <p:sldId id="330" r:id="rId41"/>
    <p:sldId id="794" r:id="rId42"/>
    <p:sldId id="795" r:id="rId43"/>
    <p:sldId id="339" r:id="rId44"/>
    <p:sldId id="340" r:id="rId45"/>
    <p:sldId id="341" r:id="rId46"/>
    <p:sldId id="789" r:id="rId47"/>
    <p:sldId id="779" r:id="rId48"/>
    <p:sldId id="802" r:id="rId49"/>
    <p:sldId id="349" r:id="rId50"/>
    <p:sldId id="353" r:id="rId51"/>
    <p:sldId id="354" r:id="rId52"/>
    <p:sldId id="780" r:id="rId53"/>
    <p:sldId id="781" r:id="rId54"/>
    <p:sldId id="782" r:id="rId55"/>
    <p:sldId id="345" r:id="rId56"/>
    <p:sldId id="346" r:id="rId57"/>
    <p:sldId id="347" r:id="rId58"/>
    <p:sldId id="348" r:id="rId59"/>
    <p:sldId id="784" r:id="rId60"/>
    <p:sldId id="785" r:id="rId61"/>
    <p:sldId id="259" r:id="rId62"/>
    <p:sldId id="786" r:id="rId63"/>
    <p:sldId id="787" r:id="rId64"/>
    <p:sldId id="788" r:id="rId65"/>
    <p:sldId id="264" r:id="rId66"/>
    <p:sldId id="265" r:id="rId67"/>
    <p:sldId id="804" r:id="rId68"/>
    <p:sldId id="805" r:id="rId69"/>
    <p:sldId id="806" r:id="rId70"/>
    <p:sldId id="807" r:id="rId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53"/>
    <p:restoredTop sz="81020"/>
  </p:normalViewPr>
  <p:slideViewPr>
    <p:cSldViewPr>
      <p:cViewPr>
        <p:scale>
          <a:sx n="88" d="100"/>
          <a:sy n="88" d="100"/>
        </p:scale>
        <p:origin x="2208" y="400"/>
      </p:cViewPr>
      <p:guideLst>
        <p:guide orient="horz" pos="2160"/>
        <p:guide pos="2880"/>
      </p:guideLst>
    </p:cSldViewPr>
  </p:slideViewPr>
  <p:outlineViewPr>
    <p:cViewPr>
      <p:scale>
        <a:sx n="33" d="100"/>
        <a:sy n="33" d="100"/>
      </p:scale>
      <p:origin x="0" y="-66520"/>
    </p:cViewPr>
  </p:outlin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D608DC-8D6E-4521-83A1-1679D4D138BF}" type="datetimeFigureOut">
              <a:rPr lang="en-US" smtClean="0"/>
              <a:t>2/9/26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B38D67-2875-4081-97FB-ED7B2AD29D1C}" type="slidenum">
              <a:rPr lang="en-US" smtClean="0"/>
              <a:t>‹#›</a:t>
            </a:fld>
            <a:endParaRPr lang="en-US"/>
          </a:p>
        </p:txBody>
      </p:sp>
    </p:spTree>
    <p:extLst>
      <p:ext uri="{BB962C8B-B14F-4D97-AF65-F5344CB8AC3E}">
        <p14:creationId xmlns:p14="http://schemas.microsoft.com/office/powerpoint/2010/main" val="1044045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1</a:t>
            </a:fld>
            <a:endParaRPr lang="en-US"/>
          </a:p>
        </p:txBody>
      </p:sp>
    </p:spTree>
    <p:extLst>
      <p:ext uri="{BB962C8B-B14F-4D97-AF65-F5344CB8AC3E}">
        <p14:creationId xmlns:p14="http://schemas.microsoft.com/office/powerpoint/2010/main" val="25323541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E5A6D4F4-B97C-634A-9EB5-F9529BEABF1D}"/>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1B77B4F1-BD90-484B-8648-C48C9DB102A2}" type="slidenum">
              <a:rPr lang="en-US" altLang="en-US" sz="1000">
                <a:solidFill>
                  <a:schemeClr val="tx1"/>
                </a:solidFill>
                <a:latin typeface="Arial" panose="020B0604020202020204" pitchFamily="34" charset="0"/>
              </a:rPr>
              <a:pPr>
                <a:spcBef>
                  <a:spcPct val="0"/>
                </a:spcBef>
                <a:buClrTx/>
                <a:buSzTx/>
                <a:buFontTx/>
                <a:buNone/>
              </a:pPr>
              <a:t>6</a:t>
            </a:fld>
            <a:endParaRPr lang="en-US" altLang="en-US" sz="1000">
              <a:solidFill>
                <a:schemeClr val="tx1"/>
              </a:solidFill>
              <a:latin typeface="Arial" panose="020B0604020202020204" pitchFamily="34" charset="0"/>
            </a:endParaRPr>
          </a:p>
        </p:txBody>
      </p:sp>
      <p:sp>
        <p:nvSpPr>
          <p:cNvPr id="12291" name="Rectangle 2">
            <a:extLst>
              <a:ext uri="{FF2B5EF4-FFF2-40B4-BE49-F238E27FC236}">
                <a16:creationId xmlns:a16="http://schemas.microsoft.com/office/drawing/2014/main" id="{D1A5169B-E34F-1242-AD10-9689B64BA6F8}"/>
              </a:ext>
            </a:extLst>
          </p:cNvPr>
          <p:cNvSpPr>
            <a:spLocks noGrp="1" noRot="1" noChangeAspect="1" noChangeArrowheads="1" noTextEdit="1"/>
          </p:cNvSpPr>
          <p:nvPr>
            <p:ph type="sldImg"/>
          </p:nvPr>
        </p:nvSpPr>
        <p:spPr>
          <a:ln cap="flat"/>
        </p:spPr>
      </p:sp>
      <p:sp>
        <p:nvSpPr>
          <p:cNvPr id="9219" name="Rectangle 3">
            <a:extLst>
              <a:ext uri="{FF2B5EF4-FFF2-40B4-BE49-F238E27FC236}">
                <a16:creationId xmlns:a16="http://schemas.microsoft.com/office/drawing/2014/main" id="{B68290BA-7B1C-CC42-B4B9-363A56BD83D7}"/>
              </a:ext>
            </a:extLst>
          </p:cNvPr>
          <p:cNvSpPr>
            <a:spLocks noGrp="1" noChangeArrowheads="1"/>
          </p:cNvSpPr>
          <p:nvPr>
            <p:ph type="body" idx="1"/>
          </p:nvPr>
        </p:nvSpPr>
        <p:spPr>
          <a:ln/>
        </p:spPr>
        <p:txBody>
          <a:bodyPr/>
          <a:lstStyle/>
          <a:p>
            <a:pPr>
              <a:defRPr/>
            </a:pPr>
            <a:r>
              <a:rPr lang="en-US" dirty="0">
                <a:ea typeface="ＭＳ Ｐゴシック" charset="0"/>
                <a:cs typeface="+mn-cs"/>
              </a:rPr>
              <a:t>For EX</a:t>
            </a:r>
          </a:p>
          <a:p>
            <a:pPr>
              <a:defRPr/>
            </a:pPr>
            <a:r>
              <a:rPr lang="en-US" dirty="0">
                <a:ea typeface="ＭＳ Ｐゴシック" charset="0"/>
                <a:cs typeface="+mn-cs"/>
              </a:rPr>
              <a:t>Base addressing mode, </a:t>
            </a:r>
            <a:r>
              <a:rPr lang="en-US" dirty="0" err="1">
                <a:ea typeface="ＭＳ Ｐゴシック" charset="0"/>
                <a:cs typeface="+mn-cs"/>
              </a:rPr>
              <a:t>ld</a:t>
            </a:r>
            <a:r>
              <a:rPr lang="en-US" dirty="0">
                <a:ea typeface="ＭＳ Ｐゴシック" charset="0"/>
                <a:cs typeface="+mn-cs"/>
              </a:rPr>
              <a:t> r1 100(r2)</a:t>
            </a:r>
          </a:p>
          <a:p>
            <a:pPr>
              <a:defRPr/>
            </a:pPr>
            <a:r>
              <a:rPr lang="en-US" dirty="0">
                <a:ea typeface="ＭＳ Ｐゴシック" charset="0"/>
                <a:cs typeface="+mn-cs"/>
              </a:rPr>
              <a:t>Add r1 r2 r3</a:t>
            </a:r>
          </a:p>
          <a:p>
            <a:pPr>
              <a:defRPr/>
            </a:pPr>
            <a:r>
              <a:rPr lang="en-US" dirty="0" err="1">
                <a:ea typeface="ＭＳ Ｐゴシック" charset="0"/>
                <a:cs typeface="+mn-cs"/>
              </a:rPr>
              <a:t>Addi</a:t>
            </a:r>
            <a:r>
              <a:rPr lang="en-US" dirty="0">
                <a:ea typeface="ＭＳ Ｐゴシック" charset="0"/>
                <a:cs typeface="+mn-cs"/>
              </a:rPr>
              <a:t> r1 r2 100</a:t>
            </a:r>
          </a:p>
          <a:p>
            <a:pPr>
              <a:defRPr/>
            </a:pPr>
            <a:r>
              <a:rPr lang="en-US" dirty="0" err="1">
                <a:effectLst/>
                <a:latin typeface="CMR10"/>
              </a:rPr>
              <a:t>bne</a:t>
            </a:r>
            <a:r>
              <a:rPr lang="en-US" dirty="0">
                <a:effectLst/>
                <a:latin typeface="CMR10"/>
              </a:rPr>
              <a:t> </a:t>
            </a:r>
            <a:r>
              <a:rPr lang="en-US" dirty="0">
                <a:effectLst/>
                <a:latin typeface="SFRM1095"/>
              </a:rPr>
              <a:t>$</a:t>
            </a:r>
            <a:r>
              <a:rPr lang="en-US" dirty="0">
                <a:effectLst/>
                <a:latin typeface="CMR10"/>
              </a:rPr>
              <a:t>t2, </a:t>
            </a:r>
            <a:r>
              <a:rPr lang="en-US" dirty="0">
                <a:effectLst/>
                <a:latin typeface="SFRM1095"/>
              </a:rPr>
              <a:t>$</a:t>
            </a:r>
            <a:r>
              <a:rPr lang="en-US" dirty="0">
                <a:effectLst/>
                <a:latin typeface="CMR10"/>
              </a:rPr>
              <a:t>zero, finish branch condition outcome is determined in stage 3.</a:t>
            </a:r>
            <a:endParaRPr lang="en-US" dirty="0">
              <a:ea typeface="ＭＳ Ｐゴシック" charset="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10256B24-EC61-AF46-A015-03CCF7BD0D26}"/>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E870E2BD-825A-3A41-8DFD-6FAA7A8682B4}" type="slidenum">
              <a:rPr lang="en-US" altLang="en-US" sz="1000">
                <a:solidFill>
                  <a:schemeClr val="tx1"/>
                </a:solidFill>
                <a:latin typeface="Arial" panose="020B0604020202020204" pitchFamily="34" charset="0"/>
              </a:rPr>
              <a:pPr>
                <a:spcBef>
                  <a:spcPct val="0"/>
                </a:spcBef>
                <a:buClrTx/>
                <a:buSzTx/>
                <a:buFontTx/>
                <a:buNone/>
              </a:pPr>
              <a:t>7</a:t>
            </a:fld>
            <a:endParaRPr lang="en-US" altLang="en-US" sz="1000">
              <a:solidFill>
                <a:schemeClr val="tx1"/>
              </a:solidFill>
              <a:latin typeface="Arial" panose="020B0604020202020204" pitchFamily="34" charset="0"/>
            </a:endParaRPr>
          </a:p>
        </p:txBody>
      </p:sp>
      <p:sp>
        <p:nvSpPr>
          <p:cNvPr id="14339" name="Rectangle 2">
            <a:extLst>
              <a:ext uri="{FF2B5EF4-FFF2-40B4-BE49-F238E27FC236}">
                <a16:creationId xmlns:a16="http://schemas.microsoft.com/office/drawing/2014/main" id="{F534FC88-D6D0-284C-A758-7A9198C3EA9A}"/>
              </a:ext>
            </a:extLst>
          </p:cNvPr>
          <p:cNvSpPr>
            <a:spLocks noGrp="1" noRot="1" noChangeAspect="1" noChangeArrowheads="1" noTextEdit="1"/>
          </p:cNvSpPr>
          <p:nvPr>
            <p:ph type="sldImg"/>
          </p:nvPr>
        </p:nvSpPr>
        <p:spPr>
          <a:ln cap="flat"/>
        </p:spPr>
      </p:sp>
      <p:sp>
        <p:nvSpPr>
          <p:cNvPr id="11267" name="Rectangle 3">
            <a:extLst>
              <a:ext uri="{FF2B5EF4-FFF2-40B4-BE49-F238E27FC236}">
                <a16:creationId xmlns:a16="http://schemas.microsoft.com/office/drawing/2014/main" id="{C4C095C0-516A-0B4D-9D9B-6B75521B8B53}"/>
              </a:ext>
            </a:extLst>
          </p:cNvPr>
          <p:cNvSpPr>
            <a:spLocks noGrp="1" noChangeArrowheads="1"/>
          </p:cNvSpPr>
          <p:nvPr>
            <p:ph type="body" idx="1"/>
          </p:nvPr>
        </p:nvSpPr>
        <p:spPr>
          <a:ln/>
        </p:spPr>
        <p:txBody>
          <a:bodyPr/>
          <a:lstStyle/>
          <a:p>
            <a:pPr>
              <a:defRPr/>
            </a:pPr>
            <a:r>
              <a:rPr lang="en-US" dirty="0">
                <a:ea typeface="ＭＳ Ｐゴシック" charset="0"/>
                <a:cs typeface="+mn-cs"/>
              </a:rPr>
              <a:t>For WB</a:t>
            </a:r>
          </a:p>
          <a:p>
            <a:pPr>
              <a:defRPr/>
            </a:pPr>
            <a:r>
              <a:rPr lang="en-US" dirty="0">
                <a:ea typeface="ＭＳ Ｐゴシック" charset="0"/>
                <a:cs typeface="+mn-cs"/>
              </a:rPr>
              <a:t>Add r1 r2 r3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ea typeface="ＭＳ Ｐゴシック" charset="0"/>
                <a:cs typeface="+mn-cs"/>
              </a:rPr>
              <a:t>Addi</a:t>
            </a:r>
            <a:r>
              <a:rPr lang="en-US" dirty="0">
                <a:ea typeface="ＭＳ Ｐゴシック" charset="0"/>
                <a:cs typeface="+mn-cs"/>
              </a:rPr>
              <a:t> r1 r2 100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ea typeface="ＭＳ Ｐゴシック" charset="0"/>
                <a:cs typeface="+mn-cs"/>
              </a:rPr>
              <a:t>ld</a:t>
            </a:r>
            <a:r>
              <a:rPr lang="en-US" dirty="0">
                <a:ea typeface="ＭＳ Ｐゴシック" charset="0"/>
                <a:cs typeface="+mn-cs"/>
              </a:rPr>
              <a:t> r1 100(r2)</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0CC28EB8-72F6-5340-A29A-3707BE072399}"/>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B3936271-64E6-7D45-9A40-833E5138CE45}" type="slidenum">
              <a:rPr lang="en-US" altLang="en-US" sz="1000">
                <a:solidFill>
                  <a:schemeClr val="tx1"/>
                </a:solidFill>
                <a:latin typeface="Arial" panose="020B0604020202020204" pitchFamily="34" charset="0"/>
              </a:rPr>
              <a:pPr>
                <a:spcBef>
                  <a:spcPct val="0"/>
                </a:spcBef>
                <a:buClrTx/>
                <a:buSzTx/>
                <a:buFontTx/>
                <a:buNone/>
              </a:pPr>
              <a:t>8</a:t>
            </a:fld>
            <a:endParaRPr lang="en-US" altLang="en-US" sz="1000">
              <a:solidFill>
                <a:schemeClr val="tx1"/>
              </a:solidFill>
              <a:latin typeface="Arial" panose="020B0604020202020204" pitchFamily="34" charset="0"/>
            </a:endParaRPr>
          </a:p>
        </p:txBody>
      </p:sp>
      <p:sp>
        <p:nvSpPr>
          <p:cNvPr id="16387" name="Rectangle 2">
            <a:extLst>
              <a:ext uri="{FF2B5EF4-FFF2-40B4-BE49-F238E27FC236}">
                <a16:creationId xmlns:a16="http://schemas.microsoft.com/office/drawing/2014/main" id="{4B0AC22B-1C18-2F42-A7A9-87AE2CF59471}"/>
              </a:ext>
            </a:extLst>
          </p:cNvPr>
          <p:cNvSpPr>
            <a:spLocks noGrp="1" noRot="1" noChangeAspect="1" noChangeArrowheads="1" noTextEdit="1"/>
          </p:cNvSpPr>
          <p:nvPr>
            <p:ph type="sldImg"/>
          </p:nvPr>
        </p:nvSpPr>
        <p:spPr>
          <a:ln cap="flat"/>
        </p:spPr>
      </p:sp>
      <p:sp>
        <p:nvSpPr>
          <p:cNvPr id="13315" name="Rectangle 3">
            <a:extLst>
              <a:ext uri="{FF2B5EF4-FFF2-40B4-BE49-F238E27FC236}">
                <a16:creationId xmlns:a16="http://schemas.microsoft.com/office/drawing/2014/main" id="{8826CA7D-91A6-F544-A739-F5517136B459}"/>
              </a:ext>
            </a:extLst>
          </p:cNvPr>
          <p:cNvSpPr>
            <a:spLocks noGrp="1" noChangeArrowheads="1"/>
          </p:cNvSpPr>
          <p:nvPr>
            <p:ph type="body" idx="1"/>
          </p:nvPr>
        </p:nvSpPr>
        <p:spPr>
          <a:ln/>
        </p:spPr>
        <p:txBody>
          <a:bodyPr/>
          <a:lstStyle/>
          <a:p>
            <a:pPr>
              <a:defRPr/>
            </a:pPr>
            <a:r>
              <a:rPr lang="en-US" dirty="0">
                <a:ea typeface="ＭＳ Ｐゴシック" charset="0"/>
                <a:cs typeface="+mn-cs"/>
              </a:rPr>
              <a:t>Sign extension ALU takes only 32bit data, </a:t>
            </a:r>
          </a:p>
          <a:p>
            <a:pPr>
              <a:defRPr/>
            </a:pPr>
            <a:r>
              <a:rPr lang="en-US" dirty="0">
                <a:ea typeface="ＭＳ Ｐゴシック" charset="0"/>
                <a:cs typeface="+mn-cs"/>
              </a:rPr>
              <a:t>what if </a:t>
            </a:r>
            <a:r>
              <a:rPr lang="en-US" dirty="0" err="1">
                <a:ea typeface="ＭＳ Ｐゴシック" charset="0"/>
                <a:cs typeface="+mn-cs"/>
              </a:rPr>
              <a:t>addi</a:t>
            </a:r>
            <a:r>
              <a:rPr lang="en-US" dirty="0">
                <a:ea typeface="ＭＳ Ｐゴシック" charset="0"/>
                <a:cs typeface="+mn-cs"/>
              </a:rPr>
              <a:t> r1 r2 1? 1 becomes 00000001</a:t>
            </a:r>
          </a:p>
          <a:p>
            <a:pPr>
              <a:defRPr/>
            </a:pPr>
            <a:endParaRPr lang="en-US" dirty="0">
              <a:ea typeface="ＭＳ Ｐゴシック" charset="0"/>
              <a:cs typeface="+mn-cs"/>
            </a:endParaRPr>
          </a:p>
          <a:p>
            <a:pPr>
              <a:defRPr/>
            </a:pPr>
            <a:r>
              <a:rPr lang="en-US" dirty="0">
                <a:ea typeface="ＭＳ Ｐゴシック" charset="0"/>
                <a:cs typeface="+mn-cs"/>
              </a:rPr>
              <a:t>add r1 r2 r3</a:t>
            </a:r>
          </a:p>
          <a:p>
            <a:pPr>
              <a:defRPr/>
            </a:pPr>
            <a:r>
              <a:rPr lang="en-US" dirty="0">
                <a:ea typeface="ＭＳ Ｐゴシック" charset="0"/>
                <a:cs typeface="+mn-cs"/>
              </a:rPr>
              <a:t>Addi r1 r2 1</a:t>
            </a:r>
          </a:p>
          <a:p>
            <a:pPr>
              <a:defRPr/>
            </a:pPr>
            <a:endParaRPr lang="en-US" dirty="0">
              <a:ea typeface="ＭＳ Ｐゴシック" charset="0"/>
              <a:cs typeface="+mn-cs"/>
            </a:endParaRPr>
          </a:p>
          <a:p>
            <a:pPr>
              <a:defRPr/>
            </a:pPr>
            <a:r>
              <a:rPr lang="en-US" dirty="0" err="1">
                <a:ea typeface="ＭＳ Ｐゴシック" charset="0"/>
                <a:cs typeface="+mn-cs"/>
              </a:rPr>
              <a:t>datapath</a:t>
            </a:r>
            <a:endParaRPr lang="en-US" dirty="0">
              <a:ea typeface="ＭＳ Ｐゴシック" charset="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8000DA94-45B4-AD49-9EB0-F3B8F91A9687}"/>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A83B751E-C84A-4D48-8F6A-07ABB0E8CDBB}" type="slidenum">
              <a:rPr lang="en-US" altLang="en-US" sz="1000">
                <a:solidFill>
                  <a:schemeClr val="tx1"/>
                </a:solidFill>
                <a:latin typeface="Arial" panose="020B0604020202020204" pitchFamily="34" charset="0"/>
              </a:rPr>
              <a:pPr>
                <a:spcBef>
                  <a:spcPct val="0"/>
                </a:spcBef>
                <a:buClrTx/>
                <a:buSzTx/>
                <a:buFontTx/>
                <a:buNone/>
              </a:pPr>
              <a:t>9</a:t>
            </a:fld>
            <a:endParaRPr lang="en-US" altLang="en-US" sz="1000">
              <a:solidFill>
                <a:schemeClr val="tx1"/>
              </a:solidFill>
              <a:latin typeface="Arial" panose="020B0604020202020204" pitchFamily="34" charset="0"/>
            </a:endParaRPr>
          </a:p>
        </p:txBody>
      </p:sp>
      <p:sp>
        <p:nvSpPr>
          <p:cNvPr id="18435" name="Rectangle 2">
            <a:extLst>
              <a:ext uri="{FF2B5EF4-FFF2-40B4-BE49-F238E27FC236}">
                <a16:creationId xmlns:a16="http://schemas.microsoft.com/office/drawing/2014/main" id="{63220223-C3BB-B54A-B611-6AEC9DABFEC8}"/>
              </a:ext>
            </a:extLst>
          </p:cNvPr>
          <p:cNvSpPr>
            <a:spLocks noGrp="1" noRot="1" noChangeAspect="1" noChangeArrowheads="1" noTextEdit="1"/>
          </p:cNvSpPr>
          <p:nvPr>
            <p:ph type="sldImg"/>
          </p:nvPr>
        </p:nvSpPr>
        <p:spPr>
          <a:ln cap="flat"/>
        </p:spPr>
      </p:sp>
      <p:sp>
        <p:nvSpPr>
          <p:cNvPr id="15363" name="Rectangle 3">
            <a:extLst>
              <a:ext uri="{FF2B5EF4-FFF2-40B4-BE49-F238E27FC236}">
                <a16:creationId xmlns:a16="http://schemas.microsoft.com/office/drawing/2014/main" id="{4AADD3AE-C1B9-8C48-B1C2-CDBD1874F0FE}"/>
              </a:ext>
            </a:extLst>
          </p:cNvPr>
          <p:cNvSpPr>
            <a:spLocks noGrp="1" noChangeArrowheads="1"/>
          </p:cNvSpPr>
          <p:nvPr>
            <p:ph type="body" idx="1"/>
          </p:nvPr>
        </p:nvSpPr>
        <p:spPr>
          <a:ln/>
        </p:spPr>
        <p:txBody>
          <a:bodyPr/>
          <a:lstStyle/>
          <a:p>
            <a:pPr>
              <a:defRPr/>
            </a:pPr>
            <a:endParaRPr lang="en-US">
              <a:ea typeface="ＭＳ Ｐゴシック" charset="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7E974016-E44D-9042-B2A2-BFD0CD15563F}"/>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9F6C2390-4CE6-FE4D-88E5-322E20114635}" type="slidenum">
              <a:rPr lang="en-US" altLang="en-US" sz="1000">
                <a:solidFill>
                  <a:schemeClr val="tx1"/>
                </a:solidFill>
                <a:latin typeface="Arial" panose="020B0604020202020204" pitchFamily="34" charset="0"/>
              </a:rPr>
              <a:pPr>
                <a:spcBef>
                  <a:spcPct val="0"/>
                </a:spcBef>
                <a:buClrTx/>
                <a:buSzTx/>
                <a:buFontTx/>
                <a:buNone/>
              </a:pPr>
              <a:t>10</a:t>
            </a:fld>
            <a:endParaRPr lang="en-US" altLang="en-US" sz="1000">
              <a:solidFill>
                <a:schemeClr val="tx1"/>
              </a:solidFill>
              <a:latin typeface="Arial" panose="020B0604020202020204" pitchFamily="34" charset="0"/>
            </a:endParaRPr>
          </a:p>
        </p:txBody>
      </p:sp>
      <p:sp>
        <p:nvSpPr>
          <p:cNvPr id="20483" name="Rectangle 2">
            <a:extLst>
              <a:ext uri="{FF2B5EF4-FFF2-40B4-BE49-F238E27FC236}">
                <a16:creationId xmlns:a16="http://schemas.microsoft.com/office/drawing/2014/main" id="{8A920649-2730-A148-971E-A3D9DE3ACE52}"/>
              </a:ext>
            </a:extLst>
          </p:cNvPr>
          <p:cNvSpPr>
            <a:spLocks noGrp="1" noRot="1" noChangeAspect="1" noChangeArrowheads="1" noTextEdit="1"/>
          </p:cNvSpPr>
          <p:nvPr>
            <p:ph type="sldImg"/>
          </p:nvPr>
        </p:nvSpPr>
        <p:spPr>
          <a:ln cap="flat"/>
        </p:spPr>
      </p:sp>
      <p:sp>
        <p:nvSpPr>
          <p:cNvPr id="17411" name="Rectangle 3">
            <a:extLst>
              <a:ext uri="{FF2B5EF4-FFF2-40B4-BE49-F238E27FC236}">
                <a16:creationId xmlns:a16="http://schemas.microsoft.com/office/drawing/2014/main" id="{43BBBE95-6897-4045-B6D1-FF6719FC0ED1}"/>
              </a:ext>
            </a:extLst>
          </p:cNvPr>
          <p:cNvSpPr>
            <a:spLocks noGrp="1" noChangeArrowheads="1"/>
          </p:cNvSpPr>
          <p:nvPr>
            <p:ph type="body" idx="1"/>
          </p:nvPr>
        </p:nvSpPr>
        <p:spPr>
          <a:ln/>
        </p:spPr>
        <p:txBody>
          <a:bodyPr/>
          <a:lstStyle/>
          <a:p>
            <a:pPr>
              <a:defRPr/>
            </a:pPr>
            <a:endParaRPr lang="en-US">
              <a:ea typeface="ＭＳ Ｐゴシック" charset="0"/>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568F48DA-B199-B44D-9A12-64669190417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78EB8A39-5E03-784F-88A1-40E4691EA494}" type="slidenum">
              <a:rPr lang="en-US" altLang="en-US" sz="1000">
                <a:solidFill>
                  <a:schemeClr val="tx1"/>
                </a:solidFill>
                <a:latin typeface="Arial" panose="020B0604020202020204" pitchFamily="34" charset="0"/>
              </a:rPr>
              <a:pPr>
                <a:spcBef>
                  <a:spcPct val="0"/>
                </a:spcBef>
                <a:buClrTx/>
                <a:buSzTx/>
                <a:buFontTx/>
                <a:buNone/>
              </a:pPr>
              <a:t>11</a:t>
            </a:fld>
            <a:endParaRPr lang="en-US" altLang="en-US" sz="1000">
              <a:solidFill>
                <a:schemeClr val="tx1"/>
              </a:solidFill>
              <a:latin typeface="Arial" panose="020B0604020202020204" pitchFamily="34" charset="0"/>
            </a:endParaRPr>
          </a:p>
        </p:txBody>
      </p:sp>
      <p:sp>
        <p:nvSpPr>
          <p:cNvPr id="22531" name="Rectangle 2">
            <a:extLst>
              <a:ext uri="{FF2B5EF4-FFF2-40B4-BE49-F238E27FC236}">
                <a16:creationId xmlns:a16="http://schemas.microsoft.com/office/drawing/2014/main" id="{286E2838-6504-8946-A873-800C3499CF69}"/>
              </a:ext>
            </a:extLst>
          </p:cNvPr>
          <p:cNvSpPr>
            <a:spLocks noGrp="1" noRot="1" noChangeAspect="1" noChangeArrowheads="1" noTextEdit="1"/>
          </p:cNvSpPr>
          <p:nvPr>
            <p:ph type="sldImg"/>
          </p:nvPr>
        </p:nvSpPr>
        <p:spPr>
          <a:ln cap="flat"/>
        </p:spPr>
      </p:sp>
      <p:sp>
        <p:nvSpPr>
          <p:cNvPr id="19459" name="Rectangle 3">
            <a:extLst>
              <a:ext uri="{FF2B5EF4-FFF2-40B4-BE49-F238E27FC236}">
                <a16:creationId xmlns:a16="http://schemas.microsoft.com/office/drawing/2014/main" id="{E936B778-DFAB-374F-AE14-5B50EA9207D7}"/>
              </a:ext>
            </a:extLst>
          </p:cNvPr>
          <p:cNvSpPr>
            <a:spLocks noGrp="1" noChangeArrowheads="1"/>
          </p:cNvSpPr>
          <p:nvPr>
            <p:ph type="body" idx="1"/>
          </p:nvPr>
        </p:nvSpPr>
        <p:spPr>
          <a:ln/>
        </p:spPr>
        <p:txBody>
          <a:bodyPr/>
          <a:lstStyle/>
          <a:p>
            <a:pPr>
              <a:defRPr/>
            </a:pPr>
            <a:endParaRPr lang="en-US">
              <a:ea typeface="ＭＳ Ｐゴシック" charset="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45AF8088-F89F-0346-B31D-F193CB107713}"/>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AD14DDC4-D2F0-164A-B90B-582D7497C810}" type="slidenum">
              <a:rPr lang="en-US" altLang="en-US" sz="1000">
                <a:solidFill>
                  <a:schemeClr val="tx1"/>
                </a:solidFill>
                <a:latin typeface="Arial" panose="020B0604020202020204" pitchFamily="34" charset="0"/>
              </a:rPr>
              <a:pPr>
                <a:spcBef>
                  <a:spcPct val="0"/>
                </a:spcBef>
                <a:buClrTx/>
                <a:buSzTx/>
                <a:buFontTx/>
                <a:buNone/>
              </a:pPr>
              <a:t>12</a:t>
            </a:fld>
            <a:endParaRPr lang="en-US" altLang="en-US" sz="1000">
              <a:solidFill>
                <a:schemeClr val="tx1"/>
              </a:solidFill>
              <a:latin typeface="Arial" panose="020B0604020202020204" pitchFamily="34" charset="0"/>
            </a:endParaRPr>
          </a:p>
        </p:txBody>
      </p:sp>
      <p:sp>
        <p:nvSpPr>
          <p:cNvPr id="26627" name="Rectangle 2">
            <a:extLst>
              <a:ext uri="{FF2B5EF4-FFF2-40B4-BE49-F238E27FC236}">
                <a16:creationId xmlns:a16="http://schemas.microsoft.com/office/drawing/2014/main" id="{FFBF12DE-AC50-6748-9183-ABDA48A75D17}"/>
              </a:ext>
            </a:extLst>
          </p:cNvPr>
          <p:cNvSpPr>
            <a:spLocks noGrp="1" noRot="1" noChangeAspect="1" noChangeArrowheads="1" noTextEdit="1"/>
          </p:cNvSpPr>
          <p:nvPr>
            <p:ph type="sldImg"/>
          </p:nvPr>
        </p:nvSpPr>
        <p:spPr>
          <a:ln cap="flat"/>
        </p:spPr>
      </p:sp>
      <p:sp>
        <p:nvSpPr>
          <p:cNvPr id="23555" name="Rectangle 3">
            <a:extLst>
              <a:ext uri="{FF2B5EF4-FFF2-40B4-BE49-F238E27FC236}">
                <a16:creationId xmlns:a16="http://schemas.microsoft.com/office/drawing/2014/main" id="{3323A759-1E49-B347-A130-A79E9B456964}"/>
              </a:ext>
            </a:extLst>
          </p:cNvPr>
          <p:cNvSpPr>
            <a:spLocks noGrp="1" noChangeArrowheads="1"/>
          </p:cNvSpPr>
          <p:nvPr>
            <p:ph type="body" idx="1"/>
          </p:nvPr>
        </p:nvSpPr>
        <p:spPr>
          <a:ln/>
        </p:spPr>
        <p:txBody>
          <a:bodyPr/>
          <a:lstStyle/>
          <a:p>
            <a:pPr>
              <a:defRPr/>
            </a:pPr>
            <a:endParaRPr lang="en-US">
              <a:ea typeface="ＭＳ Ｐゴシック" charset="0"/>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C4F0FAFF-6005-7341-90D9-CDA93322F36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8C2CD61B-7062-5846-9391-05511F772E76}" type="slidenum">
              <a:rPr lang="en-US" altLang="en-US" sz="1000">
                <a:solidFill>
                  <a:schemeClr val="tx1"/>
                </a:solidFill>
                <a:latin typeface="Arial" panose="020B0604020202020204" pitchFamily="34" charset="0"/>
              </a:rPr>
              <a:pPr>
                <a:spcBef>
                  <a:spcPct val="0"/>
                </a:spcBef>
                <a:buClrTx/>
                <a:buSzTx/>
                <a:buFontTx/>
                <a:buNone/>
              </a:pPr>
              <a:t>13</a:t>
            </a:fld>
            <a:endParaRPr lang="en-US" altLang="en-US" sz="1000">
              <a:solidFill>
                <a:schemeClr val="tx1"/>
              </a:solidFill>
              <a:latin typeface="Arial" panose="020B0604020202020204" pitchFamily="34" charset="0"/>
            </a:endParaRPr>
          </a:p>
        </p:txBody>
      </p:sp>
      <p:sp>
        <p:nvSpPr>
          <p:cNvPr id="28675" name="Rectangle 1026">
            <a:extLst>
              <a:ext uri="{FF2B5EF4-FFF2-40B4-BE49-F238E27FC236}">
                <a16:creationId xmlns:a16="http://schemas.microsoft.com/office/drawing/2014/main" id="{7797B3B3-1CE3-6646-A712-C4D35A209604}"/>
              </a:ext>
            </a:extLst>
          </p:cNvPr>
          <p:cNvSpPr>
            <a:spLocks noGrp="1" noRot="1" noChangeAspect="1" noChangeArrowheads="1" noTextEdit="1"/>
          </p:cNvSpPr>
          <p:nvPr>
            <p:ph type="sldImg"/>
          </p:nvPr>
        </p:nvSpPr>
        <p:spPr>
          <a:ln cap="flat"/>
        </p:spPr>
      </p:sp>
      <p:sp>
        <p:nvSpPr>
          <p:cNvPr id="134147" name="Rectangle 1027">
            <a:extLst>
              <a:ext uri="{FF2B5EF4-FFF2-40B4-BE49-F238E27FC236}">
                <a16:creationId xmlns:a16="http://schemas.microsoft.com/office/drawing/2014/main" id="{2273D6B2-B343-F146-A531-DF63C5455458}"/>
              </a:ext>
            </a:extLst>
          </p:cNvPr>
          <p:cNvSpPr>
            <a:spLocks noGrp="1" noChangeArrowheads="1"/>
          </p:cNvSpPr>
          <p:nvPr>
            <p:ph type="body" idx="1"/>
          </p:nvPr>
        </p:nvSpPr>
        <p:spPr>
          <a:ln/>
        </p:spPr>
        <p:txBody>
          <a:bodyPr/>
          <a:lstStyle/>
          <a:p>
            <a:pPr>
              <a:defRPr/>
            </a:pPr>
            <a:endParaRPr lang="en-US" dirty="0">
              <a:ea typeface="ＭＳ Ｐゴシック" charset="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going to measure the penalty caused by branch. </a:t>
            </a:r>
          </a:p>
          <a:p>
            <a:r>
              <a:rPr lang="en-US" dirty="0"/>
              <a:t>Non-pipelined cpi was 5, pipelined cpi is 1</a:t>
            </a:r>
          </a:p>
        </p:txBody>
      </p:sp>
      <p:sp>
        <p:nvSpPr>
          <p:cNvPr id="4" name="Slide Number Placeholder 3"/>
          <p:cNvSpPr>
            <a:spLocks noGrp="1"/>
          </p:cNvSpPr>
          <p:nvPr>
            <p:ph type="sldNum" sz="quarter" idx="5"/>
          </p:nvPr>
        </p:nvSpPr>
        <p:spPr/>
        <p:txBody>
          <a:bodyPr/>
          <a:lstStyle/>
          <a:p>
            <a:fld id="{A6B38D67-2875-4081-97FB-ED7B2AD29D1C}" type="slidenum">
              <a:rPr lang="en-US" smtClean="0"/>
              <a:t>14</a:t>
            </a:fld>
            <a:endParaRPr lang="en-US"/>
          </a:p>
        </p:txBody>
      </p:sp>
    </p:spTree>
    <p:extLst>
      <p:ext uri="{BB962C8B-B14F-4D97-AF65-F5344CB8AC3E}">
        <p14:creationId xmlns:p14="http://schemas.microsoft.com/office/powerpoint/2010/main" val="676612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hazard</a:t>
            </a:r>
          </a:p>
          <a:p>
            <a:r>
              <a:rPr lang="en-US" dirty="0"/>
              <a:t>Structure hazard</a:t>
            </a:r>
          </a:p>
          <a:p>
            <a:r>
              <a:rPr lang="en-US"/>
              <a:t>Control hazard</a:t>
            </a:r>
          </a:p>
          <a:p>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16</a:t>
            </a:fld>
            <a:endParaRPr lang="en-US"/>
          </a:p>
        </p:txBody>
      </p:sp>
    </p:spTree>
    <p:extLst>
      <p:ext uri="{BB962C8B-B14F-4D97-AF65-F5344CB8AC3E}">
        <p14:creationId xmlns:p14="http://schemas.microsoft.com/office/powerpoint/2010/main" val="476285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CB3F1031-A4C2-3345-ACC0-81B216D26E80}"/>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496A57B0-1D63-4A4C-BD83-7BACCD316C69}" type="slidenum">
              <a:rPr lang="en-US" altLang="en-US" sz="1000">
                <a:solidFill>
                  <a:schemeClr val="tx1"/>
                </a:solidFill>
                <a:latin typeface="Arial" panose="020B0604020202020204" pitchFamily="34" charset="0"/>
              </a:rPr>
              <a:pPr>
                <a:spcBef>
                  <a:spcPct val="0"/>
                </a:spcBef>
                <a:buClrTx/>
                <a:buSzTx/>
                <a:buFontTx/>
                <a:buNone/>
              </a:pPr>
              <a:t>20</a:t>
            </a:fld>
            <a:endParaRPr lang="en-US" altLang="en-US" sz="1000">
              <a:solidFill>
                <a:schemeClr val="tx1"/>
              </a:solidFill>
              <a:latin typeface="Arial" panose="020B0604020202020204" pitchFamily="34" charset="0"/>
            </a:endParaRPr>
          </a:p>
        </p:txBody>
      </p:sp>
      <p:sp>
        <p:nvSpPr>
          <p:cNvPr id="39939" name="Rectangle 2">
            <a:extLst>
              <a:ext uri="{FF2B5EF4-FFF2-40B4-BE49-F238E27FC236}">
                <a16:creationId xmlns:a16="http://schemas.microsoft.com/office/drawing/2014/main" id="{A83F958B-C93E-7149-BF80-BBA8CCCE1CA0}"/>
              </a:ext>
            </a:extLst>
          </p:cNvPr>
          <p:cNvSpPr>
            <a:spLocks noGrp="1" noRot="1" noChangeAspect="1" noChangeArrowheads="1" noTextEdit="1"/>
          </p:cNvSpPr>
          <p:nvPr>
            <p:ph type="sldImg"/>
          </p:nvPr>
        </p:nvSpPr>
        <p:spPr>
          <a:ln cap="flat"/>
        </p:spPr>
      </p:sp>
      <p:sp>
        <p:nvSpPr>
          <p:cNvPr id="148483" name="Rectangle 3">
            <a:extLst>
              <a:ext uri="{FF2B5EF4-FFF2-40B4-BE49-F238E27FC236}">
                <a16:creationId xmlns:a16="http://schemas.microsoft.com/office/drawing/2014/main" id="{27BE2558-DA63-8C4D-BEB4-2D31AF4526AB}"/>
              </a:ext>
            </a:extLst>
          </p:cNvPr>
          <p:cNvSpPr>
            <a:spLocks noGrp="1" noChangeArrowheads="1"/>
          </p:cNvSpPr>
          <p:nvPr>
            <p:ph type="body" idx="1"/>
          </p:nvPr>
        </p:nvSpPr>
        <p:spPr>
          <a:ln/>
        </p:spPr>
        <p:txBody>
          <a:bodyPr/>
          <a:lstStyle/>
          <a:p>
            <a:pPr>
              <a:defRPr/>
            </a:pPr>
            <a:endParaRPr lang="en-US" dirty="0">
              <a:ea typeface="ＭＳ Ｐゴシック" charset="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D2C32C66-93D4-BF42-AD00-1BC9FF4C866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8FBABDC2-1745-9141-A262-723311F7D0E8}" type="slidenum">
              <a:rPr lang="en-US" altLang="en-US" sz="1000">
                <a:solidFill>
                  <a:schemeClr val="tx1"/>
                </a:solidFill>
                <a:latin typeface="Arial" panose="020B0604020202020204" pitchFamily="34" charset="0"/>
              </a:rPr>
              <a:pPr>
                <a:spcBef>
                  <a:spcPct val="0"/>
                </a:spcBef>
                <a:buClrTx/>
                <a:buSzTx/>
                <a:buFontTx/>
                <a:buNone/>
              </a:pPr>
              <a:t>21</a:t>
            </a:fld>
            <a:endParaRPr lang="en-US" altLang="en-US" sz="1000">
              <a:solidFill>
                <a:schemeClr val="tx1"/>
              </a:solidFill>
              <a:latin typeface="Arial" panose="020B0604020202020204" pitchFamily="34" charset="0"/>
            </a:endParaRPr>
          </a:p>
        </p:txBody>
      </p:sp>
      <p:sp>
        <p:nvSpPr>
          <p:cNvPr id="41987" name="Rectangle 2">
            <a:extLst>
              <a:ext uri="{FF2B5EF4-FFF2-40B4-BE49-F238E27FC236}">
                <a16:creationId xmlns:a16="http://schemas.microsoft.com/office/drawing/2014/main" id="{CAA5BF7E-49A0-864D-A8F4-03C0ABEAA36B}"/>
              </a:ext>
            </a:extLst>
          </p:cNvPr>
          <p:cNvSpPr>
            <a:spLocks noGrp="1" noRot="1" noChangeAspect="1" noChangeArrowheads="1" noTextEdit="1"/>
          </p:cNvSpPr>
          <p:nvPr>
            <p:ph type="sldImg"/>
          </p:nvPr>
        </p:nvSpPr>
        <p:spPr>
          <a:ln cap="flat"/>
        </p:spPr>
      </p:sp>
      <p:sp>
        <p:nvSpPr>
          <p:cNvPr id="13315" name="Rectangle 3">
            <a:extLst>
              <a:ext uri="{FF2B5EF4-FFF2-40B4-BE49-F238E27FC236}">
                <a16:creationId xmlns:a16="http://schemas.microsoft.com/office/drawing/2014/main" id="{8AE6D419-42F9-3149-BF38-EACABFFD70E4}"/>
              </a:ext>
            </a:extLst>
          </p:cNvPr>
          <p:cNvSpPr>
            <a:spLocks noGrp="1" noChangeArrowheads="1"/>
          </p:cNvSpPr>
          <p:nvPr>
            <p:ph type="body" idx="1"/>
          </p:nvPr>
        </p:nvSpPr>
        <p:spPr>
          <a:ln/>
        </p:spPr>
        <p:txBody>
          <a:bodyPr/>
          <a:lstStyle/>
          <a:p>
            <a:pPr>
              <a:defRPr/>
            </a:pPr>
            <a:endParaRPr lang="en-US">
              <a:ea typeface="ＭＳ Ｐゴシック" charset="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08CBEEC-75A4-4347-901C-48970DBDE59F}"/>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6B1E1BCE-81AF-464B-A323-3DD0EE92AD5C}" type="slidenum">
              <a:rPr lang="en-US" altLang="en-US" sz="1000">
                <a:solidFill>
                  <a:schemeClr val="tx1"/>
                </a:solidFill>
                <a:latin typeface="Arial" panose="020B0604020202020204" pitchFamily="34" charset="0"/>
              </a:rPr>
              <a:pPr>
                <a:spcBef>
                  <a:spcPct val="0"/>
                </a:spcBef>
                <a:buClrTx/>
                <a:buSzTx/>
                <a:buFontTx/>
                <a:buNone/>
              </a:pPr>
              <a:t>22</a:t>
            </a:fld>
            <a:endParaRPr lang="en-US" altLang="en-US" sz="1000">
              <a:solidFill>
                <a:schemeClr val="tx1"/>
              </a:solidFill>
              <a:latin typeface="Arial" panose="020B0604020202020204" pitchFamily="34" charset="0"/>
            </a:endParaRPr>
          </a:p>
        </p:txBody>
      </p:sp>
      <p:sp>
        <p:nvSpPr>
          <p:cNvPr id="44035" name="Rectangle 2">
            <a:extLst>
              <a:ext uri="{FF2B5EF4-FFF2-40B4-BE49-F238E27FC236}">
                <a16:creationId xmlns:a16="http://schemas.microsoft.com/office/drawing/2014/main" id="{70074DAD-8E51-A841-9662-2D9E7AE39C2B}"/>
              </a:ext>
            </a:extLst>
          </p:cNvPr>
          <p:cNvSpPr>
            <a:spLocks noGrp="1" noRot="1" noChangeAspect="1" noChangeArrowheads="1" noTextEdit="1"/>
          </p:cNvSpPr>
          <p:nvPr>
            <p:ph type="sldImg"/>
          </p:nvPr>
        </p:nvSpPr>
        <p:spPr>
          <a:ln cap="flat"/>
        </p:spPr>
      </p:sp>
      <p:sp>
        <p:nvSpPr>
          <p:cNvPr id="150531" name="Rectangle 3">
            <a:extLst>
              <a:ext uri="{FF2B5EF4-FFF2-40B4-BE49-F238E27FC236}">
                <a16:creationId xmlns:a16="http://schemas.microsoft.com/office/drawing/2014/main" id="{9AD98A06-9846-C14E-8DDA-9C4090A2CC78}"/>
              </a:ext>
            </a:extLst>
          </p:cNvPr>
          <p:cNvSpPr>
            <a:spLocks noGrp="1" noChangeArrowheads="1"/>
          </p:cNvSpPr>
          <p:nvPr>
            <p:ph type="body" idx="1"/>
          </p:nvPr>
        </p:nvSpPr>
        <p:spPr>
          <a:ln/>
        </p:spPr>
        <p:txBody>
          <a:bodyPr/>
          <a:lstStyle/>
          <a:p>
            <a:pPr>
              <a:defRPr/>
            </a:pPr>
            <a:r>
              <a:rPr lang="en-US" dirty="0">
                <a:ea typeface="ＭＳ Ｐゴシック" charset="0"/>
                <a:cs typeface="+mn-cs"/>
              </a:rPr>
              <a:t>Earlier pipeline stage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55F7D8CC-14C7-3844-BAB5-66FC6762ED67}"/>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7AA14A1A-023E-FE42-B188-64EE46F5D159}" type="slidenum">
              <a:rPr lang="en-US" altLang="en-US" sz="1000">
                <a:solidFill>
                  <a:schemeClr val="tx1"/>
                </a:solidFill>
                <a:latin typeface="Arial" panose="020B0604020202020204" pitchFamily="34" charset="0"/>
              </a:rPr>
              <a:pPr>
                <a:spcBef>
                  <a:spcPct val="0"/>
                </a:spcBef>
                <a:buClrTx/>
                <a:buSzTx/>
                <a:buFontTx/>
                <a:buNone/>
              </a:pPr>
              <a:t>23</a:t>
            </a:fld>
            <a:endParaRPr lang="en-US" altLang="en-US" sz="1000">
              <a:solidFill>
                <a:schemeClr val="tx1"/>
              </a:solidFill>
              <a:latin typeface="Arial" panose="020B0604020202020204" pitchFamily="34" charset="0"/>
            </a:endParaRPr>
          </a:p>
        </p:txBody>
      </p:sp>
      <p:sp>
        <p:nvSpPr>
          <p:cNvPr id="46083" name="Rectangle 2">
            <a:extLst>
              <a:ext uri="{FF2B5EF4-FFF2-40B4-BE49-F238E27FC236}">
                <a16:creationId xmlns:a16="http://schemas.microsoft.com/office/drawing/2014/main" id="{0E8BA3FA-03EB-6E42-82DB-A0006B49B7CC}"/>
              </a:ext>
            </a:extLst>
          </p:cNvPr>
          <p:cNvSpPr>
            <a:spLocks noGrp="1" noRot="1" noChangeAspect="1" noChangeArrowheads="1" noTextEdit="1"/>
          </p:cNvSpPr>
          <p:nvPr>
            <p:ph type="sldImg"/>
          </p:nvPr>
        </p:nvSpPr>
        <p:spPr>
          <a:ln cap="flat"/>
        </p:spPr>
      </p:sp>
      <p:sp>
        <p:nvSpPr>
          <p:cNvPr id="152579" name="Rectangle 3">
            <a:extLst>
              <a:ext uri="{FF2B5EF4-FFF2-40B4-BE49-F238E27FC236}">
                <a16:creationId xmlns:a16="http://schemas.microsoft.com/office/drawing/2014/main" id="{77AB3E42-A3BF-3449-AE95-7F32138AA676}"/>
              </a:ext>
            </a:extLst>
          </p:cNvPr>
          <p:cNvSpPr>
            <a:spLocks noGrp="1" noChangeArrowheads="1"/>
          </p:cNvSpPr>
          <p:nvPr>
            <p:ph type="body" idx="1"/>
          </p:nvPr>
        </p:nvSpPr>
        <p:spPr>
          <a:ln/>
        </p:spPr>
        <p:txBody>
          <a:bodyPr/>
          <a:lstStyle/>
          <a:p>
            <a:pPr>
              <a:defRPr/>
            </a:pPr>
            <a:r>
              <a:rPr lang="en-US" dirty="0">
                <a:ea typeface="ＭＳ Ｐゴシック" charset="0"/>
                <a:cs typeface="+mn-cs"/>
              </a:rPr>
              <a:t>Why IF? Because in the next clock cycle, we are gong to fetch the next instruction.</a:t>
            </a:r>
          </a:p>
          <a:p>
            <a:pPr>
              <a:defRPr/>
            </a:pPr>
            <a:r>
              <a:rPr lang="en-US" dirty="0">
                <a:ea typeface="ＭＳ Ｐゴシック" charset="0"/>
                <a:cs typeface="+mn-cs"/>
              </a:rPr>
              <a:t>What is the next instruction?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C8DFED63-6414-164F-A435-E33CB55A7C50}"/>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86E3ADE6-7CE1-D04E-8F0C-E57B69EF3775}" type="slidenum">
              <a:rPr lang="en-US" altLang="en-US" sz="1000">
                <a:solidFill>
                  <a:schemeClr val="tx1"/>
                </a:solidFill>
                <a:latin typeface="Arial" panose="020B0604020202020204" pitchFamily="34" charset="0"/>
              </a:rPr>
              <a:pPr>
                <a:spcBef>
                  <a:spcPct val="0"/>
                </a:spcBef>
                <a:buClrTx/>
                <a:buSzTx/>
                <a:buFontTx/>
                <a:buNone/>
              </a:pPr>
              <a:t>24</a:t>
            </a:fld>
            <a:endParaRPr lang="en-US" altLang="en-US" sz="1000">
              <a:solidFill>
                <a:schemeClr val="tx1"/>
              </a:solidFill>
              <a:latin typeface="Arial" panose="020B0604020202020204" pitchFamily="34" charset="0"/>
            </a:endParaRPr>
          </a:p>
        </p:txBody>
      </p:sp>
      <p:sp>
        <p:nvSpPr>
          <p:cNvPr id="48131" name="Rectangle 2">
            <a:extLst>
              <a:ext uri="{FF2B5EF4-FFF2-40B4-BE49-F238E27FC236}">
                <a16:creationId xmlns:a16="http://schemas.microsoft.com/office/drawing/2014/main" id="{21725F6C-9178-1946-BC74-9EF488682114}"/>
              </a:ext>
            </a:extLst>
          </p:cNvPr>
          <p:cNvSpPr>
            <a:spLocks noGrp="1" noRot="1" noChangeAspect="1" noChangeArrowheads="1" noTextEdit="1"/>
          </p:cNvSpPr>
          <p:nvPr>
            <p:ph type="sldImg"/>
          </p:nvPr>
        </p:nvSpPr>
        <p:spPr>
          <a:ln cap="flat"/>
        </p:spPr>
      </p:sp>
      <p:sp>
        <p:nvSpPr>
          <p:cNvPr id="154627" name="Rectangle 3">
            <a:extLst>
              <a:ext uri="{FF2B5EF4-FFF2-40B4-BE49-F238E27FC236}">
                <a16:creationId xmlns:a16="http://schemas.microsoft.com/office/drawing/2014/main" id="{180ED82A-3931-224F-8401-F94247CB9AC0}"/>
              </a:ext>
            </a:extLst>
          </p:cNvPr>
          <p:cNvSpPr>
            <a:spLocks noGrp="1" noChangeArrowheads="1"/>
          </p:cNvSpPr>
          <p:nvPr>
            <p:ph type="body" idx="1"/>
          </p:nvPr>
        </p:nvSpPr>
        <p:spPr>
          <a:ln/>
        </p:spPr>
        <p:txBody>
          <a:bodyPr/>
          <a:lstStyle/>
          <a:p>
            <a:pPr>
              <a:defRPr/>
            </a:pPr>
            <a:endParaRPr lang="en-US">
              <a:ea typeface="ＭＳ Ｐゴシック" charset="0"/>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F810804F-65C7-7548-8ABE-7D1368C55B67}"/>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FE77B688-8A4C-8F42-B3A4-C6F0EF7E1DF5}" type="slidenum">
              <a:rPr lang="en-US" altLang="en-US" sz="1000">
                <a:solidFill>
                  <a:schemeClr val="tx1"/>
                </a:solidFill>
                <a:latin typeface="Arial" panose="020B0604020202020204" pitchFamily="34" charset="0"/>
              </a:rPr>
              <a:pPr>
                <a:spcBef>
                  <a:spcPct val="0"/>
                </a:spcBef>
                <a:buClrTx/>
                <a:buSzTx/>
                <a:buFontTx/>
                <a:buNone/>
              </a:pPr>
              <a:t>25</a:t>
            </a:fld>
            <a:endParaRPr lang="en-US" altLang="en-US" sz="1000">
              <a:solidFill>
                <a:schemeClr val="tx1"/>
              </a:solidFill>
              <a:latin typeface="Arial" panose="020B0604020202020204" pitchFamily="34" charset="0"/>
            </a:endParaRPr>
          </a:p>
        </p:txBody>
      </p:sp>
      <p:sp>
        <p:nvSpPr>
          <p:cNvPr id="50179" name="Rectangle 2">
            <a:extLst>
              <a:ext uri="{FF2B5EF4-FFF2-40B4-BE49-F238E27FC236}">
                <a16:creationId xmlns:a16="http://schemas.microsoft.com/office/drawing/2014/main" id="{081A2E77-559C-0B4D-894F-7B8069AD780D}"/>
              </a:ext>
            </a:extLst>
          </p:cNvPr>
          <p:cNvSpPr>
            <a:spLocks noGrp="1" noRot="1" noChangeAspect="1" noChangeArrowheads="1" noTextEdit="1"/>
          </p:cNvSpPr>
          <p:nvPr>
            <p:ph type="sldImg"/>
          </p:nvPr>
        </p:nvSpPr>
        <p:spPr>
          <a:ln cap="flat"/>
        </p:spPr>
      </p:sp>
      <p:sp>
        <p:nvSpPr>
          <p:cNvPr id="156675" name="Rectangle 3">
            <a:extLst>
              <a:ext uri="{FF2B5EF4-FFF2-40B4-BE49-F238E27FC236}">
                <a16:creationId xmlns:a16="http://schemas.microsoft.com/office/drawing/2014/main" id="{8E9A655E-2266-7F40-84D5-F275C4C6640B}"/>
              </a:ext>
            </a:extLst>
          </p:cNvPr>
          <p:cNvSpPr>
            <a:spLocks noGrp="1" noChangeArrowheads="1"/>
          </p:cNvSpPr>
          <p:nvPr>
            <p:ph type="body" idx="1"/>
          </p:nvPr>
        </p:nvSpPr>
        <p:spPr>
          <a:ln/>
        </p:spPr>
        <p:txBody>
          <a:bodyPr/>
          <a:lstStyle/>
          <a:p>
            <a:pPr>
              <a:defRPr/>
            </a:pPr>
            <a:r>
              <a:rPr lang="en-US" dirty="0">
                <a:ea typeface="ＭＳ Ｐゴシック" charset="0"/>
                <a:cs typeface="+mn-cs"/>
              </a:rPr>
              <a:t>Extend BTB</a:t>
            </a:r>
          </a:p>
          <a:p>
            <a:pPr>
              <a:defRPr/>
            </a:pPr>
            <a:endParaRPr lang="en-US" dirty="0">
              <a:ea typeface="ＭＳ Ｐゴシック" charset="0"/>
              <a:cs typeface="+mn-cs"/>
            </a:endParaRPr>
          </a:p>
          <a:p>
            <a:pPr>
              <a:defRPr/>
            </a:pPr>
            <a:r>
              <a:rPr lang="en-US" dirty="0">
                <a:ea typeface="ＭＳ Ｐゴシック" charset="0"/>
                <a:cs typeface="+mn-cs"/>
              </a:rPr>
              <a:t>Recursive function?</a:t>
            </a:r>
          </a:p>
          <a:p>
            <a:pPr>
              <a:defRPr/>
            </a:pPr>
            <a:r>
              <a:rPr lang="en-US" dirty="0">
                <a:ea typeface="ＭＳ Ｐゴシック" charset="0"/>
                <a:cs typeface="+mn-cs"/>
              </a:rPr>
              <a:t>Push push push… aside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C3AB50C8-9339-8A4A-A295-738332794BF4}"/>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66F464A5-DAA4-794D-9B84-6BC8E06BD130}" type="slidenum">
              <a:rPr lang="en-US" altLang="en-US" sz="1000">
                <a:solidFill>
                  <a:schemeClr val="tx1"/>
                </a:solidFill>
                <a:latin typeface="Arial" panose="020B0604020202020204" pitchFamily="34" charset="0"/>
              </a:rPr>
              <a:pPr>
                <a:spcBef>
                  <a:spcPct val="0"/>
                </a:spcBef>
                <a:buClrTx/>
                <a:buSzTx/>
                <a:buFontTx/>
                <a:buNone/>
              </a:pPr>
              <a:t>26</a:t>
            </a:fld>
            <a:endParaRPr lang="en-US" altLang="en-US" sz="1000">
              <a:solidFill>
                <a:schemeClr val="tx1"/>
              </a:solidFill>
              <a:latin typeface="Arial" panose="020B0604020202020204" pitchFamily="34" charset="0"/>
            </a:endParaRPr>
          </a:p>
        </p:txBody>
      </p:sp>
      <p:sp>
        <p:nvSpPr>
          <p:cNvPr id="52227" name="Rectangle 2">
            <a:extLst>
              <a:ext uri="{FF2B5EF4-FFF2-40B4-BE49-F238E27FC236}">
                <a16:creationId xmlns:a16="http://schemas.microsoft.com/office/drawing/2014/main" id="{5192C862-AAF9-1C48-BC32-21D85153D2C2}"/>
              </a:ext>
            </a:extLst>
          </p:cNvPr>
          <p:cNvSpPr>
            <a:spLocks noGrp="1" noRot="1" noChangeAspect="1" noChangeArrowheads="1" noTextEdit="1"/>
          </p:cNvSpPr>
          <p:nvPr>
            <p:ph type="sldImg"/>
          </p:nvPr>
        </p:nvSpPr>
        <p:spPr>
          <a:ln cap="flat"/>
        </p:spPr>
      </p:sp>
      <p:sp>
        <p:nvSpPr>
          <p:cNvPr id="160771" name="Rectangle 3">
            <a:extLst>
              <a:ext uri="{FF2B5EF4-FFF2-40B4-BE49-F238E27FC236}">
                <a16:creationId xmlns:a16="http://schemas.microsoft.com/office/drawing/2014/main" id="{31F4AADC-E61C-1D47-81B8-E8EB45E7A73E}"/>
              </a:ext>
            </a:extLst>
          </p:cNvPr>
          <p:cNvSpPr>
            <a:spLocks noGrp="1" noChangeArrowheads="1"/>
          </p:cNvSpPr>
          <p:nvPr>
            <p:ph type="body" idx="1"/>
          </p:nvPr>
        </p:nvSpPr>
        <p:spPr>
          <a:ln/>
        </p:spPr>
        <p:txBody>
          <a:bodyPr/>
          <a:lstStyle/>
          <a:p>
            <a:pPr>
              <a:defRPr/>
            </a:pPr>
            <a:endParaRPr lang="en-US">
              <a:ea typeface="ＭＳ Ｐゴシック" charset="0"/>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96B677D2-AF14-C044-9E5A-43F56F957AD9}"/>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52B2E076-0441-B749-8684-32945128FBEF}" type="slidenum">
              <a:rPr lang="en-US" altLang="en-US" sz="1000">
                <a:solidFill>
                  <a:schemeClr val="tx1"/>
                </a:solidFill>
                <a:latin typeface="Arial" panose="020B0604020202020204" pitchFamily="34" charset="0"/>
              </a:rPr>
              <a:pPr>
                <a:spcBef>
                  <a:spcPct val="0"/>
                </a:spcBef>
                <a:buClrTx/>
                <a:buSzTx/>
                <a:buFontTx/>
                <a:buNone/>
              </a:pPr>
              <a:t>27</a:t>
            </a:fld>
            <a:endParaRPr lang="en-US" altLang="en-US" sz="1000">
              <a:solidFill>
                <a:schemeClr val="tx1"/>
              </a:solidFill>
              <a:latin typeface="Arial" panose="020B0604020202020204" pitchFamily="34" charset="0"/>
            </a:endParaRPr>
          </a:p>
        </p:txBody>
      </p:sp>
      <p:sp>
        <p:nvSpPr>
          <p:cNvPr id="56323" name="Rectangle 2">
            <a:extLst>
              <a:ext uri="{FF2B5EF4-FFF2-40B4-BE49-F238E27FC236}">
                <a16:creationId xmlns:a16="http://schemas.microsoft.com/office/drawing/2014/main" id="{E949EB8D-7F25-7948-8730-5BA780BA68A5}"/>
              </a:ext>
            </a:extLst>
          </p:cNvPr>
          <p:cNvSpPr>
            <a:spLocks noGrp="1" noRot="1" noChangeAspect="1" noChangeArrowheads="1" noTextEdit="1"/>
          </p:cNvSpPr>
          <p:nvPr>
            <p:ph type="sldImg"/>
          </p:nvPr>
        </p:nvSpPr>
        <p:spPr>
          <a:ln cap="flat"/>
        </p:spPr>
      </p:sp>
      <p:sp>
        <p:nvSpPr>
          <p:cNvPr id="164867" name="Rectangle 3">
            <a:extLst>
              <a:ext uri="{FF2B5EF4-FFF2-40B4-BE49-F238E27FC236}">
                <a16:creationId xmlns:a16="http://schemas.microsoft.com/office/drawing/2014/main" id="{36F4109C-D433-394C-A0F7-8B3DCE9B7BEF}"/>
              </a:ext>
            </a:extLst>
          </p:cNvPr>
          <p:cNvSpPr>
            <a:spLocks noGrp="1" noChangeArrowheads="1"/>
          </p:cNvSpPr>
          <p:nvPr>
            <p:ph type="body" idx="1"/>
          </p:nvPr>
        </p:nvSpPr>
        <p:spPr>
          <a:ln/>
        </p:spPr>
        <p:txBody>
          <a:bodyPr/>
          <a:lstStyle/>
          <a:p>
            <a:pPr>
              <a:defRPr/>
            </a:pPr>
            <a:r>
              <a:rPr lang="en-US" dirty="0">
                <a:ea typeface="ＭＳ Ｐゴシック" charset="0"/>
                <a:cs typeface="+mn-cs"/>
              </a:rPr>
              <a:t>100 taken 1 not taken</a:t>
            </a:r>
          </a:p>
          <a:p>
            <a:pPr>
              <a:defRPr/>
            </a:pPr>
            <a:endParaRPr lang="en-US" dirty="0">
              <a:ea typeface="ＭＳ Ｐゴシック" charset="0"/>
              <a:cs typeface="+mn-cs"/>
            </a:endParaRPr>
          </a:p>
          <a:p>
            <a:pPr>
              <a:defRPr/>
            </a:pPr>
            <a:r>
              <a:rPr lang="en-US" dirty="0">
                <a:ea typeface="ＭＳ Ｐゴシック" charset="0"/>
                <a:cs typeface="+mn-cs"/>
              </a:rPr>
              <a:t>No gain beyond 2 bit,,, all current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40453316-729E-1340-BA64-DC4DED291500}"/>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85904152-DBE7-D04E-932C-D0AF94675ACE}" type="slidenum">
              <a:rPr lang="en-US" altLang="en-US" sz="1000">
                <a:solidFill>
                  <a:schemeClr val="tx1"/>
                </a:solidFill>
                <a:latin typeface="Arial" panose="020B0604020202020204" pitchFamily="34" charset="0"/>
              </a:rPr>
              <a:pPr>
                <a:spcBef>
                  <a:spcPct val="0"/>
                </a:spcBef>
                <a:buClrTx/>
                <a:buSzTx/>
                <a:buFontTx/>
                <a:buNone/>
              </a:pPr>
              <a:t>28</a:t>
            </a:fld>
            <a:endParaRPr lang="en-US" altLang="en-US" sz="1000">
              <a:solidFill>
                <a:schemeClr val="tx1"/>
              </a:solidFill>
              <a:latin typeface="Arial" panose="020B0604020202020204" pitchFamily="34" charset="0"/>
            </a:endParaRPr>
          </a:p>
        </p:txBody>
      </p:sp>
      <p:sp>
        <p:nvSpPr>
          <p:cNvPr id="58371" name="Rectangle 2">
            <a:extLst>
              <a:ext uri="{FF2B5EF4-FFF2-40B4-BE49-F238E27FC236}">
                <a16:creationId xmlns:a16="http://schemas.microsoft.com/office/drawing/2014/main" id="{7A218317-FD9F-314C-B377-4B542703A0B1}"/>
              </a:ext>
            </a:extLst>
          </p:cNvPr>
          <p:cNvSpPr>
            <a:spLocks noGrp="1" noRot="1" noChangeAspect="1" noChangeArrowheads="1" noTextEdit="1"/>
          </p:cNvSpPr>
          <p:nvPr>
            <p:ph type="sldImg"/>
          </p:nvPr>
        </p:nvSpPr>
        <p:spPr>
          <a:ln cap="flat"/>
        </p:spPr>
      </p:sp>
      <p:sp>
        <p:nvSpPr>
          <p:cNvPr id="166915" name="Rectangle 3">
            <a:extLst>
              <a:ext uri="{FF2B5EF4-FFF2-40B4-BE49-F238E27FC236}">
                <a16:creationId xmlns:a16="http://schemas.microsoft.com/office/drawing/2014/main" id="{92E74F54-68C6-BD46-B052-96AE09B28EF5}"/>
              </a:ext>
            </a:extLst>
          </p:cNvPr>
          <p:cNvSpPr>
            <a:spLocks noGrp="1" noChangeArrowheads="1"/>
          </p:cNvSpPr>
          <p:nvPr>
            <p:ph type="body" idx="1"/>
          </p:nvPr>
        </p:nvSpPr>
        <p:spPr>
          <a:ln/>
        </p:spPr>
        <p:txBody>
          <a:bodyPr/>
          <a:lstStyle/>
          <a:p>
            <a:pPr>
              <a:defRPr/>
            </a:pPr>
            <a:endParaRPr lang="en-US">
              <a:ea typeface="ＭＳ Ｐゴシック" charset="0"/>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AF864C81-E4D6-814E-8E74-0C55C6E2571B}"/>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0DC07456-C07F-D648-A6CC-BBDAA8F00391}" type="slidenum">
              <a:rPr lang="en-US" altLang="en-US" sz="1000">
                <a:solidFill>
                  <a:schemeClr val="tx1"/>
                </a:solidFill>
                <a:latin typeface="Arial" panose="020B0604020202020204" pitchFamily="34" charset="0"/>
              </a:rPr>
              <a:pPr>
                <a:spcBef>
                  <a:spcPct val="0"/>
                </a:spcBef>
                <a:buClrTx/>
                <a:buSzTx/>
                <a:buFontTx/>
                <a:buNone/>
              </a:pPr>
              <a:t>34</a:t>
            </a:fld>
            <a:endParaRPr lang="en-US" altLang="en-US" sz="1000">
              <a:solidFill>
                <a:schemeClr val="tx1"/>
              </a:solidFill>
              <a:latin typeface="Arial" panose="020B0604020202020204" pitchFamily="34" charset="0"/>
            </a:endParaRPr>
          </a:p>
        </p:txBody>
      </p:sp>
      <p:sp>
        <p:nvSpPr>
          <p:cNvPr id="62467" name="Rectangle 2">
            <a:extLst>
              <a:ext uri="{FF2B5EF4-FFF2-40B4-BE49-F238E27FC236}">
                <a16:creationId xmlns:a16="http://schemas.microsoft.com/office/drawing/2014/main" id="{DC2E4316-72AF-914B-92BE-FBFE6AAB0EA9}"/>
              </a:ext>
            </a:extLst>
          </p:cNvPr>
          <p:cNvSpPr>
            <a:spLocks noGrp="1" noRot="1" noChangeAspect="1" noChangeArrowheads="1" noTextEdit="1"/>
          </p:cNvSpPr>
          <p:nvPr>
            <p:ph type="sldImg"/>
          </p:nvPr>
        </p:nvSpPr>
        <p:spPr>
          <a:ln cap="flat"/>
        </p:spPr>
      </p:sp>
      <p:sp>
        <p:nvSpPr>
          <p:cNvPr id="168963" name="Rectangle 3">
            <a:extLst>
              <a:ext uri="{FF2B5EF4-FFF2-40B4-BE49-F238E27FC236}">
                <a16:creationId xmlns:a16="http://schemas.microsoft.com/office/drawing/2014/main" id="{46684267-9412-1048-94E4-6FDFC692E453}"/>
              </a:ext>
            </a:extLst>
          </p:cNvPr>
          <p:cNvSpPr>
            <a:spLocks noGrp="1" noChangeArrowheads="1"/>
          </p:cNvSpPr>
          <p:nvPr>
            <p:ph type="body" idx="1"/>
          </p:nvPr>
        </p:nvSpPr>
        <p:spPr>
          <a:ln/>
        </p:spPr>
        <p:txBody>
          <a:bodyPr/>
          <a:lstStyle/>
          <a:p>
            <a:pPr>
              <a:defRPr/>
            </a:pPr>
            <a:endParaRPr lang="en-US">
              <a:ea typeface="ＭＳ Ｐゴシック" charset="0"/>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1F0687A8-FAC2-2B47-8F3E-450417A5A625}"/>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92DBA27D-09B5-4D4F-A929-34C2A3C872F0}" type="slidenum">
              <a:rPr lang="en-US" altLang="en-US" sz="1000">
                <a:solidFill>
                  <a:schemeClr val="tx1"/>
                </a:solidFill>
                <a:latin typeface="Arial" panose="020B0604020202020204" pitchFamily="34" charset="0"/>
              </a:rPr>
              <a:pPr>
                <a:spcBef>
                  <a:spcPct val="0"/>
                </a:spcBef>
                <a:buClrTx/>
                <a:buSzTx/>
                <a:buFontTx/>
                <a:buNone/>
              </a:pPr>
              <a:t>35</a:t>
            </a:fld>
            <a:endParaRPr lang="en-US" altLang="en-US" sz="1000">
              <a:solidFill>
                <a:schemeClr val="tx1"/>
              </a:solidFill>
              <a:latin typeface="Arial" panose="020B0604020202020204" pitchFamily="34" charset="0"/>
            </a:endParaRPr>
          </a:p>
        </p:txBody>
      </p:sp>
      <p:sp>
        <p:nvSpPr>
          <p:cNvPr id="64515" name="Rectangle 2">
            <a:extLst>
              <a:ext uri="{FF2B5EF4-FFF2-40B4-BE49-F238E27FC236}">
                <a16:creationId xmlns:a16="http://schemas.microsoft.com/office/drawing/2014/main" id="{44A7BFC3-262F-A346-8130-874F36FF99DB}"/>
              </a:ext>
            </a:extLst>
          </p:cNvPr>
          <p:cNvSpPr>
            <a:spLocks noGrp="1" noRot="1" noChangeAspect="1" noChangeArrowheads="1" noTextEdit="1"/>
          </p:cNvSpPr>
          <p:nvPr>
            <p:ph type="sldImg"/>
          </p:nvPr>
        </p:nvSpPr>
        <p:spPr>
          <a:ln cap="flat"/>
        </p:spPr>
      </p:sp>
      <p:sp>
        <p:nvSpPr>
          <p:cNvPr id="171011" name="Rectangle 3">
            <a:extLst>
              <a:ext uri="{FF2B5EF4-FFF2-40B4-BE49-F238E27FC236}">
                <a16:creationId xmlns:a16="http://schemas.microsoft.com/office/drawing/2014/main" id="{8950D3B7-7CAC-CA43-91B0-55D452B9B55C}"/>
              </a:ext>
            </a:extLst>
          </p:cNvPr>
          <p:cNvSpPr>
            <a:spLocks noGrp="1" noChangeArrowheads="1"/>
          </p:cNvSpPr>
          <p:nvPr>
            <p:ph type="body" idx="1"/>
          </p:nvPr>
        </p:nvSpPr>
        <p:spPr>
          <a:ln/>
        </p:spPr>
        <p:txBody>
          <a:bodyPr/>
          <a:lstStyle/>
          <a:p>
            <a:pPr>
              <a:defRPr/>
            </a:pPr>
            <a:r>
              <a:rPr lang="en-US" dirty="0">
                <a:ea typeface="ＭＳ Ｐゴシック" charset="0"/>
                <a:cs typeface="+mn-cs"/>
              </a:rPr>
              <a:t>BHR, if it is taken, left shit +1, if it is not taken, left </a:t>
            </a:r>
            <a:r>
              <a:rPr lang="en-US" dirty="0" err="1">
                <a:ea typeface="ＭＳ Ｐゴシック" charset="0"/>
                <a:cs typeface="+mn-cs"/>
              </a:rPr>
              <a:t>sifht</a:t>
            </a:r>
            <a:r>
              <a:rPr lang="en-US" dirty="0">
                <a:ea typeface="ＭＳ Ｐゴシック" charset="0"/>
                <a:cs typeface="+mn-cs"/>
              </a:rPr>
              <a:t> + 0</a:t>
            </a:r>
          </a:p>
          <a:p>
            <a:pPr>
              <a:defRPr/>
            </a:pPr>
            <a:endParaRPr lang="en-US" dirty="0">
              <a:ea typeface="ＭＳ Ｐゴシック" charset="0"/>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DD35344E-C957-9B49-9444-5082909CAD20}"/>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EC8E0253-F075-A748-A847-6A343304182C}" type="slidenum">
              <a:rPr lang="en-US" altLang="en-US" sz="1000">
                <a:solidFill>
                  <a:schemeClr val="tx1"/>
                </a:solidFill>
                <a:latin typeface="Arial" panose="020B0604020202020204" pitchFamily="34" charset="0"/>
              </a:rPr>
              <a:pPr>
                <a:spcBef>
                  <a:spcPct val="0"/>
                </a:spcBef>
                <a:buClrTx/>
                <a:buSzTx/>
                <a:buFontTx/>
                <a:buNone/>
              </a:pPr>
              <a:t>38</a:t>
            </a:fld>
            <a:endParaRPr lang="en-US" altLang="en-US" sz="1000">
              <a:solidFill>
                <a:schemeClr val="tx1"/>
              </a:solidFill>
              <a:latin typeface="Arial" panose="020B0604020202020204" pitchFamily="34" charset="0"/>
            </a:endParaRPr>
          </a:p>
        </p:txBody>
      </p:sp>
      <p:sp>
        <p:nvSpPr>
          <p:cNvPr id="69635" name="Rectangle 2">
            <a:extLst>
              <a:ext uri="{FF2B5EF4-FFF2-40B4-BE49-F238E27FC236}">
                <a16:creationId xmlns:a16="http://schemas.microsoft.com/office/drawing/2014/main" id="{FFB518CA-D4B9-2142-9A05-EBE1A6791D19}"/>
              </a:ext>
            </a:extLst>
          </p:cNvPr>
          <p:cNvSpPr>
            <a:spLocks noGrp="1" noRot="1" noChangeAspect="1" noChangeArrowheads="1" noTextEdit="1"/>
          </p:cNvSpPr>
          <p:nvPr>
            <p:ph type="sldImg"/>
          </p:nvPr>
        </p:nvSpPr>
        <p:spPr>
          <a:ln cap="flat"/>
        </p:spPr>
      </p:sp>
      <p:sp>
        <p:nvSpPr>
          <p:cNvPr id="174083" name="Rectangle 3">
            <a:extLst>
              <a:ext uri="{FF2B5EF4-FFF2-40B4-BE49-F238E27FC236}">
                <a16:creationId xmlns:a16="http://schemas.microsoft.com/office/drawing/2014/main" id="{B01B437F-AFD1-C64E-BF8C-A7E7D45FEF43}"/>
              </a:ext>
            </a:extLst>
          </p:cNvPr>
          <p:cNvSpPr>
            <a:spLocks noGrp="1" noChangeArrowheads="1"/>
          </p:cNvSpPr>
          <p:nvPr>
            <p:ph type="body" idx="1"/>
          </p:nvPr>
        </p:nvSpPr>
        <p:spPr>
          <a:ln/>
        </p:spPr>
        <p:txBody>
          <a:bodyPr/>
          <a:lstStyle/>
          <a:p>
            <a:pPr>
              <a:defRPr/>
            </a:pPr>
            <a:r>
              <a:rPr lang="en-US" dirty="0">
                <a:ea typeface="ＭＳ Ｐゴシック" charset="0"/>
                <a:cs typeface="+mn-cs"/>
              </a:rPr>
              <a:t>Some branches can depend on themselves…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A25B5696-25B2-CF4F-A168-7990DACC33E4}"/>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8632929D-01B1-634C-990B-87A867D58235}" type="slidenum">
              <a:rPr lang="en-US" altLang="en-US" sz="1000">
                <a:solidFill>
                  <a:schemeClr val="tx1"/>
                </a:solidFill>
                <a:latin typeface="Arial" panose="020B0604020202020204" pitchFamily="34" charset="0"/>
              </a:rPr>
              <a:pPr>
                <a:spcBef>
                  <a:spcPct val="0"/>
                </a:spcBef>
                <a:buClrTx/>
                <a:buSzTx/>
                <a:buFontTx/>
                <a:buNone/>
              </a:pPr>
              <a:t>39</a:t>
            </a:fld>
            <a:endParaRPr lang="en-US" altLang="en-US" sz="1000">
              <a:solidFill>
                <a:schemeClr val="tx1"/>
              </a:solidFill>
              <a:latin typeface="Arial" panose="020B0604020202020204" pitchFamily="34" charset="0"/>
            </a:endParaRPr>
          </a:p>
        </p:txBody>
      </p:sp>
      <p:sp>
        <p:nvSpPr>
          <p:cNvPr id="71683" name="Rectangle 2">
            <a:extLst>
              <a:ext uri="{FF2B5EF4-FFF2-40B4-BE49-F238E27FC236}">
                <a16:creationId xmlns:a16="http://schemas.microsoft.com/office/drawing/2014/main" id="{2601BB00-62F0-E749-BE72-B7A603F717BC}"/>
              </a:ext>
            </a:extLst>
          </p:cNvPr>
          <p:cNvSpPr>
            <a:spLocks noGrp="1" noRot="1" noChangeAspect="1" noChangeArrowheads="1" noTextEdit="1"/>
          </p:cNvSpPr>
          <p:nvPr>
            <p:ph type="sldImg"/>
          </p:nvPr>
        </p:nvSpPr>
        <p:spPr>
          <a:ln cap="flat"/>
        </p:spPr>
      </p:sp>
      <p:sp>
        <p:nvSpPr>
          <p:cNvPr id="176131" name="Rectangle 3">
            <a:extLst>
              <a:ext uri="{FF2B5EF4-FFF2-40B4-BE49-F238E27FC236}">
                <a16:creationId xmlns:a16="http://schemas.microsoft.com/office/drawing/2014/main" id="{D3E4B95B-8DBF-D64A-95BF-4CEA309B0F78}"/>
              </a:ext>
            </a:extLst>
          </p:cNvPr>
          <p:cNvSpPr>
            <a:spLocks noGrp="1" noChangeArrowheads="1"/>
          </p:cNvSpPr>
          <p:nvPr>
            <p:ph type="body" idx="1"/>
          </p:nvPr>
        </p:nvSpPr>
        <p:spPr>
          <a:ln/>
        </p:spPr>
        <p:txBody>
          <a:bodyPr/>
          <a:lstStyle/>
          <a:p>
            <a:pPr>
              <a:defRPr/>
            </a:pPr>
            <a:endParaRPr lang="en-US" dirty="0">
              <a:ea typeface="ＭＳ Ｐゴシック" charset="0"/>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42</a:t>
            </a:fld>
            <a:endParaRPr lang="en-US"/>
          </a:p>
        </p:txBody>
      </p:sp>
    </p:spTree>
    <p:extLst>
      <p:ext uri="{BB962C8B-B14F-4D97-AF65-F5344CB8AC3E}">
        <p14:creationId xmlns:p14="http://schemas.microsoft.com/office/powerpoint/2010/main" val="22374521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1BCE4842-D8EC-C14A-9EE3-17D13FE3B17F}"/>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B0460D67-C7A5-6D4D-916F-153B06A4F954}" type="slidenum">
              <a:rPr lang="en-US" altLang="en-US" sz="1000">
                <a:solidFill>
                  <a:schemeClr val="tx1"/>
                </a:solidFill>
                <a:latin typeface="Arial" panose="020B0604020202020204" pitchFamily="34" charset="0"/>
              </a:rPr>
              <a:pPr>
                <a:spcBef>
                  <a:spcPct val="0"/>
                </a:spcBef>
                <a:buClrTx/>
                <a:buSzTx/>
                <a:buFontTx/>
                <a:buNone/>
              </a:pPr>
              <a:t>43</a:t>
            </a:fld>
            <a:endParaRPr lang="en-US" altLang="en-US" sz="1000">
              <a:solidFill>
                <a:schemeClr val="tx1"/>
              </a:solidFill>
              <a:latin typeface="Arial" panose="020B0604020202020204" pitchFamily="34" charset="0"/>
            </a:endParaRPr>
          </a:p>
        </p:txBody>
      </p:sp>
      <p:sp>
        <p:nvSpPr>
          <p:cNvPr id="76803" name="Rectangle 2">
            <a:extLst>
              <a:ext uri="{FF2B5EF4-FFF2-40B4-BE49-F238E27FC236}">
                <a16:creationId xmlns:a16="http://schemas.microsoft.com/office/drawing/2014/main" id="{32EF2DDA-7035-144A-9299-564DB2E4422A}"/>
              </a:ext>
            </a:extLst>
          </p:cNvPr>
          <p:cNvSpPr>
            <a:spLocks noGrp="1" noRot="1" noChangeAspect="1" noChangeArrowheads="1" noTextEdit="1"/>
          </p:cNvSpPr>
          <p:nvPr>
            <p:ph type="sldImg"/>
          </p:nvPr>
        </p:nvSpPr>
        <p:spPr>
          <a:ln cap="flat"/>
        </p:spPr>
      </p:sp>
      <p:sp>
        <p:nvSpPr>
          <p:cNvPr id="193539" name="Rectangle 3">
            <a:extLst>
              <a:ext uri="{FF2B5EF4-FFF2-40B4-BE49-F238E27FC236}">
                <a16:creationId xmlns:a16="http://schemas.microsoft.com/office/drawing/2014/main" id="{A5A7C712-E55B-284B-BDDF-C46C4665F9E4}"/>
              </a:ext>
            </a:extLst>
          </p:cNvPr>
          <p:cNvSpPr>
            <a:spLocks noGrp="1" noChangeArrowheads="1"/>
          </p:cNvSpPr>
          <p:nvPr>
            <p:ph type="body" idx="1"/>
          </p:nvPr>
        </p:nvSpPr>
        <p:spPr>
          <a:ln/>
        </p:spPr>
        <p:txBody>
          <a:bodyPr/>
          <a:lstStyle/>
          <a:p>
            <a:pPr>
              <a:defRPr/>
            </a:pPr>
            <a:endParaRPr lang="en-US">
              <a:ea typeface="ＭＳ Ｐゴシック" charset="0"/>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F19E68C3-D17C-1F42-8957-84AA4363D9DC}"/>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CB5AD238-9581-2A4C-ABEB-7AC7BBFC2B1A}" type="slidenum">
              <a:rPr lang="en-US" altLang="en-US" sz="1000">
                <a:solidFill>
                  <a:schemeClr val="tx1"/>
                </a:solidFill>
                <a:latin typeface="Arial" panose="020B0604020202020204" pitchFamily="34" charset="0"/>
              </a:rPr>
              <a:pPr>
                <a:spcBef>
                  <a:spcPct val="0"/>
                </a:spcBef>
                <a:buClrTx/>
                <a:buSzTx/>
                <a:buFontTx/>
                <a:buNone/>
              </a:pPr>
              <a:t>44</a:t>
            </a:fld>
            <a:endParaRPr lang="en-US" altLang="en-US" sz="1000">
              <a:solidFill>
                <a:schemeClr val="tx1"/>
              </a:solidFill>
              <a:latin typeface="Arial" panose="020B0604020202020204" pitchFamily="34" charset="0"/>
            </a:endParaRPr>
          </a:p>
        </p:txBody>
      </p:sp>
      <p:sp>
        <p:nvSpPr>
          <p:cNvPr id="78851" name="Rectangle 2">
            <a:extLst>
              <a:ext uri="{FF2B5EF4-FFF2-40B4-BE49-F238E27FC236}">
                <a16:creationId xmlns:a16="http://schemas.microsoft.com/office/drawing/2014/main" id="{9FC60A80-E657-FD4E-9CBE-D7C8B8C73512}"/>
              </a:ext>
            </a:extLst>
          </p:cNvPr>
          <p:cNvSpPr>
            <a:spLocks noGrp="1" noRot="1" noChangeAspect="1" noChangeArrowheads="1" noTextEdit="1"/>
          </p:cNvSpPr>
          <p:nvPr>
            <p:ph type="sldImg"/>
          </p:nvPr>
        </p:nvSpPr>
        <p:spPr>
          <a:ln cap="flat"/>
        </p:spPr>
      </p:sp>
      <p:sp>
        <p:nvSpPr>
          <p:cNvPr id="195587" name="Rectangle 3">
            <a:extLst>
              <a:ext uri="{FF2B5EF4-FFF2-40B4-BE49-F238E27FC236}">
                <a16:creationId xmlns:a16="http://schemas.microsoft.com/office/drawing/2014/main" id="{A95AF770-2DE6-8948-8F7F-C65A00A46EF2}"/>
              </a:ext>
            </a:extLst>
          </p:cNvPr>
          <p:cNvSpPr>
            <a:spLocks noGrp="1" noChangeArrowheads="1"/>
          </p:cNvSpPr>
          <p:nvPr>
            <p:ph type="body" idx="1"/>
          </p:nvPr>
        </p:nvSpPr>
        <p:spPr>
          <a:ln/>
        </p:spPr>
        <p:txBody>
          <a:bodyPr/>
          <a:lstStyle/>
          <a:p>
            <a:pPr>
              <a:defRPr/>
            </a:pPr>
            <a:r>
              <a:rPr lang="en-US" dirty="0">
                <a:ea typeface="ＭＳ Ｐゴシック" charset="0"/>
                <a:cs typeface="+mn-cs"/>
              </a:rPr>
              <a:t>Branch less than zero</a:t>
            </a:r>
          </a:p>
          <a:p>
            <a:pPr>
              <a:defRPr/>
            </a:pPr>
            <a:r>
              <a:rPr lang="en-US" dirty="0">
                <a:ea typeface="ＭＳ Ｐゴシック" charset="0"/>
                <a:cs typeface="+mn-cs"/>
              </a:rPr>
              <a:t>Branch grater than zero</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721823C5-C07F-0C4E-9830-D2FF32D69459}"/>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1pPr>
            <a:lvl2pPr marL="742950" indent="-28575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2pPr>
            <a:lvl3pPr marL="11430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3pPr>
            <a:lvl4pPr marL="16002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4pPr>
            <a:lvl5pPr marL="2057400" indent="-228600" defTabSz="906463">
              <a:spcBef>
                <a:spcPct val="30000"/>
              </a:spcBef>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5pPr>
            <a:lvl6pPr marL="25146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6pPr>
            <a:lvl7pPr marL="29718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7pPr>
            <a:lvl8pPr marL="34290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8pPr>
            <a:lvl9pPr marL="3886200" indent="-228600" defTabSz="9064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ea typeface="MS PGothic" panose="020B0600070205080204" pitchFamily="34" charset="-128"/>
              </a:defRPr>
            </a:lvl9pPr>
          </a:lstStyle>
          <a:p>
            <a:pPr>
              <a:spcBef>
                <a:spcPct val="0"/>
              </a:spcBef>
              <a:buClrTx/>
              <a:buSzTx/>
              <a:buFontTx/>
              <a:buNone/>
            </a:pPr>
            <a:fld id="{697B93E6-DEFA-064E-B82E-0356FF090799}" type="slidenum">
              <a:rPr lang="en-US" altLang="en-US" sz="1000">
                <a:solidFill>
                  <a:schemeClr val="tx1"/>
                </a:solidFill>
                <a:latin typeface="Arial" panose="020B0604020202020204" pitchFamily="34" charset="0"/>
              </a:rPr>
              <a:pPr>
                <a:spcBef>
                  <a:spcPct val="0"/>
                </a:spcBef>
                <a:buClrTx/>
                <a:buSzTx/>
                <a:buFontTx/>
                <a:buNone/>
              </a:pPr>
              <a:t>45</a:t>
            </a:fld>
            <a:endParaRPr lang="en-US" altLang="en-US" sz="1000">
              <a:solidFill>
                <a:schemeClr val="tx1"/>
              </a:solidFill>
              <a:latin typeface="Arial" panose="020B0604020202020204" pitchFamily="34" charset="0"/>
            </a:endParaRPr>
          </a:p>
        </p:txBody>
      </p:sp>
      <p:sp>
        <p:nvSpPr>
          <p:cNvPr id="80899" name="Rectangle 2">
            <a:extLst>
              <a:ext uri="{FF2B5EF4-FFF2-40B4-BE49-F238E27FC236}">
                <a16:creationId xmlns:a16="http://schemas.microsoft.com/office/drawing/2014/main" id="{2587495B-D31C-DE4B-A97B-0439F491258D}"/>
              </a:ext>
            </a:extLst>
          </p:cNvPr>
          <p:cNvSpPr>
            <a:spLocks noGrp="1" noRot="1" noChangeAspect="1" noChangeArrowheads="1" noTextEdit="1"/>
          </p:cNvSpPr>
          <p:nvPr>
            <p:ph type="sldImg"/>
          </p:nvPr>
        </p:nvSpPr>
        <p:spPr>
          <a:ln cap="flat"/>
        </p:spPr>
      </p:sp>
      <p:sp>
        <p:nvSpPr>
          <p:cNvPr id="197635" name="Rectangle 3">
            <a:extLst>
              <a:ext uri="{FF2B5EF4-FFF2-40B4-BE49-F238E27FC236}">
                <a16:creationId xmlns:a16="http://schemas.microsoft.com/office/drawing/2014/main" id="{79994B83-46AC-754F-8596-C4DB21F9AE5B}"/>
              </a:ext>
            </a:extLst>
          </p:cNvPr>
          <p:cNvSpPr>
            <a:spLocks noGrp="1" noChangeArrowheads="1"/>
          </p:cNvSpPr>
          <p:nvPr>
            <p:ph type="body" idx="1"/>
          </p:nvPr>
        </p:nvSpPr>
        <p:spPr>
          <a:ln/>
        </p:spPr>
        <p:txBody>
          <a:bodyPr/>
          <a:lstStyle/>
          <a:p>
            <a:pPr>
              <a:defRPr/>
            </a:pPr>
            <a:endParaRPr lang="en-US">
              <a:ea typeface="ＭＳ Ｐゴシック" charset="0"/>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is good for performance </a:t>
            </a:r>
            <a:r>
              <a:rPr lang="en-US" dirty="0" err="1"/>
              <a:t>improvment</a:t>
            </a:r>
            <a:endParaRPr lang="en-US" dirty="0"/>
          </a:p>
          <a:p>
            <a:r>
              <a:rPr lang="en-US" dirty="0"/>
              <a:t>however, it can hazards</a:t>
            </a:r>
          </a:p>
          <a:p>
            <a:r>
              <a:rPr lang="en-US" dirty="0"/>
              <a:t>to avoid hazards, we have bypass paths in the pipelines.</a:t>
            </a:r>
          </a:p>
          <a:p>
            <a:endParaRPr lang="en-US" dirty="0"/>
          </a:p>
          <a:p>
            <a:r>
              <a:rPr lang="en-US" dirty="0"/>
              <a:t>When we design our pipeline, we should also </a:t>
            </a:r>
            <a:r>
              <a:rPr lang="en-US" dirty="0" err="1"/>
              <a:t>considier</a:t>
            </a:r>
            <a:r>
              <a:rPr lang="en-US" dirty="0"/>
              <a:t> the bypass paths and their impact on performance.</a:t>
            </a:r>
          </a:p>
          <a:p>
            <a:endParaRPr lang="en-US" dirty="0"/>
          </a:p>
        </p:txBody>
      </p:sp>
      <p:sp>
        <p:nvSpPr>
          <p:cNvPr id="4" name="Slide Number Placeholder 3"/>
          <p:cNvSpPr>
            <a:spLocks noGrp="1"/>
          </p:cNvSpPr>
          <p:nvPr>
            <p:ph type="sldNum" sz="quarter" idx="5"/>
          </p:nvPr>
        </p:nvSpPr>
        <p:spPr/>
        <p:txBody>
          <a:bodyPr/>
          <a:lstStyle/>
          <a:p>
            <a:fld id="{A6B38D67-2875-4081-97FB-ED7B2AD29D1C}" type="slidenum">
              <a:rPr lang="en-US" smtClean="0"/>
              <a:t>59</a:t>
            </a:fld>
            <a:endParaRPr lang="en-US"/>
          </a:p>
        </p:txBody>
      </p:sp>
    </p:spTree>
    <p:extLst>
      <p:ext uri="{BB962C8B-B14F-4D97-AF65-F5344CB8AC3E}">
        <p14:creationId xmlns:p14="http://schemas.microsoft.com/office/powerpoint/2010/main" val="1854705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3C4B32-181F-47F3-A9E7-1A626A04E949}" type="datetimeFigureOut">
              <a:rPr lang="en-US" smtClean="0"/>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3C4B32-181F-47F3-A9E7-1A626A04E949}" type="datetimeFigureOut">
              <a:rPr lang="en-US" smtClean="0"/>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BFB59-84EC-4E39-89BD-0BD405E72013}" type="slidenum">
              <a:rPr lang="en-US" smtClean="0"/>
              <a:t>‹#›</a:t>
            </a:fld>
            <a:endParaRPr lang="en-US"/>
          </a:p>
        </p:txBody>
      </p:sp>
      <p:sp>
        <p:nvSpPr>
          <p:cNvPr id="7" name="Rectangle 6">
            <a:extLst>
              <a:ext uri="{FF2B5EF4-FFF2-40B4-BE49-F238E27FC236}">
                <a16:creationId xmlns:a16="http://schemas.microsoft.com/office/drawing/2014/main" id="{1B805CF0-1361-DF42-A81B-EE39E9DCC38A}"/>
              </a:ext>
            </a:extLst>
          </p:cNvPr>
          <p:cNvSpPr/>
          <p:nvPr userDrawn="1"/>
        </p:nvSpPr>
        <p:spPr>
          <a:xfrm>
            <a:off x="1772" y="6633009"/>
            <a:ext cx="9144000" cy="224991"/>
          </a:xfrm>
          <a:prstGeom prst="rect">
            <a:avLst/>
          </a:prstGeom>
          <a:solidFill>
            <a:srgbClr val="FFCA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A29"/>
              </a:solidFill>
            </a:endParaRPr>
          </a:p>
        </p:txBody>
      </p:sp>
      <p:pic>
        <p:nvPicPr>
          <p:cNvPr id="8" name="Picture 7">
            <a:extLst>
              <a:ext uri="{FF2B5EF4-FFF2-40B4-BE49-F238E27FC236}">
                <a16:creationId xmlns:a16="http://schemas.microsoft.com/office/drawing/2014/main" id="{DD01A2ED-5530-7545-AD52-8B53BF4BC05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66754" y="6145823"/>
            <a:ext cx="527774" cy="712177"/>
          </a:xfrm>
          <a:prstGeom prst="rect">
            <a:avLst/>
          </a:prstGeom>
        </p:spPr>
      </p:pic>
      <p:cxnSp>
        <p:nvCxnSpPr>
          <p:cNvPr id="9" name="Straight Connector 8">
            <a:extLst>
              <a:ext uri="{FF2B5EF4-FFF2-40B4-BE49-F238E27FC236}">
                <a16:creationId xmlns:a16="http://schemas.microsoft.com/office/drawing/2014/main" id="{794591D4-0904-A244-93C6-160819086B95}"/>
              </a:ext>
            </a:extLst>
          </p:cNvPr>
          <p:cNvCxnSpPr>
            <a:cxnSpLocks/>
          </p:cNvCxnSpPr>
          <p:nvPr userDrawn="1"/>
        </p:nvCxnSpPr>
        <p:spPr>
          <a:xfrm>
            <a:off x="0" y="772401"/>
            <a:ext cx="9144000" cy="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3C4B32-181F-47F3-A9E7-1A626A04E949}" type="datetimeFigureOut">
              <a:rPr lang="en-US" smtClean="0"/>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BFB59-84EC-4E39-89BD-0BD405E72013}"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3C4B32-181F-47F3-A9E7-1A626A04E949}" type="datetimeFigureOut">
              <a:rPr lang="en-US" smtClean="0"/>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3C4B32-181F-47F3-A9E7-1A626A04E949}" type="datetimeFigureOut">
              <a:rPr lang="en-US" smtClean="0"/>
              <a:t>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EBFB59-84EC-4E39-89BD-0BD405E72013}"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23C4B32-181F-47F3-A9E7-1A626A04E949}" type="datetimeFigureOut">
              <a:rPr lang="en-US" smtClean="0"/>
              <a:t>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3C4B32-181F-47F3-A9E7-1A626A04E949}" type="datetimeFigureOut">
              <a:rPr lang="en-US" smtClean="0"/>
              <a:t>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3C4B32-181F-47F3-A9E7-1A626A04E949}" type="datetimeFigureOut">
              <a:rPr lang="en-US" smtClean="0"/>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BFB59-84EC-4E39-89BD-0BD405E72013}"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3C4B32-181F-47F3-A9E7-1A626A04E949}" type="datetimeFigureOut">
              <a:rPr lang="en-US" smtClean="0"/>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3C4B32-181F-47F3-A9E7-1A626A04E949}" type="datetimeFigureOut">
              <a:rPr lang="en-US" smtClean="0"/>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3C4B32-181F-47F3-A9E7-1A626A04E949}" type="datetimeFigureOut">
              <a:rPr lang="en-US" smtClean="0"/>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BFB59-84EC-4E39-89BD-0BD405E720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860" y="0"/>
            <a:ext cx="8229600" cy="7724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23C4B32-181F-47F3-A9E7-1A626A04E949}" type="datetimeFigureOut">
              <a:rPr lang="en-US" smtClean="0"/>
              <a:t>2/9/26</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FAEBFB59-84EC-4E39-89BD-0BD405E720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1"/>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9D6D57C-B711-024C-BAF2-BA883E357E72}"/>
              </a:ext>
            </a:extLst>
          </p:cNvPr>
          <p:cNvSpPr txBox="1">
            <a:spLocks/>
          </p:cNvSpPr>
          <p:nvPr/>
        </p:nvSpPr>
        <p:spPr>
          <a:xfrm>
            <a:off x="-75622" y="5101062"/>
            <a:ext cx="9144000" cy="605997"/>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b="0" i="0" kern="1200">
                <a:solidFill>
                  <a:schemeClr val="tx1"/>
                </a:solidFill>
                <a:latin typeface="Helvetica Neue Medium" charset="0"/>
                <a:ea typeface="Helvetica Neue Medium" charset="0"/>
                <a:cs typeface="Helvetica Neue Medium" charset="0"/>
              </a:defRPr>
            </a:lvl1pPr>
          </a:lstStyle>
          <a:p>
            <a:pPr>
              <a:lnSpc>
                <a:spcPts val="2700"/>
              </a:lnSpc>
              <a:spcBef>
                <a:spcPts val="600"/>
              </a:spcBef>
              <a:spcAft>
                <a:spcPts val="600"/>
              </a:spcAft>
            </a:pPr>
            <a:r>
              <a:rPr lang="en-US" sz="2800" dirty="0">
                <a:solidFill>
                  <a:srgbClr val="0432FF"/>
                </a:solidFill>
                <a:latin typeface="Tahoma" panose="020B0604030504040204" pitchFamily="34" charset="0"/>
                <a:ea typeface="Tahoma" panose="020B0604030504040204" pitchFamily="34" charset="0"/>
                <a:cs typeface="Tahoma" panose="020B0604030504040204" pitchFamily="34" charset="0"/>
              </a:rPr>
              <a:t>Prof. Jongouk Choi</a:t>
            </a:r>
          </a:p>
          <a:p>
            <a:pPr>
              <a:lnSpc>
                <a:spcPts val="2700"/>
              </a:lnSpc>
              <a:spcBef>
                <a:spcPts val="600"/>
              </a:spcBef>
              <a:spcAft>
                <a:spcPts val="600"/>
              </a:spcAft>
            </a:pPr>
            <a:r>
              <a:rPr lang="en-US" sz="2800" dirty="0">
                <a:latin typeface="Tahoma" panose="020B0604030504040204" pitchFamily="34" charset="0"/>
                <a:ea typeface="Tahoma" panose="020B0604030504040204" pitchFamily="34" charset="0"/>
                <a:cs typeface="Tahoma" panose="020B0604030504040204" pitchFamily="34" charset="0"/>
              </a:rPr>
              <a:t>University of Central Florida</a:t>
            </a:r>
          </a:p>
          <a:p>
            <a:pPr>
              <a:lnSpc>
                <a:spcPts val="2700"/>
              </a:lnSpc>
              <a:spcBef>
                <a:spcPts val="600"/>
              </a:spcBef>
              <a:spcAft>
                <a:spcPts val="600"/>
              </a:spcAft>
            </a:pPr>
            <a:r>
              <a:rPr lang="en-US" sz="2800" dirty="0">
                <a:latin typeface="Tahoma" panose="020B0604030504040204" pitchFamily="34" charset="0"/>
                <a:ea typeface="Tahoma" panose="020B0604030504040204" pitchFamily="34" charset="0"/>
                <a:cs typeface="Tahoma" panose="020B0604030504040204" pitchFamily="34" charset="0"/>
              </a:rPr>
              <a:t>Spring 2026</a:t>
            </a:r>
            <a:endParaRPr lang="en-US" sz="1400" dirty="0">
              <a:latin typeface="Tahoma" panose="020B0604030504040204" pitchFamily="34" charset="0"/>
              <a:ea typeface="Tahoma" panose="020B0604030504040204" pitchFamily="34" charset="0"/>
              <a:cs typeface="Tahoma" panose="020B0604030504040204" pitchFamily="34" charset="0"/>
            </a:endParaRPr>
          </a:p>
        </p:txBody>
      </p:sp>
      <p:sp>
        <p:nvSpPr>
          <p:cNvPr id="7" name="Title 1">
            <a:extLst>
              <a:ext uri="{FF2B5EF4-FFF2-40B4-BE49-F238E27FC236}">
                <a16:creationId xmlns:a16="http://schemas.microsoft.com/office/drawing/2014/main" id="{A5499016-53BA-F842-AC44-ED74722B0422}"/>
              </a:ext>
            </a:extLst>
          </p:cNvPr>
          <p:cNvSpPr txBox="1">
            <a:spLocks/>
          </p:cNvSpPr>
          <p:nvPr/>
        </p:nvSpPr>
        <p:spPr>
          <a:xfrm>
            <a:off x="-7412" y="3200400"/>
            <a:ext cx="9144000" cy="718002"/>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b="0" i="0" kern="1200">
                <a:solidFill>
                  <a:schemeClr val="tx1"/>
                </a:solidFill>
                <a:latin typeface="Helvetica Neue Medium" charset="0"/>
                <a:ea typeface="Helvetica Neue Medium" charset="0"/>
                <a:cs typeface="Helvetica Neue Medium" charset="0"/>
              </a:defRPr>
            </a:lvl1pPr>
          </a:lstStyle>
          <a:p>
            <a:pPr>
              <a:lnSpc>
                <a:spcPts val="2700"/>
              </a:lnSpc>
              <a:spcBef>
                <a:spcPts val="600"/>
              </a:spcBef>
              <a:spcAft>
                <a:spcPts val="600"/>
              </a:spcAft>
            </a:pPr>
            <a:r>
              <a:rPr lang="en-US" sz="4000" b="1" dirty="0">
                <a:latin typeface="Tahoma" panose="020B0604030504040204" pitchFamily="34" charset="0"/>
                <a:ea typeface="Tahoma" panose="020B0604030504040204" pitchFamily="34" charset="0"/>
                <a:cs typeface="Tahoma" panose="020B0604030504040204" pitchFamily="34" charset="0"/>
              </a:rPr>
              <a:t>CDA 5106: Advanced Computer</a:t>
            </a:r>
          </a:p>
          <a:p>
            <a:pPr>
              <a:lnSpc>
                <a:spcPts val="2700"/>
              </a:lnSpc>
              <a:spcBef>
                <a:spcPts val="600"/>
              </a:spcBef>
              <a:spcAft>
                <a:spcPts val="600"/>
              </a:spcAft>
            </a:pPr>
            <a:r>
              <a:rPr lang="en-US" sz="4000" b="1" dirty="0">
                <a:latin typeface="Tahoma" panose="020B0604030504040204" pitchFamily="34" charset="0"/>
                <a:ea typeface="Tahoma" panose="020B0604030504040204" pitchFamily="34" charset="0"/>
                <a:cs typeface="Tahoma" panose="020B0604030504040204" pitchFamily="34" charset="0"/>
              </a:rPr>
              <a:t>Architecture</a:t>
            </a:r>
          </a:p>
          <a:p>
            <a:pPr>
              <a:lnSpc>
                <a:spcPts val="2700"/>
              </a:lnSpc>
              <a:spcBef>
                <a:spcPts val="600"/>
              </a:spcBef>
              <a:spcAft>
                <a:spcPts val="600"/>
              </a:spcAft>
            </a:pPr>
            <a:endParaRPr lang="en-US" sz="4000" b="1" dirty="0">
              <a:latin typeface="Tahoma" panose="020B0604030504040204" pitchFamily="34" charset="0"/>
              <a:ea typeface="Tahoma" panose="020B0604030504040204" pitchFamily="34" charset="0"/>
              <a:cs typeface="Tahoma" panose="020B0604030504040204" pitchFamily="34" charset="0"/>
            </a:endParaRPr>
          </a:p>
          <a:p>
            <a:pPr>
              <a:lnSpc>
                <a:spcPts val="2700"/>
              </a:lnSpc>
              <a:spcBef>
                <a:spcPts val="600"/>
              </a:spcBef>
              <a:spcAft>
                <a:spcPts val="600"/>
              </a:spcAft>
            </a:pPr>
            <a:r>
              <a:rPr lang="en-US" sz="3600" dirty="0">
                <a:latin typeface="Tahoma" panose="020B0604030504040204" pitchFamily="34" charset="0"/>
                <a:ea typeface="Tahoma" panose="020B0604030504040204" pitchFamily="34" charset="0"/>
                <a:cs typeface="Tahoma" panose="020B0604030504040204" pitchFamily="34" charset="0"/>
              </a:rPr>
              <a:t>Lecture 4: Processor</a:t>
            </a:r>
            <a:endParaRPr lang="en-US" sz="1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86078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4D20CBFD-A0B2-884A-87FC-C9C9D0829AA6}"/>
              </a:ext>
            </a:extLst>
          </p:cNvPr>
          <p:cNvSpPr>
            <a:spLocks noGrp="1" noChangeArrowheads="1"/>
          </p:cNvSpPr>
          <p:nvPr>
            <p:ph type="title"/>
          </p:nvPr>
        </p:nvSpPr>
        <p:spPr/>
        <p:txBody>
          <a:bodyPr/>
          <a:lstStyle/>
          <a:p>
            <a:r>
              <a:rPr lang="en-US" altLang="en-US"/>
              <a:t>Objectives and Outline</a:t>
            </a:r>
          </a:p>
        </p:txBody>
      </p:sp>
      <p:sp>
        <p:nvSpPr>
          <p:cNvPr id="7171" name="Content Placeholder 2">
            <a:extLst>
              <a:ext uri="{FF2B5EF4-FFF2-40B4-BE49-F238E27FC236}">
                <a16:creationId xmlns:a16="http://schemas.microsoft.com/office/drawing/2014/main" id="{46F356D7-8981-4A4F-9282-1A5D03EEA14E}"/>
              </a:ext>
            </a:extLst>
          </p:cNvPr>
          <p:cNvSpPr>
            <a:spLocks noGrp="1" noChangeArrowheads="1"/>
          </p:cNvSpPr>
          <p:nvPr>
            <p:ph idx="1"/>
          </p:nvPr>
        </p:nvSpPr>
        <p:spPr/>
        <p:txBody>
          <a:bodyPr/>
          <a:lstStyle/>
          <a:p>
            <a:r>
              <a:rPr lang="en-US" altLang="en-US" dirty="0"/>
              <a:t>Reading: H&amp;P, Appendix C and Chapter 3</a:t>
            </a:r>
          </a:p>
          <a:p>
            <a:r>
              <a:rPr lang="en-US" altLang="en-US" dirty="0"/>
              <a:t>Objectives:</a:t>
            </a:r>
          </a:p>
          <a:p>
            <a:pPr lvl="1"/>
            <a:r>
              <a:rPr lang="en-US" altLang="en-US" dirty="0">
                <a:ea typeface="MS PGothic" panose="020B0600070205080204" pitchFamily="34" charset="-128"/>
              </a:rPr>
              <a:t>Understand basic pipeline design and its performance</a:t>
            </a:r>
          </a:p>
          <a:p>
            <a:pPr lvl="1"/>
            <a:r>
              <a:rPr lang="en-US" altLang="en-US" dirty="0">
                <a:ea typeface="MS PGothic" panose="020B0600070205080204" pitchFamily="34" charset="-128"/>
              </a:rPr>
              <a:t>Understand hazards</a:t>
            </a:r>
          </a:p>
          <a:p>
            <a:pPr lvl="1"/>
            <a:r>
              <a:rPr lang="en-US" altLang="en-US" dirty="0">
                <a:ea typeface="MS PGothic" panose="020B0600070205080204" pitchFamily="34" charset="-128"/>
              </a:rPr>
              <a:t>Understand various types of branch prediction, and key branch predictors</a:t>
            </a:r>
          </a:p>
          <a:p>
            <a:r>
              <a:rPr lang="en-US" altLang="en-US" dirty="0"/>
              <a:t>Outline:</a:t>
            </a:r>
          </a:p>
          <a:p>
            <a:pPr lvl="1"/>
            <a:r>
              <a:rPr lang="en-US" altLang="en-US" dirty="0">
                <a:ea typeface="MS PGothic" panose="020B0600070205080204" pitchFamily="34" charset="-128"/>
              </a:rPr>
              <a:t>Module 4.1: pipeline design</a:t>
            </a:r>
          </a:p>
          <a:p>
            <a:pPr lvl="1"/>
            <a:r>
              <a:rPr lang="en-US" altLang="en-US" dirty="0">
                <a:ea typeface="MS PGothic" panose="020B0600070205080204" pitchFamily="34" charset="-128"/>
              </a:rPr>
              <a:t>Module 4.2: branch prediction </a:t>
            </a:r>
          </a:p>
          <a:p>
            <a:pPr lvl="1"/>
            <a:r>
              <a:rPr lang="en-US" altLang="en-US" dirty="0">
                <a:ea typeface="MS PGothic" panose="020B0600070205080204" pitchFamily="34" charset="-128"/>
              </a:rPr>
              <a:t>Module 4.3: more on branch prediction</a:t>
            </a:r>
          </a:p>
          <a:p>
            <a:pPr lvl="1"/>
            <a:r>
              <a:rPr lang="en-US" altLang="en-US" dirty="0">
                <a:ea typeface="MS PGothic" panose="020B0600070205080204" pitchFamily="34" charset="-128"/>
              </a:rPr>
              <a:t>Module 4.3: dependence hazards and pipeline performance</a:t>
            </a:r>
          </a:p>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968E9948-C457-344D-B7F2-240F149EA58B}"/>
              </a:ext>
            </a:extLst>
          </p:cNvPr>
          <p:cNvSpPr>
            <a:spLocks noGrp="1" noChangeArrowheads="1"/>
          </p:cNvSpPr>
          <p:nvPr>
            <p:ph type="subTitle" idx="1"/>
          </p:nvPr>
        </p:nvSpPr>
        <p:spPr>
          <a:xfrm>
            <a:off x="685800" y="3505200"/>
            <a:ext cx="6400800" cy="1752600"/>
          </a:xfrm>
        </p:spPr>
        <p:txBody>
          <a:bodyPr>
            <a:normAutofit/>
          </a:bodyPr>
          <a:lstStyle/>
          <a:p>
            <a:r>
              <a:rPr lang="en-US" altLang="en-US" sz="4000" dirty="0"/>
              <a:t>Module </a:t>
            </a:r>
            <a:r>
              <a:rPr lang="en-US" altLang="ko-KR" sz="4000" dirty="0"/>
              <a:t>4</a:t>
            </a:r>
            <a:r>
              <a:rPr lang="en-US" altLang="en-US" sz="4000" dirty="0"/>
              <a:t>.1: Pipelining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4DEA17A9-EF7E-F84F-BB91-B72D42A95EB2}"/>
              </a:ext>
            </a:extLst>
          </p:cNvPr>
          <p:cNvSpPr>
            <a:spLocks noGrp="1" noChangeArrowheads="1"/>
          </p:cNvSpPr>
          <p:nvPr>
            <p:ph type="title"/>
          </p:nvPr>
        </p:nvSpPr>
        <p:spPr/>
        <p:txBody>
          <a:bodyPr/>
          <a:lstStyle/>
          <a:p>
            <a:r>
              <a:rPr lang="en-US" altLang="en-US"/>
              <a:t>Objectives and Outline</a:t>
            </a:r>
          </a:p>
        </p:txBody>
      </p:sp>
      <p:sp>
        <p:nvSpPr>
          <p:cNvPr id="9219" name="Content Placeholder 2">
            <a:extLst>
              <a:ext uri="{FF2B5EF4-FFF2-40B4-BE49-F238E27FC236}">
                <a16:creationId xmlns:a16="http://schemas.microsoft.com/office/drawing/2014/main" id="{F3396078-8BF6-284A-B597-ABB8F6ADEE88}"/>
              </a:ext>
            </a:extLst>
          </p:cNvPr>
          <p:cNvSpPr>
            <a:spLocks noGrp="1" noChangeArrowheads="1"/>
          </p:cNvSpPr>
          <p:nvPr>
            <p:ph idx="1"/>
          </p:nvPr>
        </p:nvSpPr>
        <p:spPr/>
        <p:txBody>
          <a:bodyPr/>
          <a:lstStyle/>
          <a:p>
            <a:r>
              <a:rPr lang="en-US" altLang="en-US" dirty="0"/>
              <a:t>Objectives:</a:t>
            </a:r>
          </a:p>
          <a:p>
            <a:pPr lvl="1"/>
            <a:r>
              <a:rPr lang="en-US" altLang="en-US" dirty="0">
                <a:ea typeface="MS PGothic" panose="020B0600070205080204" pitchFamily="34" charset="-128"/>
              </a:rPr>
              <a:t>Understand basic 5-stage pipeline </a:t>
            </a:r>
          </a:p>
          <a:p>
            <a:pPr lvl="1"/>
            <a:r>
              <a:rPr lang="en-US" altLang="en-US" dirty="0">
                <a:ea typeface="MS PGothic" panose="020B0600070205080204" pitchFamily="34" charset="-128"/>
              </a:rPr>
              <a:t>Understand various hazards (data, structural, control) and how they cause pipeline stalls</a:t>
            </a:r>
          </a:p>
          <a:p>
            <a:pPr lvl="1"/>
            <a:r>
              <a:rPr lang="en-US" altLang="en-US" dirty="0">
                <a:ea typeface="MS PGothic" panose="020B0600070205080204" pitchFamily="34" charset="-128"/>
              </a:rPr>
              <a:t>Derive timing table for a set of instructions &amp; pipeline design</a:t>
            </a:r>
          </a:p>
          <a:p>
            <a:r>
              <a:rPr lang="en-US" altLang="en-US" dirty="0"/>
              <a:t>Outline:</a:t>
            </a:r>
          </a:p>
          <a:p>
            <a:pPr lvl="1"/>
            <a:r>
              <a:rPr lang="en-US" altLang="en-US" dirty="0">
                <a:ea typeface="MS PGothic" panose="020B0600070205080204" pitchFamily="34" charset="-128"/>
              </a:rPr>
              <a:t>5-stage pipeline design</a:t>
            </a:r>
          </a:p>
          <a:p>
            <a:pPr lvl="1"/>
            <a:r>
              <a:rPr lang="en-US" altLang="en-US" dirty="0">
                <a:ea typeface="MS PGothic" panose="020B0600070205080204" pitchFamily="34" charset="-128"/>
              </a:rPr>
              <a:t>Various hazards (data, structural, control)</a:t>
            </a:r>
          </a:p>
          <a:p>
            <a:pPr lvl="1"/>
            <a:r>
              <a:rPr lang="en-US" altLang="en-US" dirty="0">
                <a:ea typeface="MS PGothic" panose="020B0600070205080204" pitchFamily="34" charset="-128"/>
              </a:rPr>
              <a:t>How hazards cause stalls, and how stalls </a:t>
            </a:r>
          </a:p>
          <a:p>
            <a:pPr lvl="1"/>
            <a:r>
              <a:rPr lang="en-US" altLang="en-US" dirty="0">
                <a:ea typeface="MS PGothic" panose="020B0600070205080204" pitchFamily="34" charset="-128"/>
              </a:rPr>
              <a:t>Extending pipeline for FP instructions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C5D1C85E-EB0F-9744-967C-69B56F2621C4}"/>
              </a:ext>
            </a:extLst>
          </p:cNvPr>
          <p:cNvSpPr>
            <a:spLocks noGrp="1" noChangeArrowheads="1"/>
          </p:cNvSpPr>
          <p:nvPr>
            <p:ph type="title"/>
          </p:nvPr>
        </p:nvSpPr>
        <p:spPr/>
        <p:txBody>
          <a:bodyPr/>
          <a:lstStyle/>
          <a:p>
            <a:r>
              <a:rPr lang="en-US" altLang="en-US"/>
              <a:t>Instruction Level Parallelism</a:t>
            </a:r>
          </a:p>
        </p:txBody>
      </p:sp>
      <p:sp>
        <p:nvSpPr>
          <p:cNvPr id="10243" name="Content Placeholder 2">
            <a:extLst>
              <a:ext uri="{FF2B5EF4-FFF2-40B4-BE49-F238E27FC236}">
                <a16:creationId xmlns:a16="http://schemas.microsoft.com/office/drawing/2014/main" id="{87AD6D36-C093-9C42-A6AB-18EC51A5E22B}"/>
              </a:ext>
            </a:extLst>
          </p:cNvPr>
          <p:cNvSpPr>
            <a:spLocks noGrp="1" noChangeArrowheads="1"/>
          </p:cNvSpPr>
          <p:nvPr>
            <p:ph idx="1"/>
          </p:nvPr>
        </p:nvSpPr>
        <p:spPr/>
        <p:txBody>
          <a:bodyPr/>
          <a:lstStyle/>
          <a:p>
            <a:r>
              <a:rPr lang="en-US" altLang="en-US"/>
              <a:t>ILP is a set of techniques that allows multiple instructions to be processed in parallel. </a:t>
            </a:r>
          </a:p>
          <a:p>
            <a:r>
              <a:rPr lang="en-US" altLang="en-US"/>
              <a:t>Contributes substantially to performance growth of processors in the last few decades</a:t>
            </a:r>
          </a:p>
          <a:p>
            <a:r>
              <a:rPr lang="en-US" altLang="en-US"/>
              <a:t>Key Techniques</a:t>
            </a:r>
          </a:p>
          <a:p>
            <a:pPr lvl="1"/>
            <a:r>
              <a:rPr lang="en-US" altLang="en-US"/>
              <a:t>Pipelining</a:t>
            </a:r>
          </a:p>
          <a:p>
            <a:pPr lvl="1"/>
            <a:r>
              <a:rPr lang="en-US" altLang="en-US"/>
              <a:t>Branch prediction</a:t>
            </a:r>
          </a:p>
          <a:p>
            <a:pPr lvl="1"/>
            <a:r>
              <a:rPr lang="en-US" altLang="en-US"/>
              <a:t>Superscalar execution</a:t>
            </a:r>
          </a:p>
          <a:p>
            <a:pPr lvl="1"/>
            <a:r>
              <a:rPr lang="en-US" altLang="en-US"/>
              <a:t>Out-of-order engine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81F432E-689B-D446-B87F-AC36CAC6F063}"/>
              </a:ext>
            </a:extLst>
          </p:cNvPr>
          <p:cNvSpPr>
            <a:spLocks noGrp="1" noChangeArrowheads="1"/>
          </p:cNvSpPr>
          <p:nvPr>
            <p:ph type="title"/>
          </p:nvPr>
        </p:nvSpPr>
        <p:spPr/>
        <p:txBody>
          <a:bodyPr>
            <a:normAutofit/>
          </a:bodyPr>
          <a:lstStyle/>
          <a:p>
            <a:pPr>
              <a:defRPr/>
            </a:pPr>
            <a:r>
              <a:rPr lang="en-US" altLang="en-US" dirty="0">
                <a:effectLst>
                  <a:outerShdw blurRad="38100" dist="38100" dir="2700000" algn="tl">
                    <a:srgbClr val="C0C0C0"/>
                  </a:outerShdw>
                </a:effectLst>
                <a:ea typeface="ＭＳ Ｐゴシック" charset="0"/>
              </a:rPr>
              <a:t>How to Execute an Instruction</a:t>
            </a:r>
          </a:p>
        </p:txBody>
      </p:sp>
      <p:sp>
        <p:nvSpPr>
          <p:cNvPr id="11267" name="Rectangle 3">
            <a:extLst>
              <a:ext uri="{FF2B5EF4-FFF2-40B4-BE49-F238E27FC236}">
                <a16:creationId xmlns:a16="http://schemas.microsoft.com/office/drawing/2014/main" id="{388C05F8-BBD4-0A4B-BFEA-E5DB9D8165DD}"/>
              </a:ext>
            </a:extLst>
          </p:cNvPr>
          <p:cNvSpPr>
            <a:spLocks noGrp="1" noChangeArrowheads="1"/>
          </p:cNvSpPr>
          <p:nvPr>
            <p:ph idx="1"/>
          </p:nvPr>
        </p:nvSpPr>
        <p:spPr/>
        <p:txBody>
          <a:bodyPr/>
          <a:lstStyle/>
          <a:p>
            <a:r>
              <a:rPr lang="en-US" altLang="en-US" sz="2400" dirty="0"/>
              <a:t>Instruction fetch (</a:t>
            </a:r>
            <a:r>
              <a:rPr lang="ja-JP" altLang="en-US" sz="2400"/>
              <a:t>“</a:t>
            </a:r>
            <a:r>
              <a:rPr lang="en-US" altLang="ja-JP" sz="2400" dirty="0"/>
              <a:t>IF</a:t>
            </a:r>
            <a:r>
              <a:rPr lang="ja-JP" altLang="en-US" sz="2400"/>
              <a:t>”</a:t>
            </a:r>
            <a:r>
              <a:rPr lang="en-US" altLang="ja-JP" sz="2400" dirty="0"/>
              <a:t>)</a:t>
            </a:r>
          </a:p>
          <a:p>
            <a:pPr lvl="1"/>
            <a:r>
              <a:rPr lang="en-US" altLang="en-US" sz="2000" dirty="0"/>
              <a:t>IR = Mem[PC]</a:t>
            </a:r>
          </a:p>
          <a:p>
            <a:pPr lvl="1"/>
            <a:r>
              <a:rPr lang="en-US" altLang="en-US" sz="2000" dirty="0"/>
              <a:t>NPC = PC + 4</a:t>
            </a:r>
          </a:p>
          <a:p>
            <a:r>
              <a:rPr lang="en-US" altLang="en-US" sz="2400" dirty="0"/>
              <a:t>Instruction decode/Register fetch (</a:t>
            </a:r>
            <a:r>
              <a:rPr lang="ja-JP" altLang="en-US" sz="2400"/>
              <a:t>“</a:t>
            </a:r>
            <a:r>
              <a:rPr lang="en-US" altLang="ja-JP" sz="2400" dirty="0"/>
              <a:t>ID</a:t>
            </a:r>
            <a:r>
              <a:rPr lang="ja-JP" altLang="en-US" sz="2400"/>
              <a:t>”</a:t>
            </a:r>
            <a:r>
              <a:rPr lang="en-US" altLang="ja-JP" sz="2400" dirty="0"/>
              <a:t>)</a:t>
            </a:r>
          </a:p>
          <a:p>
            <a:pPr lvl="1"/>
            <a:r>
              <a:rPr lang="en-US" altLang="en-US" sz="2000" dirty="0"/>
              <a:t>A = Regs[IR</a:t>
            </a:r>
            <a:r>
              <a:rPr lang="en-US" altLang="en-US" sz="2000" baseline="-25000" dirty="0"/>
              <a:t>6..10</a:t>
            </a:r>
            <a:r>
              <a:rPr lang="en-US" altLang="en-US" sz="2000" dirty="0"/>
              <a:t>]</a:t>
            </a:r>
          </a:p>
          <a:p>
            <a:pPr lvl="1"/>
            <a:r>
              <a:rPr lang="en-US" altLang="en-US" sz="2000" dirty="0"/>
              <a:t>B = Regs[IR</a:t>
            </a:r>
            <a:r>
              <a:rPr lang="en-US" altLang="en-US" sz="2000" baseline="-25000" dirty="0"/>
              <a:t>11..15</a:t>
            </a:r>
            <a:r>
              <a:rPr lang="en-US" altLang="en-US" sz="2000" dirty="0"/>
              <a:t>]</a:t>
            </a:r>
          </a:p>
          <a:p>
            <a:pPr lvl="1"/>
            <a:r>
              <a:rPr lang="en-US" altLang="en-US" sz="2000" dirty="0" err="1"/>
              <a:t>Imm</a:t>
            </a:r>
            <a:r>
              <a:rPr lang="en-US" altLang="en-US" sz="2000" dirty="0"/>
              <a:t> = sign-extend(IR</a:t>
            </a:r>
            <a:r>
              <a:rPr lang="en-US" altLang="en-US" sz="2000" baseline="-25000" dirty="0"/>
              <a:t>16..31</a:t>
            </a:r>
            <a:r>
              <a:rPr lang="en-US" altLang="en-US" sz="2000" dirty="0"/>
              <a:t>)</a:t>
            </a:r>
          </a:p>
          <a:p>
            <a:r>
              <a:rPr lang="en-US" altLang="en-US" sz="2400" dirty="0"/>
              <a:t>Execute (</a:t>
            </a:r>
            <a:r>
              <a:rPr lang="ja-JP" altLang="en-US" sz="2400"/>
              <a:t>“</a:t>
            </a:r>
            <a:r>
              <a:rPr lang="en-US" altLang="ja-JP" sz="2400" dirty="0"/>
              <a:t>EX</a:t>
            </a:r>
            <a:r>
              <a:rPr lang="ja-JP" altLang="en-US" sz="2400"/>
              <a:t>”</a:t>
            </a:r>
            <a:r>
              <a:rPr lang="en-US" altLang="ja-JP" sz="2400" dirty="0"/>
              <a:t>)</a:t>
            </a:r>
          </a:p>
          <a:p>
            <a:pPr lvl="1"/>
            <a:r>
              <a:rPr lang="en-US" altLang="en-US" sz="2000" dirty="0"/>
              <a:t>Memory reference: </a:t>
            </a:r>
            <a:r>
              <a:rPr lang="en-US" altLang="en-US" sz="1800" dirty="0" err="1"/>
              <a:t>ALUOutput</a:t>
            </a:r>
            <a:r>
              <a:rPr lang="en-US" altLang="en-US" sz="1800" dirty="0"/>
              <a:t> = A + </a:t>
            </a:r>
            <a:r>
              <a:rPr lang="en-US" altLang="en-US" sz="1800" dirty="0" err="1"/>
              <a:t>Imm</a:t>
            </a:r>
            <a:endParaRPr lang="en-US" altLang="en-US" sz="1800" dirty="0"/>
          </a:p>
          <a:p>
            <a:pPr lvl="1"/>
            <a:r>
              <a:rPr lang="en-US" altLang="en-US" sz="2000" dirty="0"/>
              <a:t>Reg/Reg ALU Operation: </a:t>
            </a:r>
            <a:r>
              <a:rPr lang="en-US" altLang="en-US" sz="1800" dirty="0" err="1"/>
              <a:t>ALUOutput</a:t>
            </a:r>
            <a:r>
              <a:rPr lang="en-US" altLang="en-US" sz="1800" dirty="0"/>
              <a:t> = A </a:t>
            </a:r>
            <a:r>
              <a:rPr lang="en-US" altLang="en-US" sz="1800" i="1" dirty="0"/>
              <a:t>op</a:t>
            </a:r>
            <a:r>
              <a:rPr lang="en-US" altLang="en-US" sz="1800" dirty="0"/>
              <a:t> B</a:t>
            </a:r>
          </a:p>
          <a:p>
            <a:pPr lvl="1"/>
            <a:r>
              <a:rPr lang="en-US" altLang="en-US" sz="2000" dirty="0"/>
              <a:t>Reg/Immediate ALU Operation: </a:t>
            </a:r>
            <a:r>
              <a:rPr lang="en-US" altLang="en-US" sz="1800" dirty="0" err="1"/>
              <a:t>ALUOutput</a:t>
            </a:r>
            <a:r>
              <a:rPr lang="en-US" altLang="en-US" sz="1800" dirty="0"/>
              <a:t> = A </a:t>
            </a:r>
            <a:r>
              <a:rPr lang="en-US" altLang="en-US" sz="1800" i="1" dirty="0"/>
              <a:t>op</a:t>
            </a:r>
            <a:r>
              <a:rPr lang="en-US" altLang="en-US" sz="1800" dirty="0"/>
              <a:t> </a:t>
            </a:r>
            <a:r>
              <a:rPr lang="en-US" altLang="en-US" sz="1800" dirty="0" err="1"/>
              <a:t>Imm</a:t>
            </a:r>
            <a:endParaRPr lang="en-US" altLang="en-US" sz="1800" dirty="0"/>
          </a:p>
          <a:p>
            <a:pPr lvl="1"/>
            <a:r>
              <a:rPr lang="en-US" altLang="en-US" sz="2000" dirty="0"/>
              <a:t>Branch: </a:t>
            </a:r>
            <a:r>
              <a:rPr lang="en-US" altLang="en-US" sz="1800" dirty="0" err="1"/>
              <a:t>ALUOutput</a:t>
            </a:r>
            <a:r>
              <a:rPr lang="en-US" altLang="en-US" sz="1800" dirty="0"/>
              <a:t> = NPC + </a:t>
            </a:r>
            <a:r>
              <a:rPr lang="en-US" altLang="en-US" sz="1800" dirty="0" err="1"/>
              <a:t>Imm</a:t>
            </a:r>
            <a:r>
              <a:rPr lang="en-US" altLang="en-US" sz="1800" dirty="0"/>
              <a:t>;	Cond = (A </a:t>
            </a:r>
            <a:r>
              <a:rPr lang="en-US" altLang="en-US" sz="1800" i="1" dirty="0"/>
              <a:t>op</a:t>
            </a:r>
            <a:r>
              <a:rPr lang="en-US" altLang="en-US" sz="1800" dirty="0"/>
              <a:t> 0)</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BC82C74-E518-AC40-B404-A50E12A03058}"/>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Executing an Instruction (cont.)</a:t>
            </a:r>
          </a:p>
        </p:txBody>
      </p:sp>
      <p:sp>
        <p:nvSpPr>
          <p:cNvPr id="13315" name="Rectangle 3">
            <a:extLst>
              <a:ext uri="{FF2B5EF4-FFF2-40B4-BE49-F238E27FC236}">
                <a16:creationId xmlns:a16="http://schemas.microsoft.com/office/drawing/2014/main" id="{55AA3BAC-D16F-954C-A6BF-06F1CC651A76}"/>
              </a:ext>
            </a:extLst>
          </p:cNvPr>
          <p:cNvSpPr>
            <a:spLocks noGrp="1" noChangeArrowheads="1"/>
          </p:cNvSpPr>
          <p:nvPr>
            <p:ph type="body" idx="1"/>
          </p:nvPr>
        </p:nvSpPr>
        <p:spPr/>
        <p:txBody>
          <a:bodyPr/>
          <a:lstStyle/>
          <a:p>
            <a:r>
              <a:rPr lang="en-US" altLang="en-US"/>
              <a:t>Memory Access/Branch completion (</a:t>
            </a:r>
            <a:r>
              <a:rPr lang="ja-JP" altLang="en-US"/>
              <a:t>“</a:t>
            </a:r>
            <a:r>
              <a:rPr lang="en-US" altLang="ja-JP"/>
              <a:t>MEM</a:t>
            </a:r>
            <a:r>
              <a:rPr lang="ja-JP" altLang="en-US"/>
              <a:t>“</a:t>
            </a:r>
            <a:r>
              <a:rPr lang="en-US" altLang="ja-JP"/>
              <a:t>)</a:t>
            </a:r>
          </a:p>
          <a:p>
            <a:pPr lvl="1"/>
            <a:r>
              <a:rPr lang="en-US" altLang="en-US"/>
              <a:t>Memory Reference:</a:t>
            </a:r>
          </a:p>
          <a:p>
            <a:pPr lvl="2"/>
            <a:r>
              <a:rPr lang="en-US" altLang="en-US"/>
              <a:t>Load_Mem_Data = Mem[ALUOutput]    /* Load */</a:t>
            </a:r>
          </a:p>
          <a:p>
            <a:pPr lvl="2"/>
            <a:r>
              <a:rPr lang="en-US" altLang="en-US"/>
              <a:t>Mem[ALUOutput] = B	/* Store */</a:t>
            </a:r>
          </a:p>
          <a:p>
            <a:pPr lvl="1"/>
            <a:r>
              <a:rPr lang="en-US" altLang="en-US"/>
              <a:t>Branch</a:t>
            </a:r>
          </a:p>
          <a:p>
            <a:pPr lvl="2"/>
            <a:r>
              <a:rPr lang="en-US" altLang="en-US"/>
              <a:t>If (cond) PC = ALUOutput, else PC = NPC</a:t>
            </a:r>
          </a:p>
          <a:p>
            <a:r>
              <a:rPr lang="en-US" altLang="en-US"/>
              <a:t>Write back (</a:t>
            </a:r>
            <a:r>
              <a:rPr lang="ja-JP" altLang="en-US"/>
              <a:t>“</a:t>
            </a:r>
            <a:r>
              <a:rPr lang="en-US" altLang="ja-JP"/>
              <a:t>WB</a:t>
            </a:r>
            <a:r>
              <a:rPr lang="ja-JP" altLang="en-US"/>
              <a:t>”</a:t>
            </a:r>
            <a:r>
              <a:rPr lang="en-US" altLang="ja-JP"/>
              <a:t>)</a:t>
            </a:r>
          </a:p>
          <a:p>
            <a:pPr lvl="1"/>
            <a:r>
              <a:rPr lang="en-US" altLang="en-US"/>
              <a:t>Reg-Reg ALU Operation:</a:t>
            </a:r>
          </a:p>
          <a:p>
            <a:pPr lvl="2"/>
            <a:r>
              <a:rPr lang="en-US" altLang="en-US"/>
              <a:t>Regs[IR</a:t>
            </a:r>
            <a:r>
              <a:rPr lang="en-US" altLang="en-US" baseline="-25000"/>
              <a:t>16..20</a:t>
            </a:r>
            <a:r>
              <a:rPr lang="en-US" altLang="en-US"/>
              <a:t>] = ALUOutput</a:t>
            </a:r>
          </a:p>
          <a:p>
            <a:pPr lvl="1"/>
            <a:r>
              <a:rPr lang="en-US" altLang="en-US"/>
              <a:t>Reg-Immediate ALU Operation:</a:t>
            </a:r>
          </a:p>
          <a:p>
            <a:pPr lvl="2"/>
            <a:r>
              <a:rPr lang="en-US" altLang="en-US"/>
              <a:t>Regs[IR</a:t>
            </a:r>
            <a:r>
              <a:rPr lang="en-US" altLang="en-US" baseline="-25000"/>
              <a:t>11..15</a:t>
            </a:r>
            <a:r>
              <a:rPr lang="en-US" altLang="en-US"/>
              <a:t>] = ALUOutput</a:t>
            </a:r>
          </a:p>
          <a:p>
            <a:pPr lvl="1"/>
            <a:r>
              <a:rPr lang="en-US" altLang="en-US"/>
              <a:t>Load instruction:</a:t>
            </a:r>
          </a:p>
          <a:p>
            <a:pPr lvl="2"/>
            <a:r>
              <a:rPr lang="en-US" altLang="en-US"/>
              <a:t>Regs[IR</a:t>
            </a:r>
            <a:r>
              <a:rPr lang="en-US" altLang="en-US" baseline="-25000"/>
              <a:t>11..15</a:t>
            </a:r>
            <a:r>
              <a:rPr lang="en-US" altLang="en-US"/>
              <a:t>] = Load_Mem_Data</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a:extLst>
              <a:ext uri="{FF2B5EF4-FFF2-40B4-BE49-F238E27FC236}">
                <a16:creationId xmlns:a16="http://schemas.microsoft.com/office/drawing/2014/main" id="{1094CDCE-3C38-7B4D-AA86-DDCA11E84D2F}"/>
              </a:ext>
            </a:extLst>
          </p:cNvPr>
          <p:cNvSpPr>
            <a:spLocks noChangeArrowheads="1"/>
          </p:cNvSpPr>
          <p:nvPr/>
        </p:nvSpPr>
        <p:spPr bwMode="auto">
          <a:xfrm rot="5400000" flipH="1" flipV="1">
            <a:off x="996950" y="1911350"/>
            <a:ext cx="1358900" cy="4445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ALU</a:t>
            </a:r>
          </a:p>
        </p:txBody>
      </p:sp>
      <p:sp>
        <p:nvSpPr>
          <p:cNvPr id="15363" name="Rectangle 3">
            <a:extLst>
              <a:ext uri="{FF2B5EF4-FFF2-40B4-BE49-F238E27FC236}">
                <a16:creationId xmlns:a16="http://schemas.microsoft.com/office/drawing/2014/main" id="{B4FB7B40-7724-E544-98E5-AD3CBF79A0B1}"/>
              </a:ext>
            </a:extLst>
          </p:cNvPr>
          <p:cNvSpPr>
            <a:spLocks noChangeArrowheads="1"/>
          </p:cNvSpPr>
          <p:nvPr/>
        </p:nvSpPr>
        <p:spPr bwMode="auto">
          <a:xfrm>
            <a:off x="1073150" y="3054350"/>
            <a:ext cx="1054100" cy="1130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Instruction</a:t>
            </a:r>
          </a:p>
          <a:p>
            <a:pPr algn="ctr">
              <a:spcBef>
                <a:spcPct val="0"/>
              </a:spcBef>
              <a:buClrTx/>
              <a:buSzTx/>
              <a:buFontTx/>
              <a:buNone/>
            </a:pPr>
            <a:r>
              <a:rPr lang="en-US" altLang="en-US" sz="1200">
                <a:latin typeface="Arial" panose="020B0604020202020204" pitchFamily="34" charset="0"/>
              </a:rPr>
              <a:t>cache</a:t>
            </a:r>
          </a:p>
        </p:txBody>
      </p:sp>
      <p:sp>
        <p:nvSpPr>
          <p:cNvPr id="15364" name="Rectangle 4">
            <a:extLst>
              <a:ext uri="{FF2B5EF4-FFF2-40B4-BE49-F238E27FC236}">
                <a16:creationId xmlns:a16="http://schemas.microsoft.com/office/drawing/2014/main" id="{23B6BC32-3C46-9245-9037-833F5D6CCE1C}"/>
              </a:ext>
            </a:extLst>
          </p:cNvPr>
          <p:cNvSpPr>
            <a:spLocks noChangeArrowheads="1"/>
          </p:cNvSpPr>
          <p:nvPr/>
        </p:nvSpPr>
        <p:spPr bwMode="auto">
          <a:xfrm>
            <a:off x="311150" y="2216150"/>
            <a:ext cx="444500" cy="1358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PC</a:t>
            </a:r>
          </a:p>
        </p:txBody>
      </p:sp>
      <p:sp>
        <p:nvSpPr>
          <p:cNvPr id="15365" name="Rectangle 5">
            <a:extLst>
              <a:ext uri="{FF2B5EF4-FFF2-40B4-BE49-F238E27FC236}">
                <a16:creationId xmlns:a16="http://schemas.microsoft.com/office/drawing/2014/main" id="{2EB33887-9631-A543-A3E0-DC3AC87855E1}"/>
              </a:ext>
            </a:extLst>
          </p:cNvPr>
          <p:cNvSpPr>
            <a:spLocks noChangeArrowheads="1"/>
          </p:cNvSpPr>
          <p:nvPr/>
        </p:nvSpPr>
        <p:spPr bwMode="auto">
          <a:xfrm>
            <a:off x="2597150" y="1911350"/>
            <a:ext cx="5207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NPC</a:t>
            </a:r>
          </a:p>
        </p:txBody>
      </p:sp>
      <p:sp>
        <p:nvSpPr>
          <p:cNvPr id="15366" name="Rectangle 6">
            <a:extLst>
              <a:ext uri="{FF2B5EF4-FFF2-40B4-BE49-F238E27FC236}">
                <a16:creationId xmlns:a16="http://schemas.microsoft.com/office/drawing/2014/main" id="{40BD9A1D-0E6B-7B45-B999-1394F62DD82B}"/>
              </a:ext>
            </a:extLst>
          </p:cNvPr>
          <p:cNvSpPr>
            <a:spLocks noChangeArrowheads="1"/>
          </p:cNvSpPr>
          <p:nvPr/>
        </p:nvSpPr>
        <p:spPr bwMode="auto">
          <a:xfrm>
            <a:off x="2368550" y="2901950"/>
            <a:ext cx="520700" cy="1511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IR</a:t>
            </a:r>
          </a:p>
          <a:p>
            <a:pPr algn="ctr">
              <a:spcBef>
                <a:spcPct val="0"/>
              </a:spcBef>
              <a:buClrTx/>
              <a:buSzTx/>
              <a:buFontTx/>
              <a:buNone/>
            </a:pPr>
            <a:r>
              <a:rPr lang="en-US" altLang="en-US" sz="1200">
                <a:latin typeface="Arial" panose="020B0604020202020204" pitchFamily="34" charset="0"/>
              </a:rPr>
              <a:t>(inst.</a:t>
            </a:r>
          </a:p>
          <a:p>
            <a:pPr algn="ctr">
              <a:spcBef>
                <a:spcPct val="0"/>
              </a:spcBef>
              <a:buClrTx/>
              <a:buSzTx/>
              <a:buFontTx/>
              <a:buNone/>
            </a:pPr>
            <a:r>
              <a:rPr lang="en-US" altLang="en-US" sz="1200">
                <a:latin typeface="Arial" panose="020B0604020202020204" pitchFamily="34" charset="0"/>
              </a:rPr>
              <a:t>reg.)</a:t>
            </a:r>
          </a:p>
        </p:txBody>
      </p:sp>
      <p:sp>
        <p:nvSpPr>
          <p:cNvPr id="15367" name="Rectangle 7">
            <a:extLst>
              <a:ext uri="{FF2B5EF4-FFF2-40B4-BE49-F238E27FC236}">
                <a16:creationId xmlns:a16="http://schemas.microsoft.com/office/drawing/2014/main" id="{600FF8D2-32FE-7540-BE1B-20CBDE5BBA8E}"/>
              </a:ext>
            </a:extLst>
          </p:cNvPr>
          <p:cNvSpPr>
            <a:spLocks noChangeArrowheads="1"/>
          </p:cNvSpPr>
          <p:nvPr/>
        </p:nvSpPr>
        <p:spPr bwMode="auto">
          <a:xfrm>
            <a:off x="3587750" y="2520950"/>
            <a:ext cx="901700" cy="24257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Regs</a:t>
            </a:r>
          </a:p>
        </p:txBody>
      </p:sp>
      <p:sp>
        <p:nvSpPr>
          <p:cNvPr id="15368" name="Oval 8">
            <a:extLst>
              <a:ext uri="{FF2B5EF4-FFF2-40B4-BE49-F238E27FC236}">
                <a16:creationId xmlns:a16="http://schemas.microsoft.com/office/drawing/2014/main" id="{BE190788-542D-1346-B644-ED700025B525}"/>
              </a:ext>
            </a:extLst>
          </p:cNvPr>
          <p:cNvSpPr>
            <a:spLocks noChangeArrowheads="1"/>
          </p:cNvSpPr>
          <p:nvPr/>
        </p:nvSpPr>
        <p:spPr bwMode="auto">
          <a:xfrm>
            <a:off x="3663950" y="5264150"/>
            <a:ext cx="977900" cy="596900"/>
          </a:xfrm>
          <a:prstGeom prst="ellipse">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sign</a:t>
            </a:r>
          </a:p>
          <a:p>
            <a:pPr algn="ctr">
              <a:spcBef>
                <a:spcPct val="0"/>
              </a:spcBef>
              <a:buClrTx/>
              <a:buSzTx/>
              <a:buFontTx/>
              <a:buNone/>
            </a:pPr>
            <a:r>
              <a:rPr lang="en-US" altLang="en-US" sz="1200">
                <a:latin typeface="Arial" panose="020B0604020202020204" pitchFamily="34" charset="0"/>
              </a:rPr>
              <a:t>extend</a:t>
            </a:r>
          </a:p>
        </p:txBody>
      </p:sp>
      <p:sp>
        <p:nvSpPr>
          <p:cNvPr id="15369" name="Rectangle 9">
            <a:extLst>
              <a:ext uri="{FF2B5EF4-FFF2-40B4-BE49-F238E27FC236}">
                <a16:creationId xmlns:a16="http://schemas.microsoft.com/office/drawing/2014/main" id="{947354EF-2B97-FE4B-879C-8DFEEEEF6EBA}"/>
              </a:ext>
            </a:extLst>
          </p:cNvPr>
          <p:cNvSpPr>
            <a:spLocks noChangeArrowheads="1"/>
          </p:cNvSpPr>
          <p:nvPr/>
        </p:nvSpPr>
        <p:spPr bwMode="auto">
          <a:xfrm>
            <a:off x="4730750" y="2825750"/>
            <a:ext cx="5207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A</a:t>
            </a:r>
          </a:p>
        </p:txBody>
      </p:sp>
      <p:sp>
        <p:nvSpPr>
          <p:cNvPr id="15370" name="Rectangle 10">
            <a:extLst>
              <a:ext uri="{FF2B5EF4-FFF2-40B4-BE49-F238E27FC236}">
                <a16:creationId xmlns:a16="http://schemas.microsoft.com/office/drawing/2014/main" id="{D1948B3C-F2C7-6742-AF6A-B1723D74CAF1}"/>
              </a:ext>
            </a:extLst>
          </p:cNvPr>
          <p:cNvSpPr>
            <a:spLocks noChangeArrowheads="1"/>
          </p:cNvSpPr>
          <p:nvPr/>
        </p:nvSpPr>
        <p:spPr bwMode="auto">
          <a:xfrm>
            <a:off x="4730750" y="3968750"/>
            <a:ext cx="5207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B</a:t>
            </a:r>
          </a:p>
        </p:txBody>
      </p:sp>
      <p:sp>
        <p:nvSpPr>
          <p:cNvPr id="15371" name="AutoShape 11">
            <a:extLst>
              <a:ext uri="{FF2B5EF4-FFF2-40B4-BE49-F238E27FC236}">
                <a16:creationId xmlns:a16="http://schemas.microsoft.com/office/drawing/2014/main" id="{54ADE640-496B-F344-86A4-7B2FB504A281}"/>
              </a:ext>
            </a:extLst>
          </p:cNvPr>
          <p:cNvSpPr>
            <a:spLocks noChangeArrowheads="1"/>
          </p:cNvSpPr>
          <p:nvPr/>
        </p:nvSpPr>
        <p:spPr bwMode="auto">
          <a:xfrm rot="5400000" flipH="1" flipV="1">
            <a:off x="5568950" y="3282950"/>
            <a:ext cx="1358900" cy="4445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ALU</a:t>
            </a:r>
          </a:p>
        </p:txBody>
      </p:sp>
      <p:sp>
        <p:nvSpPr>
          <p:cNvPr id="15372" name="AutoShape 12">
            <a:extLst>
              <a:ext uri="{FF2B5EF4-FFF2-40B4-BE49-F238E27FC236}">
                <a16:creationId xmlns:a16="http://schemas.microsoft.com/office/drawing/2014/main" id="{BDA7C2E3-C22E-2641-8DD9-934FB5C9ED46}"/>
              </a:ext>
            </a:extLst>
          </p:cNvPr>
          <p:cNvSpPr>
            <a:spLocks noChangeArrowheads="1"/>
          </p:cNvSpPr>
          <p:nvPr/>
        </p:nvSpPr>
        <p:spPr bwMode="auto">
          <a:xfrm rot="-5400000">
            <a:off x="5264150" y="2673350"/>
            <a:ext cx="825500" cy="368300"/>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15373" name="AutoShape 13">
            <a:extLst>
              <a:ext uri="{FF2B5EF4-FFF2-40B4-BE49-F238E27FC236}">
                <a16:creationId xmlns:a16="http://schemas.microsoft.com/office/drawing/2014/main" id="{868BF8D1-1B99-7549-AF76-D807040FB183}"/>
              </a:ext>
            </a:extLst>
          </p:cNvPr>
          <p:cNvSpPr>
            <a:spLocks noChangeArrowheads="1"/>
          </p:cNvSpPr>
          <p:nvPr/>
        </p:nvSpPr>
        <p:spPr bwMode="auto">
          <a:xfrm rot="-5400000">
            <a:off x="5264150" y="4121150"/>
            <a:ext cx="825500" cy="368300"/>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15374" name="Rectangle 14">
            <a:extLst>
              <a:ext uri="{FF2B5EF4-FFF2-40B4-BE49-F238E27FC236}">
                <a16:creationId xmlns:a16="http://schemas.microsoft.com/office/drawing/2014/main" id="{8E5CE2F4-0AB2-FB47-8EF6-531B42DE684F}"/>
              </a:ext>
            </a:extLst>
          </p:cNvPr>
          <p:cNvSpPr>
            <a:spLocks noChangeArrowheads="1"/>
          </p:cNvSpPr>
          <p:nvPr/>
        </p:nvSpPr>
        <p:spPr bwMode="auto">
          <a:xfrm>
            <a:off x="5492750" y="1682750"/>
            <a:ext cx="3683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=0?</a:t>
            </a:r>
          </a:p>
        </p:txBody>
      </p:sp>
      <p:sp>
        <p:nvSpPr>
          <p:cNvPr id="15375" name="Rectangle 15">
            <a:extLst>
              <a:ext uri="{FF2B5EF4-FFF2-40B4-BE49-F238E27FC236}">
                <a16:creationId xmlns:a16="http://schemas.microsoft.com/office/drawing/2014/main" id="{6374364F-6A3B-A64A-8FD5-9483C2797582}"/>
              </a:ext>
            </a:extLst>
          </p:cNvPr>
          <p:cNvSpPr>
            <a:spLocks noChangeArrowheads="1"/>
          </p:cNvSpPr>
          <p:nvPr/>
        </p:nvSpPr>
        <p:spPr bwMode="auto">
          <a:xfrm>
            <a:off x="6026150" y="1682750"/>
            <a:ext cx="3683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cond</a:t>
            </a:r>
          </a:p>
        </p:txBody>
      </p:sp>
      <p:sp>
        <p:nvSpPr>
          <p:cNvPr id="15376" name="AutoShape 16">
            <a:extLst>
              <a:ext uri="{FF2B5EF4-FFF2-40B4-BE49-F238E27FC236}">
                <a16:creationId xmlns:a16="http://schemas.microsoft.com/office/drawing/2014/main" id="{A3970006-E5ED-804E-B1FE-A68947CC1837}"/>
              </a:ext>
            </a:extLst>
          </p:cNvPr>
          <p:cNvSpPr>
            <a:spLocks noChangeArrowheads="1"/>
          </p:cNvSpPr>
          <p:nvPr/>
        </p:nvSpPr>
        <p:spPr bwMode="auto">
          <a:xfrm rot="-5400000">
            <a:off x="6559550" y="1225550"/>
            <a:ext cx="825500" cy="368300"/>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15377" name="Rectangle 17">
            <a:extLst>
              <a:ext uri="{FF2B5EF4-FFF2-40B4-BE49-F238E27FC236}">
                <a16:creationId xmlns:a16="http://schemas.microsoft.com/office/drawing/2014/main" id="{CC138AF8-0B1A-5345-A4E4-32C686427451}"/>
              </a:ext>
            </a:extLst>
          </p:cNvPr>
          <p:cNvSpPr>
            <a:spLocks noChangeArrowheads="1"/>
          </p:cNvSpPr>
          <p:nvPr/>
        </p:nvSpPr>
        <p:spPr bwMode="auto">
          <a:xfrm>
            <a:off x="6788150" y="2901950"/>
            <a:ext cx="596900" cy="1358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data</a:t>
            </a:r>
          </a:p>
          <a:p>
            <a:pPr algn="ctr">
              <a:spcBef>
                <a:spcPct val="0"/>
              </a:spcBef>
              <a:buClrTx/>
              <a:buSzTx/>
              <a:buFontTx/>
              <a:buNone/>
            </a:pPr>
            <a:r>
              <a:rPr lang="en-US" altLang="en-US" sz="1200">
                <a:latin typeface="Arial" panose="020B0604020202020204" pitchFamily="34" charset="0"/>
              </a:rPr>
              <a:t>cache</a:t>
            </a:r>
          </a:p>
        </p:txBody>
      </p:sp>
      <p:sp>
        <p:nvSpPr>
          <p:cNvPr id="15378" name="Rectangle 18">
            <a:extLst>
              <a:ext uri="{FF2B5EF4-FFF2-40B4-BE49-F238E27FC236}">
                <a16:creationId xmlns:a16="http://schemas.microsoft.com/office/drawing/2014/main" id="{411CBCEA-47FE-7B4E-8FDA-AED98B1F35A5}"/>
              </a:ext>
            </a:extLst>
          </p:cNvPr>
          <p:cNvSpPr>
            <a:spLocks noChangeArrowheads="1"/>
          </p:cNvSpPr>
          <p:nvPr/>
        </p:nvSpPr>
        <p:spPr bwMode="auto">
          <a:xfrm>
            <a:off x="7550150" y="3282950"/>
            <a:ext cx="368300" cy="4445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LMD</a:t>
            </a:r>
          </a:p>
        </p:txBody>
      </p:sp>
      <p:sp>
        <p:nvSpPr>
          <p:cNvPr id="15379" name="AutoShape 19">
            <a:extLst>
              <a:ext uri="{FF2B5EF4-FFF2-40B4-BE49-F238E27FC236}">
                <a16:creationId xmlns:a16="http://schemas.microsoft.com/office/drawing/2014/main" id="{520C2AD4-F6CD-FC49-892A-AA043D0196DC}"/>
              </a:ext>
            </a:extLst>
          </p:cNvPr>
          <p:cNvSpPr>
            <a:spLocks noChangeArrowheads="1"/>
          </p:cNvSpPr>
          <p:nvPr/>
        </p:nvSpPr>
        <p:spPr bwMode="auto">
          <a:xfrm rot="-5400000">
            <a:off x="7854950" y="3587750"/>
            <a:ext cx="825500" cy="368300"/>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15380" name="Line 20">
            <a:extLst>
              <a:ext uri="{FF2B5EF4-FFF2-40B4-BE49-F238E27FC236}">
                <a16:creationId xmlns:a16="http://schemas.microsoft.com/office/drawing/2014/main" id="{043F539E-A210-E346-9789-4F4880E7167C}"/>
              </a:ext>
            </a:extLst>
          </p:cNvPr>
          <p:cNvSpPr>
            <a:spLocks noChangeShapeType="1"/>
          </p:cNvSpPr>
          <p:nvPr/>
        </p:nvSpPr>
        <p:spPr bwMode="auto">
          <a:xfrm>
            <a:off x="762000" y="3276600"/>
            <a:ext cx="3048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1" name="Line 21">
            <a:extLst>
              <a:ext uri="{FF2B5EF4-FFF2-40B4-BE49-F238E27FC236}">
                <a16:creationId xmlns:a16="http://schemas.microsoft.com/office/drawing/2014/main" id="{1A8B9E0C-B833-384B-A17D-40E6DDF705DF}"/>
              </a:ext>
            </a:extLst>
          </p:cNvPr>
          <p:cNvSpPr>
            <a:spLocks noChangeShapeType="1"/>
          </p:cNvSpPr>
          <p:nvPr/>
        </p:nvSpPr>
        <p:spPr bwMode="auto">
          <a:xfrm flipV="1">
            <a:off x="914400" y="2514600"/>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382" name="Line 22">
            <a:extLst>
              <a:ext uri="{FF2B5EF4-FFF2-40B4-BE49-F238E27FC236}">
                <a16:creationId xmlns:a16="http://schemas.microsoft.com/office/drawing/2014/main" id="{5EDEF1A8-C4BD-BE48-9623-7715C3569DF3}"/>
              </a:ext>
            </a:extLst>
          </p:cNvPr>
          <p:cNvSpPr>
            <a:spLocks noChangeShapeType="1"/>
          </p:cNvSpPr>
          <p:nvPr/>
        </p:nvSpPr>
        <p:spPr bwMode="auto">
          <a:xfrm>
            <a:off x="914400" y="2514600"/>
            <a:ext cx="533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3" name="Line 23">
            <a:extLst>
              <a:ext uri="{FF2B5EF4-FFF2-40B4-BE49-F238E27FC236}">
                <a16:creationId xmlns:a16="http://schemas.microsoft.com/office/drawing/2014/main" id="{5C60D55D-D499-374F-A17D-5BA7BC98793B}"/>
              </a:ext>
            </a:extLst>
          </p:cNvPr>
          <p:cNvSpPr>
            <a:spLocks noChangeShapeType="1"/>
          </p:cNvSpPr>
          <p:nvPr/>
        </p:nvSpPr>
        <p:spPr bwMode="auto">
          <a:xfrm>
            <a:off x="1143000" y="1676400"/>
            <a:ext cx="3048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84" name="Rectangle 24">
            <a:extLst>
              <a:ext uri="{FF2B5EF4-FFF2-40B4-BE49-F238E27FC236}">
                <a16:creationId xmlns:a16="http://schemas.microsoft.com/office/drawing/2014/main" id="{79812BE3-0B1F-0C40-A323-2D371867B901}"/>
              </a:ext>
            </a:extLst>
          </p:cNvPr>
          <p:cNvSpPr>
            <a:spLocks noChangeArrowheads="1"/>
          </p:cNvSpPr>
          <p:nvPr/>
        </p:nvSpPr>
        <p:spPr bwMode="auto">
          <a:xfrm>
            <a:off x="898525" y="1546225"/>
            <a:ext cx="27146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4</a:t>
            </a:r>
          </a:p>
        </p:txBody>
      </p:sp>
      <p:sp>
        <p:nvSpPr>
          <p:cNvPr id="15385" name="Line 25">
            <a:extLst>
              <a:ext uri="{FF2B5EF4-FFF2-40B4-BE49-F238E27FC236}">
                <a16:creationId xmlns:a16="http://schemas.microsoft.com/office/drawing/2014/main" id="{12E18403-2D8D-D94F-ABBC-B278BD0B9B0E}"/>
              </a:ext>
            </a:extLst>
          </p:cNvPr>
          <p:cNvSpPr>
            <a:spLocks noChangeShapeType="1"/>
          </p:cNvSpPr>
          <p:nvPr/>
        </p:nvSpPr>
        <p:spPr bwMode="auto">
          <a:xfrm>
            <a:off x="6400800" y="1905000"/>
            <a:ext cx="533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386" name="Line 26">
            <a:extLst>
              <a:ext uri="{FF2B5EF4-FFF2-40B4-BE49-F238E27FC236}">
                <a16:creationId xmlns:a16="http://schemas.microsoft.com/office/drawing/2014/main" id="{6398EE9B-B672-2241-9976-BC1F361D64F8}"/>
              </a:ext>
            </a:extLst>
          </p:cNvPr>
          <p:cNvSpPr>
            <a:spLocks noChangeShapeType="1"/>
          </p:cNvSpPr>
          <p:nvPr/>
        </p:nvSpPr>
        <p:spPr bwMode="auto">
          <a:xfrm flipV="1">
            <a:off x="6934200" y="1828800"/>
            <a:ext cx="0" cy="76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387" name="Line 27">
            <a:extLst>
              <a:ext uri="{FF2B5EF4-FFF2-40B4-BE49-F238E27FC236}">
                <a16:creationId xmlns:a16="http://schemas.microsoft.com/office/drawing/2014/main" id="{D3E77E89-EE67-5B47-B8B9-105CE91A45D0}"/>
              </a:ext>
            </a:extLst>
          </p:cNvPr>
          <p:cNvSpPr>
            <a:spLocks noChangeShapeType="1"/>
          </p:cNvSpPr>
          <p:nvPr/>
        </p:nvSpPr>
        <p:spPr bwMode="auto">
          <a:xfrm>
            <a:off x="7162800" y="1447800"/>
            <a:ext cx="228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388" name="Line 28">
            <a:extLst>
              <a:ext uri="{FF2B5EF4-FFF2-40B4-BE49-F238E27FC236}">
                <a16:creationId xmlns:a16="http://schemas.microsoft.com/office/drawing/2014/main" id="{5F690957-EC36-5C4C-87DB-8A59C2024E3F}"/>
              </a:ext>
            </a:extLst>
          </p:cNvPr>
          <p:cNvSpPr>
            <a:spLocks noChangeShapeType="1"/>
          </p:cNvSpPr>
          <p:nvPr/>
        </p:nvSpPr>
        <p:spPr bwMode="auto">
          <a:xfrm flipV="1">
            <a:off x="7391400" y="838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389" name="Line 29">
            <a:extLst>
              <a:ext uri="{FF2B5EF4-FFF2-40B4-BE49-F238E27FC236}">
                <a16:creationId xmlns:a16="http://schemas.microsoft.com/office/drawing/2014/main" id="{F640157A-0721-0541-B03D-7044DB4A1298}"/>
              </a:ext>
            </a:extLst>
          </p:cNvPr>
          <p:cNvSpPr>
            <a:spLocks noChangeShapeType="1"/>
          </p:cNvSpPr>
          <p:nvPr/>
        </p:nvSpPr>
        <p:spPr bwMode="auto">
          <a:xfrm flipH="1">
            <a:off x="533400" y="838200"/>
            <a:ext cx="6858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390" name="Line 30">
            <a:extLst>
              <a:ext uri="{FF2B5EF4-FFF2-40B4-BE49-F238E27FC236}">
                <a16:creationId xmlns:a16="http://schemas.microsoft.com/office/drawing/2014/main" id="{70110C89-85B3-C449-9EEC-5F65B6EE9E0B}"/>
              </a:ext>
            </a:extLst>
          </p:cNvPr>
          <p:cNvSpPr>
            <a:spLocks noChangeShapeType="1"/>
          </p:cNvSpPr>
          <p:nvPr/>
        </p:nvSpPr>
        <p:spPr bwMode="auto">
          <a:xfrm>
            <a:off x="533400" y="838200"/>
            <a:ext cx="0" cy="1371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91" name="Line 31">
            <a:extLst>
              <a:ext uri="{FF2B5EF4-FFF2-40B4-BE49-F238E27FC236}">
                <a16:creationId xmlns:a16="http://schemas.microsoft.com/office/drawing/2014/main" id="{674E7238-A6AF-DF40-9C60-E01A6BE591A8}"/>
              </a:ext>
            </a:extLst>
          </p:cNvPr>
          <p:cNvSpPr>
            <a:spLocks noChangeShapeType="1"/>
          </p:cNvSpPr>
          <p:nvPr/>
        </p:nvSpPr>
        <p:spPr bwMode="auto">
          <a:xfrm>
            <a:off x="1905000" y="2133600"/>
            <a:ext cx="6858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92" name="Rectangle 32">
            <a:extLst>
              <a:ext uri="{FF2B5EF4-FFF2-40B4-BE49-F238E27FC236}">
                <a16:creationId xmlns:a16="http://schemas.microsoft.com/office/drawing/2014/main" id="{82A70768-1DB1-FF48-B259-CD715DEA518A}"/>
              </a:ext>
            </a:extLst>
          </p:cNvPr>
          <p:cNvSpPr>
            <a:spLocks noChangeArrowheads="1"/>
          </p:cNvSpPr>
          <p:nvPr/>
        </p:nvSpPr>
        <p:spPr bwMode="auto">
          <a:xfrm>
            <a:off x="4806950" y="5340350"/>
            <a:ext cx="673100" cy="4445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Imm</a:t>
            </a:r>
          </a:p>
        </p:txBody>
      </p:sp>
      <p:sp>
        <p:nvSpPr>
          <p:cNvPr id="15393" name="Line 33">
            <a:extLst>
              <a:ext uri="{FF2B5EF4-FFF2-40B4-BE49-F238E27FC236}">
                <a16:creationId xmlns:a16="http://schemas.microsoft.com/office/drawing/2014/main" id="{307D4663-2C5F-334A-984E-FF88538006B3}"/>
              </a:ext>
            </a:extLst>
          </p:cNvPr>
          <p:cNvSpPr>
            <a:spLocks noChangeShapeType="1"/>
          </p:cNvSpPr>
          <p:nvPr/>
        </p:nvSpPr>
        <p:spPr bwMode="auto">
          <a:xfrm>
            <a:off x="4648200" y="55626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394" name="Line 34">
            <a:extLst>
              <a:ext uri="{FF2B5EF4-FFF2-40B4-BE49-F238E27FC236}">
                <a16:creationId xmlns:a16="http://schemas.microsoft.com/office/drawing/2014/main" id="{6195C048-0B5A-1C40-B364-E39EBB45FD64}"/>
              </a:ext>
            </a:extLst>
          </p:cNvPr>
          <p:cNvSpPr>
            <a:spLocks noChangeShapeType="1"/>
          </p:cNvSpPr>
          <p:nvPr/>
        </p:nvSpPr>
        <p:spPr bwMode="auto">
          <a:xfrm flipV="1">
            <a:off x="5105400" y="4572000"/>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395" name="Line 35">
            <a:extLst>
              <a:ext uri="{FF2B5EF4-FFF2-40B4-BE49-F238E27FC236}">
                <a16:creationId xmlns:a16="http://schemas.microsoft.com/office/drawing/2014/main" id="{BD751D5A-F7F2-A146-8F7F-E280B59EE27A}"/>
              </a:ext>
            </a:extLst>
          </p:cNvPr>
          <p:cNvSpPr>
            <a:spLocks noChangeShapeType="1"/>
          </p:cNvSpPr>
          <p:nvPr/>
        </p:nvSpPr>
        <p:spPr bwMode="auto">
          <a:xfrm>
            <a:off x="5105400" y="4572000"/>
            <a:ext cx="381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96" name="Line 36">
            <a:extLst>
              <a:ext uri="{FF2B5EF4-FFF2-40B4-BE49-F238E27FC236}">
                <a16:creationId xmlns:a16="http://schemas.microsoft.com/office/drawing/2014/main" id="{02BD3AAB-2297-8C47-9135-F8D5C738D42A}"/>
              </a:ext>
            </a:extLst>
          </p:cNvPr>
          <p:cNvSpPr>
            <a:spLocks noChangeShapeType="1"/>
          </p:cNvSpPr>
          <p:nvPr/>
        </p:nvSpPr>
        <p:spPr bwMode="auto">
          <a:xfrm>
            <a:off x="5257800" y="41910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97" name="Line 37">
            <a:extLst>
              <a:ext uri="{FF2B5EF4-FFF2-40B4-BE49-F238E27FC236}">
                <a16:creationId xmlns:a16="http://schemas.microsoft.com/office/drawing/2014/main" id="{78D42C13-8EA3-D945-A21F-3F34ACA61AF2}"/>
              </a:ext>
            </a:extLst>
          </p:cNvPr>
          <p:cNvSpPr>
            <a:spLocks noChangeShapeType="1"/>
          </p:cNvSpPr>
          <p:nvPr/>
        </p:nvSpPr>
        <p:spPr bwMode="auto">
          <a:xfrm>
            <a:off x="5257800" y="30480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98" name="Line 38">
            <a:extLst>
              <a:ext uri="{FF2B5EF4-FFF2-40B4-BE49-F238E27FC236}">
                <a16:creationId xmlns:a16="http://schemas.microsoft.com/office/drawing/2014/main" id="{540DA5DA-F4CA-6441-A5C0-A48F71FE4C83}"/>
              </a:ext>
            </a:extLst>
          </p:cNvPr>
          <p:cNvSpPr>
            <a:spLocks noChangeShapeType="1"/>
          </p:cNvSpPr>
          <p:nvPr/>
        </p:nvSpPr>
        <p:spPr bwMode="auto">
          <a:xfrm>
            <a:off x="4495800" y="41910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399" name="Line 39">
            <a:extLst>
              <a:ext uri="{FF2B5EF4-FFF2-40B4-BE49-F238E27FC236}">
                <a16:creationId xmlns:a16="http://schemas.microsoft.com/office/drawing/2014/main" id="{E3B728E4-BA52-BC4E-B8DE-E24A77824E92}"/>
              </a:ext>
            </a:extLst>
          </p:cNvPr>
          <p:cNvSpPr>
            <a:spLocks noChangeShapeType="1"/>
          </p:cNvSpPr>
          <p:nvPr/>
        </p:nvSpPr>
        <p:spPr bwMode="auto">
          <a:xfrm>
            <a:off x="4495800" y="30480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00" name="Line 40">
            <a:extLst>
              <a:ext uri="{FF2B5EF4-FFF2-40B4-BE49-F238E27FC236}">
                <a16:creationId xmlns:a16="http://schemas.microsoft.com/office/drawing/2014/main" id="{5CC03016-110D-194A-8E60-89D8449EB579}"/>
              </a:ext>
            </a:extLst>
          </p:cNvPr>
          <p:cNvSpPr>
            <a:spLocks noChangeShapeType="1"/>
          </p:cNvSpPr>
          <p:nvPr/>
        </p:nvSpPr>
        <p:spPr bwMode="auto">
          <a:xfrm>
            <a:off x="5334000" y="19050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01" name="Line 41">
            <a:extLst>
              <a:ext uri="{FF2B5EF4-FFF2-40B4-BE49-F238E27FC236}">
                <a16:creationId xmlns:a16="http://schemas.microsoft.com/office/drawing/2014/main" id="{3509BED4-8EF5-ED46-9FF7-6F7F1A229A16}"/>
              </a:ext>
            </a:extLst>
          </p:cNvPr>
          <p:cNvSpPr>
            <a:spLocks noChangeShapeType="1"/>
          </p:cNvSpPr>
          <p:nvPr/>
        </p:nvSpPr>
        <p:spPr bwMode="auto">
          <a:xfrm flipV="1">
            <a:off x="5334000" y="1905000"/>
            <a:ext cx="0" cy="1143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02" name="Line 42">
            <a:extLst>
              <a:ext uri="{FF2B5EF4-FFF2-40B4-BE49-F238E27FC236}">
                <a16:creationId xmlns:a16="http://schemas.microsoft.com/office/drawing/2014/main" id="{3751346B-8549-4045-A6CE-D10F4D2F3F32}"/>
              </a:ext>
            </a:extLst>
          </p:cNvPr>
          <p:cNvSpPr>
            <a:spLocks noChangeShapeType="1"/>
          </p:cNvSpPr>
          <p:nvPr/>
        </p:nvSpPr>
        <p:spPr bwMode="auto">
          <a:xfrm flipV="1">
            <a:off x="6629400" y="1600200"/>
            <a:ext cx="0" cy="1905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03" name="Line 43">
            <a:extLst>
              <a:ext uri="{FF2B5EF4-FFF2-40B4-BE49-F238E27FC236}">
                <a16:creationId xmlns:a16="http://schemas.microsoft.com/office/drawing/2014/main" id="{6AEC8189-CF2E-694A-9288-6757C2329B2C}"/>
              </a:ext>
            </a:extLst>
          </p:cNvPr>
          <p:cNvSpPr>
            <a:spLocks noChangeShapeType="1"/>
          </p:cNvSpPr>
          <p:nvPr/>
        </p:nvSpPr>
        <p:spPr bwMode="auto">
          <a:xfrm>
            <a:off x="6629400" y="16002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04" name="Line 44">
            <a:extLst>
              <a:ext uri="{FF2B5EF4-FFF2-40B4-BE49-F238E27FC236}">
                <a16:creationId xmlns:a16="http://schemas.microsoft.com/office/drawing/2014/main" id="{3029659E-A719-0845-B6B7-B0A10CC34A6D}"/>
              </a:ext>
            </a:extLst>
          </p:cNvPr>
          <p:cNvSpPr>
            <a:spLocks noChangeShapeType="1"/>
          </p:cNvSpPr>
          <p:nvPr/>
        </p:nvSpPr>
        <p:spPr bwMode="auto">
          <a:xfrm>
            <a:off x="7391400" y="35052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05" name="Line 45">
            <a:extLst>
              <a:ext uri="{FF2B5EF4-FFF2-40B4-BE49-F238E27FC236}">
                <a16:creationId xmlns:a16="http://schemas.microsoft.com/office/drawing/2014/main" id="{1E55C84E-CAE7-C24A-94B4-3AE53B74F2A1}"/>
              </a:ext>
            </a:extLst>
          </p:cNvPr>
          <p:cNvSpPr>
            <a:spLocks noChangeShapeType="1"/>
          </p:cNvSpPr>
          <p:nvPr/>
        </p:nvSpPr>
        <p:spPr bwMode="auto">
          <a:xfrm>
            <a:off x="7924800" y="35052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06" name="Line 46">
            <a:extLst>
              <a:ext uri="{FF2B5EF4-FFF2-40B4-BE49-F238E27FC236}">
                <a16:creationId xmlns:a16="http://schemas.microsoft.com/office/drawing/2014/main" id="{59BB3C8C-ABFA-F14E-BEB8-11D887F1B12A}"/>
              </a:ext>
            </a:extLst>
          </p:cNvPr>
          <p:cNvSpPr>
            <a:spLocks noChangeShapeType="1"/>
          </p:cNvSpPr>
          <p:nvPr/>
        </p:nvSpPr>
        <p:spPr bwMode="auto">
          <a:xfrm flipV="1">
            <a:off x="6629400" y="3505200"/>
            <a:ext cx="0" cy="1066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07" name="Line 47">
            <a:extLst>
              <a:ext uri="{FF2B5EF4-FFF2-40B4-BE49-F238E27FC236}">
                <a16:creationId xmlns:a16="http://schemas.microsoft.com/office/drawing/2014/main" id="{46836E61-E651-EF43-9250-9B270DACC328}"/>
              </a:ext>
            </a:extLst>
          </p:cNvPr>
          <p:cNvSpPr>
            <a:spLocks noChangeShapeType="1"/>
          </p:cNvSpPr>
          <p:nvPr/>
        </p:nvSpPr>
        <p:spPr bwMode="auto">
          <a:xfrm>
            <a:off x="6629400" y="4572000"/>
            <a:ext cx="1295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08" name="Line 48">
            <a:extLst>
              <a:ext uri="{FF2B5EF4-FFF2-40B4-BE49-F238E27FC236}">
                <a16:creationId xmlns:a16="http://schemas.microsoft.com/office/drawing/2014/main" id="{B317BEE6-91F8-B946-A88D-CE77A345A337}"/>
              </a:ext>
            </a:extLst>
          </p:cNvPr>
          <p:cNvSpPr>
            <a:spLocks noChangeShapeType="1"/>
          </p:cNvSpPr>
          <p:nvPr/>
        </p:nvSpPr>
        <p:spPr bwMode="auto">
          <a:xfrm flipV="1">
            <a:off x="7924800" y="39624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09" name="Line 49">
            <a:extLst>
              <a:ext uri="{FF2B5EF4-FFF2-40B4-BE49-F238E27FC236}">
                <a16:creationId xmlns:a16="http://schemas.microsoft.com/office/drawing/2014/main" id="{0EA544AC-D35B-0F46-B526-0F85B46F84CC}"/>
              </a:ext>
            </a:extLst>
          </p:cNvPr>
          <p:cNvSpPr>
            <a:spLocks noChangeShapeType="1"/>
          </p:cNvSpPr>
          <p:nvPr/>
        </p:nvSpPr>
        <p:spPr bwMode="auto">
          <a:xfrm>
            <a:off x="7924800" y="39624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10" name="Line 50">
            <a:extLst>
              <a:ext uri="{FF2B5EF4-FFF2-40B4-BE49-F238E27FC236}">
                <a16:creationId xmlns:a16="http://schemas.microsoft.com/office/drawing/2014/main" id="{37E59EF7-EC4C-E044-B4C3-263DED91A76E}"/>
              </a:ext>
            </a:extLst>
          </p:cNvPr>
          <p:cNvSpPr>
            <a:spLocks noChangeShapeType="1"/>
          </p:cNvSpPr>
          <p:nvPr/>
        </p:nvSpPr>
        <p:spPr bwMode="auto">
          <a:xfrm flipH="1">
            <a:off x="3200400" y="6096000"/>
            <a:ext cx="5410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11" name="Line 51">
            <a:extLst>
              <a:ext uri="{FF2B5EF4-FFF2-40B4-BE49-F238E27FC236}">
                <a16:creationId xmlns:a16="http://schemas.microsoft.com/office/drawing/2014/main" id="{4C494882-BA5D-0C43-ACA6-8001FE9247A7}"/>
              </a:ext>
            </a:extLst>
          </p:cNvPr>
          <p:cNvSpPr>
            <a:spLocks noChangeShapeType="1"/>
          </p:cNvSpPr>
          <p:nvPr/>
        </p:nvSpPr>
        <p:spPr bwMode="auto">
          <a:xfrm flipV="1">
            <a:off x="8610600" y="3733800"/>
            <a:ext cx="0" cy="2362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12" name="Line 52">
            <a:extLst>
              <a:ext uri="{FF2B5EF4-FFF2-40B4-BE49-F238E27FC236}">
                <a16:creationId xmlns:a16="http://schemas.microsoft.com/office/drawing/2014/main" id="{82752893-896C-2A48-B4F0-0C89C460A5F5}"/>
              </a:ext>
            </a:extLst>
          </p:cNvPr>
          <p:cNvSpPr>
            <a:spLocks noChangeShapeType="1"/>
          </p:cNvSpPr>
          <p:nvPr/>
        </p:nvSpPr>
        <p:spPr bwMode="auto">
          <a:xfrm>
            <a:off x="8458200" y="37338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13" name="Line 53">
            <a:extLst>
              <a:ext uri="{FF2B5EF4-FFF2-40B4-BE49-F238E27FC236}">
                <a16:creationId xmlns:a16="http://schemas.microsoft.com/office/drawing/2014/main" id="{D622600B-32E5-EC47-8BE9-3378BC33B2E4}"/>
              </a:ext>
            </a:extLst>
          </p:cNvPr>
          <p:cNvSpPr>
            <a:spLocks noChangeShapeType="1"/>
          </p:cNvSpPr>
          <p:nvPr/>
        </p:nvSpPr>
        <p:spPr bwMode="auto">
          <a:xfrm flipV="1">
            <a:off x="3200400" y="4724400"/>
            <a:ext cx="0" cy="1371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14" name="Line 54">
            <a:extLst>
              <a:ext uri="{FF2B5EF4-FFF2-40B4-BE49-F238E27FC236}">
                <a16:creationId xmlns:a16="http://schemas.microsoft.com/office/drawing/2014/main" id="{5E1791ED-E7A4-2A43-993C-6BAF68A31D57}"/>
              </a:ext>
            </a:extLst>
          </p:cNvPr>
          <p:cNvSpPr>
            <a:spLocks noChangeShapeType="1"/>
          </p:cNvSpPr>
          <p:nvPr/>
        </p:nvSpPr>
        <p:spPr bwMode="auto">
          <a:xfrm>
            <a:off x="3200400" y="4724400"/>
            <a:ext cx="381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15" name="Line 55">
            <a:extLst>
              <a:ext uri="{FF2B5EF4-FFF2-40B4-BE49-F238E27FC236}">
                <a16:creationId xmlns:a16="http://schemas.microsoft.com/office/drawing/2014/main" id="{BF29706A-6A98-8D4A-BF1E-9D0945981E54}"/>
              </a:ext>
            </a:extLst>
          </p:cNvPr>
          <p:cNvSpPr>
            <a:spLocks noChangeShapeType="1"/>
          </p:cNvSpPr>
          <p:nvPr/>
        </p:nvSpPr>
        <p:spPr bwMode="auto">
          <a:xfrm>
            <a:off x="2133600" y="36576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16" name="Line 56">
            <a:extLst>
              <a:ext uri="{FF2B5EF4-FFF2-40B4-BE49-F238E27FC236}">
                <a16:creationId xmlns:a16="http://schemas.microsoft.com/office/drawing/2014/main" id="{659095D0-36D1-BA44-A776-CA99A713C51E}"/>
              </a:ext>
            </a:extLst>
          </p:cNvPr>
          <p:cNvSpPr>
            <a:spLocks noChangeShapeType="1"/>
          </p:cNvSpPr>
          <p:nvPr/>
        </p:nvSpPr>
        <p:spPr bwMode="auto">
          <a:xfrm>
            <a:off x="3352800" y="30480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17" name="Line 57">
            <a:extLst>
              <a:ext uri="{FF2B5EF4-FFF2-40B4-BE49-F238E27FC236}">
                <a16:creationId xmlns:a16="http://schemas.microsoft.com/office/drawing/2014/main" id="{28909C55-CB4A-8748-854E-71C1C7EEE784}"/>
              </a:ext>
            </a:extLst>
          </p:cNvPr>
          <p:cNvSpPr>
            <a:spLocks noChangeShapeType="1"/>
          </p:cNvSpPr>
          <p:nvPr/>
        </p:nvSpPr>
        <p:spPr bwMode="auto">
          <a:xfrm>
            <a:off x="3352800" y="35814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18" name="Line 58">
            <a:extLst>
              <a:ext uri="{FF2B5EF4-FFF2-40B4-BE49-F238E27FC236}">
                <a16:creationId xmlns:a16="http://schemas.microsoft.com/office/drawing/2014/main" id="{3BEEB4C9-317F-CE45-8B9E-993E3EC0CD38}"/>
              </a:ext>
            </a:extLst>
          </p:cNvPr>
          <p:cNvSpPr>
            <a:spLocks noChangeShapeType="1"/>
          </p:cNvSpPr>
          <p:nvPr/>
        </p:nvSpPr>
        <p:spPr bwMode="auto">
          <a:xfrm>
            <a:off x="3352800" y="41148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19" name="Line 59">
            <a:extLst>
              <a:ext uri="{FF2B5EF4-FFF2-40B4-BE49-F238E27FC236}">
                <a16:creationId xmlns:a16="http://schemas.microsoft.com/office/drawing/2014/main" id="{F4EAF839-039E-8B45-A6C6-6A660F23834F}"/>
              </a:ext>
            </a:extLst>
          </p:cNvPr>
          <p:cNvSpPr>
            <a:spLocks noChangeShapeType="1"/>
          </p:cNvSpPr>
          <p:nvPr/>
        </p:nvSpPr>
        <p:spPr bwMode="auto">
          <a:xfrm flipV="1">
            <a:off x="3352800" y="3048000"/>
            <a:ext cx="0" cy="1066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20" name="Line 60">
            <a:extLst>
              <a:ext uri="{FF2B5EF4-FFF2-40B4-BE49-F238E27FC236}">
                <a16:creationId xmlns:a16="http://schemas.microsoft.com/office/drawing/2014/main" id="{421C95E5-A057-C24D-A7F6-3F9D0F338F48}"/>
              </a:ext>
            </a:extLst>
          </p:cNvPr>
          <p:cNvSpPr>
            <a:spLocks noChangeShapeType="1"/>
          </p:cNvSpPr>
          <p:nvPr/>
        </p:nvSpPr>
        <p:spPr bwMode="auto">
          <a:xfrm>
            <a:off x="2895600" y="3657600"/>
            <a:ext cx="457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21" name="Line 61">
            <a:extLst>
              <a:ext uri="{FF2B5EF4-FFF2-40B4-BE49-F238E27FC236}">
                <a16:creationId xmlns:a16="http://schemas.microsoft.com/office/drawing/2014/main" id="{20428F9A-7A72-4B49-A5C6-CE884DD805EC}"/>
              </a:ext>
            </a:extLst>
          </p:cNvPr>
          <p:cNvSpPr>
            <a:spLocks noChangeShapeType="1"/>
          </p:cNvSpPr>
          <p:nvPr/>
        </p:nvSpPr>
        <p:spPr bwMode="auto">
          <a:xfrm>
            <a:off x="6477000" y="35052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22" name="Line 62">
            <a:extLst>
              <a:ext uri="{FF2B5EF4-FFF2-40B4-BE49-F238E27FC236}">
                <a16:creationId xmlns:a16="http://schemas.microsoft.com/office/drawing/2014/main" id="{9A3C452F-2B55-0B49-A7F6-D484D7FB7EF8}"/>
              </a:ext>
            </a:extLst>
          </p:cNvPr>
          <p:cNvSpPr>
            <a:spLocks noChangeShapeType="1"/>
          </p:cNvSpPr>
          <p:nvPr/>
        </p:nvSpPr>
        <p:spPr bwMode="auto">
          <a:xfrm>
            <a:off x="6629400" y="36576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23" name="Line 63">
            <a:extLst>
              <a:ext uri="{FF2B5EF4-FFF2-40B4-BE49-F238E27FC236}">
                <a16:creationId xmlns:a16="http://schemas.microsoft.com/office/drawing/2014/main" id="{72399B06-826C-E445-BB54-9BB49064A1C8}"/>
              </a:ext>
            </a:extLst>
          </p:cNvPr>
          <p:cNvSpPr>
            <a:spLocks noChangeShapeType="1"/>
          </p:cNvSpPr>
          <p:nvPr/>
        </p:nvSpPr>
        <p:spPr bwMode="auto">
          <a:xfrm>
            <a:off x="5867400" y="40386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24" name="Line 64">
            <a:extLst>
              <a:ext uri="{FF2B5EF4-FFF2-40B4-BE49-F238E27FC236}">
                <a16:creationId xmlns:a16="http://schemas.microsoft.com/office/drawing/2014/main" id="{5613B68D-35DC-724B-8DAB-F2B601A85226}"/>
              </a:ext>
            </a:extLst>
          </p:cNvPr>
          <p:cNvSpPr>
            <a:spLocks noChangeShapeType="1"/>
          </p:cNvSpPr>
          <p:nvPr/>
        </p:nvSpPr>
        <p:spPr bwMode="auto">
          <a:xfrm>
            <a:off x="5867400" y="30480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25" name="Line 65">
            <a:extLst>
              <a:ext uri="{FF2B5EF4-FFF2-40B4-BE49-F238E27FC236}">
                <a16:creationId xmlns:a16="http://schemas.microsoft.com/office/drawing/2014/main" id="{E597C606-8C0A-7B4C-9143-EFE31CC5CF06}"/>
              </a:ext>
            </a:extLst>
          </p:cNvPr>
          <p:cNvSpPr>
            <a:spLocks noChangeShapeType="1"/>
          </p:cNvSpPr>
          <p:nvPr/>
        </p:nvSpPr>
        <p:spPr bwMode="auto">
          <a:xfrm flipV="1">
            <a:off x="3352800" y="4114800"/>
            <a:ext cx="0" cy="1447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26" name="Line 66">
            <a:extLst>
              <a:ext uri="{FF2B5EF4-FFF2-40B4-BE49-F238E27FC236}">
                <a16:creationId xmlns:a16="http://schemas.microsoft.com/office/drawing/2014/main" id="{08123959-DEAE-1040-83DE-49E1A6B0CFB9}"/>
              </a:ext>
            </a:extLst>
          </p:cNvPr>
          <p:cNvSpPr>
            <a:spLocks noChangeShapeType="1"/>
          </p:cNvSpPr>
          <p:nvPr/>
        </p:nvSpPr>
        <p:spPr bwMode="auto">
          <a:xfrm>
            <a:off x="3352800" y="5562600"/>
            <a:ext cx="3048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27" name="Line 67">
            <a:extLst>
              <a:ext uri="{FF2B5EF4-FFF2-40B4-BE49-F238E27FC236}">
                <a16:creationId xmlns:a16="http://schemas.microsoft.com/office/drawing/2014/main" id="{51B354FB-D95A-4A41-A8AB-BA45A8913E69}"/>
              </a:ext>
            </a:extLst>
          </p:cNvPr>
          <p:cNvSpPr>
            <a:spLocks noChangeShapeType="1"/>
          </p:cNvSpPr>
          <p:nvPr/>
        </p:nvSpPr>
        <p:spPr bwMode="auto">
          <a:xfrm>
            <a:off x="3124200" y="2133600"/>
            <a:ext cx="1600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28" name="Line 68">
            <a:extLst>
              <a:ext uri="{FF2B5EF4-FFF2-40B4-BE49-F238E27FC236}">
                <a16:creationId xmlns:a16="http://schemas.microsoft.com/office/drawing/2014/main" id="{B80E4EAD-3D37-DD45-96BD-D5F1F7E9B680}"/>
              </a:ext>
            </a:extLst>
          </p:cNvPr>
          <p:cNvSpPr>
            <a:spLocks noChangeShapeType="1"/>
          </p:cNvSpPr>
          <p:nvPr/>
        </p:nvSpPr>
        <p:spPr bwMode="auto">
          <a:xfrm>
            <a:off x="4724400" y="2133600"/>
            <a:ext cx="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29" name="Line 69">
            <a:extLst>
              <a:ext uri="{FF2B5EF4-FFF2-40B4-BE49-F238E27FC236}">
                <a16:creationId xmlns:a16="http://schemas.microsoft.com/office/drawing/2014/main" id="{F65F4122-4C6F-B945-BA45-9C1F30F0E83C}"/>
              </a:ext>
            </a:extLst>
          </p:cNvPr>
          <p:cNvSpPr>
            <a:spLocks noChangeShapeType="1"/>
          </p:cNvSpPr>
          <p:nvPr/>
        </p:nvSpPr>
        <p:spPr bwMode="auto">
          <a:xfrm>
            <a:off x="4724400" y="2667000"/>
            <a:ext cx="762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30" name="Line 70">
            <a:extLst>
              <a:ext uri="{FF2B5EF4-FFF2-40B4-BE49-F238E27FC236}">
                <a16:creationId xmlns:a16="http://schemas.microsoft.com/office/drawing/2014/main" id="{781880EB-43F4-F04D-A5FF-8997E2024308}"/>
              </a:ext>
            </a:extLst>
          </p:cNvPr>
          <p:cNvSpPr>
            <a:spLocks noChangeShapeType="1"/>
          </p:cNvSpPr>
          <p:nvPr/>
        </p:nvSpPr>
        <p:spPr bwMode="auto">
          <a:xfrm>
            <a:off x="4648200" y="121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31" name="Line 71">
            <a:extLst>
              <a:ext uri="{FF2B5EF4-FFF2-40B4-BE49-F238E27FC236}">
                <a16:creationId xmlns:a16="http://schemas.microsoft.com/office/drawing/2014/main" id="{14D539F0-0DEB-074E-A59F-E8D3EC80D220}"/>
              </a:ext>
            </a:extLst>
          </p:cNvPr>
          <p:cNvSpPr>
            <a:spLocks noChangeShapeType="1"/>
          </p:cNvSpPr>
          <p:nvPr/>
        </p:nvSpPr>
        <p:spPr bwMode="auto">
          <a:xfrm>
            <a:off x="4648200" y="1219200"/>
            <a:ext cx="2133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32" name="Line 72">
            <a:extLst>
              <a:ext uri="{FF2B5EF4-FFF2-40B4-BE49-F238E27FC236}">
                <a16:creationId xmlns:a16="http://schemas.microsoft.com/office/drawing/2014/main" id="{49B5A13A-6BF1-F543-AF83-1B5702E80E51}"/>
              </a:ext>
            </a:extLst>
          </p:cNvPr>
          <p:cNvSpPr>
            <a:spLocks noChangeShapeType="1"/>
          </p:cNvSpPr>
          <p:nvPr/>
        </p:nvSpPr>
        <p:spPr bwMode="auto">
          <a:xfrm>
            <a:off x="3124200" y="762000"/>
            <a:ext cx="0" cy="55626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33" name="Line 73">
            <a:extLst>
              <a:ext uri="{FF2B5EF4-FFF2-40B4-BE49-F238E27FC236}">
                <a16:creationId xmlns:a16="http://schemas.microsoft.com/office/drawing/2014/main" id="{D7097746-8055-304A-AB95-D16E52D90B46}"/>
              </a:ext>
            </a:extLst>
          </p:cNvPr>
          <p:cNvSpPr>
            <a:spLocks noChangeShapeType="1"/>
          </p:cNvSpPr>
          <p:nvPr/>
        </p:nvSpPr>
        <p:spPr bwMode="auto">
          <a:xfrm>
            <a:off x="5410200" y="762000"/>
            <a:ext cx="0" cy="55626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34" name="Line 74">
            <a:extLst>
              <a:ext uri="{FF2B5EF4-FFF2-40B4-BE49-F238E27FC236}">
                <a16:creationId xmlns:a16="http://schemas.microsoft.com/office/drawing/2014/main" id="{05650606-00AB-4B40-8394-ACDBED4D1AAC}"/>
              </a:ext>
            </a:extLst>
          </p:cNvPr>
          <p:cNvSpPr>
            <a:spLocks noChangeShapeType="1"/>
          </p:cNvSpPr>
          <p:nvPr/>
        </p:nvSpPr>
        <p:spPr bwMode="auto">
          <a:xfrm>
            <a:off x="8001000" y="762000"/>
            <a:ext cx="0" cy="55626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35" name="Line 75">
            <a:extLst>
              <a:ext uri="{FF2B5EF4-FFF2-40B4-BE49-F238E27FC236}">
                <a16:creationId xmlns:a16="http://schemas.microsoft.com/office/drawing/2014/main" id="{546CB4C8-A6A1-3E44-858D-C3746D5EC222}"/>
              </a:ext>
            </a:extLst>
          </p:cNvPr>
          <p:cNvSpPr>
            <a:spLocks noChangeShapeType="1"/>
          </p:cNvSpPr>
          <p:nvPr/>
        </p:nvSpPr>
        <p:spPr bwMode="auto">
          <a:xfrm>
            <a:off x="6553200" y="762000"/>
            <a:ext cx="0" cy="55626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5436" name="Line 76">
            <a:extLst>
              <a:ext uri="{FF2B5EF4-FFF2-40B4-BE49-F238E27FC236}">
                <a16:creationId xmlns:a16="http://schemas.microsoft.com/office/drawing/2014/main" id="{AEC09921-E8A8-8343-A566-3488A90C7453}"/>
              </a:ext>
            </a:extLst>
          </p:cNvPr>
          <p:cNvSpPr>
            <a:spLocks noChangeShapeType="1"/>
          </p:cNvSpPr>
          <p:nvPr/>
        </p:nvSpPr>
        <p:spPr bwMode="auto">
          <a:xfrm>
            <a:off x="5867400" y="19050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437" name="Rectangle 77">
            <a:extLst>
              <a:ext uri="{FF2B5EF4-FFF2-40B4-BE49-F238E27FC236}">
                <a16:creationId xmlns:a16="http://schemas.microsoft.com/office/drawing/2014/main" id="{5365E60B-C5D9-524A-BA39-FF2512B2CAC9}"/>
              </a:ext>
            </a:extLst>
          </p:cNvPr>
          <p:cNvSpPr>
            <a:spLocks noChangeArrowheads="1"/>
          </p:cNvSpPr>
          <p:nvPr/>
        </p:nvSpPr>
        <p:spPr bwMode="auto">
          <a:xfrm>
            <a:off x="1127125" y="503238"/>
            <a:ext cx="17002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Instruction Fetch (IF)</a:t>
            </a:r>
          </a:p>
        </p:txBody>
      </p:sp>
      <p:sp>
        <p:nvSpPr>
          <p:cNvPr id="15438" name="Rectangle 78">
            <a:extLst>
              <a:ext uri="{FF2B5EF4-FFF2-40B4-BE49-F238E27FC236}">
                <a16:creationId xmlns:a16="http://schemas.microsoft.com/office/drawing/2014/main" id="{0A387B7C-E474-7542-8155-66A05278050A}"/>
              </a:ext>
            </a:extLst>
          </p:cNvPr>
          <p:cNvSpPr>
            <a:spLocks noChangeArrowheads="1"/>
          </p:cNvSpPr>
          <p:nvPr/>
        </p:nvSpPr>
        <p:spPr bwMode="auto">
          <a:xfrm>
            <a:off x="3260725" y="503238"/>
            <a:ext cx="1860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Instruction Decode (ID)</a:t>
            </a:r>
          </a:p>
        </p:txBody>
      </p:sp>
      <p:sp>
        <p:nvSpPr>
          <p:cNvPr id="15439" name="Rectangle 79">
            <a:extLst>
              <a:ext uri="{FF2B5EF4-FFF2-40B4-BE49-F238E27FC236}">
                <a16:creationId xmlns:a16="http://schemas.microsoft.com/office/drawing/2014/main" id="{0920221C-0BCE-F044-82C9-D9FA35850009}"/>
              </a:ext>
            </a:extLst>
          </p:cNvPr>
          <p:cNvSpPr>
            <a:spLocks noChangeArrowheads="1"/>
          </p:cNvSpPr>
          <p:nvPr/>
        </p:nvSpPr>
        <p:spPr bwMode="auto">
          <a:xfrm>
            <a:off x="5546725" y="503238"/>
            <a:ext cx="11160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Execute (EX)</a:t>
            </a:r>
          </a:p>
        </p:txBody>
      </p:sp>
      <p:sp>
        <p:nvSpPr>
          <p:cNvPr id="15440" name="Rectangle 80">
            <a:extLst>
              <a:ext uri="{FF2B5EF4-FFF2-40B4-BE49-F238E27FC236}">
                <a16:creationId xmlns:a16="http://schemas.microsoft.com/office/drawing/2014/main" id="{C2195AA6-4B7C-6F42-9FC1-31EB0F13AFD7}"/>
              </a:ext>
            </a:extLst>
          </p:cNvPr>
          <p:cNvSpPr>
            <a:spLocks noChangeArrowheads="1"/>
          </p:cNvSpPr>
          <p:nvPr/>
        </p:nvSpPr>
        <p:spPr bwMode="auto">
          <a:xfrm>
            <a:off x="6765925" y="503238"/>
            <a:ext cx="1268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Memory (MEM)</a:t>
            </a:r>
          </a:p>
        </p:txBody>
      </p:sp>
      <p:sp>
        <p:nvSpPr>
          <p:cNvPr id="15441" name="Rectangle 81">
            <a:extLst>
              <a:ext uri="{FF2B5EF4-FFF2-40B4-BE49-F238E27FC236}">
                <a16:creationId xmlns:a16="http://schemas.microsoft.com/office/drawing/2014/main" id="{5DF614AD-4AEB-BF41-A95D-4EDF9D4633BC}"/>
              </a:ext>
            </a:extLst>
          </p:cNvPr>
          <p:cNvSpPr>
            <a:spLocks noChangeArrowheads="1"/>
          </p:cNvSpPr>
          <p:nvPr/>
        </p:nvSpPr>
        <p:spPr bwMode="auto">
          <a:xfrm>
            <a:off x="8077200" y="503238"/>
            <a:ext cx="1106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Writeback (WB)</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D9BAEFC3-C525-D146-97E6-E30D33219802}"/>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Example: Analysis (non-pipelined)</a:t>
            </a:r>
          </a:p>
        </p:txBody>
      </p:sp>
      <p:sp>
        <p:nvSpPr>
          <p:cNvPr id="17411" name="Rectangle 3">
            <a:extLst>
              <a:ext uri="{FF2B5EF4-FFF2-40B4-BE49-F238E27FC236}">
                <a16:creationId xmlns:a16="http://schemas.microsoft.com/office/drawing/2014/main" id="{7FCADE8D-27D6-6F4B-9435-AA2D779A2CA0}"/>
              </a:ext>
            </a:extLst>
          </p:cNvPr>
          <p:cNvSpPr>
            <a:spLocks noGrp="1" noChangeArrowheads="1"/>
          </p:cNvSpPr>
          <p:nvPr>
            <p:ph idx="1"/>
          </p:nvPr>
        </p:nvSpPr>
        <p:spPr/>
        <p:txBody>
          <a:bodyPr/>
          <a:lstStyle/>
          <a:p>
            <a:r>
              <a:rPr lang="en-US" altLang="en-US"/>
              <a:t>All instructions (except branch):</a:t>
            </a:r>
          </a:p>
          <a:p>
            <a:pPr lvl="1"/>
            <a:r>
              <a:rPr lang="en-US" altLang="en-US"/>
              <a:t>IF, ID, EX, MEM, WB</a:t>
            </a:r>
          </a:p>
          <a:p>
            <a:r>
              <a:rPr lang="en-US" altLang="en-US"/>
              <a:t>Branch: </a:t>
            </a:r>
            <a:r>
              <a:rPr lang="en-US" altLang="en-US" sz="1800"/>
              <a:t>(12%)</a:t>
            </a:r>
            <a:endParaRPr lang="en-US" altLang="en-US"/>
          </a:p>
          <a:p>
            <a:pPr lvl="1"/>
            <a:r>
              <a:rPr lang="en-US" altLang="en-US"/>
              <a:t>IF, ID, EX, MEM</a:t>
            </a:r>
          </a:p>
          <a:p>
            <a:r>
              <a:rPr lang="en-US" altLang="en-US"/>
              <a:t>CPI = 5*0.88+4*0.12 = 4.88 cycles</a:t>
            </a:r>
          </a:p>
          <a:p>
            <a:r>
              <a:rPr lang="en-US" altLang="en-US"/>
              <a:t>Graphically:</a:t>
            </a:r>
          </a:p>
        </p:txBody>
      </p:sp>
      <p:grpSp>
        <p:nvGrpSpPr>
          <p:cNvPr id="17412" name="Group 21">
            <a:extLst>
              <a:ext uri="{FF2B5EF4-FFF2-40B4-BE49-F238E27FC236}">
                <a16:creationId xmlns:a16="http://schemas.microsoft.com/office/drawing/2014/main" id="{BF595C48-339D-AE43-99B3-4260FC308F86}"/>
              </a:ext>
            </a:extLst>
          </p:cNvPr>
          <p:cNvGrpSpPr>
            <a:grpSpLocks/>
          </p:cNvGrpSpPr>
          <p:nvPr/>
        </p:nvGrpSpPr>
        <p:grpSpPr bwMode="auto">
          <a:xfrm>
            <a:off x="228600" y="4419600"/>
            <a:ext cx="2882900" cy="412750"/>
            <a:chOff x="148" y="2476"/>
            <a:chExt cx="1816" cy="260"/>
          </a:xfrm>
        </p:grpSpPr>
        <p:sp>
          <p:nvSpPr>
            <p:cNvPr id="17449" name="Rectangle 4">
              <a:extLst>
                <a:ext uri="{FF2B5EF4-FFF2-40B4-BE49-F238E27FC236}">
                  <a16:creationId xmlns:a16="http://schemas.microsoft.com/office/drawing/2014/main" id="{CD07FD75-5998-8944-A05C-D1D4F66F578E}"/>
                </a:ext>
              </a:extLst>
            </p:cNvPr>
            <p:cNvSpPr>
              <a:spLocks noChangeArrowheads="1"/>
            </p:cNvSpPr>
            <p:nvPr/>
          </p:nvSpPr>
          <p:spPr bwMode="auto">
            <a:xfrm>
              <a:off x="148" y="2490"/>
              <a:ext cx="276" cy="131"/>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IC</a:t>
              </a:r>
            </a:p>
          </p:txBody>
        </p:sp>
        <p:sp>
          <p:nvSpPr>
            <p:cNvPr id="17450" name="Rectangle 5">
              <a:extLst>
                <a:ext uri="{FF2B5EF4-FFF2-40B4-BE49-F238E27FC236}">
                  <a16:creationId xmlns:a16="http://schemas.microsoft.com/office/drawing/2014/main" id="{96A739C1-E285-6A40-9146-9F921DA484AD}"/>
                </a:ext>
              </a:extLst>
            </p:cNvPr>
            <p:cNvSpPr>
              <a:spLocks noChangeArrowheads="1"/>
            </p:cNvSpPr>
            <p:nvPr/>
          </p:nvSpPr>
          <p:spPr bwMode="auto">
            <a:xfrm>
              <a:off x="553" y="2490"/>
              <a:ext cx="276" cy="131"/>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7451" name="AutoShape 6">
              <a:extLst>
                <a:ext uri="{FF2B5EF4-FFF2-40B4-BE49-F238E27FC236}">
                  <a16:creationId xmlns:a16="http://schemas.microsoft.com/office/drawing/2014/main" id="{77DD7BC2-00AB-8A43-866A-0B90755A54C3}"/>
                </a:ext>
              </a:extLst>
            </p:cNvPr>
            <p:cNvSpPr>
              <a:spLocks noChangeArrowheads="1"/>
            </p:cNvSpPr>
            <p:nvPr/>
          </p:nvSpPr>
          <p:spPr bwMode="auto">
            <a:xfrm rot="5400000" flipV="1">
              <a:off x="963" y="2472"/>
              <a:ext cx="186" cy="19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29 w 21600"/>
                <a:gd name="T13" fmla="*/ 4454 h 21600"/>
                <a:gd name="T14" fmla="*/ 17071 w 21600"/>
                <a:gd name="T15" fmla="*/ 1714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vert="eaVert"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800">
                  <a:latin typeface="Arial" panose="020B0604020202020204" pitchFamily="34" charset="0"/>
                </a:rPr>
                <a:t>ALU</a:t>
              </a:r>
            </a:p>
          </p:txBody>
        </p:sp>
        <p:sp>
          <p:nvSpPr>
            <p:cNvPr id="17452" name="Rectangle 7">
              <a:extLst>
                <a:ext uri="{FF2B5EF4-FFF2-40B4-BE49-F238E27FC236}">
                  <a16:creationId xmlns:a16="http://schemas.microsoft.com/office/drawing/2014/main" id="{6BA837F8-0CD9-D64B-AA09-400FC5889D1F}"/>
                </a:ext>
              </a:extLst>
            </p:cNvPr>
            <p:cNvSpPr>
              <a:spLocks noChangeArrowheads="1"/>
            </p:cNvSpPr>
            <p:nvPr/>
          </p:nvSpPr>
          <p:spPr bwMode="auto">
            <a:xfrm>
              <a:off x="1283" y="2490"/>
              <a:ext cx="276" cy="131"/>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DC</a:t>
              </a:r>
            </a:p>
          </p:txBody>
        </p:sp>
        <p:sp>
          <p:nvSpPr>
            <p:cNvPr id="17453" name="Rectangle 8">
              <a:extLst>
                <a:ext uri="{FF2B5EF4-FFF2-40B4-BE49-F238E27FC236}">
                  <a16:creationId xmlns:a16="http://schemas.microsoft.com/office/drawing/2014/main" id="{74600940-9C10-044A-989C-3B73195F2051}"/>
                </a:ext>
              </a:extLst>
            </p:cNvPr>
            <p:cNvSpPr>
              <a:spLocks noChangeArrowheads="1"/>
            </p:cNvSpPr>
            <p:nvPr/>
          </p:nvSpPr>
          <p:spPr bwMode="auto">
            <a:xfrm>
              <a:off x="1688" y="2490"/>
              <a:ext cx="276" cy="131"/>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7454" name="Line 9">
              <a:extLst>
                <a:ext uri="{FF2B5EF4-FFF2-40B4-BE49-F238E27FC236}">
                  <a16:creationId xmlns:a16="http://schemas.microsoft.com/office/drawing/2014/main" id="{2669ADD0-546B-1D44-8412-D5A7C3846B80}"/>
                </a:ext>
              </a:extLst>
            </p:cNvPr>
            <p:cNvSpPr>
              <a:spLocks noChangeShapeType="1"/>
            </p:cNvSpPr>
            <p:nvPr/>
          </p:nvSpPr>
          <p:spPr bwMode="auto">
            <a:xfrm>
              <a:off x="428" y="2541"/>
              <a:ext cx="12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55" name="Line 10">
              <a:extLst>
                <a:ext uri="{FF2B5EF4-FFF2-40B4-BE49-F238E27FC236}">
                  <a16:creationId xmlns:a16="http://schemas.microsoft.com/office/drawing/2014/main" id="{C53BE245-FF17-734E-B27E-FBA385378A1A}"/>
                </a:ext>
              </a:extLst>
            </p:cNvPr>
            <p:cNvSpPr>
              <a:spLocks noChangeShapeType="1"/>
            </p:cNvSpPr>
            <p:nvPr/>
          </p:nvSpPr>
          <p:spPr bwMode="auto">
            <a:xfrm>
              <a:off x="833" y="2514"/>
              <a:ext cx="12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56" name="Line 11">
              <a:extLst>
                <a:ext uri="{FF2B5EF4-FFF2-40B4-BE49-F238E27FC236}">
                  <a16:creationId xmlns:a16="http://schemas.microsoft.com/office/drawing/2014/main" id="{F2FB87E9-7625-604A-B7D0-624C16D6A606}"/>
                </a:ext>
              </a:extLst>
            </p:cNvPr>
            <p:cNvSpPr>
              <a:spLocks noChangeShapeType="1"/>
            </p:cNvSpPr>
            <p:nvPr/>
          </p:nvSpPr>
          <p:spPr bwMode="auto">
            <a:xfrm>
              <a:off x="833" y="2597"/>
              <a:ext cx="12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17457" name="Group 16">
              <a:extLst>
                <a:ext uri="{FF2B5EF4-FFF2-40B4-BE49-F238E27FC236}">
                  <a16:creationId xmlns:a16="http://schemas.microsoft.com/office/drawing/2014/main" id="{9D03C986-85A7-E74A-9B65-BF71DEBEDE6A}"/>
                </a:ext>
              </a:extLst>
            </p:cNvPr>
            <p:cNvGrpSpPr>
              <a:grpSpLocks/>
            </p:cNvGrpSpPr>
            <p:nvPr/>
          </p:nvGrpSpPr>
          <p:grpSpPr bwMode="auto">
            <a:xfrm>
              <a:off x="914" y="2569"/>
              <a:ext cx="365" cy="167"/>
              <a:chOff x="914" y="2569"/>
              <a:chExt cx="365" cy="167"/>
            </a:xfrm>
          </p:grpSpPr>
          <p:sp>
            <p:nvSpPr>
              <p:cNvPr id="17462" name="Line 12">
                <a:extLst>
                  <a:ext uri="{FF2B5EF4-FFF2-40B4-BE49-F238E27FC236}">
                    <a16:creationId xmlns:a16="http://schemas.microsoft.com/office/drawing/2014/main" id="{E009A7ED-4699-3843-9E8F-F9623CDCA87A}"/>
                  </a:ext>
                </a:extLst>
              </p:cNvPr>
              <p:cNvSpPr>
                <a:spLocks noChangeShapeType="1"/>
              </p:cNvSpPr>
              <p:nvPr/>
            </p:nvSpPr>
            <p:spPr bwMode="auto">
              <a:xfrm>
                <a:off x="914" y="2597"/>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63" name="Line 13">
                <a:extLst>
                  <a:ext uri="{FF2B5EF4-FFF2-40B4-BE49-F238E27FC236}">
                    <a16:creationId xmlns:a16="http://schemas.microsoft.com/office/drawing/2014/main" id="{181C395A-95CC-2B49-B504-955E45EFFD80}"/>
                  </a:ext>
                </a:extLst>
              </p:cNvPr>
              <p:cNvSpPr>
                <a:spLocks noChangeShapeType="1"/>
              </p:cNvSpPr>
              <p:nvPr/>
            </p:nvSpPr>
            <p:spPr bwMode="auto">
              <a:xfrm>
                <a:off x="914" y="2736"/>
                <a:ext cx="28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64" name="Line 14">
                <a:extLst>
                  <a:ext uri="{FF2B5EF4-FFF2-40B4-BE49-F238E27FC236}">
                    <a16:creationId xmlns:a16="http://schemas.microsoft.com/office/drawing/2014/main" id="{B07E00C5-4E99-9C45-A3D1-EEAE19E4ECD0}"/>
                  </a:ext>
                </a:extLst>
              </p:cNvPr>
              <p:cNvSpPr>
                <a:spLocks noChangeShapeType="1"/>
              </p:cNvSpPr>
              <p:nvPr/>
            </p:nvSpPr>
            <p:spPr bwMode="auto">
              <a:xfrm flipV="1">
                <a:off x="1198" y="2569"/>
                <a:ext cx="0" cy="16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65" name="Line 15">
                <a:extLst>
                  <a:ext uri="{FF2B5EF4-FFF2-40B4-BE49-F238E27FC236}">
                    <a16:creationId xmlns:a16="http://schemas.microsoft.com/office/drawing/2014/main" id="{408F228F-C1D9-554C-8AF8-3052257D39BD}"/>
                  </a:ext>
                </a:extLst>
              </p:cNvPr>
              <p:cNvSpPr>
                <a:spLocks noChangeShapeType="1"/>
              </p:cNvSpPr>
              <p:nvPr/>
            </p:nvSpPr>
            <p:spPr bwMode="auto">
              <a:xfrm>
                <a:off x="1157" y="2569"/>
                <a:ext cx="12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7458" name="Line 17">
              <a:extLst>
                <a:ext uri="{FF2B5EF4-FFF2-40B4-BE49-F238E27FC236}">
                  <a16:creationId xmlns:a16="http://schemas.microsoft.com/office/drawing/2014/main" id="{729A278F-E23A-8643-BBA0-DF46D97EC9A0}"/>
                </a:ext>
              </a:extLst>
            </p:cNvPr>
            <p:cNvSpPr>
              <a:spLocks noChangeShapeType="1"/>
            </p:cNvSpPr>
            <p:nvPr/>
          </p:nvSpPr>
          <p:spPr bwMode="auto">
            <a:xfrm>
              <a:off x="1238" y="2569"/>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59" name="Line 18">
              <a:extLst>
                <a:ext uri="{FF2B5EF4-FFF2-40B4-BE49-F238E27FC236}">
                  <a16:creationId xmlns:a16="http://schemas.microsoft.com/office/drawing/2014/main" id="{87CC19C9-9542-5042-9F31-EBACB504457F}"/>
                </a:ext>
              </a:extLst>
            </p:cNvPr>
            <p:cNvSpPr>
              <a:spLocks noChangeShapeType="1"/>
            </p:cNvSpPr>
            <p:nvPr/>
          </p:nvSpPr>
          <p:spPr bwMode="auto">
            <a:xfrm>
              <a:off x="1238" y="2708"/>
              <a:ext cx="36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60" name="Line 19">
              <a:extLst>
                <a:ext uri="{FF2B5EF4-FFF2-40B4-BE49-F238E27FC236}">
                  <a16:creationId xmlns:a16="http://schemas.microsoft.com/office/drawing/2014/main" id="{0934354F-9029-4D4A-A85F-781B24B73D09}"/>
                </a:ext>
              </a:extLst>
            </p:cNvPr>
            <p:cNvSpPr>
              <a:spLocks noChangeShapeType="1"/>
            </p:cNvSpPr>
            <p:nvPr/>
          </p:nvSpPr>
          <p:spPr bwMode="auto">
            <a:xfrm flipV="1">
              <a:off x="1603" y="2569"/>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61" name="Line 20">
              <a:extLst>
                <a:ext uri="{FF2B5EF4-FFF2-40B4-BE49-F238E27FC236}">
                  <a16:creationId xmlns:a16="http://schemas.microsoft.com/office/drawing/2014/main" id="{D294FF54-3C4F-C54C-BC50-B680B67B4B80}"/>
                </a:ext>
              </a:extLst>
            </p:cNvPr>
            <p:cNvSpPr>
              <a:spLocks noChangeShapeType="1"/>
            </p:cNvSpPr>
            <p:nvPr/>
          </p:nvSpPr>
          <p:spPr bwMode="auto">
            <a:xfrm>
              <a:off x="1563" y="2569"/>
              <a:ext cx="12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413" name="Group 39">
            <a:extLst>
              <a:ext uri="{FF2B5EF4-FFF2-40B4-BE49-F238E27FC236}">
                <a16:creationId xmlns:a16="http://schemas.microsoft.com/office/drawing/2014/main" id="{65A4DDC7-0DFF-5543-A715-C358218457D3}"/>
              </a:ext>
            </a:extLst>
          </p:cNvPr>
          <p:cNvGrpSpPr>
            <a:grpSpLocks/>
          </p:cNvGrpSpPr>
          <p:nvPr/>
        </p:nvGrpSpPr>
        <p:grpSpPr bwMode="auto">
          <a:xfrm>
            <a:off x="3124200" y="4876800"/>
            <a:ext cx="2882900" cy="412750"/>
            <a:chOff x="1972" y="2764"/>
            <a:chExt cx="1816" cy="260"/>
          </a:xfrm>
        </p:grpSpPr>
        <p:sp>
          <p:nvSpPr>
            <p:cNvPr id="17432" name="Rectangle 22">
              <a:extLst>
                <a:ext uri="{FF2B5EF4-FFF2-40B4-BE49-F238E27FC236}">
                  <a16:creationId xmlns:a16="http://schemas.microsoft.com/office/drawing/2014/main" id="{1741BA6C-ACF3-F04F-B030-51060EE74641}"/>
                </a:ext>
              </a:extLst>
            </p:cNvPr>
            <p:cNvSpPr>
              <a:spLocks noChangeArrowheads="1"/>
            </p:cNvSpPr>
            <p:nvPr/>
          </p:nvSpPr>
          <p:spPr bwMode="auto">
            <a:xfrm>
              <a:off x="1972" y="2778"/>
              <a:ext cx="276" cy="131"/>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IC</a:t>
              </a:r>
            </a:p>
          </p:txBody>
        </p:sp>
        <p:sp>
          <p:nvSpPr>
            <p:cNvPr id="17433" name="Rectangle 23">
              <a:extLst>
                <a:ext uri="{FF2B5EF4-FFF2-40B4-BE49-F238E27FC236}">
                  <a16:creationId xmlns:a16="http://schemas.microsoft.com/office/drawing/2014/main" id="{4D613A76-E4ED-4245-9002-A35EC3125AE7}"/>
                </a:ext>
              </a:extLst>
            </p:cNvPr>
            <p:cNvSpPr>
              <a:spLocks noChangeArrowheads="1"/>
            </p:cNvSpPr>
            <p:nvPr/>
          </p:nvSpPr>
          <p:spPr bwMode="auto">
            <a:xfrm>
              <a:off x="2377" y="2778"/>
              <a:ext cx="276" cy="131"/>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7434" name="AutoShape 24">
              <a:extLst>
                <a:ext uri="{FF2B5EF4-FFF2-40B4-BE49-F238E27FC236}">
                  <a16:creationId xmlns:a16="http://schemas.microsoft.com/office/drawing/2014/main" id="{0FEC5312-AB81-3945-BDB9-B347D3CC7F4D}"/>
                </a:ext>
              </a:extLst>
            </p:cNvPr>
            <p:cNvSpPr>
              <a:spLocks noChangeArrowheads="1"/>
            </p:cNvSpPr>
            <p:nvPr/>
          </p:nvSpPr>
          <p:spPr bwMode="auto">
            <a:xfrm rot="5400000" flipV="1">
              <a:off x="2787" y="2760"/>
              <a:ext cx="186" cy="19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29 w 21600"/>
                <a:gd name="T13" fmla="*/ 4454 h 21600"/>
                <a:gd name="T14" fmla="*/ 17071 w 21600"/>
                <a:gd name="T15" fmla="*/ 1714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vert="eaVert"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800">
                  <a:latin typeface="Arial" panose="020B0604020202020204" pitchFamily="34" charset="0"/>
                </a:rPr>
                <a:t>ALU</a:t>
              </a:r>
            </a:p>
          </p:txBody>
        </p:sp>
        <p:sp>
          <p:nvSpPr>
            <p:cNvPr id="17435" name="Rectangle 25">
              <a:extLst>
                <a:ext uri="{FF2B5EF4-FFF2-40B4-BE49-F238E27FC236}">
                  <a16:creationId xmlns:a16="http://schemas.microsoft.com/office/drawing/2014/main" id="{ED6E02BC-A161-F244-80CF-1C450348BA60}"/>
                </a:ext>
              </a:extLst>
            </p:cNvPr>
            <p:cNvSpPr>
              <a:spLocks noChangeArrowheads="1"/>
            </p:cNvSpPr>
            <p:nvPr/>
          </p:nvSpPr>
          <p:spPr bwMode="auto">
            <a:xfrm>
              <a:off x="3107" y="2778"/>
              <a:ext cx="276" cy="131"/>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DC</a:t>
              </a:r>
            </a:p>
          </p:txBody>
        </p:sp>
        <p:sp>
          <p:nvSpPr>
            <p:cNvPr id="17436" name="Rectangle 26">
              <a:extLst>
                <a:ext uri="{FF2B5EF4-FFF2-40B4-BE49-F238E27FC236}">
                  <a16:creationId xmlns:a16="http://schemas.microsoft.com/office/drawing/2014/main" id="{452D564B-93AA-FA4A-857F-AC73F9402F9A}"/>
                </a:ext>
              </a:extLst>
            </p:cNvPr>
            <p:cNvSpPr>
              <a:spLocks noChangeArrowheads="1"/>
            </p:cNvSpPr>
            <p:nvPr/>
          </p:nvSpPr>
          <p:spPr bwMode="auto">
            <a:xfrm>
              <a:off x="3512" y="2778"/>
              <a:ext cx="276" cy="131"/>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7437" name="Line 27">
              <a:extLst>
                <a:ext uri="{FF2B5EF4-FFF2-40B4-BE49-F238E27FC236}">
                  <a16:creationId xmlns:a16="http://schemas.microsoft.com/office/drawing/2014/main" id="{4D7CFC93-5198-1B49-A907-4BE7A59A9BF0}"/>
                </a:ext>
              </a:extLst>
            </p:cNvPr>
            <p:cNvSpPr>
              <a:spLocks noChangeShapeType="1"/>
            </p:cNvSpPr>
            <p:nvPr/>
          </p:nvSpPr>
          <p:spPr bwMode="auto">
            <a:xfrm>
              <a:off x="2252" y="2829"/>
              <a:ext cx="12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38" name="Line 28">
              <a:extLst>
                <a:ext uri="{FF2B5EF4-FFF2-40B4-BE49-F238E27FC236}">
                  <a16:creationId xmlns:a16="http://schemas.microsoft.com/office/drawing/2014/main" id="{0A51ED5F-6EFA-6240-8C57-85953F656DB3}"/>
                </a:ext>
              </a:extLst>
            </p:cNvPr>
            <p:cNvSpPr>
              <a:spLocks noChangeShapeType="1"/>
            </p:cNvSpPr>
            <p:nvPr/>
          </p:nvSpPr>
          <p:spPr bwMode="auto">
            <a:xfrm>
              <a:off x="2657" y="2802"/>
              <a:ext cx="12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39" name="Line 29">
              <a:extLst>
                <a:ext uri="{FF2B5EF4-FFF2-40B4-BE49-F238E27FC236}">
                  <a16:creationId xmlns:a16="http://schemas.microsoft.com/office/drawing/2014/main" id="{55E69A01-1C25-7242-8C24-6340D7185DF5}"/>
                </a:ext>
              </a:extLst>
            </p:cNvPr>
            <p:cNvSpPr>
              <a:spLocks noChangeShapeType="1"/>
            </p:cNvSpPr>
            <p:nvPr/>
          </p:nvSpPr>
          <p:spPr bwMode="auto">
            <a:xfrm>
              <a:off x="2657" y="2885"/>
              <a:ext cx="12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17440" name="Group 34">
              <a:extLst>
                <a:ext uri="{FF2B5EF4-FFF2-40B4-BE49-F238E27FC236}">
                  <a16:creationId xmlns:a16="http://schemas.microsoft.com/office/drawing/2014/main" id="{8D2D6954-4DF6-B44F-97D0-FEAB6E53A784}"/>
                </a:ext>
              </a:extLst>
            </p:cNvPr>
            <p:cNvGrpSpPr>
              <a:grpSpLocks/>
            </p:cNvGrpSpPr>
            <p:nvPr/>
          </p:nvGrpSpPr>
          <p:grpSpPr bwMode="auto">
            <a:xfrm>
              <a:off x="2738" y="2857"/>
              <a:ext cx="365" cy="167"/>
              <a:chOff x="2738" y="2857"/>
              <a:chExt cx="365" cy="167"/>
            </a:xfrm>
          </p:grpSpPr>
          <p:sp>
            <p:nvSpPr>
              <p:cNvPr id="17445" name="Line 30">
                <a:extLst>
                  <a:ext uri="{FF2B5EF4-FFF2-40B4-BE49-F238E27FC236}">
                    <a16:creationId xmlns:a16="http://schemas.microsoft.com/office/drawing/2014/main" id="{83C19A4C-3D98-2849-B0D3-0A405CA057A3}"/>
                  </a:ext>
                </a:extLst>
              </p:cNvPr>
              <p:cNvSpPr>
                <a:spLocks noChangeShapeType="1"/>
              </p:cNvSpPr>
              <p:nvPr/>
            </p:nvSpPr>
            <p:spPr bwMode="auto">
              <a:xfrm>
                <a:off x="2738" y="2885"/>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46" name="Line 31">
                <a:extLst>
                  <a:ext uri="{FF2B5EF4-FFF2-40B4-BE49-F238E27FC236}">
                    <a16:creationId xmlns:a16="http://schemas.microsoft.com/office/drawing/2014/main" id="{7AC43E03-4D54-D44F-B313-516BA9A869F2}"/>
                  </a:ext>
                </a:extLst>
              </p:cNvPr>
              <p:cNvSpPr>
                <a:spLocks noChangeShapeType="1"/>
              </p:cNvSpPr>
              <p:nvPr/>
            </p:nvSpPr>
            <p:spPr bwMode="auto">
              <a:xfrm>
                <a:off x="2738" y="3024"/>
                <a:ext cx="28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47" name="Line 32">
                <a:extLst>
                  <a:ext uri="{FF2B5EF4-FFF2-40B4-BE49-F238E27FC236}">
                    <a16:creationId xmlns:a16="http://schemas.microsoft.com/office/drawing/2014/main" id="{718E3525-EFC2-3141-8828-07C8B108F5FB}"/>
                  </a:ext>
                </a:extLst>
              </p:cNvPr>
              <p:cNvSpPr>
                <a:spLocks noChangeShapeType="1"/>
              </p:cNvSpPr>
              <p:nvPr/>
            </p:nvSpPr>
            <p:spPr bwMode="auto">
              <a:xfrm flipV="1">
                <a:off x="3022" y="2857"/>
                <a:ext cx="0" cy="16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48" name="Line 33">
                <a:extLst>
                  <a:ext uri="{FF2B5EF4-FFF2-40B4-BE49-F238E27FC236}">
                    <a16:creationId xmlns:a16="http://schemas.microsoft.com/office/drawing/2014/main" id="{CD54DB08-34B3-B142-A2BE-A341DF9254DC}"/>
                  </a:ext>
                </a:extLst>
              </p:cNvPr>
              <p:cNvSpPr>
                <a:spLocks noChangeShapeType="1"/>
              </p:cNvSpPr>
              <p:nvPr/>
            </p:nvSpPr>
            <p:spPr bwMode="auto">
              <a:xfrm>
                <a:off x="2981" y="2857"/>
                <a:ext cx="12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7441" name="Line 35">
              <a:extLst>
                <a:ext uri="{FF2B5EF4-FFF2-40B4-BE49-F238E27FC236}">
                  <a16:creationId xmlns:a16="http://schemas.microsoft.com/office/drawing/2014/main" id="{4A577C21-CD5C-3949-852A-77DEECD68D7C}"/>
                </a:ext>
              </a:extLst>
            </p:cNvPr>
            <p:cNvSpPr>
              <a:spLocks noChangeShapeType="1"/>
            </p:cNvSpPr>
            <p:nvPr/>
          </p:nvSpPr>
          <p:spPr bwMode="auto">
            <a:xfrm>
              <a:off x="3062" y="2857"/>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42" name="Line 36">
              <a:extLst>
                <a:ext uri="{FF2B5EF4-FFF2-40B4-BE49-F238E27FC236}">
                  <a16:creationId xmlns:a16="http://schemas.microsoft.com/office/drawing/2014/main" id="{3ED45118-3B2B-064B-BBBB-5884DE59E32C}"/>
                </a:ext>
              </a:extLst>
            </p:cNvPr>
            <p:cNvSpPr>
              <a:spLocks noChangeShapeType="1"/>
            </p:cNvSpPr>
            <p:nvPr/>
          </p:nvSpPr>
          <p:spPr bwMode="auto">
            <a:xfrm>
              <a:off x="3062" y="2996"/>
              <a:ext cx="36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43" name="Line 37">
              <a:extLst>
                <a:ext uri="{FF2B5EF4-FFF2-40B4-BE49-F238E27FC236}">
                  <a16:creationId xmlns:a16="http://schemas.microsoft.com/office/drawing/2014/main" id="{D59220A8-5740-EB4A-AFF9-E041697EB36F}"/>
                </a:ext>
              </a:extLst>
            </p:cNvPr>
            <p:cNvSpPr>
              <a:spLocks noChangeShapeType="1"/>
            </p:cNvSpPr>
            <p:nvPr/>
          </p:nvSpPr>
          <p:spPr bwMode="auto">
            <a:xfrm flipV="1">
              <a:off x="3427" y="2857"/>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44" name="Line 38">
              <a:extLst>
                <a:ext uri="{FF2B5EF4-FFF2-40B4-BE49-F238E27FC236}">
                  <a16:creationId xmlns:a16="http://schemas.microsoft.com/office/drawing/2014/main" id="{113050C3-8E90-1C4D-92CA-3A5EB0862D5C}"/>
                </a:ext>
              </a:extLst>
            </p:cNvPr>
            <p:cNvSpPr>
              <a:spLocks noChangeShapeType="1"/>
            </p:cNvSpPr>
            <p:nvPr/>
          </p:nvSpPr>
          <p:spPr bwMode="auto">
            <a:xfrm>
              <a:off x="3387" y="2857"/>
              <a:ext cx="12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7414" name="Group 57">
            <a:extLst>
              <a:ext uri="{FF2B5EF4-FFF2-40B4-BE49-F238E27FC236}">
                <a16:creationId xmlns:a16="http://schemas.microsoft.com/office/drawing/2014/main" id="{B0548851-D505-CA46-9880-B766B472F25F}"/>
              </a:ext>
            </a:extLst>
          </p:cNvPr>
          <p:cNvGrpSpPr>
            <a:grpSpLocks/>
          </p:cNvGrpSpPr>
          <p:nvPr/>
        </p:nvGrpSpPr>
        <p:grpSpPr bwMode="auto">
          <a:xfrm>
            <a:off x="6018213" y="5181600"/>
            <a:ext cx="2882900" cy="412750"/>
            <a:chOff x="3795" y="2956"/>
            <a:chExt cx="1816" cy="260"/>
          </a:xfrm>
        </p:grpSpPr>
        <p:sp>
          <p:nvSpPr>
            <p:cNvPr id="17415" name="Rectangle 40">
              <a:extLst>
                <a:ext uri="{FF2B5EF4-FFF2-40B4-BE49-F238E27FC236}">
                  <a16:creationId xmlns:a16="http://schemas.microsoft.com/office/drawing/2014/main" id="{28F74B08-7932-FC48-9265-8C033E18441E}"/>
                </a:ext>
              </a:extLst>
            </p:cNvPr>
            <p:cNvSpPr>
              <a:spLocks noChangeArrowheads="1"/>
            </p:cNvSpPr>
            <p:nvPr/>
          </p:nvSpPr>
          <p:spPr bwMode="auto">
            <a:xfrm>
              <a:off x="3795" y="2970"/>
              <a:ext cx="276" cy="131"/>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IC</a:t>
              </a:r>
            </a:p>
          </p:txBody>
        </p:sp>
        <p:sp>
          <p:nvSpPr>
            <p:cNvPr id="17416" name="Rectangle 41">
              <a:extLst>
                <a:ext uri="{FF2B5EF4-FFF2-40B4-BE49-F238E27FC236}">
                  <a16:creationId xmlns:a16="http://schemas.microsoft.com/office/drawing/2014/main" id="{4D8AB501-4E2F-6B43-95B1-EBD797B1EFD8}"/>
                </a:ext>
              </a:extLst>
            </p:cNvPr>
            <p:cNvSpPr>
              <a:spLocks noChangeArrowheads="1"/>
            </p:cNvSpPr>
            <p:nvPr/>
          </p:nvSpPr>
          <p:spPr bwMode="auto">
            <a:xfrm>
              <a:off x="4200" y="2970"/>
              <a:ext cx="276" cy="131"/>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7417" name="AutoShape 42">
              <a:extLst>
                <a:ext uri="{FF2B5EF4-FFF2-40B4-BE49-F238E27FC236}">
                  <a16:creationId xmlns:a16="http://schemas.microsoft.com/office/drawing/2014/main" id="{25CE8836-B315-F44A-9FFE-32BB87F99928}"/>
                </a:ext>
              </a:extLst>
            </p:cNvPr>
            <p:cNvSpPr>
              <a:spLocks noChangeArrowheads="1"/>
            </p:cNvSpPr>
            <p:nvPr/>
          </p:nvSpPr>
          <p:spPr bwMode="auto">
            <a:xfrm rot="5400000" flipV="1">
              <a:off x="4610" y="2952"/>
              <a:ext cx="186" cy="19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29 w 21600"/>
                <a:gd name="T13" fmla="*/ 4454 h 21600"/>
                <a:gd name="T14" fmla="*/ 17071 w 21600"/>
                <a:gd name="T15" fmla="*/ 1714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vert="eaVert"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800">
                  <a:latin typeface="Arial" panose="020B0604020202020204" pitchFamily="34" charset="0"/>
                </a:rPr>
                <a:t>ALU</a:t>
              </a:r>
            </a:p>
          </p:txBody>
        </p:sp>
        <p:sp>
          <p:nvSpPr>
            <p:cNvPr id="17418" name="Rectangle 43">
              <a:extLst>
                <a:ext uri="{FF2B5EF4-FFF2-40B4-BE49-F238E27FC236}">
                  <a16:creationId xmlns:a16="http://schemas.microsoft.com/office/drawing/2014/main" id="{0A15C0B2-35F1-C84D-B546-6A6AB551363D}"/>
                </a:ext>
              </a:extLst>
            </p:cNvPr>
            <p:cNvSpPr>
              <a:spLocks noChangeArrowheads="1"/>
            </p:cNvSpPr>
            <p:nvPr/>
          </p:nvSpPr>
          <p:spPr bwMode="auto">
            <a:xfrm>
              <a:off x="4930" y="2970"/>
              <a:ext cx="276" cy="131"/>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DC</a:t>
              </a:r>
            </a:p>
          </p:txBody>
        </p:sp>
        <p:sp>
          <p:nvSpPr>
            <p:cNvPr id="17419" name="Rectangle 44">
              <a:extLst>
                <a:ext uri="{FF2B5EF4-FFF2-40B4-BE49-F238E27FC236}">
                  <a16:creationId xmlns:a16="http://schemas.microsoft.com/office/drawing/2014/main" id="{C447C5E9-B53B-0846-A25B-26EDE9DF175D}"/>
                </a:ext>
              </a:extLst>
            </p:cNvPr>
            <p:cNvSpPr>
              <a:spLocks noChangeArrowheads="1"/>
            </p:cNvSpPr>
            <p:nvPr/>
          </p:nvSpPr>
          <p:spPr bwMode="auto">
            <a:xfrm>
              <a:off x="5335" y="2970"/>
              <a:ext cx="276" cy="131"/>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7420" name="Line 45">
              <a:extLst>
                <a:ext uri="{FF2B5EF4-FFF2-40B4-BE49-F238E27FC236}">
                  <a16:creationId xmlns:a16="http://schemas.microsoft.com/office/drawing/2014/main" id="{510891DD-3CAE-5C4A-8EEA-7D043B8246BF}"/>
                </a:ext>
              </a:extLst>
            </p:cNvPr>
            <p:cNvSpPr>
              <a:spLocks noChangeShapeType="1"/>
            </p:cNvSpPr>
            <p:nvPr/>
          </p:nvSpPr>
          <p:spPr bwMode="auto">
            <a:xfrm>
              <a:off x="4075" y="3021"/>
              <a:ext cx="12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21" name="Line 46">
              <a:extLst>
                <a:ext uri="{FF2B5EF4-FFF2-40B4-BE49-F238E27FC236}">
                  <a16:creationId xmlns:a16="http://schemas.microsoft.com/office/drawing/2014/main" id="{CEA88F6B-2607-9B4A-81FD-F0681FD5E4C1}"/>
                </a:ext>
              </a:extLst>
            </p:cNvPr>
            <p:cNvSpPr>
              <a:spLocks noChangeShapeType="1"/>
            </p:cNvSpPr>
            <p:nvPr/>
          </p:nvSpPr>
          <p:spPr bwMode="auto">
            <a:xfrm>
              <a:off x="4480" y="2994"/>
              <a:ext cx="12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22" name="Line 47">
              <a:extLst>
                <a:ext uri="{FF2B5EF4-FFF2-40B4-BE49-F238E27FC236}">
                  <a16:creationId xmlns:a16="http://schemas.microsoft.com/office/drawing/2014/main" id="{B4018838-E1D1-8D44-A0F7-040FBBB970FB}"/>
                </a:ext>
              </a:extLst>
            </p:cNvPr>
            <p:cNvSpPr>
              <a:spLocks noChangeShapeType="1"/>
            </p:cNvSpPr>
            <p:nvPr/>
          </p:nvSpPr>
          <p:spPr bwMode="auto">
            <a:xfrm>
              <a:off x="4480" y="3077"/>
              <a:ext cx="12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17423" name="Group 52">
              <a:extLst>
                <a:ext uri="{FF2B5EF4-FFF2-40B4-BE49-F238E27FC236}">
                  <a16:creationId xmlns:a16="http://schemas.microsoft.com/office/drawing/2014/main" id="{EE0F0088-B8F5-284F-AEC6-26762DCFE67D}"/>
                </a:ext>
              </a:extLst>
            </p:cNvPr>
            <p:cNvGrpSpPr>
              <a:grpSpLocks/>
            </p:cNvGrpSpPr>
            <p:nvPr/>
          </p:nvGrpSpPr>
          <p:grpSpPr bwMode="auto">
            <a:xfrm>
              <a:off x="4561" y="3049"/>
              <a:ext cx="365" cy="167"/>
              <a:chOff x="4561" y="3049"/>
              <a:chExt cx="365" cy="167"/>
            </a:xfrm>
          </p:grpSpPr>
          <p:sp>
            <p:nvSpPr>
              <p:cNvPr id="17428" name="Line 48">
                <a:extLst>
                  <a:ext uri="{FF2B5EF4-FFF2-40B4-BE49-F238E27FC236}">
                    <a16:creationId xmlns:a16="http://schemas.microsoft.com/office/drawing/2014/main" id="{4C1655FA-8620-444F-966C-64A51152F0A1}"/>
                  </a:ext>
                </a:extLst>
              </p:cNvPr>
              <p:cNvSpPr>
                <a:spLocks noChangeShapeType="1"/>
              </p:cNvSpPr>
              <p:nvPr/>
            </p:nvSpPr>
            <p:spPr bwMode="auto">
              <a:xfrm>
                <a:off x="4561" y="3077"/>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29" name="Line 49">
                <a:extLst>
                  <a:ext uri="{FF2B5EF4-FFF2-40B4-BE49-F238E27FC236}">
                    <a16:creationId xmlns:a16="http://schemas.microsoft.com/office/drawing/2014/main" id="{7EE92F81-D625-FB43-9BE0-6812D3EA5CDC}"/>
                  </a:ext>
                </a:extLst>
              </p:cNvPr>
              <p:cNvSpPr>
                <a:spLocks noChangeShapeType="1"/>
              </p:cNvSpPr>
              <p:nvPr/>
            </p:nvSpPr>
            <p:spPr bwMode="auto">
              <a:xfrm>
                <a:off x="4561" y="3216"/>
                <a:ext cx="28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30" name="Line 50">
                <a:extLst>
                  <a:ext uri="{FF2B5EF4-FFF2-40B4-BE49-F238E27FC236}">
                    <a16:creationId xmlns:a16="http://schemas.microsoft.com/office/drawing/2014/main" id="{7AF00F07-DF41-7740-BC77-8D75E2BCE63C}"/>
                  </a:ext>
                </a:extLst>
              </p:cNvPr>
              <p:cNvSpPr>
                <a:spLocks noChangeShapeType="1"/>
              </p:cNvSpPr>
              <p:nvPr/>
            </p:nvSpPr>
            <p:spPr bwMode="auto">
              <a:xfrm flipV="1">
                <a:off x="4845" y="3049"/>
                <a:ext cx="0" cy="16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31" name="Line 51">
                <a:extLst>
                  <a:ext uri="{FF2B5EF4-FFF2-40B4-BE49-F238E27FC236}">
                    <a16:creationId xmlns:a16="http://schemas.microsoft.com/office/drawing/2014/main" id="{AD8ACB2C-0084-B24E-894A-199F8AD75675}"/>
                  </a:ext>
                </a:extLst>
              </p:cNvPr>
              <p:cNvSpPr>
                <a:spLocks noChangeShapeType="1"/>
              </p:cNvSpPr>
              <p:nvPr/>
            </p:nvSpPr>
            <p:spPr bwMode="auto">
              <a:xfrm>
                <a:off x="4804" y="3049"/>
                <a:ext cx="12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7424" name="Line 53">
              <a:extLst>
                <a:ext uri="{FF2B5EF4-FFF2-40B4-BE49-F238E27FC236}">
                  <a16:creationId xmlns:a16="http://schemas.microsoft.com/office/drawing/2014/main" id="{D35E50A1-EC9F-9A45-8219-074171C9EA8B}"/>
                </a:ext>
              </a:extLst>
            </p:cNvPr>
            <p:cNvSpPr>
              <a:spLocks noChangeShapeType="1"/>
            </p:cNvSpPr>
            <p:nvPr/>
          </p:nvSpPr>
          <p:spPr bwMode="auto">
            <a:xfrm>
              <a:off x="4885" y="3049"/>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25" name="Line 54">
              <a:extLst>
                <a:ext uri="{FF2B5EF4-FFF2-40B4-BE49-F238E27FC236}">
                  <a16:creationId xmlns:a16="http://schemas.microsoft.com/office/drawing/2014/main" id="{8347F4E9-40D9-5240-AEC8-6641C9DE0AC5}"/>
                </a:ext>
              </a:extLst>
            </p:cNvPr>
            <p:cNvSpPr>
              <a:spLocks noChangeShapeType="1"/>
            </p:cNvSpPr>
            <p:nvPr/>
          </p:nvSpPr>
          <p:spPr bwMode="auto">
            <a:xfrm>
              <a:off x="4885" y="3188"/>
              <a:ext cx="36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26" name="Line 55">
              <a:extLst>
                <a:ext uri="{FF2B5EF4-FFF2-40B4-BE49-F238E27FC236}">
                  <a16:creationId xmlns:a16="http://schemas.microsoft.com/office/drawing/2014/main" id="{0DA1F569-2F12-7C4C-B524-33650630A748}"/>
                </a:ext>
              </a:extLst>
            </p:cNvPr>
            <p:cNvSpPr>
              <a:spLocks noChangeShapeType="1"/>
            </p:cNvSpPr>
            <p:nvPr/>
          </p:nvSpPr>
          <p:spPr bwMode="auto">
            <a:xfrm flipV="1">
              <a:off x="5250" y="3049"/>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7427" name="Line 56">
              <a:extLst>
                <a:ext uri="{FF2B5EF4-FFF2-40B4-BE49-F238E27FC236}">
                  <a16:creationId xmlns:a16="http://schemas.microsoft.com/office/drawing/2014/main" id="{1040BD2F-55A9-0E43-8E18-13ECBFE0EF3D}"/>
                </a:ext>
              </a:extLst>
            </p:cNvPr>
            <p:cNvSpPr>
              <a:spLocks noChangeShapeType="1"/>
            </p:cNvSpPr>
            <p:nvPr/>
          </p:nvSpPr>
          <p:spPr bwMode="auto">
            <a:xfrm>
              <a:off x="5210" y="3049"/>
              <a:ext cx="12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22D57B0-1267-E048-94BC-33265ED79E9F}"/>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Pipelined DLX</a:t>
            </a:r>
          </a:p>
        </p:txBody>
      </p:sp>
      <p:sp>
        <p:nvSpPr>
          <p:cNvPr id="19459" name="Rectangle 3">
            <a:extLst>
              <a:ext uri="{FF2B5EF4-FFF2-40B4-BE49-F238E27FC236}">
                <a16:creationId xmlns:a16="http://schemas.microsoft.com/office/drawing/2014/main" id="{B3296FE8-59CE-0546-9631-A10056F5BEA6}"/>
              </a:ext>
            </a:extLst>
          </p:cNvPr>
          <p:cNvSpPr>
            <a:spLocks noGrp="1" noChangeArrowheads="1"/>
          </p:cNvSpPr>
          <p:nvPr>
            <p:ph idx="1"/>
          </p:nvPr>
        </p:nvSpPr>
        <p:spPr/>
        <p:txBody>
          <a:bodyPr/>
          <a:lstStyle/>
          <a:p>
            <a:r>
              <a:rPr lang="en-US" altLang="en-US"/>
              <a:t>Isolate each of IF, ID, EX, MEM, WB with latches</a:t>
            </a:r>
          </a:p>
          <a:p>
            <a:r>
              <a:rPr lang="en-US" altLang="en-US"/>
              <a:t>When instruction </a:t>
            </a:r>
            <a:r>
              <a:rPr lang="en-US" altLang="en-US" i="1"/>
              <a:t>i</a:t>
            </a:r>
            <a:r>
              <a:rPr lang="en-US" altLang="en-US"/>
              <a:t> is in WB,</a:t>
            </a:r>
            <a:r>
              <a:rPr lang="en-US" altLang="en-US" i="1"/>
              <a:t> i+</a:t>
            </a:r>
            <a:r>
              <a:rPr lang="en-US" altLang="en-US"/>
              <a:t>1</a:t>
            </a:r>
            <a:r>
              <a:rPr lang="en-US" altLang="en-US" i="1"/>
              <a:t> </a:t>
            </a:r>
            <a:r>
              <a:rPr lang="en-US" altLang="en-US"/>
              <a:t>is in MEM, etc.</a:t>
            </a:r>
          </a:p>
          <a:p>
            <a:r>
              <a:rPr lang="en-US" altLang="en-US"/>
              <a:t>Graphically:</a:t>
            </a:r>
          </a:p>
        </p:txBody>
      </p:sp>
      <p:grpSp>
        <p:nvGrpSpPr>
          <p:cNvPr id="19460" name="Group 20">
            <a:extLst>
              <a:ext uri="{FF2B5EF4-FFF2-40B4-BE49-F238E27FC236}">
                <a16:creationId xmlns:a16="http://schemas.microsoft.com/office/drawing/2014/main" id="{7F021252-2632-284B-9844-BE65703A9227}"/>
              </a:ext>
            </a:extLst>
          </p:cNvPr>
          <p:cNvGrpSpPr>
            <a:grpSpLocks/>
          </p:cNvGrpSpPr>
          <p:nvPr/>
        </p:nvGrpSpPr>
        <p:grpSpPr bwMode="auto">
          <a:xfrm>
            <a:off x="1301750" y="3321050"/>
            <a:ext cx="2882900" cy="412750"/>
            <a:chOff x="820" y="2092"/>
            <a:chExt cx="1816" cy="260"/>
          </a:xfrm>
        </p:grpSpPr>
        <p:sp>
          <p:nvSpPr>
            <p:cNvPr id="19543" name="Rectangle 4">
              <a:extLst>
                <a:ext uri="{FF2B5EF4-FFF2-40B4-BE49-F238E27FC236}">
                  <a16:creationId xmlns:a16="http://schemas.microsoft.com/office/drawing/2014/main" id="{FFAA67EB-DE2A-9543-A5AA-142703A9D319}"/>
                </a:ext>
              </a:extLst>
            </p:cNvPr>
            <p:cNvSpPr>
              <a:spLocks noChangeArrowheads="1"/>
            </p:cNvSpPr>
            <p:nvPr/>
          </p:nvSpPr>
          <p:spPr bwMode="auto">
            <a:xfrm>
              <a:off x="820" y="2106"/>
              <a:ext cx="280"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IC</a:t>
              </a:r>
            </a:p>
          </p:txBody>
        </p:sp>
        <p:sp>
          <p:nvSpPr>
            <p:cNvPr id="19544" name="Rectangle 5">
              <a:extLst>
                <a:ext uri="{FF2B5EF4-FFF2-40B4-BE49-F238E27FC236}">
                  <a16:creationId xmlns:a16="http://schemas.microsoft.com/office/drawing/2014/main" id="{874B2846-37A0-9F44-9204-84B5C12F69E1}"/>
                </a:ext>
              </a:extLst>
            </p:cNvPr>
            <p:cNvSpPr>
              <a:spLocks noChangeArrowheads="1"/>
            </p:cNvSpPr>
            <p:nvPr/>
          </p:nvSpPr>
          <p:spPr bwMode="auto">
            <a:xfrm>
              <a:off x="1225" y="2106"/>
              <a:ext cx="307"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9545" name="AutoShape 6">
              <a:extLst>
                <a:ext uri="{FF2B5EF4-FFF2-40B4-BE49-F238E27FC236}">
                  <a16:creationId xmlns:a16="http://schemas.microsoft.com/office/drawing/2014/main" id="{463EA308-4360-CD4B-BDA8-21DECDDFEF9E}"/>
                </a:ext>
              </a:extLst>
            </p:cNvPr>
            <p:cNvSpPr>
              <a:spLocks noChangeArrowheads="1"/>
            </p:cNvSpPr>
            <p:nvPr/>
          </p:nvSpPr>
          <p:spPr bwMode="auto">
            <a:xfrm rot="5400000" flipV="1">
              <a:off x="1645" y="2078"/>
              <a:ext cx="208" cy="23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5 w 21600"/>
                <a:gd name="T13" fmla="*/ 4485 h 21600"/>
                <a:gd name="T14" fmla="*/ 17135 w 21600"/>
                <a:gd name="T15" fmla="*/ 17115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vert="eaVert"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800">
                  <a:latin typeface="Arial" panose="020B0604020202020204" pitchFamily="34" charset="0"/>
                </a:rPr>
                <a:t>ALU</a:t>
              </a:r>
            </a:p>
          </p:txBody>
        </p:sp>
        <p:sp>
          <p:nvSpPr>
            <p:cNvPr id="19546" name="Rectangle 7">
              <a:extLst>
                <a:ext uri="{FF2B5EF4-FFF2-40B4-BE49-F238E27FC236}">
                  <a16:creationId xmlns:a16="http://schemas.microsoft.com/office/drawing/2014/main" id="{7C62B68B-AC5F-224E-9639-4A1C169FF5DB}"/>
                </a:ext>
              </a:extLst>
            </p:cNvPr>
            <p:cNvSpPr>
              <a:spLocks noChangeArrowheads="1"/>
            </p:cNvSpPr>
            <p:nvPr/>
          </p:nvSpPr>
          <p:spPr bwMode="auto">
            <a:xfrm>
              <a:off x="2360" y="2106"/>
              <a:ext cx="276"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9547" name="Line 8">
              <a:extLst>
                <a:ext uri="{FF2B5EF4-FFF2-40B4-BE49-F238E27FC236}">
                  <a16:creationId xmlns:a16="http://schemas.microsoft.com/office/drawing/2014/main" id="{C54B690F-153F-8E4E-BDED-CABFEA4F19E2}"/>
                </a:ext>
              </a:extLst>
            </p:cNvPr>
            <p:cNvSpPr>
              <a:spLocks noChangeShapeType="1"/>
            </p:cNvSpPr>
            <p:nvPr/>
          </p:nvSpPr>
          <p:spPr bwMode="auto">
            <a:xfrm>
              <a:off x="1100" y="2205"/>
              <a:ext cx="12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48" name="Line 9">
              <a:extLst>
                <a:ext uri="{FF2B5EF4-FFF2-40B4-BE49-F238E27FC236}">
                  <a16:creationId xmlns:a16="http://schemas.microsoft.com/office/drawing/2014/main" id="{AA348A16-69E2-E042-9DCF-7D4D4A90A055}"/>
                </a:ext>
              </a:extLst>
            </p:cNvPr>
            <p:cNvSpPr>
              <a:spLocks noChangeShapeType="1"/>
            </p:cNvSpPr>
            <p:nvPr/>
          </p:nvSpPr>
          <p:spPr bwMode="auto">
            <a:xfrm>
              <a:off x="1536" y="2160"/>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49" name="Line 10">
              <a:extLst>
                <a:ext uri="{FF2B5EF4-FFF2-40B4-BE49-F238E27FC236}">
                  <a16:creationId xmlns:a16="http://schemas.microsoft.com/office/drawing/2014/main" id="{A71658D1-1C0A-154E-BF5F-8FF0A9A60E34}"/>
                </a:ext>
              </a:extLst>
            </p:cNvPr>
            <p:cNvSpPr>
              <a:spLocks noChangeShapeType="1"/>
            </p:cNvSpPr>
            <p:nvPr/>
          </p:nvSpPr>
          <p:spPr bwMode="auto">
            <a:xfrm>
              <a:off x="1536" y="220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50" name="Line 11">
              <a:extLst>
                <a:ext uri="{FF2B5EF4-FFF2-40B4-BE49-F238E27FC236}">
                  <a16:creationId xmlns:a16="http://schemas.microsoft.com/office/drawing/2014/main" id="{114BEBA8-6BC1-9846-A209-DC59376F33D0}"/>
                </a:ext>
              </a:extLst>
            </p:cNvPr>
            <p:cNvSpPr>
              <a:spLocks noChangeShapeType="1"/>
            </p:cNvSpPr>
            <p:nvPr/>
          </p:nvSpPr>
          <p:spPr bwMode="auto">
            <a:xfrm>
              <a:off x="1586" y="2213"/>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51" name="Line 12">
              <a:extLst>
                <a:ext uri="{FF2B5EF4-FFF2-40B4-BE49-F238E27FC236}">
                  <a16:creationId xmlns:a16="http://schemas.microsoft.com/office/drawing/2014/main" id="{2CCE7278-A748-7F41-8D13-A1142A38BEBD}"/>
                </a:ext>
              </a:extLst>
            </p:cNvPr>
            <p:cNvSpPr>
              <a:spLocks noChangeShapeType="1"/>
            </p:cNvSpPr>
            <p:nvPr/>
          </p:nvSpPr>
          <p:spPr bwMode="auto">
            <a:xfrm>
              <a:off x="1586" y="2352"/>
              <a:ext cx="28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52" name="Line 13">
              <a:extLst>
                <a:ext uri="{FF2B5EF4-FFF2-40B4-BE49-F238E27FC236}">
                  <a16:creationId xmlns:a16="http://schemas.microsoft.com/office/drawing/2014/main" id="{2BECF264-F01A-6C4E-8249-336DF0C1577F}"/>
                </a:ext>
              </a:extLst>
            </p:cNvPr>
            <p:cNvSpPr>
              <a:spLocks noChangeShapeType="1"/>
            </p:cNvSpPr>
            <p:nvPr/>
          </p:nvSpPr>
          <p:spPr bwMode="auto">
            <a:xfrm flipV="1">
              <a:off x="1870" y="2208"/>
              <a:ext cx="5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53" name="Line 14">
              <a:extLst>
                <a:ext uri="{FF2B5EF4-FFF2-40B4-BE49-F238E27FC236}">
                  <a16:creationId xmlns:a16="http://schemas.microsoft.com/office/drawing/2014/main" id="{C67EE9FE-B08C-3A42-B321-CCE0F442B3E0}"/>
                </a:ext>
              </a:extLst>
            </p:cNvPr>
            <p:cNvSpPr>
              <a:spLocks noChangeShapeType="1"/>
            </p:cNvSpPr>
            <p:nvPr/>
          </p:nvSpPr>
          <p:spPr bwMode="auto">
            <a:xfrm>
              <a:off x="1872" y="220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54" name="Line 15">
              <a:extLst>
                <a:ext uri="{FF2B5EF4-FFF2-40B4-BE49-F238E27FC236}">
                  <a16:creationId xmlns:a16="http://schemas.microsoft.com/office/drawing/2014/main" id="{C92920B4-6013-9445-A8C4-146E6044D2EB}"/>
                </a:ext>
              </a:extLst>
            </p:cNvPr>
            <p:cNvSpPr>
              <a:spLocks noChangeShapeType="1"/>
            </p:cNvSpPr>
            <p:nvPr/>
          </p:nvSpPr>
          <p:spPr bwMode="auto">
            <a:xfrm>
              <a:off x="1920" y="2208"/>
              <a:ext cx="48"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55" name="Line 16">
              <a:extLst>
                <a:ext uri="{FF2B5EF4-FFF2-40B4-BE49-F238E27FC236}">
                  <a16:creationId xmlns:a16="http://schemas.microsoft.com/office/drawing/2014/main" id="{6C994AE3-202B-7540-8A1C-B3BBAFB310F9}"/>
                </a:ext>
              </a:extLst>
            </p:cNvPr>
            <p:cNvSpPr>
              <a:spLocks noChangeShapeType="1"/>
            </p:cNvSpPr>
            <p:nvPr/>
          </p:nvSpPr>
          <p:spPr bwMode="auto">
            <a:xfrm>
              <a:off x="1968" y="2352"/>
              <a:ext cx="33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56" name="Line 17">
              <a:extLst>
                <a:ext uri="{FF2B5EF4-FFF2-40B4-BE49-F238E27FC236}">
                  <a16:creationId xmlns:a16="http://schemas.microsoft.com/office/drawing/2014/main" id="{45B95ABF-1C67-3047-9235-3C9EBACD39B5}"/>
                </a:ext>
              </a:extLst>
            </p:cNvPr>
            <p:cNvSpPr>
              <a:spLocks noChangeShapeType="1"/>
            </p:cNvSpPr>
            <p:nvPr/>
          </p:nvSpPr>
          <p:spPr bwMode="auto">
            <a:xfrm flipV="1">
              <a:off x="2304" y="2208"/>
              <a:ext cx="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57" name="Line 18">
              <a:extLst>
                <a:ext uri="{FF2B5EF4-FFF2-40B4-BE49-F238E27FC236}">
                  <a16:creationId xmlns:a16="http://schemas.microsoft.com/office/drawing/2014/main" id="{9C0673B2-85C2-7E41-A64D-86C1E92A2B83}"/>
                </a:ext>
              </a:extLst>
            </p:cNvPr>
            <p:cNvSpPr>
              <a:spLocks noChangeShapeType="1"/>
            </p:cNvSpPr>
            <p:nvPr/>
          </p:nvSpPr>
          <p:spPr bwMode="auto">
            <a:xfrm>
              <a:off x="2256" y="220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58" name="Rectangle 19">
              <a:extLst>
                <a:ext uri="{FF2B5EF4-FFF2-40B4-BE49-F238E27FC236}">
                  <a16:creationId xmlns:a16="http://schemas.microsoft.com/office/drawing/2014/main" id="{D570FE42-17E9-3641-B80B-957D963333B5}"/>
                </a:ext>
              </a:extLst>
            </p:cNvPr>
            <p:cNvSpPr>
              <a:spLocks noChangeArrowheads="1"/>
            </p:cNvSpPr>
            <p:nvPr/>
          </p:nvSpPr>
          <p:spPr bwMode="auto">
            <a:xfrm>
              <a:off x="1955" y="2106"/>
              <a:ext cx="297"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DC</a:t>
              </a:r>
            </a:p>
          </p:txBody>
        </p:sp>
      </p:grpSp>
      <p:grpSp>
        <p:nvGrpSpPr>
          <p:cNvPr id="19461" name="Group 37">
            <a:extLst>
              <a:ext uri="{FF2B5EF4-FFF2-40B4-BE49-F238E27FC236}">
                <a16:creationId xmlns:a16="http://schemas.microsoft.com/office/drawing/2014/main" id="{7ADE5043-ECA7-DA46-986F-C2A7C38D309A}"/>
              </a:ext>
            </a:extLst>
          </p:cNvPr>
          <p:cNvGrpSpPr>
            <a:grpSpLocks/>
          </p:cNvGrpSpPr>
          <p:nvPr/>
        </p:nvGrpSpPr>
        <p:grpSpPr bwMode="auto">
          <a:xfrm>
            <a:off x="1911350" y="3930650"/>
            <a:ext cx="2882900" cy="412750"/>
            <a:chOff x="1204" y="2476"/>
            <a:chExt cx="1816" cy="260"/>
          </a:xfrm>
        </p:grpSpPr>
        <p:sp>
          <p:nvSpPr>
            <p:cNvPr id="19527" name="Rectangle 21">
              <a:extLst>
                <a:ext uri="{FF2B5EF4-FFF2-40B4-BE49-F238E27FC236}">
                  <a16:creationId xmlns:a16="http://schemas.microsoft.com/office/drawing/2014/main" id="{5BDD0335-11B1-0B44-9AA4-ED7608B90086}"/>
                </a:ext>
              </a:extLst>
            </p:cNvPr>
            <p:cNvSpPr>
              <a:spLocks noChangeArrowheads="1"/>
            </p:cNvSpPr>
            <p:nvPr/>
          </p:nvSpPr>
          <p:spPr bwMode="auto">
            <a:xfrm>
              <a:off x="1204" y="2490"/>
              <a:ext cx="280"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IC</a:t>
              </a:r>
            </a:p>
          </p:txBody>
        </p:sp>
        <p:sp>
          <p:nvSpPr>
            <p:cNvPr id="19528" name="Rectangle 22">
              <a:extLst>
                <a:ext uri="{FF2B5EF4-FFF2-40B4-BE49-F238E27FC236}">
                  <a16:creationId xmlns:a16="http://schemas.microsoft.com/office/drawing/2014/main" id="{B0BCC969-1EB8-144D-8CE5-EFCCA9EB84EF}"/>
                </a:ext>
              </a:extLst>
            </p:cNvPr>
            <p:cNvSpPr>
              <a:spLocks noChangeArrowheads="1"/>
            </p:cNvSpPr>
            <p:nvPr/>
          </p:nvSpPr>
          <p:spPr bwMode="auto">
            <a:xfrm>
              <a:off x="1609" y="2490"/>
              <a:ext cx="307"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9529" name="AutoShape 23">
              <a:extLst>
                <a:ext uri="{FF2B5EF4-FFF2-40B4-BE49-F238E27FC236}">
                  <a16:creationId xmlns:a16="http://schemas.microsoft.com/office/drawing/2014/main" id="{1CFD5B7D-C10C-EA43-9303-062FCF3ED58F}"/>
                </a:ext>
              </a:extLst>
            </p:cNvPr>
            <p:cNvSpPr>
              <a:spLocks noChangeArrowheads="1"/>
            </p:cNvSpPr>
            <p:nvPr/>
          </p:nvSpPr>
          <p:spPr bwMode="auto">
            <a:xfrm rot="5400000" flipV="1">
              <a:off x="2029" y="2462"/>
              <a:ext cx="208" cy="23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5 w 21600"/>
                <a:gd name="T13" fmla="*/ 4485 h 21600"/>
                <a:gd name="T14" fmla="*/ 17135 w 21600"/>
                <a:gd name="T15" fmla="*/ 17115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vert="eaVert"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800">
                  <a:latin typeface="Arial" panose="020B0604020202020204" pitchFamily="34" charset="0"/>
                </a:rPr>
                <a:t>ALU</a:t>
              </a:r>
            </a:p>
          </p:txBody>
        </p:sp>
        <p:sp>
          <p:nvSpPr>
            <p:cNvPr id="19530" name="Rectangle 24">
              <a:extLst>
                <a:ext uri="{FF2B5EF4-FFF2-40B4-BE49-F238E27FC236}">
                  <a16:creationId xmlns:a16="http://schemas.microsoft.com/office/drawing/2014/main" id="{76F981A0-A00D-DB4E-BA7B-7920FEFEA8C9}"/>
                </a:ext>
              </a:extLst>
            </p:cNvPr>
            <p:cNvSpPr>
              <a:spLocks noChangeArrowheads="1"/>
            </p:cNvSpPr>
            <p:nvPr/>
          </p:nvSpPr>
          <p:spPr bwMode="auto">
            <a:xfrm>
              <a:off x="2744" y="2490"/>
              <a:ext cx="276"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9531" name="Line 25">
              <a:extLst>
                <a:ext uri="{FF2B5EF4-FFF2-40B4-BE49-F238E27FC236}">
                  <a16:creationId xmlns:a16="http://schemas.microsoft.com/office/drawing/2014/main" id="{6618C06D-D0A1-714B-8D27-1C0D151524AE}"/>
                </a:ext>
              </a:extLst>
            </p:cNvPr>
            <p:cNvSpPr>
              <a:spLocks noChangeShapeType="1"/>
            </p:cNvSpPr>
            <p:nvPr/>
          </p:nvSpPr>
          <p:spPr bwMode="auto">
            <a:xfrm>
              <a:off x="1484" y="2589"/>
              <a:ext cx="12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32" name="Line 26">
              <a:extLst>
                <a:ext uri="{FF2B5EF4-FFF2-40B4-BE49-F238E27FC236}">
                  <a16:creationId xmlns:a16="http://schemas.microsoft.com/office/drawing/2014/main" id="{C097AE37-3563-CB42-84B6-F0914E7B40B2}"/>
                </a:ext>
              </a:extLst>
            </p:cNvPr>
            <p:cNvSpPr>
              <a:spLocks noChangeShapeType="1"/>
            </p:cNvSpPr>
            <p:nvPr/>
          </p:nvSpPr>
          <p:spPr bwMode="auto">
            <a:xfrm>
              <a:off x="1920" y="2544"/>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33" name="Line 27">
              <a:extLst>
                <a:ext uri="{FF2B5EF4-FFF2-40B4-BE49-F238E27FC236}">
                  <a16:creationId xmlns:a16="http://schemas.microsoft.com/office/drawing/2014/main" id="{CB359433-D53B-0744-B908-DD8A59C09FF8}"/>
                </a:ext>
              </a:extLst>
            </p:cNvPr>
            <p:cNvSpPr>
              <a:spLocks noChangeShapeType="1"/>
            </p:cNvSpPr>
            <p:nvPr/>
          </p:nvSpPr>
          <p:spPr bwMode="auto">
            <a:xfrm>
              <a:off x="1920" y="2592"/>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34" name="Line 28">
              <a:extLst>
                <a:ext uri="{FF2B5EF4-FFF2-40B4-BE49-F238E27FC236}">
                  <a16:creationId xmlns:a16="http://schemas.microsoft.com/office/drawing/2014/main" id="{CA5FA8CB-43E4-E448-BDAA-2619AD41327A}"/>
                </a:ext>
              </a:extLst>
            </p:cNvPr>
            <p:cNvSpPr>
              <a:spLocks noChangeShapeType="1"/>
            </p:cNvSpPr>
            <p:nvPr/>
          </p:nvSpPr>
          <p:spPr bwMode="auto">
            <a:xfrm>
              <a:off x="1970" y="2597"/>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35" name="Line 29">
              <a:extLst>
                <a:ext uri="{FF2B5EF4-FFF2-40B4-BE49-F238E27FC236}">
                  <a16:creationId xmlns:a16="http://schemas.microsoft.com/office/drawing/2014/main" id="{299E7101-81DB-C048-8C59-542B566E0435}"/>
                </a:ext>
              </a:extLst>
            </p:cNvPr>
            <p:cNvSpPr>
              <a:spLocks noChangeShapeType="1"/>
            </p:cNvSpPr>
            <p:nvPr/>
          </p:nvSpPr>
          <p:spPr bwMode="auto">
            <a:xfrm>
              <a:off x="1970" y="2736"/>
              <a:ext cx="28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36" name="Line 30">
              <a:extLst>
                <a:ext uri="{FF2B5EF4-FFF2-40B4-BE49-F238E27FC236}">
                  <a16:creationId xmlns:a16="http://schemas.microsoft.com/office/drawing/2014/main" id="{AC8C552E-5E79-2048-9B44-5ECC48B8BEA1}"/>
                </a:ext>
              </a:extLst>
            </p:cNvPr>
            <p:cNvSpPr>
              <a:spLocks noChangeShapeType="1"/>
            </p:cNvSpPr>
            <p:nvPr/>
          </p:nvSpPr>
          <p:spPr bwMode="auto">
            <a:xfrm flipV="1">
              <a:off x="2254" y="2592"/>
              <a:ext cx="5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37" name="Line 31">
              <a:extLst>
                <a:ext uri="{FF2B5EF4-FFF2-40B4-BE49-F238E27FC236}">
                  <a16:creationId xmlns:a16="http://schemas.microsoft.com/office/drawing/2014/main" id="{CF77062F-855D-EE4D-938B-7001D0FC134D}"/>
                </a:ext>
              </a:extLst>
            </p:cNvPr>
            <p:cNvSpPr>
              <a:spLocks noChangeShapeType="1"/>
            </p:cNvSpPr>
            <p:nvPr/>
          </p:nvSpPr>
          <p:spPr bwMode="auto">
            <a:xfrm>
              <a:off x="2256" y="2592"/>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38" name="Line 32">
              <a:extLst>
                <a:ext uri="{FF2B5EF4-FFF2-40B4-BE49-F238E27FC236}">
                  <a16:creationId xmlns:a16="http://schemas.microsoft.com/office/drawing/2014/main" id="{142160F1-D096-6842-99F9-0DBCEB88046A}"/>
                </a:ext>
              </a:extLst>
            </p:cNvPr>
            <p:cNvSpPr>
              <a:spLocks noChangeShapeType="1"/>
            </p:cNvSpPr>
            <p:nvPr/>
          </p:nvSpPr>
          <p:spPr bwMode="auto">
            <a:xfrm>
              <a:off x="2304" y="2592"/>
              <a:ext cx="48"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39" name="Line 33">
              <a:extLst>
                <a:ext uri="{FF2B5EF4-FFF2-40B4-BE49-F238E27FC236}">
                  <a16:creationId xmlns:a16="http://schemas.microsoft.com/office/drawing/2014/main" id="{F81A4EBB-369F-274C-A98C-915166EEA330}"/>
                </a:ext>
              </a:extLst>
            </p:cNvPr>
            <p:cNvSpPr>
              <a:spLocks noChangeShapeType="1"/>
            </p:cNvSpPr>
            <p:nvPr/>
          </p:nvSpPr>
          <p:spPr bwMode="auto">
            <a:xfrm>
              <a:off x="2352" y="2736"/>
              <a:ext cx="33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40" name="Line 34">
              <a:extLst>
                <a:ext uri="{FF2B5EF4-FFF2-40B4-BE49-F238E27FC236}">
                  <a16:creationId xmlns:a16="http://schemas.microsoft.com/office/drawing/2014/main" id="{636E3AA3-7769-F14B-BAB1-B0AFB42FEE4F}"/>
                </a:ext>
              </a:extLst>
            </p:cNvPr>
            <p:cNvSpPr>
              <a:spLocks noChangeShapeType="1"/>
            </p:cNvSpPr>
            <p:nvPr/>
          </p:nvSpPr>
          <p:spPr bwMode="auto">
            <a:xfrm flipV="1">
              <a:off x="2688" y="2592"/>
              <a:ext cx="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41" name="Line 35">
              <a:extLst>
                <a:ext uri="{FF2B5EF4-FFF2-40B4-BE49-F238E27FC236}">
                  <a16:creationId xmlns:a16="http://schemas.microsoft.com/office/drawing/2014/main" id="{CBEEAEC6-DAEB-C241-94D1-34D12B166135}"/>
                </a:ext>
              </a:extLst>
            </p:cNvPr>
            <p:cNvSpPr>
              <a:spLocks noChangeShapeType="1"/>
            </p:cNvSpPr>
            <p:nvPr/>
          </p:nvSpPr>
          <p:spPr bwMode="auto">
            <a:xfrm>
              <a:off x="2640" y="2592"/>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42" name="Rectangle 36">
              <a:extLst>
                <a:ext uri="{FF2B5EF4-FFF2-40B4-BE49-F238E27FC236}">
                  <a16:creationId xmlns:a16="http://schemas.microsoft.com/office/drawing/2014/main" id="{AEC631E1-948A-5644-8ED7-EBA095ECE0D0}"/>
                </a:ext>
              </a:extLst>
            </p:cNvPr>
            <p:cNvSpPr>
              <a:spLocks noChangeArrowheads="1"/>
            </p:cNvSpPr>
            <p:nvPr/>
          </p:nvSpPr>
          <p:spPr bwMode="auto">
            <a:xfrm>
              <a:off x="2339" y="2490"/>
              <a:ext cx="297"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DC</a:t>
              </a:r>
            </a:p>
          </p:txBody>
        </p:sp>
      </p:grpSp>
      <p:grpSp>
        <p:nvGrpSpPr>
          <p:cNvPr id="19462" name="Group 54">
            <a:extLst>
              <a:ext uri="{FF2B5EF4-FFF2-40B4-BE49-F238E27FC236}">
                <a16:creationId xmlns:a16="http://schemas.microsoft.com/office/drawing/2014/main" id="{727AF034-C4D8-924A-8317-E3B5A20C077F}"/>
              </a:ext>
            </a:extLst>
          </p:cNvPr>
          <p:cNvGrpSpPr>
            <a:grpSpLocks/>
          </p:cNvGrpSpPr>
          <p:nvPr/>
        </p:nvGrpSpPr>
        <p:grpSpPr bwMode="auto">
          <a:xfrm>
            <a:off x="2520950" y="4540250"/>
            <a:ext cx="2882900" cy="412750"/>
            <a:chOff x="1588" y="2860"/>
            <a:chExt cx="1816" cy="260"/>
          </a:xfrm>
        </p:grpSpPr>
        <p:sp>
          <p:nvSpPr>
            <p:cNvPr id="19511" name="Rectangle 38">
              <a:extLst>
                <a:ext uri="{FF2B5EF4-FFF2-40B4-BE49-F238E27FC236}">
                  <a16:creationId xmlns:a16="http://schemas.microsoft.com/office/drawing/2014/main" id="{672B7D6C-262C-B846-A729-8E1BB097A2B7}"/>
                </a:ext>
              </a:extLst>
            </p:cNvPr>
            <p:cNvSpPr>
              <a:spLocks noChangeArrowheads="1"/>
            </p:cNvSpPr>
            <p:nvPr/>
          </p:nvSpPr>
          <p:spPr bwMode="auto">
            <a:xfrm>
              <a:off x="1588" y="2874"/>
              <a:ext cx="280"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IC</a:t>
              </a:r>
            </a:p>
          </p:txBody>
        </p:sp>
        <p:sp>
          <p:nvSpPr>
            <p:cNvPr id="19512" name="Rectangle 39">
              <a:extLst>
                <a:ext uri="{FF2B5EF4-FFF2-40B4-BE49-F238E27FC236}">
                  <a16:creationId xmlns:a16="http://schemas.microsoft.com/office/drawing/2014/main" id="{4F4E4C2E-63D6-624F-B5CD-B7D88F5BD91F}"/>
                </a:ext>
              </a:extLst>
            </p:cNvPr>
            <p:cNvSpPr>
              <a:spLocks noChangeArrowheads="1"/>
            </p:cNvSpPr>
            <p:nvPr/>
          </p:nvSpPr>
          <p:spPr bwMode="auto">
            <a:xfrm>
              <a:off x="1993" y="2874"/>
              <a:ext cx="307"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9513" name="AutoShape 40">
              <a:extLst>
                <a:ext uri="{FF2B5EF4-FFF2-40B4-BE49-F238E27FC236}">
                  <a16:creationId xmlns:a16="http://schemas.microsoft.com/office/drawing/2014/main" id="{C2696536-213C-134C-B3A6-941C75EE3EC7}"/>
                </a:ext>
              </a:extLst>
            </p:cNvPr>
            <p:cNvSpPr>
              <a:spLocks noChangeArrowheads="1"/>
            </p:cNvSpPr>
            <p:nvPr/>
          </p:nvSpPr>
          <p:spPr bwMode="auto">
            <a:xfrm rot="5400000" flipV="1">
              <a:off x="2413" y="2846"/>
              <a:ext cx="208" cy="23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5 w 21600"/>
                <a:gd name="T13" fmla="*/ 4485 h 21600"/>
                <a:gd name="T14" fmla="*/ 17135 w 21600"/>
                <a:gd name="T15" fmla="*/ 17115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vert="eaVert"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800">
                  <a:latin typeface="Arial" panose="020B0604020202020204" pitchFamily="34" charset="0"/>
                </a:rPr>
                <a:t>ALU</a:t>
              </a:r>
            </a:p>
          </p:txBody>
        </p:sp>
        <p:sp>
          <p:nvSpPr>
            <p:cNvPr id="19514" name="Rectangle 41">
              <a:extLst>
                <a:ext uri="{FF2B5EF4-FFF2-40B4-BE49-F238E27FC236}">
                  <a16:creationId xmlns:a16="http://schemas.microsoft.com/office/drawing/2014/main" id="{AA80E0FD-8522-A944-A0A1-217B98A0E658}"/>
                </a:ext>
              </a:extLst>
            </p:cNvPr>
            <p:cNvSpPr>
              <a:spLocks noChangeArrowheads="1"/>
            </p:cNvSpPr>
            <p:nvPr/>
          </p:nvSpPr>
          <p:spPr bwMode="auto">
            <a:xfrm>
              <a:off x="3128" y="2874"/>
              <a:ext cx="276"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9515" name="Line 42">
              <a:extLst>
                <a:ext uri="{FF2B5EF4-FFF2-40B4-BE49-F238E27FC236}">
                  <a16:creationId xmlns:a16="http://schemas.microsoft.com/office/drawing/2014/main" id="{4E90B1EC-8508-A948-8BCE-287A2888B477}"/>
                </a:ext>
              </a:extLst>
            </p:cNvPr>
            <p:cNvSpPr>
              <a:spLocks noChangeShapeType="1"/>
            </p:cNvSpPr>
            <p:nvPr/>
          </p:nvSpPr>
          <p:spPr bwMode="auto">
            <a:xfrm>
              <a:off x="1868" y="2973"/>
              <a:ext cx="12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16" name="Line 43">
              <a:extLst>
                <a:ext uri="{FF2B5EF4-FFF2-40B4-BE49-F238E27FC236}">
                  <a16:creationId xmlns:a16="http://schemas.microsoft.com/office/drawing/2014/main" id="{E92A9962-C44B-7B4D-B8D2-C09D6E3C39FB}"/>
                </a:ext>
              </a:extLst>
            </p:cNvPr>
            <p:cNvSpPr>
              <a:spLocks noChangeShapeType="1"/>
            </p:cNvSpPr>
            <p:nvPr/>
          </p:nvSpPr>
          <p:spPr bwMode="auto">
            <a:xfrm>
              <a:off x="2304" y="292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17" name="Line 44">
              <a:extLst>
                <a:ext uri="{FF2B5EF4-FFF2-40B4-BE49-F238E27FC236}">
                  <a16:creationId xmlns:a16="http://schemas.microsoft.com/office/drawing/2014/main" id="{C0994DEE-D6B5-5A45-91E3-7445C71D5B4A}"/>
                </a:ext>
              </a:extLst>
            </p:cNvPr>
            <p:cNvSpPr>
              <a:spLocks noChangeShapeType="1"/>
            </p:cNvSpPr>
            <p:nvPr/>
          </p:nvSpPr>
          <p:spPr bwMode="auto">
            <a:xfrm>
              <a:off x="2304" y="2976"/>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18" name="Line 45">
              <a:extLst>
                <a:ext uri="{FF2B5EF4-FFF2-40B4-BE49-F238E27FC236}">
                  <a16:creationId xmlns:a16="http://schemas.microsoft.com/office/drawing/2014/main" id="{9AE4AF2E-FD8E-624F-A8B4-51422A3DC6B1}"/>
                </a:ext>
              </a:extLst>
            </p:cNvPr>
            <p:cNvSpPr>
              <a:spLocks noChangeShapeType="1"/>
            </p:cNvSpPr>
            <p:nvPr/>
          </p:nvSpPr>
          <p:spPr bwMode="auto">
            <a:xfrm>
              <a:off x="2354" y="2981"/>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19" name="Line 46">
              <a:extLst>
                <a:ext uri="{FF2B5EF4-FFF2-40B4-BE49-F238E27FC236}">
                  <a16:creationId xmlns:a16="http://schemas.microsoft.com/office/drawing/2014/main" id="{24F19A3F-0914-F944-9EC5-26F2DF71B448}"/>
                </a:ext>
              </a:extLst>
            </p:cNvPr>
            <p:cNvSpPr>
              <a:spLocks noChangeShapeType="1"/>
            </p:cNvSpPr>
            <p:nvPr/>
          </p:nvSpPr>
          <p:spPr bwMode="auto">
            <a:xfrm>
              <a:off x="2354" y="3120"/>
              <a:ext cx="28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20" name="Line 47">
              <a:extLst>
                <a:ext uri="{FF2B5EF4-FFF2-40B4-BE49-F238E27FC236}">
                  <a16:creationId xmlns:a16="http://schemas.microsoft.com/office/drawing/2014/main" id="{97C0AFA0-C1DF-3848-A58B-889CB6DE58CF}"/>
                </a:ext>
              </a:extLst>
            </p:cNvPr>
            <p:cNvSpPr>
              <a:spLocks noChangeShapeType="1"/>
            </p:cNvSpPr>
            <p:nvPr/>
          </p:nvSpPr>
          <p:spPr bwMode="auto">
            <a:xfrm flipV="1">
              <a:off x="2638" y="2976"/>
              <a:ext cx="5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21" name="Line 48">
              <a:extLst>
                <a:ext uri="{FF2B5EF4-FFF2-40B4-BE49-F238E27FC236}">
                  <a16:creationId xmlns:a16="http://schemas.microsoft.com/office/drawing/2014/main" id="{2100DE0F-C954-DE42-BBB3-D2D10728E7AC}"/>
                </a:ext>
              </a:extLst>
            </p:cNvPr>
            <p:cNvSpPr>
              <a:spLocks noChangeShapeType="1"/>
            </p:cNvSpPr>
            <p:nvPr/>
          </p:nvSpPr>
          <p:spPr bwMode="auto">
            <a:xfrm>
              <a:off x="2640" y="2976"/>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22" name="Line 49">
              <a:extLst>
                <a:ext uri="{FF2B5EF4-FFF2-40B4-BE49-F238E27FC236}">
                  <a16:creationId xmlns:a16="http://schemas.microsoft.com/office/drawing/2014/main" id="{8E6028BE-55EE-0249-9268-853C8C33140F}"/>
                </a:ext>
              </a:extLst>
            </p:cNvPr>
            <p:cNvSpPr>
              <a:spLocks noChangeShapeType="1"/>
            </p:cNvSpPr>
            <p:nvPr/>
          </p:nvSpPr>
          <p:spPr bwMode="auto">
            <a:xfrm>
              <a:off x="2688" y="2976"/>
              <a:ext cx="48"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23" name="Line 50">
              <a:extLst>
                <a:ext uri="{FF2B5EF4-FFF2-40B4-BE49-F238E27FC236}">
                  <a16:creationId xmlns:a16="http://schemas.microsoft.com/office/drawing/2014/main" id="{62086CB4-68C5-C142-BA66-9623B5575D9E}"/>
                </a:ext>
              </a:extLst>
            </p:cNvPr>
            <p:cNvSpPr>
              <a:spLocks noChangeShapeType="1"/>
            </p:cNvSpPr>
            <p:nvPr/>
          </p:nvSpPr>
          <p:spPr bwMode="auto">
            <a:xfrm>
              <a:off x="2736" y="3120"/>
              <a:ext cx="33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24" name="Line 51">
              <a:extLst>
                <a:ext uri="{FF2B5EF4-FFF2-40B4-BE49-F238E27FC236}">
                  <a16:creationId xmlns:a16="http://schemas.microsoft.com/office/drawing/2014/main" id="{3F4FA5EC-FB5D-3F4D-94D5-4ECC1DD9CF66}"/>
                </a:ext>
              </a:extLst>
            </p:cNvPr>
            <p:cNvSpPr>
              <a:spLocks noChangeShapeType="1"/>
            </p:cNvSpPr>
            <p:nvPr/>
          </p:nvSpPr>
          <p:spPr bwMode="auto">
            <a:xfrm flipV="1">
              <a:off x="3072" y="2976"/>
              <a:ext cx="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25" name="Line 52">
              <a:extLst>
                <a:ext uri="{FF2B5EF4-FFF2-40B4-BE49-F238E27FC236}">
                  <a16:creationId xmlns:a16="http://schemas.microsoft.com/office/drawing/2014/main" id="{EA06A56E-5408-B845-BA55-2922C367D6D0}"/>
                </a:ext>
              </a:extLst>
            </p:cNvPr>
            <p:cNvSpPr>
              <a:spLocks noChangeShapeType="1"/>
            </p:cNvSpPr>
            <p:nvPr/>
          </p:nvSpPr>
          <p:spPr bwMode="auto">
            <a:xfrm>
              <a:off x="3024" y="2976"/>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26" name="Rectangle 53">
              <a:extLst>
                <a:ext uri="{FF2B5EF4-FFF2-40B4-BE49-F238E27FC236}">
                  <a16:creationId xmlns:a16="http://schemas.microsoft.com/office/drawing/2014/main" id="{157E14F8-F48B-264B-BB7E-0FA9F35579CA}"/>
                </a:ext>
              </a:extLst>
            </p:cNvPr>
            <p:cNvSpPr>
              <a:spLocks noChangeArrowheads="1"/>
            </p:cNvSpPr>
            <p:nvPr/>
          </p:nvSpPr>
          <p:spPr bwMode="auto">
            <a:xfrm>
              <a:off x="2723" y="2874"/>
              <a:ext cx="297"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DC</a:t>
              </a:r>
            </a:p>
          </p:txBody>
        </p:sp>
      </p:grpSp>
      <p:sp>
        <p:nvSpPr>
          <p:cNvPr id="19463" name="Line 55">
            <a:extLst>
              <a:ext uri="{FF2B5EF4-FFF2-40B4-BE49-F238E27FC236}">
                <a16:creationId xmlns:a16="http://schemas.microsoft.com/office/drawing/2014/main" id="{DD7B13A1-8626-4C45-A11C-31AB8B4B84B4}"/>
              </a:ext>
            </a:extLst>
          </p:cNvPr>
          <p:cNvSpPr>
            <a:spLocks noChangeShapeType="1"/>
          </p:cNvSpPr>
          <p:nvPr/>
        </p:nvSpPr>
        <p:spPr bwMode="auto">
          <a:xfrm>
            <a:off x="2514600" y="3124200"/>
            <a:ext cx="0" cy="30480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64" name="Line 56">
            <a:extLst>
              <a:ext uri="{FF2B5EF4-FFF2-40B4-BE49-F238E27FC236}">
                <a16:creationId xmlns:a16="http://schemas.microsoft.com/office/drawing/2014/main" id="{7CB956C1-171C-FB43-8897-47D60E616595}"/>
              </a:ext>
            </a:extLst>
          </p:cNvPr>
          <p:cNvSpPr>
            <a:spLocks noChangeShapeType="1"/>
          </p:cNvSpPr>
          <p:nvPr/>
        </p:nvSpPr>
        <p:spPr bwMode="auto">
          <a:xfrm>
            <a:off x="3124200" y="3124200"/>
            <a:ext cx="0" cy="30480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65" name="Line 57">
            <a:extLst>
              <a:ext uri="{FF2B5EF4-FFF2-40B4-BE49-F238E27FC236}">
                <a16:creationId xmlns:a16="http://schemas.microsoft.com/office/drawing/2014/main" id="{EC50F730-2363-3B45-BF3C-B89F93742290}"/>
              </a:ext>
            </a:extLst>
          </p:cNvPr>
          <p:cNvSpPr>
            <a:spLocks noChangeShapeType="1"/>
          </p:cNvSpPr>
          <p:nvPr/>
        </p:nvSpPr>
        <p:spPr bwMode="auto">
          <a:xfrm>
            <a:off x="3733800" y="3124200"/>
            <a:ext cx="0" cy="30480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66" name="Line 58">
            <a:extLst>
              <a:ext uri="{FF2B5EF4-FFF2-40B4-BE49-F238E27FC236}">
                <a16:creationId xmlns:a16="http://schemas.microsoft.com/office/drawing/2014/main" id="{CC991A0F-9DC2-6245-A8C8-DDB923E11049}"/>
              </a:ext>
            </a:extLst>
          </p:cNvPr>
          <p:cNvSpPr>
            <a:spLocks noChangeShapeType="1"/>
          </p:cNvSpPr>
          <p:nvPr/>
        </p:nvSpPr>
        <p:spPr bwMode="auto">
          <a:xfrm>
            <a:off x="4343400" y="3124200"/>
            <a:ext cx="0" cy="30480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67" name="Line 59">
            <a:extLst>
              <a:ext uri="{FF2B5EF4-FFF2-40B4-BE49-F238E27FC236}">
                <a16:creationId xmlns:a16="http://schemas.microsoft.com/office/drawing/2014/main" id="{EAE92B37-E7EB-4D40-A717-974D1D07D11E}"/>
              </a:ext>
            </a:extLst>
          </p:cNvPr>
          <p:cNvSpPr>
            <a:spLocks noChangeShapeType="1"/>
          </p:cNvSpPr>
          <p:nvPr/>
        </p:nvSpPr>
        <p:spPr bwMode="auto">
          <a:xfrm>
            <a:off x="4953000" y="3124200"/>
            <a:ext cx="0" cy="30480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68" name="Line 60">
            <a:extLst>
              <a:ext uri="{FF2B5EF4-FFF2-40B4-BE49-F238E27FC236}">
                <a16:creationId xmlns:a16="http://schemas.microsoft.com/office/drawing/2014/main" id="{D1B16D83-522E-384E-9472-D634C24E2461}"/>
              </a:ext>
            </a:extLst>
          </p:cNvPr>
          <p:cNvSpPr>
            <a:spLocks noChangeShapeType="1"/>
          </p:cNvSpPr>
          <p:nvPr/>
        </p:nvSpPr>
        <p:spPr bwMode="auto">
          <a:xfrm>
            <a:off x="5486400" y="3124200"/>
            <a:ext cx="0" cy="30480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19469" name="Group 77">
            <a:extLst>
              <a:ext uri="{FF2B5EF4-FFF2-40B4-BE49-F238E27FC236}">
                <a16:creationId xmlns:a16="http://schemas.microsoft.com/office/drawing/2014/main" id="{86EDE194-7E4F-BC45-B053-502499515B4B}"/>
              </a:ext>
            </a:extLst>
          </p:cNvPr>
          <p:cNvGrpSpPr>
            <a:grpSpLocks/>
          </p:cNvGrpSpPr>
          <p:nvPr/>
        </p:nvGrpSpPr>
        <p:grpSpPr bwMode="auto">
          <a:xfrm>
            <a:off x="3130550" y="5073650"/>
            <a:ext cx="2882900" cy="412750"/>
            <a:chOff x="1972" y="3196"/>
            <a:chExt cx="1816" cy="260"/>
          </a:xfrm>
        </p:grpSpPr>
        <p:sp>
          <p:nvSpPr>
            <p:cNvPr id="19495" name="Rectangle 61">
              <a:extLst>
                <a:ext uri="{FF2B5EF4-FFF2-40B4-BE49-F238E27FC236}">
                  <a16:creationId xmlns:a16="http://schemas.microsoft.com/office/drawing/2014/main" id="{8B125D51-97C1-A449-B361-6A3CA0091807}"/>
                </a:ext>
              </a:extLst>
            </p:cNvPr>
            <p:cNvSpPr>
              <a:spLocks noChangeArrowheads="1"/>
            </p:cNvSpPr>
            <p:nvPr/>
          </p:nvSpPr>
          <p:spPr bwMode="auto">
            <a:xfrm>
              <a:off x="1972" y="3210"/>
              <a:ext cx="280"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IC</a:t>
              </a:r>
            </a:p>
          </p:txBody>
        </p:sp>
        <p:sp>
          <p:nvSpPr>
            <p:cNvPr id="19496" name="Rectangle 62">
              <a:extLst>
                <a:ext uri="{FF2B5EF4-FFF2-40B4-BE49-F238E27FC236}">
                  <a16:creationId xmlns:a16="http://schemas.microsoft.com/office/drawing/2014/main" id="{0294FDB4-66CC-0141-A63B-C01E2D6899B6}"/>
                </a:ext>
              </a:extLst>
            </p:cNvPr>
            <p:cNvSpPr>
              <a:spLocks noChangeArrowheads="1"/>
            </p:cNvSpPr>
            <p:nvPr/>
          </p:nvSpPr>
          <p:spPr bwMode="auto">
            <a:xfrm>
              <a:off x="2377" y="3210"/>
              <a:ext cx="307"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9497" name="AutoShape 63">
              <a:extLst>
                <a:ext uri="{FF2B5EF4-FFF2-40B4-BE49-F238E27FC236}">
                  <a16:creationId xmlns:a16="http://schemas.microsoft.com/office/drawing/2014/main" id="{D1DBD69E-A2E5-454D-8EE1-81248E3FB809}"/>
                </a:ext>
              </a:extLst>
            </p:cNvPr>
            <p:cNvSpPr>
              <a:spLocks noChangeArrowheads="1"/>
            </p:cNvSpPr>
            <p:nvPr/>
          </p:nvSpPr>
          <p:spPr bwMode="auto">
            <a:xfrm rot="5400000" flipV="1">
              <a:off x="2797" y="3182"/>
              <a:ext cx="208" cy="23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5 w 21600"/>
                <a:gd name="T13" fmla="*/ 4485 h 21600"/>
                <a:gd name="T14" fmla="*/ 17135 w 21600"/>
                <a:gd name="T15" fmla="*/ 17115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vert="eaVert"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800">
                  <a:latin typeface="Arial" panose="020B0604020202020204" pitchFamily="34" charset="0"/>
                </a:rPr>
                <a:t>ALU</a:t>
              </a:r>
            </a:p>
          </p:txBody>
        </p:sp>
        <p:sp>
          <p:nvSpPr>
            <p:cNvPr id="19498" name="Rectangle 64">
              <a:extLst>
                <a:ext uri="{FF2B5EF4-FFF2-40B4-BE49-F238E27FC236}">
                  <a16:creationId xmlns:a16="http://schemas.microsoft.com/office/drawing/2014/main" id="{B8D0112B-621B-B84C-A845-E1C84B98F571}"/>
                </a:ext>
              </a:extLst>
            </p:cNvPr>
            <p:cNvSpPr>
              <a:spLocks noChangeArrowheads="1"/>
            </p:cNvSpPr>
            <p:nvPr/>
          </p:nvSpPr>
          <p:spPr bwMode="auto">
            <a:xfrm>
              <a:off x="3512" y="3210"/>
              <a:ext cx="276"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9499" name="Line 65">
              <a:extLst>
                <a:ext uri="{FF2B5EF4-FFF2-40B4-BE49-F238E27FC236}">
                  <a16:creationId xmlns:a16="http://schemas.microsoft.com/office/drawing/2014/main" id="{CDFF03FA-33E0-6B48-83C5-AE1B2FDF158E}"/>
                </a:ext>
              </a:extLst>
            </p:cNvPr>
            <p:cNvSpPr>
              <a:spLocks noChangeShapeType="1"/>
            </p:cNvSpPr>
            <p:nvPr/>
          </p:nvSpPr>
          <p:spPr bwMode="auto">
            <a:xfrm>
              <a:off x="2252" y="3309"/>
              <a:ext cx="12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00" name="Line 66">
              <a:extLst>
                <a:ext uri="{FF2B5EF4-FFF2-40B4-BE49-F238E27FC236}">
                  <a16:creationId xmlns:a16="http://schemas.microsoft.com/office/drawing/2014/main" id="{74336712-120B-BF4E-A2A6-5BC10403828A}"/>
                </a:ext>
              </a:extLst>
            </p:cNvPr>
            <p:cNvSpPr>
              <a:spLocks noChangeShapeType="1"/>
            </p:cNvSpPr>
            <p:nvPr/>
          </p:nvSpPr>
          <p:spPr bwMode="auto">
            <a:xfrm>
              <a:off x="2688" y="3264"/>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01" name="Line 67">
              <a:extLst>
                <a:ext uri="{FF2B5EF4-FFF2-40B4-BE49-F238E27FC236}">
                  <a16:creationId xmlns:a16="http://schemas.microsoft.com/office/drawing/2014/main" id="{3AD3E8D7-62EB-8F4E-9C51-73AACFF7A86B}"/>
                </a:ext>
              </a:extLst>
            </p:cNvPr>
            <p:cNvSpPr>
              <a:spLocks noChangeShapeType="1"/>
            </p:cNvSpPr>
            <p:nvPr/>
          </p:nvSpPr>
          <p:spPr bwMode="auto">
            <a:xfrm>
              <a:off x="2688" y="3312"/>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02" name="Line 68">
              <a:extLst>
                <a:ext uri="{FF2B5EF4-FFF2-40B4-BE49-F238E27FC236}">
                  <a16:creationId xmlns:a16="http://schemas.microsoft.com/office/drawing/2014/main" id="{ACBDEEBB-4603-7149-A35F-C9C27DDB208C}"/>
                </a:ext>
              </a:extLst>
            </p:cNvPr>
            <p:cNvSpPr>
              <a:spLocks noChangeShapeType="1"/>
            </p:cNvSpPr>
            <p:nvPr/>
          </p:nvSpPr>
          <p:spPr bwMode="auto">
            <a:xfrm>
              <a:off x="2738" y="3317"/>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03" name="Line 69">
              <a:extLst>
                <a:ext uri="{FF2B5EF4-FFF2-40B4-BE49-F238E27FC236}">
                  <a16:creationId xmlns:a16="http://schemas.microsoft.com/office/drawing/2014/main" id="{F28DB766-A741-574E-B470-D0D2C61EF98E}"/>
                </a:ext>
              </a:extLst>
            </p:cNvPr>
            <p:cNvSpPr>
              <a:spLocks noChangeShapeType="1"/>
            </p:cNvSpPr>
            <p:nvPr/>
          </p:nvSpPr>
          <p:spPr bwMode="auto">
            <a:xfrm>
              <a:off x="2738" y="3456"/>
              <a:ext cx="28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04" name="Line 70">
              <a:extLst>
                <a:ext uri="{FF2B5EF4-FFF2-40B4-BE49-F238E27FC236}">
                  <a16:creationId xmlns:a16="http://schemas.microsoft.com/office/drawing/2014/main" id="{EA3702B1-C12E-4B4E-B3B0-AA7263753A64}"/>
                </a:ext>
              </a:extLst>
            </p:cNvPr>
            <p:cNvSpPr>
              <a:spLocks noChangeShapeType="1"/>
            </p:cNvSpPr>
            <p:nvPr/>
          </p:nvSpPr>
          <p:spPr bwMode="auto">
            <a:xfrm flipV="1">
              <a:off x="3022" y="3312"/>
              <a:ext cx="5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05" name="Line 71">
              <a:extLst>
                <a:ext uri="{FF2B5EF4-FFF2-40B4-BE49-F238E27FC236}">
                  <a16:creationId xmlns:a16="http://schemas.microsoft.com/office/drawing/2014/main" id="{AB3700DE-6E20-D04C-8A80-F8B6D8F5AF1F}"/>
                </a:ext>
              </a:extLst>
            </p:cNvPr>
            <p:cNvSpPr>
              <a:spLocks noChangeShapeType="1"/>
            </p:cNvSpPr>
            <p:nvPr/>
          </p:nvSpPr>
          <p:spPr bwMode="auto">
            <a:xfrm>
              <a:off x="3024" y="3312"/>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06" name="Line 72">
              <a:extLst>
                <a:ext uri="{FF2B5EF4-FFF2-40B4-BE49-F238E27FC236}">
                  <a16:creationId xmlns:a16="http://schemas.microsoft.com/office/drawing/2014/main" id="{D13A2D61-0F3C-FB4A-A599-31C7D39E8CA0}"/>
                </a:ext>
              </a:extLst>
            </p:cNvPr>
            <p:cNvSpPr>
              <a:spLocks noChangeShapeType="1"/>
            </p:cNvSpPr>
            <p:nvPr/>
          </p:nvSpPr>
          <p:spPr bwMode="auto">
            <a:xfrm>
              <a:off x="3072" y="3312"/>
              <a:ext cx="48"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07" name="Line 73">
              <a:extLst>
                <a:ext uri="{FF2B5EF4-FFF2-40B4-BE49-F238E27FC236}">
                  <a16:creationId xmlns:a16="http://schemas.microsoft.com/office/drawing/2014/main" id="{100554BC-B756-864A-B7B0-0DAF2A2DBF66}"/>
                </a:ext>
              </a:extLst>
            </p:cNvPr>
            <p:cNvSpPr>
              <a:spLocks noChangeShapeType="1"/>
            </p:cNvSpPr>
            <p:nvPr/>
          </p:nvSpPr>
          <p:spPr bwMode="auto">
            <a:xfrm>
              <a:off x="3120" y="3456"/>
              <a:ext cx="33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08" name="Line 74">
              <a:extLst>
                <a:ext uri="{FF2B5EF4-FFF2-40B4-BE49-F238E27FC236}">
                  <a16:creationId xmlns:a16="http://schemas.microsoft.com/office/drawing/2014/main" id="{1FDFB0AB-6D45-0E4E-8A0F-DF150216AE1E}"/>
                </a:ext>
              </a:extLst>
            </p:cNvPr>
            <p:cNvSpPr>
              <a:spLocks noChangeShapeType="1"/>
            </p:cNvSpPr>
            <p:nvPr/>
          </p:nvSpPr>
          <p:spPr bwMode="auto">
            <a:xfrm flipV="1">
              <a:off x="3456" y="3312"/>
              <a:ext cx="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09" name="Line 75">
              <a:extLst>
                <a:ext uri="{FF2B5EF4-FFF2-40B4-BE49-F238E27FC236}">
                  <a16:creationId xmlns:a16="http://schemas.microsoft.com/office/drawing/2014/main" id="{91706BED-DE61-A84A-8B69-E7735682DDE4}"/>
                </a:ext>
              </a:extLst>
            </p:cNvPr>
            <p:cNvSpPr>
              <a:spLocks noChangeShapeType="1"/>
            </p:cNvSpPr>
            <p:nvPr/>
          </p:nvSpPr>
          <p:spPr bwMode="auto">
            <a:xfrm>
              <a:off x="3408" y="3312"/>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510" name="Rectangle 76">
              <a:extLst>
                <a:ext uri="{FF2B5EF4-FFF2-40B4-BE49-F238E27FC236}">
                  <a16:creationId xmlns:a16="http://schemas.microsoft.com/office/drawing/2014/main" id="{0EE11346-5BCF-9744-BC52-95A9C911597F}"/>
                </a:ext>
              </a:extLst>
            </p:cNvPr>
            <p:cNvSpPr>
              <a:spLocks noChangeArrowheads="1"/>
            </p:cNvSpPr>
            <p:nvPr/>
          </p:nvSpPr>
          <p:spPr bwMode="auto">
            <a:xfrm>
              <a:off x="3107" y="3210"/>
              <a:ext cx="297"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DC</a:t>
              </a:r>
            </a:p>
          </p:txBody>
        </p:sp>
      </p:grpSp>
      <p:grpSp>
        <p:nvGrpSpPr>
          <p:cNvPr id="19470" name="Group 94">
            <a:extLst>
              <a:ext uri="{FF2B5EF4-FFF2-40B4-BE49-F238E27FC236}">
                <a16:creationId xmlns:a16="http://schemas.microsoft.com/office/drawing/2014/main" id="{AF206F2A-C59C-3F47-B8F4-3E44DC20D9DE}"/>
              </a:ext>
            </a:extLst>
          </p:cNvPr>
          <p:cNvGrpSpPr>
            <a:grpSpLocks/>
          </p:cNvGrpSpPr>
          <p:nvPr/>
        </p:nvGrpSpPr>
        <p:grpSpPr bwMode="auto">
          <a:xfrm>
            <a:off x="3740150" y="5607050"/>
            <a:ext cx="2882900" cy="412750"/>
            <a:chOff x="2356" y="3532"/>
            <a:chExt cx="1816" cy="260"/>
          </a:xfrm>
        </p:grpSpPr>
        <p:sp>
          <p:nvSpPr>
            <p:cNvPr id="19479" name="Rectangle 78">
              <a:extLst>
                <a:ext uri="{FF2B5EF4-FFF2-40B4-BE49-F238E27FC236}">
                  <a16:creationId xmlns:a16="http://schemas.microsoft.com/office/drawing/2014/main" id="{B9A9AE0C-2334-7142-A565-7CFEC502F10A}"/>
                </a:ext>
              </a:extLst>
            </p:cNvPr>
            <p:cNvSpPr>
              <a:spLocks noChangeArrowheads="1"/>
            </p:cNvSpPr>
            <p:nvPr/>
          </p:nvSpPr>
          <p:spPr bwMode="auto">
            <a:xfrm>
              <a:off x="2356" y="3546"/>
              <a:ext cx="280"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IC</a:t>
              </a:r>
            </a:p>
          </p:txBody>
        </p:sp>
        <p:sp>
          <p:nvSpPr>
            <p:cNvPr id="19480" name="Rectangle 79">
              <a:extLst>
                <a:ext uri="{FF2B5EF4-FFF2-40B4-BE49-F238E27FC236}">
                  <a16:creationId xmlns:a16="http://schemas.microsoft.com/office/drawing/2014/main" id="{54D960AA-1CDC-8046-B93F-1FC5B18F3CFE}"/>
                </a:ext>
              </a:extLst>
            </p:cNvPr>
            <p:cNvSpPr>
              <a:spLocks noChangeArrowheads="1"/>
            </p:cNvSpPr>
            <p:nvPr/>
          </p:nvSpPr>
          <p:spPr bwMode="auto">
            <a:xfrm>
              <a:off x="2761" y="3546"/>
              <a:ext cx="307"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9481" name="AutoShape 80">
              <a:extLst>
                <a:ext uri="{FF2B5EF4-FFF2-40B4-BE49-F238E27FC236}">
                  <a16:creationId xmlns:a16="http://schemas.microsoft.com/office/drawing/2014/main" id="{F7CA9D58-F95E-BA43-BF1A-D57A2F0ABBD1}"/>
                </a:ext>
              </a:extLst>
            </p:cNvPr>
            <p:cNvSpPr>
              <a:spLocks noChangeArrowheads="1"/>
            </p:cNvSpPr>
            <p:nvPr/>
          </p:nvSpPr>
          <p:spPr bwMode="auto">
            <a:xfrm rot="5400000" flipV="1">
              <a:off x="3181" y="3518"/>
              <a:ext cx="208" cy="23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5 w 21600"/>
                <a:gd name="T13" fmla="*/ 4485 h 21600"/>
                <a:gd name="T14" fmla="*/ 17135 w 21600"/>
                <a:gd name="T15" fmla="*/ 17115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vert="eaVert"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800">
                  <a:latin typeface="Arial" panose="020B0604020202020204" pitchFamily="34" charset="0"/>
                </a:rPr>
                <a:t>ALU</a:t>
              </a:r>
            </a:p>
          </p:txBody>
        </p:sp>
        <p:sp>
          <p:nvSpPr>
            <p:cNvPr id="19482" name="Rectangle 81">
              <a:extLst>
                <a:ext uri="{FF2B5EF4-FFF2-40B4-BE49-F238E27FC236}">
                  <a16:creationId xmlns:a16="http://schemas.microsoft.com/office/drawing/2014/main" id="{1FB64CE4-0321-B14A-BF62-9E4EF9B665DF}"/>
                </a:ext>
              </a:extLst>
            </p:cNvPr>
            <p:cNvSpPr>
              <a:spLocks noChangeArrowheads="1"/>
            </p:cNvSpPr>
            <p:nvPr/>
          </p:nvSpPr>
          <p:spPr bwMode="auto">
            <a:xfrm>
              <a:off x="3896" y="3546"/>
              <a:ext cx="276"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Reg</a:t>
              </a:r>
            </a:p>
          </p:txBody>
        </p:sp>
        <p:sp>
          <p:nvSpPr>
            <p:cNvPr id="19483" name="Line 82">
              <a:extLst>
                <a:ext uri="{FF2B5EF4-FFF2-40B4-BE49-F238E27FC236}">
                  <a16:creationId xmlns:a16="http://schemas.microsoft.com/office/drawing/2014/main" id="{991A2EAE-C43B-D547-BDB7-F147E4CACF00}"/>
                </a:ext>
              </a:extLst>
            </p:cNvPr>
            <p:cNvSpPr>
              <a:spLocks noChangeShapeType="1"/>
            </p:cNvSpPr>
            <p:nvPr/>
          </p:nvSpPr>
          <p:spPr bwMode="auto">
            <a:xfrm>
              <a:off x="2636" y="3645"/>
              <a:ext cx="12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84" name="Line 83">
              <a:extLst>
                <a:ext uri="{FF2B5EF4-FFF2-40B4-BE49-F238E27FC236}">
                  <a16:creationId xmlns:a16="http://schemas.microsoft.com/office/drawing/2014/main" id="{B2AAB3D6-0498-A84F-A606-D7C00F6E911D}"/>
                </a:ext>
              </a:extLst>
            </p:cNvPr>
            <p:cNvSpPr>
              <a:spLocks noChangeShapeType="1"/>
            </p:cNvSpPr>
            <p:nvPr/>
          </p:nvSpPr>
          <p:spPr bwMode="auto">
            <a:xfrm>
              <a:off x="3072" y="3600"/>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85" name="Line 84">
              <a:extLst>
                <a:ext uri="{FF2B5EF4-FFF2-40B4-BE49-F238E27FC236}">
                  <a16:creationId xmlns:a16="http://schemas.microsoft.com/office/drawing/2014/main" id="{8727C846-EC54-A945-BA01-285353091460}"/>
                </a:ext>
              </a:extLst>
            </p:cNvPr>
            <p:cNvSpPr>
              <a:spLocks noChangeShapeType="1"/>
            </p:cNvSpPr>
            <p:nvPr/>
          </p:nvSpPr>
          <p:spPr bwMode="auto">
            <a:xfrm>
              <a:off x="3072" y="364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86" name="Line 85">
              <a:extLst>
                <a:ext uri="{FF2B5EF4-FFF2-40B4-BE49-F238E27FC236}">
                  <a16:creationId xmlns:a16="http://schemas.microsoft.com/office/drawing/2014/main" id="{2D496FCA-37C4-1142-ADB3-97DF660ACE04}"/>
                </a:ext>
              </a:extLst>
            </p:cNvPr>
            <p:cNvSpPr>
              <a:spLocks noChangeShapeType="1"/>
            </p:cNvSpPr>
            <p:nvPr/>
          </p:nvSpPr>
          <p:spPr bwMode="auto">
            <a:xfrm>
              <a:off x="3122" y="3653"/>
              <a:ext cx="0" cy="13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87" name="Line 86">
              <a:extLst>
                <a:ext uri="{FF2B5EF4-FFF2-40B4-BE49-F238E27FC236}">
                  <a16:creationId xmlns:a16="http://schemas.microsoft.com/office/drawing/2014/main" id="{09C5CB2D-349E-A441-8674-F5826315A8FC}"/>
                </a:ext>
              </a:extLst>
            </p:cNvPr>
            <p:cNvSpPr>
              <a:spLocks noChangeShapeType="1"/>
            </p:cNvSpPr>
            <p:nvPr/>
          </p:nvSpPr>
          <p:spPr bwMode="auto">
            <a:xfrm>
              <a:off x="3122" y="3792"/>
              <a:ext cx="28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88" name="Line 87">
              <a:extLst>
                <a:ext uri="{FF2B5EF4-FFF2-40B4-BE49-F238E27FC236}">
                  <a16:creationId xmlns:a16="http://schemas.microsoft.com/office/drawing/2014/main" id="{62B01C5E-5AB4-B348-8FB3-49AB4E8CB5C0}"/>
                </a:ext>
              </a:extLst>
            </p:cNvPr>
            <p:cNvSpPr>
              <a:spLocks noChangeShapeType="1"/>
            </p:cNvSpPr>
            <p:nvPr/>
          </p:nvSpPr>
          <p:spPr bwMode="auto">
            <a:xfrm flipV="1">
              <a:off x="3406" y="3648"/>
              <a:ext cx="5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89" name="Line 88">
              <a:extLst>
                <a:ext uri="{FF2B5EF4-FFF2-40B4-BE49-F238E27FC236}">
                  <a16:creationId xmlns:a16="http://schemas.microsoft.com/office/drawing/2014/main" id="{21A4A00C-8708-1244-B653-57FD47983108}"/>
                </a:ext>
              </a:extLst>
            </p:cNvPr>
            <p:cNvSpPr>
              <a:spLocks noChangeShapeType="1"/>
            </p:cNvSpPr>
            <p:nvPr/>
          </p:nvSpPr>
          <p:spPr bwMode="auto">
            <a:xfrm>
              <a:off x="3408" y="364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90" name="Line 89">
              <a:extLst>
                <a:ext uri="{FF2B5EF4-FFF2-40B4-BE49-F238E27FC236}">
                  <a16:creationId xmlns:a16="http://schemas.microsoft.com/office/drawing/2014/main" id="{E3CEA1FF-B0E2-374B-A474-9636725D345E}"/>
                </a:ext>
              </a:extLst>
            </p:cNvPr>
            <p:cNvSpPr>
              <a:spLocks noChangeShapeType="1"/>
            </p:cNvSpPr>
            <p:nvPr/>
          </p:nvSpPr>
          <p:spPr bwMode="auto">
            <a:xfrm>
              <a:off x="3456" y="3648"/>
              <a:ext cx="48"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91" name="Line 90">
              <a:extLst>
                <a:ext uri="{FF2B5EF4-FFF2-40B4-BE49-F238E27FC236}">
                  <a16:creationId xmlns:a16="http://schemas.microsoft.com/office/drawing/2014/main" id="{8EC2AD49-FCEE-1041-BEE1-A4AFE14EB461}"/>
                </a:ext>
              </a:extLst>
            </p:cNvPr>
            <p:cNvSpPr>
              <a:spLocks noChangeShapeType="1"/>
            </p:cNvSpPr>
            <p:nvPr/>
          </p:nvSpPr>
          <p:spPr bwMode="auto">
            <a:xfrm>
              <a:off x="3504" y="3792"/>
              <a:ext cx="33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92" name="Line 91">
              <a:extLst>
                <a:ext uri="{FF2B5EF4-FFF2-40B4-BE49-F238E27FC236}">
                  <a16:creationId xmlns:a16="http://schemas.microsoft.com/office/drawing/2014/main" id="{BA69B068-DE1C-4D41-9AC8-A0FA433D4A18}"/>
                </a:ext>
              </a:extLst>
            </p:cNvPr>
            <p:cNvSpPr>
              <a:spLocks noChangeShapeType="1"/>
            </p:cNvSpPr>
            <p:nvPr/>
          </p:nvSpPr>
          <p:spPr bwMode="auto">
            <a:xfrm flipV="1">
              <a:off x="3840" y="3648"/>
              <a:ext cx="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93" name="Line 92">
              <a:extLst>
                <a:ext uri="{FF2B5EF4-FFF2-40B4-BE49-F238E27FC236}">
                  <a16:creationId xmlns:a16="http://schemas.microsoft.com/office/drawing/2014/main" id="{79475356-1F29-284F-BD1C-2CBCF2F12C39}"/>
                </a:ext>
              </a:extLst>
            </p:cNvPr>
            <p:cNvSpPr>
              <a:spLocks noChangeShapeType="1"/>
            </p:cNvSpPr>
            <p:nvPr/>
          </p:nvSpPr>
          <p:spPr bwMode="auto">
            <a:xfrm>
              <a:off x="3792" y="364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94" name="Rectangle 93">
              <a:extLst>
                <a:ext uri="{FF2B5EF4-FFF2-40B4-BE49-F238E27FC236}">
                  <a16:creationId xmlns:a16="http://schemas.microsoft.com/office/drawing/2014/main" id="{E0800A30-AA0D-7F48-A937-A70C760AC91F}"/>
                </a:ext>
              </a:extLst>
            </p:cNvPr>
            <p:cNvSpPr>
              <a:spLocks noChangeArrowheads="1"/>
            </p:cNvSpPr>
            <p:nvPr/>
          </p:nvSpPr>
          <p:spPr bwMode="auto">
            <a:xfrm>
              <a:off x="3491" y="3546"/>
              <a:ext cx="297" cy="14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DC</a:t>
              </a:r>
            </a:p>
          </p:txBody>
        </p:sp>
      </p:grpSp>
      <p:sp>
        <p:nvSpPr>
          <p:cNvPr id="19471" name="Rectangle 95">
            <a:extLst>
              <a:ext uri="{FF2B5EF4-FFF2-40B4-BE49-F238E27FC236}">
                <a16:creationId xmlns:a16="http://schemas.microsoft.com/office/drawing/2014/main" id="{0801EF02-CDA4-6240-A6C9-5BFB67CA472C}"/>
              </a:ext>
            </a:extLst>
          </p:cNvPr>
          <p:cNvSpPr>
            <a:spLocks noChangeArrowheads="1"/>
          </p:cNvSpPr>
          <p:nvPr/>
        </p:nvSpPr>
        <p:spPr bwMode="auto">
          <a:xfrm>
            <a:off x="6197600" y="3354388"/>
            <a:ext cx="549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time</a:t>
            </a:r>
          </a:p>
        </p:txBody>
      </p:sp>
      <p:sp>
        <p:nvSpPr>
          <p:cNvPr id="19472" name="Line 96">
            <a:extLst>
              <a:ext uri="{FF2B5EF4-FFF2-40B4-BE49-F238E27FC236}">
                <a16:creationId xmlns:a16="http://schemas.microsoft.com/office/drawing/2014/main" id="{272D91C4-6CC3-BB4C-B30A-084C8FF72696}"/>
              </a:ext>
            </a:extLst>
          </p:cNvPr>
          <p:cNvSpPr>
            <a:spLocks noChangeShapeType="1"/>
          </p:cNvSpPr>
          <p:nvPr/>
        </p:nvSpPr>
        <p:spPr bwMode="auto">
          <a:xfrm>
            <a:off x="6324600" y="3352800"/>
            <a:ext cx="609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473" name="Line 97">
            <a:extLst>
              <a:ext uri="{FF2B5EF4-FFF2-40B4-BE49-F238E27FC236}">
                <a16:creationId xmlns:a16="http://schemas.microsoft.com/office/drawing/2014/main" id="{092B5521-B3DD-B74F-92EC-B9ABDFD3AE0B}"/>
              </a:ext>
            </a:extLst>
          </p:cNvPr>
          <p:cNvSpPr>
            <a:spLocks noChangeShapeType="1"/>
          </p:cNvSpPr>
          <p:nvPr/>
        </p:nvSpPr>
        <p:spPr bwMode="auto">
          <a:xfrm>
            <a:off x="1905000" y="3124200"/>
            <a:ext cx="0" cy="30480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9474" name="Rectangle 98">
            <a:extLst>
              <a:ext uri="{FF2B5EF4-FFF2-40B4-BE49-F238E27FC236}">
                <a16:creationId xmlns:a16="http://schemas.microsoft.com/office/drawing/2014/main" id="{CE60290C-F799-704E-B904-A1548DB0F385}"/>
              </a:ext>
            </a:extLst>
          </p:cNvPr>
          <p:cNvSpPr>
            <a:spLocks noChangeArrowheads="1"/>
          </p:cNvSpPr>
          <p:nvPr/>
        </p:nvSpPr>
        <p:spPr bwMode="auto">
          <a:xfrm>
            <a:off x="669925" y="3298825"/>
            <a:ext cx="2333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i="1">
                <a:latin typeface="Arial" panose="020B0604020202020204" pitchFamily="34" charset="0"/>
              </a:rPr>
              <a:t>i</a:t>
            </a:r>
          </a:p>
        </p:txBody>
      </p:sp>
      <p:sp>
        <p:nvSpPr>
          <p:cNvPr id="19475" name="Rectangle 99">
            <a:extLst>
              <a:ext uri="{FF2B5EF4-FFF2-40B4-BE49-F238E27FC236}">
                <a16:creationId xmlns:a16="http://schemas.microsoft.com/office/drawing/2014/main" id="{0296ABC4-6385-ED4E-9990-B676DA8D130E}"/>
              </a:ext>
            </a:extLst>
          </p:cNvPr>
          <p:cNvSpPr>
            <a:spLocks noChangeArrowheads="1"/>
          </p:cNvSpPr>
          <p:nvPr/>
        </p:nvSpPr>
        <p:spPr bwMode="auto">
          <a:xfrm>
            <a:off x="517525" y="3908425"/>
            <a:ext cx="4365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i="1">
                <a:latin typeface="Arial" panose="020B0604020202020204" pitchFamily="34" charset="0"/>
              </a:rPr>
              <a:t>i+</a:t>
            </a:r>
            <a:r>
              <a:rPr lang="en-US" altLang="en-US" sz="2400">
                <a:latin typeface="Arial" panose="020B0604020202020204" pitchFamily="34" charset="0"/>
              </a:rPr>
              <a:t>1</a:t>
            </a:r>
          </a:p>
        </p:txBody>
      </p:sp>
      <p:sp>
        <p:nvSpPr>
          <p:cNvPr id="19476" name="Rectangle 100">
            <a:extLst>
              <a:ext uri="{FF2B5EF4-FFF2-40B4-BE49-F238E27FC236}">
                <a16:creationId xmlns:a16="http://schemas.microsoft.com/office/drawing/2014/main" id="{9E433638-3F89-8641-AFEB-63BF0823505E}"/>
              </a:ext>
            </a:extLst>
          </p:cNvPr>
          <p:cNvSpPr>
            <a:spLocks noChangeArrowheads="1"/>
          </p:cNvSpPr>
          <p:nvPr/>
        </p:nvSpPr>
        <p:spPr bwMode="auto">
          <a:xfrm>
            <a:off x="517525" y="4518025"/>
            <a:ext cx="4365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i="1">
                <a:latin typeface="Arial" panose="020B0604020202020204" pitchFamily="34" charset="0"/>
              </a:rPr>
              <a:t>i+</a:t>
            </a:r>
            <a:r>
              <a:rPr lang="en-US" altLang="en-US" sz="2400">
                <a:latin typeface="Arial" panose="020B0604020202020204" pitchFamily="34" charset="0"/>
              </a:rPr>
              <a:t>2</a:t>
            </a:r>
          </a:p>
        </p:txBody>
      </p:sp>
      <p:sp>
        <p:nvSpPr>
          <p:cNvPr id="19477" name="Rectangle 101">
            <a:extLst>
              <a:ext uri="{FF2B5EF4-FFF2-40B4-BE49-F238E27FC236}">
                <a16:creationId xmlns:a16="http://schemas.microsoft.com/office/drawing/2014/main" id="{DD59FCB2-A3BC-FC45-8F5F-0FE22486FA58}"/>
              </a:ext>
            </a:extLst>
          </p:cNvPr>
          <p:cNvSpPr>
            <a:spLocks noChangeArrowheads="1"/>
          </p:cNvSpPr>
          <p:nvPr/>
        </p:nvSpPr>
        <p:spPr bwMode="auto">
          <a:xfrm>
            <a:off x="517525" y="5051425"/>
            <a:ext cx="4365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i="1">
                <a:latin typeface="Arial" panose="020B0604020202020204" pitchFamily="34" charset="0"/>
              </a:rPr>
              <a:t>i+</a:t>
            </a:r>
            <a:r>
              <a:rPr lang="en-US" altLang="en-US" sz="2400">
                <a:latin typeface="Arial" panose="020B0604020202020204" pitchFamily="34" charset="0"/>
              </a:rPr>
              <a:t>3</a:t>
            </a:r>
          </a:p>
        </p:txBody>
      </p:sp>
      <p:sp>
        <p:nvSpPr>
          <p:cNvPr id="19478" name="Rectangle 102">
            <a:extLst>
              <a:ext uri="{FF2B5EF4-FFF2-40B4-BE49-F238E27FC236}">
                <a16:creationId xmlns:a16="http://schemas.microsoft.com/office/drawing/2014/main" id="{216E30C3-E74D-4C4D-A3CD-B1D5FFB9A5EF}"/>
              </a:ext>
            </a:extLst>
          </p:cNvPr>
          <p:cNvSpPr>
            <a:spLocks noChangeArrowheads="1"/>
          </p:cNvSpPr>
          <p:nvPr/>
        </p:nvSpPr>
        <p:spPr bwMode="auto">
          <a:xfrm>
            <a:off x="517525" y="5584825"/>
            <a:ext cx="4365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i="1">
                <a:latin typeface="Arial" panose="020B0604020202020204" pitchFamily="34" charset="0"/>
              </a:rPr>
              <a:t>i+</a:t>
            </a:r>
            <a:r>
              <a:rPr lang="en-US" altLang="en-US" sz="2400">
                <a:latin typeface="Arial" panose="020B0604020202020204" pitchFamily="34" charset="0"/>
              </a:rPr>
              <a:t>4</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2063CA6-DE2E-3D40-B48D-1CA8D216BEA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Pipeline speedup (no stalls)</a:t>
            </a:r>
          </a:p>
        </p:txBody>
      </p:sp>
      <p:sp>
        <p:nvSpPr>
          <p:cNvPr id="21507" name="Rectangle 3">
            <a:extLst>
              <a:ext uri="{FF2B5EF4-FFF2-40B4-BE49-F238E27FC236}">
                <a16:creationId xmlns:a16="http://schemas.microsoft.com/office/drawing/2014/main" id="{2DBC4C91-4E04-A848-9B12-0C67720B6614}"/>
              </a:ext>
            </a:extLst>
          </p:cNvPr>
          <p:cNvSpPr>
            <a:spLocks noGrp="1" noChangeArrowheads="1"/>
          </p:cNvSpPr>
          <p:nvPr>
            <p:ph idx="1"/>
          </p:nvPr>
        </p:nvSpPr>
        <p:spPr/>
        <p:txBody>
          <a:bodyPr/>
          <a:lstStyle/>
          <a:p>
            <a:r>
              <a:rPr lang="en-US" altLang="en-US"/>
              <a:t>For a pipeline of </a:t>
            </a:r>
            <a:r>
              <a:rPr lang="en-US" altLang="en-US" i="1"/>
              <a:t>n</a:t>
            </a:r>
            <a:r>
              <a:rPr lang="en-US" altLang="en-US"/>
              <a:t> stages:</a:t>
            </a:r>
          </a:p>
        </p:txBody>
      </p:sp>
      <p:graphicFrame>
        <p:nvGraphicFramePr>
          <p:cNvPr id="21508" name="Object 4">
            <a:extLst>
              <a:ext uri="{FF2B5EF4-FFF2-40B4-BE49-F238E27FC236}">
                <a16:creationId xmlns:a16="http://schemas.microsoft.com/office/drawing/2014/main" id="{AB023EC0-F0B8-3446-A3F0-7E702C26ABA1}"/>
              </a:ext>
            </a:extLst>
          </p:cNvPr>
          <p:cNvGraphicFramePr>
            <a:graphicFrameLocks/>
          </p:cNvGraphicFramePr>
          <p:nvPr/>
        </p:nvGraphicFramePr>
        <p:xfrm>
          <a:off x="2438400" y="2286000"/>
          <a:ext cx="3641725" cy="1690688"/>
        </p:xfrm>
        <a:graphic>
          <a:graphicData uri="http://schemas.openxmlformats.org/presentationml/2006/ole">
            <mc:AlternateContent xmlns:mc="http://schemas.openxmlformats.org/markup-compatibility/2006">
              <mc:Choice xmlns:v="urn:schemas-microsoft-com:vml" Requires="v">
                <p:oleObj name="Equation" r:id="rId3" imgW="54419500" imgH="26035000" progId="Equation.3">
                  <p:embed/>
                </p:oleObj>
              </mc:Choice>
              <mc:Fallback>
                <p:oleObj name="Equation" r:id="rId3" imgW="54419500" imgH="26035000" progId="Equation.3">
                  <p:embed/>
                  <p:pic>
                    <p:nvPicPr>
                      <p:cNvPr id="21508" name="Object 4">
                        <a:extLst>
                          <a:ext uri="{FF2B5EF4-FFF2-40B4-BE49-F238E27FC236}">
                            <a16:creationId xmlns:a16="http://schemas.microsoft.com/office/drawing/2014/main" id="{AB023EC0-F0B8-3446-A3F0-7E702C26ABA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2286000"/>
                        <a:ext cx="3641725" cy="169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1509" name="Rectangle 5">
            <a:extLst>
              <a:ext uri="{FF2B5EF4-FFF2-40B4-BE49-F238E27FC236}">
                <a16:creationId xmlns:a16="http://schemas.microsoft.com/office/drawing/2014/main" id="{B17D8EFD-FADD-3441-B7C0-924EA30FA465}"/>
              </a:ext>
            </a:extLst>
          </p:cNvPr>
          <p:cNvSpPr>
            <a:spLocks noChangeArrowheads="1"/>
          </p:cNvSpPr>
          <p:nvPr/>
        </p:nvSpPr>
        <p:spPr bwMode="auto">
          <a:xfrm>
            <a:off x="1530350" y="4959350"/>
            <a:ext cx="596900" cy="596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IF</a:t>
            </a:r>
          </a:p>
        </p:txBody>
      </p:sp>
      <p:sp>
        <p:nvSpPr>
          <p:cNvPr id="21510" name="Rectangle 6">
            <a:extLst>
              <a:ext uri="{FF2B5EF4-FFF2-40B4-BE49-F238E27FC236}">
                <a16:creationId xmlns:a16="http://schemas.microsoft.com/office/drawing/2014/main" id="{2EBE26A5-8CFD-B240-B604-B6F44E13736A}"/>
              </a:ext>
            </a:extLst>
          </p:cNvPr>
          <p:cNvSpPr>
            <a:spLocks noChangeArrowheads="1"/>
          </p:cNvSpPr>
          <p:nvPr/>
        </p:nvSpPr>
        <p:spPr bwMode="auto">
          <a:xfrm>
            <a:off x="2444750" y="4959350"/>
            <a:ext cx="596900" cy="596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ID</a:t>
            </a:r>
          </a:p>
        </p:txBody>
      </p:sp>
      <p:sp>
        <p:nvSpPr>
          <p:cNvPr id="21511" name="Rectangle 7">
            <a:extLst>
              <a:ext uri="{FF2B5EF4-FFF2-40B4-BE49-F238E27FC236}">
                <a16:creationId xmlns:a16="http://schemas.microsoft.com/office/drawing/2014/main" id="{292958E2-9610-6F43-BE1B-642BA14C3920}"/>
              </a:ext>
            </a:extLst>
          </p:cNvPr>
          <p:cNvSpPr>
            <a:spLocks noChangeArrowheads="1"/>
          </p:cNvSpPr>
          <p:nvPr/>
        </p:nvSpPr>
        <p:spPr bwMode="auto">
          <a:xfrm>
            <a:off x="3359150" y="4959350"/>
            <a:ext cx="596900" cy="596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EX</a:t>
            </a:r>
          </a:p>
        </p:txBody>
      </p:sp>
      <p:sp>
        <p:nvSpPr>
          <p:cNvPr id="21512" name="Rectangle 8">
            <a:extLst>
              <a:ext uri="{FF2B5EF4-FFF2-40B4-BE49-F238E27FC236}">
                <a16:creationId xmlns:a16="http://schemas.microsoft.com/office/drawing/2014/main" id="{74F32BDE-F91A-164A-8DED-D93205D3C028}"/>
              </a:ext>
            </a:extLst>
          </p:cNvPr>
          <p:cNvSpPr>
            <a:spLocks noChangeArrowheads="1"/>
          </p:cNvSpPr>
          <p:nvPr/>
        </p:nvSpPr>
        <p:spPr bwMode="auto">
          <a:xfrm>
            <a:off x="4273550" y="4959350"/>
            <a:ext cx="596900" cy="596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MEM</a:t>
            </a:r>
          </a:p>
        </p:txBody>
      </p:sp>
      <p:sp>
        <p:nvSpPr>
          <p:cNvPr id="21513" name="Rectangle 9">
            <a:extLst>
              <a:ext uri="{FF2B5EF4-FFF2-40B4-BE49-F238E27FC236}">
                <a16:creationId xmlns:a16="http://schemas.microsoft.com/office/drawing/2014/main" id="{A687F3B1-D576-1A40-AEF2-37866EEE8A33}"/>
              </a:ext>
            </a:extLst>
          </p:cNvPr>
          <p:cNvSpPr>
            <a:spLocks noChangeArrowheads="1"/>
          </p:cNvSpPr>
          <p:nvPr/>
        </p:nvSpPr>
        <p:spPr bwMode="auto">
          <a:xfrm>
            <a:off x="5187950" y="4959350"/>
            <a:ext cx="596900" cy="596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WB</a:t>
            </a:r>
          </a:p>
        </p:txBody>
      </p:sp>
      <p:sp>
        <p:nvSpPr>
          <p:cNvPr id="21514" name="Rectangle 10">
            <a:extLst>
              <a:ext uri="{FF2B5EF4-FFF2-40B4-BE49-F238E27FC236}">
                <a16:creationId xmlns:a16="http://schemas.microsoft.com/office/drawing/2014/main" id="{FCC0B829-A54B-A84A-87AD-1D10A375C0DB}"/>
              </a:ext>
            </a:extLst>
          </p:cNvPr>
          <p:cNvSpPr>
            <a:spLocks noChangeArrowheads="1"/>
          </p:cNvSpPr>
          <p:nvPr/>
        </p:nvSpPr>
        <p:spPr bwMode="auto">
          <a:xfrm>
            <a:off x="2216150" y="4959350"/>
            <a:ext cx="139700" cy="596900"/>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21515" name="Rectangle 11">
            <a:extLst>
              <a:ext uri="{FF2B5EF4-FFF2-40B4-BE49-F238E27FC236}">
                <a16:creationId xmlns:a16="http://schemas.microsoft.com/office/drawing/2014/main" id="{DD5935A4-808E-6C4C-94BD-B37B5B1129AD}"/>
              </a:ext>
            </a:extLst>
          </p:cNvPr>
          <p:cNvSpPr>
            <a:spLocks noChangeArrowheads="1"/>
          </p:cNvSpPr>
          <p:nvPr/>
        </p:nvSpPr>
        <p:spPr bwMode="auto">
          <a:xfrm>
            <a:off x="3130550" y="4959350"/>
            <a:ext cx="139700" cy="596900"/>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21516" name="Rectangle 12">
            <a:extLst>
              <a:ext uri="{FF2B5EF4-FFF2-40B4-BE49-F238E27FC236}">
                <a16:creationId xmlns:a16="http://schemas.microsoft.com/office/drawing/2014/main" id="{B4BA3E79-9CE8-014C-A1FA-4B14F70AE9B2}"/>
              </a:ext>
            </a:extLst>
          </p:cNvPr>
          <p:cNvSpPr>
            <a:spLocks noChangeArrowheads="1"/>
          </p:cNvSpPr>
          <p:nvPr/>
        </p:nvSpPr>
        <p:spPr bwMode="auto">
          <a:xfrm>
            <a:off x="4044950" y="4959350"/>
            <a:ext cx="139700" cy="596900"/>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21517" name="Rectangle 13">
            <a:extLst>
              <a:ext uri="{FF2B5EF4-FFF2-40B4-BE49-F238E27FC236}">
                <a16:creationId xmlns:a16="http://schemas.microsoft.com/office/drawing/2014/main" id="{BE8F0F90-9C52-B54F-86C1-FF80D1677134}"/>
              </a:ext>
            </a:extLst>
          </p:cNvPr>
          <p:cNvSpPr>
            <a:spLocks noChangeArrowheads="1"/>
          </p:cNvSpPr>
          <p:nvPr/>
        </p:nvSpPr>
        <p:spPr bwMode="auto">
          <a:xfrm>
            <a:off x="4959350" y="4959350"/>
            <a:ext cx="139700" cy="596900"/>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D8EED52-84D5-854C-B7F1-332FEB6A29A9}"/>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Pipeline hazards</a:t>
            </a:r>
          </a:p>
        </p:txBody>
      </p:sp>
      <p:sp>
        <p:nvSpPr>
          <p:cNvPr id="25603" name="Rectangle 3">
            <a:extLst>
              <a:ext uri="{FF2B5EF4-FFF2-40B4-BE49-F238E27FC236}">
                <a16:creationId xmlns:a16="http://schemas.microsoft.com/office/drawing/2014/main" id="{0F796A8B-4244-8242-8100-403720422D4C}"/>
              </a:ext>
            </a:extLst>
          </p:cNvPr>
          <p:cNvSpPr>
            <a:spLocks noGrp="1" noChangeArrowheads="1"/>
          </p:cNvSpPr>
          <p:nvPr>
            <p:ph type="body" idx="1"/>
          </p:nvPr>
        </p:nvSpPr>
        <p:spPr/>
        <p:txBody>
          <a:bodyPr/>
          <a:lstStyle/>
          <a:p>
            <a:r>
              <a:rPr lang="en-US" altLang="en-US"/>
              <a:t>A hazard reduces the performance of the pipeline</a:t>
            </a:r>
          </a:p>
          <a:p>
            <a:pPr lvl="1"/>
            <a:r>
              <a:rPr lang="en-US" altLang="en-US"/>
              <a:t>Due to program</a:t>
            </a:r>
            <a:r>
              <a:rPr lang="ja-JP" altLang="en-US"/>
              <a:t>’</a:t>
            </a:r>
            <a:r>
              <a:rPr lang="en-US" altLang="ja-JP"/>
              <a:t>s characteristics</a:t>
            </a:r>
          </a:p>
          <a:p>
            <a:r>
              <a:rPr lang="en-US" altLang="en-US"/>
              <a:t>Three kinds:</a:t>
            </a:r>
          </a:p>
          <a:p>
            <a:pPr lvl="1"/>
            <a:r>
              <a:rPr lang="en-US" altLang="en-US"/>
              <a:t>Data hazards - Dependencies between instructions prevent their overlapped execution</a:t>
            </a:r>
          </a:p>
          <a:p>
            <a:pPr lvl="1"/>
            <a:r>
              <a:rPr lang="en-US" altLang="en-US"/>
              <a:t>Structural hazards - not enough hardware resources for all combinations of instructions</a:t>
            </a:r>
          </a:p>
          <a:p>
            <a:pPr lvl="1"/>
            <a:r>
              <a:rPr lang="en-US" altLang="en-US"/>
              <a:t>Control hazards - Branches change the PC, which results in late code</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D59556F4-149F-2846-82CE-0A7823B9A39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Structural hazards</a:t>
            </a:r>
          </a:p>
        </p:txBody>
      </p:sp>
      <p:sp>
        <p:nvSpPr>
          <p:cNvPr id="27651" name="Rectangle 3">
            <a:extLst>
              <a:ext uri="{FF2B5EF4-FFF2-40B4-BE49-F238E27FC236}">
                <a16:creationId xmlns:a16="http://schemas.microsoft.com/office/drawing/2014/main" id="{9135ED7F-E48E-E94D-AE57-23EA60BEA13D}"/>
              </a:ext>
            </a:extLst>
          </p:cNvPr>
          <p:cNvSpPr>
            <a:spLocks noGrp="1" noChangeArrowheads="1"/>
          </p:cNvSpPr>
          <p:nvPr>
            <p:ph idx="1"/>
          </p:nvPr>
        </p:nvSpPr>
        <p:spPr/>
        <p:txBody>
          <a:bodyPr/>
          <a:lstStyle/>
          <a:p>
            <a:r>
              <a:rPr lang="en-US" altLang="en-US"/>
              <a:t>Uncommon for our pipeline example</a:t>
            </a:r>
          </a:p>
          <a:p>
            <a:r>
              <a:rPr lang="en-US" altLang="en-US"/>
              <a:t>Consider a pipeline with a unified data+instruction cache:</a:t>
            </a:r>
          </a:p>
        </p:txBody>
      </p:sp>
      <p:sp>
        <p:nvSpPr>
          <p:cNvPr id="27652" name="Line 4">
            <a:extLst>
              <a:ext uri="{FF2B5EF4-FFF2-40B4-BE49-F238E27FC236}">
                <a16:creationId xmlns:a16="http://schemas.microsoft.com/office/drawing/2014/main" id="{370DB532-C647-CD45-889A-2790A4E6C81C}"/>
              </a:ext>
            </a:extLst>
          </p:cNvPr>
          <p:cNvSpPr>
            <a:spLocks noChangeShapeType="1"/>
          </p:cNvSpPr>
          <p:nvPr/>
        </p:nvSpPr>
        <p:spPr bwMode="auto">
          <a:xfrm>
            <a:off x="2895600" y="2743200"/>
            <a:ext cx="0" cy="3505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53" name="Line 5">
            <a:extLst>
              <a:ext uri="{FF2B5EF4-FFF2-40B4-BE49-F238E27FC236}">
                <a16:creationId xmlns:a16="http://schemas.microsoft.com/office/drawing/2014/main" id="{0BABFCB8-0F44-F24C-9AA3-32831051FF79}"/>
              </a:ext>
            </a:extLst>
          </p:cNvPr>
          <p:cNvSpPr>
            <a:spLocks noChangeShapeType="1"/>
          </p:cNvSpPr>
          <p:nvPr/>
        </p:nvSpPr>
        <p:spPr bwMode="auto">
          <a:xfrm>
            <a:off x="3505200" y="2819400"/>
            <a:ext cx="0" cy="34290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54" name="Line 6">
            <a:extLst>
              <a:ext uri="{FF2B5EF4-FFF2-40B4-BE49-F238E27FC236}">
                <a16:creationId xmlns:a16="http://schemas.microsoft.com/office/drawing/2014/main" id="{89C5C26B-16AD-9D47-8B63-6F7D6F50B762}"/>
              </a:ext>
            </a:extLst>
          </p:cNvPr>
          <p:cNvSpPr>
            <a:spLocks noChangeShapeType="1"/>
          </p:cNvSpPr>
          <p:nvPr/>
        </p:nvSpPr>
        <p:spPr bwMode="auto">
          <a:xfrm>
            <a:off x="4114800" y="2743200"/>
            <a:ext cx="0" cy="3505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55" name="Line 7">
            <a:extLst>
              <a:ext uri="{FF2B5EF4-FFF2-40B4-BE49-F238E27FC236}">
                <a16:creationId xmlns:a16="http://schemas.microsoft.com/office/drawing/2014/main" id="{6FB24526-D51E-CD46-BFC7-8ADDC5D495DB}"/>
              </a:ext>
            </a:extLst>
          </p:cNvPr>
          <p:cNvSpPr>
            <a:spLocks noChangeShapeType="1"/>
          </p:cNvSpPr>
          <p:nvPr/>
        </p:nvSpPr>
        <p:spPr bwMode="auto">
          <a:xfrm>
            <a:off x="4724400" y="2743200"/>
            <a:ext cx="0" cy="3505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56" name="Line 8">
            <a:extLst>
              <a:ext uri="{FF2B5EF4-FFF2-40B4-BE49-F238E27FC236}">
                <a16:creationId xmlns:a16="http://schemas.microsoft.com/office/drawing/2014/main" id="{06D43F73-EBD8-B842-B4B7-81D6A9E9C47A}"/>
              </a:ext>
            </a:extLst>
          </p:cNvPr>
          <p:cNvSpPr>
            <a:spLocks noChangeShapeType="1"/>
          </p:cNvSpPr>
          <p:nvPr/>
        </p:nvSpPr>
        <p:spPr bwMode="auto">
          <a:xfrm>
            <a:off x="5334000" y="2743200"/>
            <a:ext cx="0" cy="3505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57" name="Line 9">
            <a:extLst>
              <a:ext uri="{FF2B5EF4-FFF2-40B4-BE49-F238E27FC236}">
                <a16:creationId xmlns:a16="http://schemas.microsoft.com/office/drawing/2014/main" id="{06B93CAC-D61A-D64B-BC53-28B7C331BE2F}"/>
              </a:ext>
            </a:extLst>
          </p:cNvPr>
          <p:cNvSpPr>
            <a:spLocks noChangeShapeType="1"/>
          </p:cNvSpPr>
          <p:nvPr/>
        </p:nvSpPr>
        <p:spPr bwMode="auto">
          <a:xfrm>
            <a:off x="5867400" y="2743200"/>
            <a:ext cx="0" cy="3505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58" name="Line 10">
            <a:extLst>
              <a:ext uri="{FF2B5EF4-FFF2-40B4-BE49-F238E27FC236}">
                <a16:creationId xmlns:a16="http://schemas.microsoft.com/office/drawing/2014/main" id="{74081FC7-124E-A742-B0EF-130A3805CBDB}"/>
              </a:ext>
            </a:extLst>
          </p:cNvPr>
          <p:cNvSpPr>
            <a:spLocks noChangeShapeType="1"/>
          </p:cNvSpPr>
          <p:nvPr/>
        </p:nvSpPr>
        <p:spPr bwMode="auto">
          <a:xfrm>
            <a:off x="2286000" y="2743200"/>
            <a:ext cx="0" cy="3505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59" name="Rectangle 11">
            <a:extLst>
              <a:ext uri="{FF2B5EF4-FFF2-40B4-BE49-F238E27FC236}">
                <a16:creationId xmlns:a16="http://schemas.microsoft.com/office/drawing/2014/main" id="{CA43F71E-48CB-0045-9D53-3EE454C2BA97}"/>
              </a:ext>
            </a:extLst>
          </p:cNvPr>
          <p:cNvSpPr>
            <a:spLocks noChangeArrowheads="1"/>
          </p:cNvSpPr>
          <p:nvPr/>
        </p:nvSpPr>
        <p:spPr bwMode="auto">
          <a:xfrm>
            <a:off x="517525" y="2917825"/>
            <a:ext cx="9556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i="1">
                <a:latin typeface="Arial" panose="020B0604020202020204" pitchFamily="34" charset="0"/>
              </a:rPr>
              <a:t>A (a load)</a:t>
            </a:r>
          </a:p>
        </p:txBody>
      </p:sp>
      <p:sp>
        <p:nvSpPr>
          <p:cNvPr id="27660" name="Rectangle 12">
            <a:extLst>
              <a:ext uri="{FF2B5EF4-FFF2-40B4-BE49-F238E27FC236}">
                <a16:creationId xmlns:a16="http://schemas.microsoft.com/office/drawing/2014/main" id="{1EFD8E21-BFDD-8547-B310-5DFBFCAD13F2}"/>
              </a:ext>
            </a:extLst>
          </p:cNvPr>
          <p:cNvSpPr>
            <a:spLocks noChangeArrowheads="1"/>
          </p:cNvSpPr>
          <p:nvPr/>
        </p:nvSpPr>
        <p:spPr bwMode="auto">
          <a:xfrm>
            <a:off x="898525" y="3527425"/>
            <a:ext cx="3063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i="1">
                <a:latin typeface="Arial" panose="020B0604020202020204" pitchFamily="34" charset="0"/>
              </a:rPr>
              <a:t>B</a:t>
            </a:r>
          </a:p>
        </p:txBody>
      </p:sp>
      <p:sp>
        <p:nvSpPr>
          <p:cNvPr id="27661" name="Rectangle 13">
            <a:extLst>
              <a:ext uri="{FF2B5EF4-FFF2-40B4-BE49-F238E27FC236}">
                <a16:creationId xmlns:a16="http://schemas.microsoft.com/office/drawing/2014/main" id="{81EDD170-E243-A849-997F-903522AC9E0E}"/>
              </a:ext>
            </a:extLst>
          </p:cNvPr>
          <p:cNvSpPr>
            <a:spLocks noChangeArrowheads="1"/>
          </p:cNvSpPr>
          <p:nvPr/>
        </p:nvSpPr>
        <p:spPr bwMode="auto">
          <a:xfrm>
            <a:off x="898525" y="4137025"/>
            <a:ext cx="3159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i="1">
                <a:latin typeface="Arial" panose="020B0604020202020204" pitchFamily="34" charset="0"/>
              </a:rPr>
              <a:t>C</a:t>
            </a:r>
          </a:p>
        </p:txBody>
      </p:sp>
      <p:sp>
        <p:nvSpPr>
          <p:cNvPr id="27662" name="Rectangle 14">
            <a:extLst>
              <a:ext uri="{FF2B5EF4-FFF2-40B4-BE49-F238E27FC236}">
                <a16:creationId xmlns:a16="http://schemas.microsoft.com/office/drawing/2014/main" id="{F6F3E653-D499-B74B-A68A-3BBA81C8AA5B}"/>
              </a:ext>
            </a:extLst>
          </p:cNvPr>
          <p:cNvSpPr>
            <a:spLocks noChangeArrowheads="1"/>
          </p:cNvSpPr>
          <p:nvPr/>
        </p:nvSpPr>
        <p:spPr bwMode="auto">
          <a:xfrm>
            <a:off x="898525" y="4670425"/>
            <a:ext cx="3159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i="1">
                <a:latin typeface="Arial" panose="020B0604020202020204" pitchFamily="34" charset="0"/>
              </a:rPr>
              <a:t>D</a:t>
            </a:r>
          </a:p>
        </p:txBody>
      </p:sp>
      <p:sp>
        <p:nvSpPr>
          <p:cNvPr id="27663" name="Rectangle 15">
            <a:extLst>
              <a:ext uri="{FF2B5EF4-FFF2-40B4-BE49-F238E27FC236}">
                <a16:creationId xmlns:a16="http://schemas.microsoft.com/office/drawing/2014/main" id="{E8CE7326-A78A-1648-8A3C-A03EE7DC6185}"/>
              </a:ext>
            </a:extLst>
          </p:cNvPr>
          <p:cNvSpPr>
            <a:spLocks noChangeArrowheads="1"/>
          </p:cNvSpPr>
          <p:nvPr/>
        </p:nvSpPr>
        <p:spPr bwMode="auto">
          <a:xfrm>
            <a:off x="7162800" y="4495800"/>
            <a:ext cx="1171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make </a:t>
            </a:r>
            <a:r>
              <a:rPr lang="en-US" altLang="en-US" sz="1400" i="1">
                <a:latin typeface="Arial" panose="020B0604020202020204" pitchFamily="34" charset="0"/>
              </a:rPr>
              <a:t>D</a:t>
            </a:r>
            <a:r>
              <a:rPr lang="en-US" altLang="en-US" sz="1400">
                <a:latin typeface="Arial" panose="020B0604020202020204" pitchFamily="34" charset="0"/>
              </a:rPr>
              <a:t> wait</a:t>
            </a:r>
          </a:p>
        </p:txBody>
      </p:sp>
      <p:sp>
        <p:nvSpPr>
          <p:cNvPr id="27664" name="Rectangle 17">
            <a:extLst>
              <a:ext uri="{FF2B5EF4-FFF2-40B4-BE49-F238E27FC236}">
                <a16:creationId xmlns:a16="http://schemas.microsoft.com/office/drawing/2014/main" id="{F4A38096-8901-754C-A64B-1979C81D1CBE}"/>
              </a:ext>
            </a:extLst>
          </p:cNvPr>
          <p:cNvSpPr>
            <a:spLocks noChangeArrowheads="1"/>
          </p:cNvSpPr>
          <p:nvPr/>
        </p:nvSpPr>
        <p:spPr bwMode="auto">
          <a:xfrm>
            <a:off x="914400" y="5181600"/>
            <a:ext cx="3063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i="1">
                <a:latin typeface="Arial" panose="020B0604020202020204" pitchFamily="34" charset="0"/>
              </a:rPr>
              <a:t>E</a:t>
            </a:r>
          </a:p>
        </p:txBody>
      </p:sp>
      <p:sp>
        <p:nvSpPr>
          <p:cNvPr id="27665" name="Rectangle 18">
            <a:extLst>
              <a:ext uri="{FF2B5EF4-FFF2-40B4-BE49-F238E27FC236}">
                <a16:creationId xmlns:a16="http://schemas.microsoft.com/office/drawing/2014/main" id="{12F348E3-3722-4942-A9D6-835990BFC560}"/>
              </a:ext>
            </a:extLst>
          </p:cNvPr>
          <p:cNvSpPr>
            <a:spLocks noChangeArrowheads="1"/>
          </p:cNvSpPr>
          <p:nvPr/>
        </p:nvSpPr>
        <p:spPr bwMode="auto">
          <a:xfrm>
            <a:off x="1812925" y="2917825"/>
            <a:ext cx="3444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IF</a:t>
            </a:r>
          </a:p>
        </p:txBody>
      </p:sp>
      <p:sp>
        <p:nvSpPr>
          <p:cNvPr id="27666" name="Rectangle 19">
            <a:extLst>
              <a:ext uri="{FF2B5EF4-FFF2-40B4-BE49-F238E27FC236}">
                <a16:creationId xmlns:a16="http://schemas.microsoft.com/office/drawing/2014/main" id="{54F111D0-A21E-9B4E-AB34-D497AD92BF5B}"/>
              </a:ext>
            </a:extLst>
          </p:cNvPr>
          <p:cNvSpPr>
            <a:spLocks noChangeArrowheads="1"/>
          </p:cNvSpPr>
          <p:nvPr/>
        </p:nvSpPr>
        <p:spPr bwMode="auto">
          <a:xfrm>
            <a:off x="2422525" y="2917825"/>
            <a:ext cx="3651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ID</a:t>
            </a:r>
          </a:p>
        </p:txBody>
      </p:sp>
      <p:sp>
        <p:nvSpPr>
          <p:cNvPr id="27667" name="Rectangle 20">
            <a:extLst>
              <a:ext uri="{FF2B5EF4-FFF2-40B4-BE49-F238E27FC236}">
                <a16:creationId xmlns:a16="http://schemas.microsoft.com/office/drawing/2014/main" id="{DB7AF4C2-D303-334A-BC3D-BC289A29DC09}"/>
              </a:ext>
            </a:extLst>
          </p:cNvPr>
          <p:cNvSpPr>
            <a:spLocks noChangeArrowheads="1"/>
          </p:cNvSpPr>
          <p:nvPr/>
        </p:nvSpPr>
        <p:spPr bwMode="auto">
          <a:xfrm>
            <a:off x="3489325" y="2917825"/>
            <a:ext cx="6048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MEM</a:t>
            </a:r>
          </a:p>
        </p:txBody>
      </p:sp>
      <p:sp>
        <p:nvSpPr>
          <p:cNvPr id="27668" name="Rectangle 21">
            <a:extLst>
              <a:ext uri="{FF2B5EF4-FFF2-40B4-BE49-F238E27FC236}">
                <a16:creationId xmlns:a16="http://schemas.microsoft.com/office/drawing/2014/main" id="{3C77A499-65E4-F447-83D9-D5B25FB1A0FF}"/>
              </a:ext>
            </a:extLst>
          </p:cNvPr>
          <p:cNvSpPr>
            <a:spLocks noChangeArrowheads="1"/>
          </p:cNvSpPr>
          <p:nvPr/>
        </p:nvSpPr>
        <p:spPr bwMode="auto">
          <a:xfrm>
            <a:off x="2955925" y="2917825"/>
            <a:ext cx="4270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EX</a:t>
            </a:r>
          </a:p>
        </p:txBody>
      </p:sp>
      <p:sp>
        <p:nvSpPr>
          <p:cNvPr id="27669" name="Rectangle 22">
            <a:extLst>
              <a:ext uri="{FF2B5EF4-FFF2-40B4-BE49-F238E27FC236}">
                <a16:creationId xmlns:a16="http://schemas.microsoft.com/office/drawing/2014/main" id="{32D3456E-6023-AC4B-816F-436960AE24E1}"/>
              </a:ext>
            </a:extLst>
          </p:cNvPr>
          <p:cNvSpPr>
            <a:spLocks noChangeArrowheads="1"/>
          </p:cNvSpPr>
          <p:nvPr/>
        </p:nvSpPr>
        <p:spPr bwMode="auto">
          <a:xfrm>
            <a:off x="4175125" y="2917825"/>
            <a:ext cx="4762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WB</a:t>
            </a:r>
          </a:p>
        </p:txBody>
      </p:sp>
      <p:sp>
        <p:nvSpPr>
          <p:cNvPr id="27670" name="Rectangle 23">
            <a:extLst>
              <a:ext uri="{FF2B5EF4-FFF2-40B4-BE49-F238E27FC236}">
                <a16:creationId xmlns:a16="http://schemas.microsoft.com/office/drawing/2014/main" id="{E8F57AEC-3C20-254A-9081-4AC72E189522}"/>
              </a:ext>
            </a:extLst>
          </p:cNvPr>
          <p:cNvSpPr>
            <a:spLocks noChangeArrowheads="1"/>
          </p:cNvSpPr>
          <p:nvPr/>
        </p:nvSpPr>
        <p:spPr bwMode="auto">
          <a:xfrm>
            <a:off x="5775325" y="2384425"/>
            <a:ext cx="6873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time-&gt;</a:t>
            </a:r>
          </a:p>
        </p:txBody>
      </p:sp>
      <p:sp>
        <p:nvSpPr>
          <p:cNvPr id="27671" name="Line 24">
            <a:extLst>
              <a:ext uri="{FF2B5EF4-FFF2-40B4-BE49-F238E27FC236}">
                <a16:creationId xmlns:a16="http://schemas.microsoft.com/office/drawing/2014/main" id="{8008891C-F1BF-9F44-AAB3-DCC0F09315B0}"/>
              </a:ext>
            </a:extLst>
          </p:cNvPr>
          <p:cNvSpPr>
            <a:spLocks noChangeShapeType="1"/>
          </p:cNvSpPr>
          <p:nvPr/>
        </p:nvSpPr>
        <p:spPr bwMode="auto">
          <a:xfrm>
            <a:off x="1828800" y="3352800"/>
            <a:ext cx="480060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72" name="Line 25">
            <a:extLst>
              <a:ext uri="{FF2B5EF4-FFF2-40B4-BE49-F238E27FC236}">
                <a16:creationId xmlns:a16="http://schemas.microsoft.com/office/drawing/2014/main" id="{FB9ECCC7-5438-3644-801B-E786614469E7}"/>
              </a:ext>
            </a:extLst>
          </p:cNvPr>
          <p:cNvSpPr>
            <a:spLocks noChangeShapeType="1"/>
          </p:cNvSpPr>
          <p:nvPr/>
        </p:nvSpPr>
        <p:spPr bwMode="auto">
          <a:xfrm>
            <a:off x="1828800" y="3886200"/>
            <a:ext cx="480060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73" name="Line 26">
            <a:extLst>
              <a:ext uri="{FF2B5EF4-FFF2-40B4-BE49-F238E27FC236}">
                <a16:creationId xmlns:a16="http://schemas.microsoft.com/office/drawing/2014/main" id="{BEFB912F-3D5C-7647-B1DC-73ACA72D51A4}"/>
              </a:ext>
            </a:extLst>
          </p:cNvPr>
          <p:cNvSpPr>
            <a:spLocks noChangeShapeType="1"/>
          </p:cNvSpPr>
          <p:nvPr/>
        </p:nvSpPr>
        <p:spPr bwMode="auto">
          <a:xfrm>
            <a:off x="1828800" y="4419600"/>
            <a:ext cx="480060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74" name="Line 27">
            <a:extLst>
              <a:ext uri="{FF2B5EF4-FFF2-40B4-BE49-F238E27FC236}">
                <a16:creationId xmlns:a16="http://schemas.microsoft.com/office/drawing/2014/main" id="{2FA77CD8-9B41-8B4C-A56F-C8FBCA6CE093}"/>
              </a:ext>
            </a:extLst>
          </p:cNvPr>
          <p:cNvSpPr>
            <a:spLocks noChangeShapeType="1"/>
          </p:cNvSpPr>
          <p:nvPr/>
        </p:nvSpPr>
        <p:spPr bwMode="auto">
          <a:xfrm>
            <a:off x="1828800" y="4953000"/>
            <a:ext cx="480060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7675" name="Line 28">
            <a:extLst>
              <a:ext uri="{FF2B5EF4-FFF2-40B4-BE49-F238E27FC236}">
                <a16:creationId xmlns:a16="http://schemas.microsoft.com/office/drawing/2014/main" id="{760C9A1A-DAFC-C844-876C-C040E77FA790}"/>
              </a:ext>
            </a:extLst>
          </p:cNvPr>
          <p:cNvSpPr>
            <a:spLocks noChangeShapeType="1"/>
          </p:cNvSpPr>
          <p:nvPr/>
        </p:nvSpPr>
        <p:spPr bwMode="auto">
          <a:xfrm>
            <a:off x="1828800" y="5486400"/>
            <a:ext cx="480060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27676" name="Group 30">
            <a:extLst>
              <a:ext uri="{FF2B5EF4-FFF2-40B4-BE49-F238E27FC236}">
                <a16:creationId xmlns:a16="http://schemas.microsoft.com/office/drawing/2014/main" id="{ED8BF379-66CB-5842-9800-D39AFD146D90}"/>
              </a:ext>
            </a:extLst>
          </p:cNvPr>
          <p:cNvGrpSpPr>
            <a:grpSpLocks/>
          </p:cNvGrpSpPr>
          <p:nvPr/>
        </p:nvGrpSpPr>
        <p:grpSpPr bwMode="auto">
          <a:xfrm>
            <a:off x="2422525" y="3451225"/>
            <a:ext cx="2838450" cy="307975"/>
            <a:chOff x="1526" y="2174"/>
            <a:chExt cx="1788" cy="194"/>
          </a:xfrm>
        </p:grpSpPr>
        <p:sp>
          <p:nvSpPr>
            <p:cNvPr id="27702" name="Rectangle 31">
              <a:extLst>
                <a:ext uri="{FF2B5EF4-FFF2-40B4-BE49-F238E27FC236}">
                  <a16:creationId xmlns:a16="http://schemas.microsoft.com/office/drawing/2014/main" id="{B22602E1-42E0-194D-B19C-288A35BC0C5F}"/>
                </a:ext>
              </a:extLst>
            </p:cNvPr>
            <p:cNvSpPr>
              <a:spLocks noChangeArrowheads="1"/>
            </p:cNvSpPr>
            <p:nvPr/>
          </p:nvSpPr>
          <p:spPr bwMode="auto">
            <a:xfrm>
              <a:off x="1526" y="2174"/>
              <a:ext cx="2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IF</a:t>
              </a:r>
            </a:p>
          </p:txBody>
        </p:sp>
        <p:sp>
          <p:nvSpPr>
            <p:cNvPr id="27703" name="Rectangle 32">
              <a:extLst>
                <a:ext uri="{FF2B5EF4-FFF2-40B4-BE49-F238E27FC236}">
                  <a16:creationId xmlns:a16="http://schemas.microsoft.com/office/drawing/2014/main" id="{8645C507-FB8D-254D-831D-0BAA8D42DFFC}"/>
                </a:ext>
              </a:extLst>
            </p:cNvPr>
            <p:cNvSpPr>
              <a:spLocks noChangeArrowheads="1"/>
            </p:cNvSpPr>
            <p:nvPr/>
          </p:nvSpPr>
          <p:spPr bwMode="auto">
            <a:xfrm>
              <a:off x="1910" y="2174"/>
              <a:ext cx="2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ID</a:t>
              </a:r>
            </a:p>
          </p:txBody>
        </p:sp>
        <p:sp>
          <p:nvSpPr>
            <p:cNvPr id="27704" name="Rectangle 33">
              <a:extLst>
                <a:ext uri="{FF2B5EF4-FFF2-40B4-BE49-F238E27FC236}">
                  <a16:creationId xmlns:a16="http://schemas.microsoft.com/office/drawing/2014/main" id="{F127A47A-096C-094E-903E-FA85EE4DCBCA}"/>
                </a:ext>
              </a:extLst>
            </p:cNvPr>
            <p:cNvSpPr>
              <a:spLocks noChangeArrowheads="1"/>
            </p:cNvSpPr>
            <p:nvPr/>
          </p:nvSpPr>
          <p:spPr bwMode="auto">
            <a:xfrm>
              <a:off x="2582" y="2174"/>
              <a:ext cx="3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MEM</a:t>
              </a:r>
            </a:p>
          </p:txBody>
        </p:sp>
        <p:sp>
          <p:nvSpPr>
            <p:cNvPr id="27705" name="Rectangle 34">
              <a:extLst>
                <a:ext uri="{FF2B5EF4-FFF2-40B4-BE49-F238E27FC236}">
                  <a16:creationId xmlns:a16="http://schemas.microsoft.com/office/drawing/2014/main" id="{06C81C17-2B29-AF49-933F-8D2DD3B0113B}"/>
                </a:ext>
              </a:extLst>
            </p:cNvPr>
            <p:cNvSpPr>
              <a:spLocks noChangeArrowheads="1"/>
            </p:cNvSpPr>
            <p:nvPr/>
          </p:nvSpPr>
          <p:spPr bwMode="auto">
            <a:xfrm>
              <a:off x="2246" y="2174"/>
              <a:ext cx="2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EX</a:t>
              </a:r>
            </a:p>
          </p:txBody>
        </p:sp>
        <p:sp>
          <p:nvSpPr>
            <p:cNvPr id="27706" name="Rectangle 35">
              <a:extLst>
                <a:ext uri="{FF2B5EF4-FFF2-40B4-BE49-F238E27FC236}">
                  <a16:creationId xmlns:a16="http://schemas.microsoft.com/office/drawing/2014/main" id="{1072907E-1EF6-E74F-86BD-1935C1AE5EB9}"/>
                </a:ext>
              </a:extLst>
            </p:cNvPr>
            <p:cNvSpPr>
              <a:spLocks noChangeArrowheads="1"/>
            </p:cNvSpPr>
            <p:nvPr/>
          </p:nvSpPr>
          <p:spPr bwMode="auto">
            <a:xfrm>
              <a:off x="3014" y="2174"/>
              <a:ext cx="30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WB</a:t>
              </a:r>
            </a:p>
          </p:txBody>
        </p:sp>
      </p:grpSp>
      <p:grpSp>
        <p:nvGrpSpPr>
          <p:cNvPr id="27677" name="Group 36">
            <a:extLst>
              <a:ext uri="{FF2B5EF4-FFF2-40B4-BE49-F238E27FC236}">
                <a16:creationId xmlns:a16="http://schemas.microsoft.com/office/drawing/2014/main" id="{6CDD1A0F-08AD-5445-AEF8-0A0466F0C4E0}"/>
              </a:ext>
            </a:extLst>
          </p:cNvPr>
          <p:cNvGrpSpPr>
            <a:grpSpLocks/>
          </p:cNvGrpSpPr>
          <p:nvPr/>
        </p:nvGrpSpPr>
        <p:grpSpPr bwMode="auto">
          <a:xfrm>
            <a:off x="2955925" y="3984625"/>
            <a:ext cx="2838450" cy="307975"/>
            <a:chOff x="1862" y="2510"/>
            <a:chExt cx="1788" cy="194"/>
          </a:xfrm>
        </p:grpSpPr>
        <p:sp>
          <p:nvSpPr>
            <p:cNvPr id="27697" name="Rectangle 37">
              <a:extLst>
                <a:ext uri="{FF2B5EF4-FFF2-40B4-BE49-F238E27FC236}">
                  <a16:creationId xmlns:a16="http://schemas.microsoft.com/office/drawing/2014/main" id="{AECBE63B-4685-B244-A4AD-3AE4BE417835}"/>
                </a:ext>
              </a:extLst>
            </p:cNvPr>
            <p:cNvSpPr>
              <a:spLocks noChangeArrowheads="1"/>
            </p:cNvSpPr>
            <p:nvPr/>
          </p:nvSpPr>
          <p:spPr bwMode="auto">
            <a:xfrm>
              <a:off x="1862" y="2510"/>
              <a:ext cx="2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IF</a:t>
              </a:r>
            </a:p>
          </p:txBody>
        </p:sp>
        <p:sp>
          <p:nvSpPr>
            <p:cNvPr id="27698" name="Rectangle 38">
              <a:extLst>
                <a:ext uri="{FF2B5EF4-FFF2-40B4-BE49-F238E27FC236}">
                  <a16:creationId xmlns:a16="http://schemas.microsoft.com/office/drawing/2014/main" id="{7ED608E1-5C5B-214E-8822-D34A33A4730A}"/>
                </a:ext>
              </a:extLst>
            </p:cNvPr>
            <p:cNvSpPr>
              <a:spLocks noChangeArrowheads="1"/>
            </p:cNvSpPr>
            <p:nvPr/>
          </p:nvSpPr>
          <p:spPr bwMode="auto">
            <a:xfrm>
              <a:off x="2246" y="2510"/>
              <a:ext cx="2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ID</a:t>
              </a:r>
            </a:p>
          </p:txBody>
        </p:sp>
        <p:sp>
          <p:nvSpPr>
            <p:cNvPr id="27699" name="Rectangle 39">
              <a:extLst>
                <a:ext uri="{FF2B5EF4-FFF2-40B4-BE49-F238E27FC236}">
                  <a16:creationId xmlns:a16="http://schemas.microsoft.com/office/drawing/2014/main" id="{630AAE0D-BF97-124E-8D13-55AB49CCDE14}"/>
                </a:ext>
              </a:extLst>
            </p:cNvPr>
            <p:cNvSpPr>
              <a:spLocks noChangeArrowheads="1"/>
            </p:cNvSpPr>
            <p:nvPr/>
          </p:nvSpPr>
          <p:spPr bwMode="auto">
            <a:xfrm>
              <a:off x="2918" y="2510"/>
              <a:ext cx="3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MEM</a:t>
              </a:r>
            </a:p>
          </p:txBody>
        </p:sp>
        <p:sp>
          <p:nvSpPr>
            <p:cNvPr id="27700" name="Rectangle 40">
              <a:extLst>
                <a:ext uri="{FF2B5EF4-FFF2-40B4-BE49-F238E27FC236}">
                  <a16:creationId xmlns:a16="http://schemas.microsoft.com/office/drawing/2014/main" id="{42D27CA4-B8AB-F846-B3D7-7CC4EF69E351}"/>
                </a:ext>
              </a:extLst>
            </p:cNvPr>
            <p:cNvSpPr>
              <a:spLocks noChangeArrowheads="1"/>
            </p:cNvSpPr>
            <p:nvPr/>
          </p:nvSpPr>
          <p:spPr bwMode="auto">
            <a:xfrm>
              <a:off x="2582" y="2510"/>
              <a:ext cx="2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EX</a:t>
              </a:r>
            </a:p>
          </p:txBody>
        </p:sp>
        <p:sp>
          <p:nvSpPr>
            <p:cNvPr id="27701" name="Rectangle 41">
              <a:extLst>
                <a:ext uri="{FF2B5EF4-FFF2-40B4-BE49-F238E27FC236}">
                  <a16:creationId xmlns:a16="http://schemas.microsoft.com/office/drawing/2014/main" id="{FFCD54FF-B34F-E040-829D-BD27854EA10F}"/>
                </a:ext>
              </a:extLst>
            </p:cNvPr>
            <p:cNvSpPr>
              <a:spLocks noChangeArrowheads="1"/>
            </p:cNvSpPr>
            <p:nvPr/>
          </p:nvSpPr>
          <p:spPr bwMode="auto">
            <a:xfrm>
              <a:off x="3350" y="2510"/>
              <a:ext cx="30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WB</a:t>
              </a:r>
            </a:p>
          </p:txBody>
        </p:sp>
      </p:grpSp>
      <p:grpSp>
        <p:nvGrpSpPr>
          <p:cNvPr id="27678" name="Group 42">
            <a:extLst>
              <a:ext uri="{FF2B5EF4-FFF2-40B4-BE49-F238E27FC236}">
                <a16:creationId xmlns:a16="http://schemas.microsoft.com/office/drawing/2014/main" id="{CCD3C11B-CFDF-0747-A8C1-B1FE62B70215}"/>
              </a:ext>
            </a:extLst>
          </p:cNvPr>
          <p:cNvGrpSpPr>
            <a:grpSpLocks/>
          </p:cNvGrpSpPr>
          <p:nvPr/>
        </p:nvGrpSpPr>
        <p:grpSpPr bwMode="auto">
          <a:xfrm>
            <a:off x="4191000" y="4495800"/>
            <a:ext cx="2838450" cy="307975"/>
            <a:chOff x="2678" y="3230"/>
            <a:chExt cx="1788" cy="194"/>
          </a:xfrm>
        </p:grpSpPr>
        <p:sp>
          <p:nvSpPr>
            <p:cNvPr id="27692" name="Rectangle 43">
              <a:extLst>
                <a:ext uri="{FF2B5EF4-FFF2-40B4-BE49-F238E27FC236}">
                  <a16:creationId xmlns:a16="http://schemas.microsoft.com/office/drawing/2014/main" id="{09C8FDF5-B302-4A44-B7C9-C8B8CE53358A}"/>
                </a:ext>
              </a:extLst>
            </p:cNvPr>
            <p:cNvSpPr>
              <a:spLocks noChangeArrowheads="1"/>
            </p:cNvSpPr>
            <p:nvPr/>
          </p:nvSpPr>
          <p:spPr bwMode="auto">
            <a:xfrm>
              <a:off x="2678" y="3230"/>
              <a:ext cx="2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IF</a:t>
              </a:r>
            </a:p>
          </p:txBody>
        </p:sp>
        <p:sp>
          <p:nvSpPr>
            <p:cNvPr id="27693" name="Rectangle 44">
              <a:extLst>
                <a:ext uri="{FF2B5EF4-FFF2-40B4-BE49-F238E27FC236}">
                  <a16:creationId xmlns:a16="http://schemas.microsoft.com/office/drawing/2014/main" id="{42EEE7AC-F47A-DA4E-AE3B-ECF0DCC206F0}"/>
                </a:ext>
              </a:extLst>
            </p:cNvPr>
            <p:cNvSpPr>
              <a:spLocks noChangeArrowheads="1"/>
            </p:cNvSpPr>
            <p:nvPr/>
          </p:nvSpPr>
          <p:spPr bwMode="auto">
            <a:xfrm>
              <a:off x="3062" y="3230"/>
              <a:ext cx="2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ID</a:t>
              </a:r>
            </a:p>
          </p:txBody>
        </p:sp>
        <p:sp>
          <p:nvSpPr>
            <p:cNvPr id="27694" name="Rectangle 45">
              <a:extLst>
                <a:ext uri="{FF2B5EF4-FFF2-40B4-BE49-F238E27FC236}">
                  <a16:creationId xmlns:a16="http://schemas.microsoft.com/office/drawing/2014/main" id="{126A56E4-1D30-E447-B90E-18CA1C5F7CB2}"/>
                </a:ext>
              </a:extLst>
            </p:cNvPr>
            <p:cNvSpPr>
              <a:spLocks noChangeArrowheads="1"/>
            </p:cNvSpPr>
            <p:nvPr/>
          </p:nvSpPr>
          <p:spPr bwMode="auto">
            <a:xfrm>
              <a:off x="3734" y="3230"/>
              <a:ext cx="3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MEM</a:t>
              </a:r>
            </a:p>
          </p:txBody>
        </p:sp>
        <p:sp>
          <p:nvSpPr>
            <p:cNvPr id="27695" name="Rectangle 46">
              <a:extLst>
                <a:ext uri="{FF2B5EF4-FFF2-40B4-BE49-F238E27FC236}">
                  <a16:creationId xmlns:a16="http://schemas.microsoft.com/office/drawing/2014/main" id="{4F5DD985-1D2F-5C4A-931E-D14996BA1365}"/>
                </a:ext>
              </a:extLst>
            </p:cNvPr>
            <p:cNvSpPr>
              <a:spLocks noChangeArrowheads="1"/>
            </p:cNvSpPr>
            <p:nvPr/>
          </p:nvSpPr>
          <p:spPr bwMode="auto">
            <a:xfrm>
              <a:off x="3398" y="3230"/>
              <a:ext cx="2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EX</a:t>
              </a:r>
            </a:p>
          </p:txBody>
        </p:sp>
        <p:sp>
          <p:nvSpPr>
            <p:cNvPr id="27696" name="Rectangle 47">
              <a:extLst>
                <a:ext uri="{FF2B5EF4-FFF2-40B4-BE49-F238E27FC236}">
                  <a16:creationId xmlns:a16="http://schemas.microsoft.com/office/drawing/2014/main" id="{35CB694F-1759-0A43-8D2D-68D038C75D95}"/>
                </a:ext>
              </a:extLst>
            </p:cNvPr>
            <p:cNvSpPr>
              <a:spLocks noChangeArrowheads="1"/>
            </p:cNvSpPr>
            <p:nvPr/>
          </p:nvSpPr>
          <p:spPr bwMode="auto">
            <a:xfrm>
              <a:off x="4166" y="3230"/>
              <a:ext cx="30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WB</a:t>
              </a:r>
            </a:p>
          </p:txBody>
        </p:sp>
      </p:grpSp>
      <p:grpSp>
        <p:nvGrpSpPr>
          <p:cNvPr id="27679" name="Group 48">
            <a:extLst>
              <a:ext uri="{FF2B5EF4-FFF2-40B4-BE49-F238E27FC236}">
                <a16:creationId xmlns:a16="http://schemas.microsoft.com/office/drawing/2014/main" id="{F56BE331-9E36-AF48-86FB-CBD4A1CFAC65}"/>
              </a:ext>
            </a:extLst>
          </p:cNvPr>
          <p:cNvGrpSpPr>
            <a:grpSpLocks/>
          </p:cNvGrpSpPr>
          <p:nvPr/>
        </p:nvGrpSpPr>
        <p:grpSpPr bwMode="auto">
          <a:xfrm>
            <a:off x="3484079" y="4452936"/>
            <a:ext cx="2547938" cy="461964"/>
            <a:chOff x="2294" y="2846"/>
            <a:chExt cx="1605" cy="291"/>
          </a:xfrm>
        </p:grpSpPr>
        <p:sp>
          <p:nvSpPr>
            <p:cNvPr id="27687" name="Rectangle 49">
              <a:extLst>
                <a:ext uri="{FF2B5EF4-FFF2-40B4-BE49-F238E27FC236}">
                  <a16:creationId xmlns:a16="http://schemas.microsoft.com/office/drawing/2014/main" id="{DFB22CB0-EE61-1644-A305-C229290948A1}"/>
                </a:ext>
              </a:extLst>
            </p:cNvPr>
            <p:cNvSpPr>
              <a:spLocks noChangeArrowheads="1"/>
            </p:cNvSpPr>
            <p:nvPr/>
          </p:nvSpPr>
          <p:spPr bwMode="auto">
            <a:xfrm>
              <a:off x="2294" y="2846"/>
              <a:ext cx="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solidFill>
                    <a:srgbClr val="FF0000"/>
                  </a:solidFill>
                  <a:latin typeface="Arial" panose="020B0604020202020204" pitchFamily="34" charset="0"/>
                </a:rPr>
                <a:t>stall</a:t>
              </a:r>
            </a:p>
          </p:txBody>
        </p:sp>
        <p:sp>
          <p:nvSpPr>
            <p:cNvPr id="27688" name="Rectangle 50">
              <a:extLst>
                <a:ext uri="{FF2B5EF4-FFF2-40B4-BE49-F238E27FC236}">
                  <a16:creationId xmlns:a16="http://schemas.microsoft.com/office/drawing/2014/main" id="{12077CBF-3BF4-C848-B473-E06A79315DE7}"/>
                </a:ext>
              </a:extLst>
            </p:cNvPr>
            <p:cNvSpPr>
              <a:spLocks noChangeArrowheads="1"/>
            </p:cNvSpPr>
            <p:nvPr/>
          </p:nvSpPr>
          <p:spPr bwMode="auto">
            <a:xfrm>
              <a:off x="2678" y="2846"/>
              <a:ext cx="17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solidFill>
                    <a:srgbClr val="FF0000"/>
                  </a:solidFill>
                  <a:latin typeface="Arial" panose="020B0604020202020204" pitchFamily="34" charset="0"/>
                </a:rPr>
                <a:t> </a:t>
              </a:r>
            </a:p>
          </p:txBody>
        </p:sp>
        <p:sp>
          <p:nvSpPr>
            <p:cNvPr id="27689" name="Rectangle 51">
              <a:extLst>
                <a:ext uri="{FF2B5EF4-FFF2-40B4-BE49-F238E27FC236}">
                  <a16:creationId xmlns:a16="http://schemas.microsoft.com/office/drawing/2014/main" id="{4EAB3A7E-A2BD-2843-B05F-8755F38E95D8}"/>
                </a:ext>
              </a:extLst>
            </p:cNvPr>
            <p:cNvSpPr>
              <a:spLocks noChangeArrowheads="1"/>
            </p:cNvSpPr>
            <p:nvPr/>
          </p:nvSpPr>
          <p:spPr bwMode="auto">
            <a:xfrm>
              <a:off x="3350" y="2846"/>
              <a:ext cx="17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solidFill>
                    <a:srgbClr val="FF0000"/>
                  </a:solidFill>
                  <a:latin typeface="Arial" panose="020B0604020202020204" pitchFamily="34" charset="0"/>
                </a:rPr>
                <a:t> </a:t>
              </a:r>
            </a:p>
          </p:txBody>
        </p:sp>
        <p:sp>
          <p:nvSpPr>
            <p:cNvPr id="27690" name="Rectangle 52">
              <a:extLst>
                <a:ext uri="{FF2B5EF4-FFF2-40B4-BE49-F238E27FC236}">
                  <a16:creationId xmlns:a16="http://schemas.microsoft.com/office/drawing/2014/main" id="{4D9628FC-722A-1A47-81FF-FB5B44D101C3}"/>
                </a:ext>
              </a:extLst>
            </p:cNvPr>
            <p:cNvSpPr>
              <a:spLocks noChangeArrowheads="1"/>
            </p:cNvSpPr>
            <p:nvPr/>
          </p:nvSpPr>
          <p:spPr bwMode="auto">
            <a:xfrm>
              <a:off x="3014" y="2846"/>
              <a:ext cx="17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solidFill>
                    <a:srgbClr val="FF0000"/>
                  </a:solidFill>
                  <a:latin typeface="Arial" panose="020B0604020202020204" pitchFamily="34" charset="0"/>
                </a:rPr>
                <a:t> </a:t>
              </a:r>
            </a:p>
          </p:txBody>
        </p:sp>
        <p:sp>
          <p:nvSpPr>
            <p:cNvPr id="27691" name="Rectangle 53">
              <a:extLst>
                <a:ext uri="{FF2B5EF4-FFF2-40B4-BE49-F238E27FC236}">
                  <a16:creationId xmlns:a16="http://schemas.microsoft.com/office/drawing/2014/main" id="{1B984F9E-2E3B-C840-8B1B-443611F85387}"/>
                </a:ext>
              </a:extLst>
            </p:cNvPr>
            <p:cNvSpPr>
              <a:spLocks noChangeArrowheads="1"/>
            </p:cNvSpPr>
            <p:nvPr/>
          </p:nvSpPr>
          <p:spPr bwMode="auto">
            <a:xfrm>
              <a:off x="3782" y="2846"/>
              <a:ext cx="11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solidFill>
                  <a:srgbClr val="FF0000"/>
                </a:solidFill>
                <a:latin typeface="Arial" panose="020B0604020202020204" pitchFamily="34" charset="0"/>
              </a:endParaRPr>
            </a:p>
          </p:txBody>
        </p:sp>
      </p:grpSp>
      <p:grpSp>
        <p:nvGrpSpPr>
          <p:cNvPr id="27680" name="Group 54">
            <a:extLst>
              <a:ext uri="{FF2B5EF4-FFF2-40B4-BE49-F238E27FC236}">
                <a16:creationId xmlns:a16="http://schemas.microsoft.com/office/drawing/2014/main" id="{D28EAE9F-CB99-594A-98C2-F582B58D8E55}"/>
              </a:ext>
            </a:extLst>
          </p:cNvPr>
          <p:cNvGrpSpPr>
            <a:grpSpLocks/>
          </p:cNvGrpSpPr>
          <p:nvPr/>
        </p:nvGrpSpPr>
        <p:grpSpPr bwMode="auto">
          <a:xfrm>
            <a:off x="4876800" y="5105400"/>
            <a:ext cx="2838450" cy="307975"/>
            <a:chOff x="3062" y="3566"/>
            <a:chExt cx="1788" cy="194"/>
          </a:xfrm>
        </p:grpSpPr>
        <p:sp>
          <p:nvSpPr>
            <p:cNvPr id="27682" name="Rectangle 55">
              <a:extLst>
                <a:ext uri="{FF2B5EF4-FFF2-40B4-BE49-F238E27FC236}">
                  <a16:creationId xmlns:a16="http://schemas.microsoft.com/office/drawing/2014/main" id="{E02E39EA-5B0A-C74E-839A-E1C65BC0D6AC}"/>
                </a:ext>
              </a:extLst>
            </p:cNvPr>
            <p:cNvSpPr>
              <a:spLocks noChangeArrowheads="1"/>
            </p:cNvSpPr>
            <p:nvPr/>
          </p:nvSpPr>
          <p:spPr bwMode="auto">
            <a:xfrm>
              <a:off x="3062" y="3566"/>
              <a:ext cx="2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IF</a:t>
              </a:r>
            </a:p>
          </p:txBody>
        </p:sp>
        <p:sp>
          <p:nvSpPr>
            <p:cNvPr id="27683" name="Rectangle 56">
              <a:extLst>
                <a:ext uri="{FF2B5EF4-FFF2-40B4-BE49-F238E27FC236}">
                  <a16:creationId xmlns:a16="http://schemas.microsoft.com/office/drawing/2014/main" id="{3F5A74DA-185B-5B41-86E0-1FC8D43CADCD}"/>
                </a:ext>
              </a:extLst>
            </p:cNvPr>
            <p:cNvSpPr>
              <a:spLocks noChangeArrowheads="1"/>
            </p:cNvSpPr>
            <p:nvPr/>
          </p:nvSpPr>
          <p:spPr bwMode="auto">
            <a:xfrm>
              <a:off x="3446" y="3566"/>
              <a:ext cx="2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ID</a:t>
              </a:r>
            </a:p>
          </p:txBody>
        </p:sp>
        <p:sp>
          <p:nvSpPr>
            <p:cNvPr id="27684" name="Rectangle 57">
              <a:extLst>
                <a:ext uri="{FF2B5EF4-FFF2-40B4-BE49-F238E27FC236}">
                  <a16:creationId xmlns:a16="http://schemas.microsoft.com/office/drawing/2014/main" id="{7A101E38-6767-D54A-8C9D-8EB65CD88A02}"/>
                </a:ext>
              </a:extLst>
            </p:cNvPr>
            <p:cNvSpPr>
              <a:spLocks noChangeArrowheads="1"/>
            </p:cNvSpPr>
            <p:nvPr/>
          </p:nvSpPr>
          <p:spPr bwMode="auto">
            <a:xfrm>
              <a:off x="4118" y="3566"/>
              <a:ext cx="3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MEM</a:t>
              </a:r>
            </a:p>
          </p:txBody>
        </p:sp>
        <p:sp>
          <p:nvSpPr>
            <p:cNvPr id="27685" name="Rectangle 58">
              <a:extLst>
                <a:ext uri="{FF2B5EF4-FFF2-40B4-BE49-F238E27FC236}">
                  <a16:creationId xmlns:a16="http://schemas.microsoft.com/office/drawing/2014/main" id="{1A119D9D-5639-F845-8EC8-95F8777ABBA2}"/>
                </a:ext>
              </a:extLst>
            </p:cNvPr>
            <p:cNvSpPr>
              <a:spLocks noChangeArrowheads="1"/>
            </p:cNvSpPr>
            <p:nvPr/>
          </p:nvSpPr>
          <p:spPr bwMode="auto">
            <a:xfrm>
              <a:off x="3782" y="3566"/>
              <a:ext cx="26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EX</a:t>
              </a:r>
            </a:p>
          </p:txBody>
        </p:sp>
        <p:sp>
          <p:nvSpPr>
            <p:cNvPr id="27686" name="Rectangle 59">
              <a:extLst>
                <a:ext uri="{FF2B5EF4-FFF2-40B4-BE49-F238E27FC236}">
                  <a16:creationId xmlns:a16="http://schemas.microsoft.com/office/drawing/2014/main" id="{CCE9B6EF-5630-4F41-8E03-D4D4235FDA7B}"/>
                </a:ext>
              </a:extLst>
            </p:cNvPr>
            <p:cNvSpPr>
              <a:spLocks noChangeArrowheads="1"/>
            </p:cNvSpPr>
            <p:nvPr/>
          </p:nvSpPr>
          <p:spPr bwMode="auto">
            <a:xfrm>
              <a:off x="4550" y="3566"/>
              <a:ext cx="30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WB</a:t>
              </a:r>
            </a:p>
          </p:txBody>
        </p:sp>
      </p:grpSp>
      <p:sp>
        <p:nvSpPr>
          <p:cNvPr id="27681" name="Line 60">
            <a:extLst>
              <a:ext uri="{FF2B5EF4-FFF2-40B4-BE49-F238E27FC236}">
                <a16:creationId xmlns:a16="http://schemas.microsoft.com/office/drawing/2014/main" id="{1913A0EA-330E-9544-BDE6-EB142F2E6D4A}"/>
              </a:ext>
            </a:extLst>
          </p:cNvPr>
          <p:cNvSpPr>
            <a:spLocks noChangeShapeType="1"/>
          </p:cNvSpPr>
          <p:nvPr/>
        </p:nvSpPr>
        <p:spPr bwMode="auto">
          <a:xfrm>
            <a:off x="6553200" y="2743200"/>
            <a:ext cx="0" cy="3505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 name="TextBox 1">
            <a:extLst>
              <a:ext uri="{FF2B5EF4-FFF2-40B4-BE49-F238E27FC236}">
                <a16:creationId xmlns:a16="http://schemas.microsoft.com/office/drawing/2014/main" id="{58F9CCAD-B973-1A2D-2A7E-9A13505853D1}"/>
              </a:ext>
            </a:extLst>
          </p:cNvPr>
          <p:cNvSpPr txBox="1"/>
          <p:nvPr/>
        </p:nvSpPr>
        <p:spPr>
          <a:xfrm>
            <a:off x="243142" y="2591312"/>
            <a:ext cx="1505540" cy="369332"/>
          </a:xfrm>
          <a:prstGeom prst="rect">
            <a:avLst/>
          </a:prstGeom>
          <a:noFill/>
        </p:spPr>
        <p:txBody>
          <a:bodyPr wrap="none" rtlCol="0">
            <a:spAutoFit/>
          </a:bodyPr>
          <a:lstStyle/>
          <a:p>
            <a:r>
              <a:rPr lang="en-US" dirty="0" err="1"/>
              <a:t>ld</a:t>
            </a:r>
            <a:r>
              <a:rPr lang="en-US" dirty="0"/>
              <a:t> r1, 100(r2)</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EAA95A0E-46CB-7A4B-9E80-3819DABD6CA7}"/>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Modeling stalls</a:t>
            </a:r>
          </a:p>
        </p:txBody>
      </p:sp>
      <p:sp>
        <p:nvSpPr>
          <p:cNvPr id="31747" name="Rectangle 3">
            <a:extLst>
              <a:ext uri="{FF2B5EF4-FFF2-40B4-BE49-F238E27FC236}">
                <a16:creationId xmlns:a16="http://schemas.microsoft.com/office/drawing/2014/main" id="{E04A658C-0FC9-CC4B-91D5-C4591DC9FC5A}"/>
              </a:ext>
            </a:extLst>
          </p:cNvPr>
          <p:cNvSpPr>
            <a:spLocks noGrp="1" noChangeArrowheads="1"/>
          </p:cNvSpPr>
          <p:nvPr>
            <p:ph idx="1"/>
          </p:nvPr>
        </p:nvSpPr>
        <p:spPr/>
        <p:txBody>
          <a:bodyPr/>
          <a:lstStyle/>
          <a:p>
            <a:r>
              <a:rPr lang="en-US" altLang="en-US"/>
              <a:t>Ex:</a:t>
            </a:r>
          </a:p>
          <a:p>
            <a:pPr lvl="1"/>
            <a:r>
              <a:rPr lang="en-US" altLang="en-US"/>
              <a:t>n = 5 (e.g., DLX pipeline)</a:t>
            </a:r>
          </a:p>
          <a:p>
            <a:pPr lvl="1"/>
            <a:r>
              <a:rPr lang="en-US" altLang="en-US"/>
              <a:t>20% of instructions are branches</a:t>
            </a:r>
          </a:p>
          <a:p>
            <a:pPr lvl="1"/>
            <a:r>
              <a:rPr lang="en-US" altLang="en-US"/>
              <a:t>60% of branches are taken</a:t>
            </a:r>
          </a:p>
          <a:p>
            <a:pPr lvl="1"/>
            <a:r>
              <a:rPr lang="en-US" altLang="en-US"/>
              <a:t>Penalties:</a:t>
            </a:r>
          </a:p>
          <a:p>
            <a:pPr lvl="2"/>
            <a:r>
              <a:rPr lang="en-US" altLang="en-US"/>
              <a:t>Taken branches: 3 stall cycles</a:t>
            </a:r>
          </a:p>
          <a:p>
            <a:pPr lvl="2"/>
            <a:r>
              <a:rPr lang="en-US" altLang="en-US"/>
              <a:t>Not-taken branches: 0 stall cycles</a:t>
            </a:r>
          </a:p>
          <a:p>
            <a:r>
              <a:rPr lang="en-US" altLang="en-US"/>
              <a:t>How many stall cycles per instr. on average?</a:t>
            </a:r>
          </a:p>
          <a:p>
            <a:pPr lvl="1"/>
            <a:r>
              <a:rPr lang="en-US" altLang="en-US"/>
              <a:t>stall cycles/instr. = (0.8 x 0) + (0.2 x [ 0.6 x 3 + 0.4 x 0]) = 0.2 x 0.6 x 3 = 0.36</a:t>
            </a:r>
          </a:p>
          <a:p>
            <a:pPr lvl="1"/>
            <a:r>
              <a:rPr lang="en-US" altLang="en-US"/>
              <a:t>Speedup = 5 / 1.36 = 3.68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61AE29CB-F283-1641-B0E6-0FFBA18B6810}"/>
              </a:ext>
            </a:extLst>
          </p:cNvPr>
          <p:cNvSpPr>
            <a:spLocks noGrp="1" noChangeArrowheads="1"/>
          </p:cNvSpPr>
          <p:nvPr>
            <p:ph type="title"/>
          </p:nvPr>
        </p:nvSpPr>
        <p:spPr/>
        <p:txBody>
          <a:bodyPr/>
          <a:lstStyle/>
          <a:p>
            <a:r>
              <a:rPr lang="en-US" altLang="en-US"/>
              <a:t>Example</a:t>
            </a:r>
          </a:p>
        </p:txBody>
      </p:sp>
      <p:sp>
        <p:nvSpPr>
          <p:cNvPr id="34819" name="Content Placeholder 2">
            <a:extLst>
              <a:ext uri="{FF2B5EF4-FFF2-40B4-BE49-F238E27FC236}">
                <a16:creationId xmlns:a16="http://schemas.microsoft.com/office/drawing/2014/main" id="{F422567E-4EF2-4D4C-96F8-8B9E1D80063D}"/>
              </a:ext>
            </a:extLst>
          </p:cNvPr>
          <p:cNvSpPr>
            <a:spLocks noGrp="1" noChangeArrowheads="1"/>
          </p:cNvSpPr>
          <p:nvPr>
            <p:ph idx="1"/>
          </p:nvPr>
        </p:nvSpPr>
        <p:spPr>
          <a:xfrm>
            <a:off x="457200" y="1447800"/>
            <a:ext cx="8229600" cy="4876800"/>
          </a:xfrm>
        </p:spPr>
        <p:txBody>
          <a:bodyPr/>
          <a:lstStyle/>
          <a:p>
            <a:r>
              <a:rPr lang="en-US" altLang="en-US" dirty="0"/>
              <a:t>Consider the following code:</a:t>
            </a:r>
          </a:p>
          <a:p>
            <a:endParaRPr lang="en-US" altLang="en-US" dirty="0"/>
          </a:p>
          <a:p>
            <a:endParaRPr lang="en-US" altLang="en-US" dirty="0"/>
          </a:p>
          <a:p>
            <a:endParaRPr lang="en-US" altLang="en-US" dirty="0"/>
          </a:p>
          <a:p>
            <a:r>
              <a:rPr lang="en-US" altLang="en-US" dirty="0"/>
              <a:t>On DLX/RISC five-stage pipeline show the timing of the first iteration of the loop. Assume</a:t>
            </a:r>
          </a:p>
          <a:p>
            <a:pPr lvl="1"/>
            <a:r>
              <a:rPr lang="en-US" altLang="en-US" dirty="0"/>
              <a:t>Full forwarding or bypassing</a:t>
            </a:r>
          </a:p>
          <a:p>
            <a:pPr lvl="1"/>
            <a:r>
              <a:rPr lang="en-US" altLang="en-US" dirty="0"/>
              <a:t>Conditional branch is evaluated at the decode stage. </a:t>
            </a:r>
          </a:p>
          <a:p>
            <a:pPr lvl="1"/>
            <a:r>
              <a:rPr lang="en-US" altLang="en-US" dirty="0">
                <a:solidFill>
                  <a:srgbClr val="0432FF"/>
                </a:solidFill>
              </a:rPr>
              <a:t>Fetch of the target instruction is delayed until the branch direction is known</a:t>
            </a:r>
            <a:r>
              <a:rPr lang="en-US" altLang="en-US" dirty="0"/>
              <a:t>. </a:t>
            </a:r>
            <a:br>
              <a:rPr lang="en-US" altLang="en-US" dirty="0"/>
            </a:br>
            <a:endParaRPr lang="en-US" altLang="en-US" dirty="0"/>
          </a:p>
        </p:txBody>
      </p:sp>
      <p:sp>
        <p:nvSpPr>
          <p:cNvPr id="34820" name="TextBox 3">
            <a:extLst>
              <a:ext uri="{FF2B5EF4-FFF2-40B4-BE49-F238E27FC236}">
                <a16:creationId xmlns:a16="http://schemas.microsoft.com/office/drawing/2014/main" id="{3CED7478-E8D4-544A-8A82-CAFBF2BDF912}"/>
              </a:ext>
            </a:extLst>
          </p:cNvPr>
          <p:cNvSpPr txBox="1">
            <a:spLocks noChangeArrowheads="1"/>
          </p:cNvSpPr>
          <p:nvPr/>
        </p:nvSpPr>
        <p:spPr bwMode="auto">
          <a:xfrm>
            <a:off x="674688" y="1881188"/>
            <a:ext cx="6307137"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Courier New" panose="02070309020205020404" pitchFamily="49" charset="0"/>
                <a:cs typeface="Courier New" panose="02070309020205020404" pitchFamily="49" charset="0"/>
              </a:rPr>
              <a:t> Loop: LD      R1,0(R2)        ;load R1 from address 0+R2</a:t>
            </a:r>
          </a:p>
          <a:p>
            <a:pPr>
              <a:spcBef>
                <a:spcPct val="0"/>
              </a:spcBef>
              <a:buClrTx/>
              <a:buSzTx/>
              <a:buFontTx/>
              <a:buNone/>
            </a:pPr>
            <a:r>
              <a:rPr lang="en-US" altLang="en-US" sz="1400">
                <a:latin typeface="Courier New" panose="02070309020205020404" pitchFamily="49" charset="0"/>
                <a:cs typeface="Courier New" panose="02070309020205020404" pitchFamily="49" charset="0"/>
              </a:rPr>
              <a:t>       DADDI   R1,R1,#1        ;R1=R1+1</a:t>
            </a:r>
          </a:p>
          <a:p>
            <a:pPr>
              <a:spcBef>
                <a:spcPct val="0"/>
              </a:spcBef>
              <a:buClrTx/>
              <a:buSzTx/>
              <a:buFontTx/>
              <a:buNone/>
            </a:pPr>
            <a:r>
              <a:rPr lang="en-US" altLang="en-US" sz="1400">
                <a:latin typeface="Courier New" panose="02070309020205020404" pitchFamily="49" charset="0"/>
                <a:cs typeface="Courier New" panose="02070309020205020404" pitchFamily="49" charset="0"/>
              </a:rPr>
              <a:t>       SD      0(R2),R1        ;store R1 at address 0+R2</a:t>
            </a:r>
          </a:p>
          <a:p>
            <a:pPr>
              <a:spcBef>
                <a:spcPct val="0"/>
              </a:spcBef>
              <a:buClrTx/>
              <a:buSzTx/>
              <a:buFontTx/>
              <a:buNone/>
            </a:pPr>
            <a:r>
              <a:rPr lang="en-US" altLang="en-US" sz="1400">
                <a:latin typeface="Courier New" panose="02070309020205020404" pitchFamily="49" charset="0"/>
                <a:cs typeface="Courier New" panose="02070309020205020404" pitchFamily="49" charset="0"/>
              </a:rPr>
              <a:t>       DADDI   R2,R2,#4        ;R2=R2+4</a:t>
            </a:r>
          </a:p>
          <a:p>
            <a:pPr>
              <a:spcBef>
                <a:spcPct val="0"/>
              </a:spcBef>
              <a:buClrTx/>
              <a:buSzTx/>
              <a:buFontTx/>
              <a:buNone/>
            </a:pPr>
            <a:r>
              <a:rPr lang="en-US" altLang="en-US" sz="1400">
                <a:latin typeface="Courier New" panose="02070309020205020404" pitchFamily="49" charset="0"/>
                <a:cs typeface="Courier New" panose="02070309020205020404" pitchFamily="49" charset="0"/>
              </a:rPr>
              <a:t>       DSUB    R4,R3,R2        ;R4=R3-R2</a:t>
            </a:r>
          </a:p>
          <a:p>
            <a:pPr>
              <a:spcBef>
                <a:spcPct val="0"/>
              </a:spcBef>
              <a:buClrTx/>
              <a:buSzTx/>
              <a:buFontTx/>
              <a:buNone/>
            </a:pPr>
            <a:r>
              <a:rPr lang="en-US" altLang="en-US" sz="1400">
                <a:latin typeface="Courier New" panose="02070309020205020404" pitchFamily="49" charset="0"/>
                <a:cs typeface="Courier New" panose="02070309020205020404" pitchFamily="49" charset="0"/>
              </a:rPr>
              <a:t>       BNEZ    R4,Loop         ;branch to Loop if R4=!0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26E58BD5-025C-F144-BA0A-2B1DDFCE4823}"/>
              </a:ext>
            </a:extLst>
          </p:cNvPr>
          <p:cNvSpPr>
            <a:spLocks noGrp="1" noChangeArrowheads="1"/>
          </p:cNvSpPr>
          <p:nvPr>
            <p:ph type="title"/>
          </p:nvPr>
        </p:nvSpPr>
        <p:spPr/>
        <p:txBody>
          <a:bodyPr/>
          <a:lstStyle/>
          <a:p>
            <a:r>
              <a:rPr lang="en-US" altLang="en-US"/>
              <a:t>Answer: </a:t>
            </a:r>
          </a:p>
        </p:txBody>
      </p:sp>
      <p:graphicFrame>
        <p:nvGraphicFramePr>
          <p:cNvPr id="8" name="Content Placeholder 7">
            <a:extLst>
              <a:ext uri="{FF2B5EF4-FFF2-40B4-BE49-F238E27FC236}">
                <a16:creationId xmlns:a16="http://schemas.microsoft.com/office/drawing/2014/main" id="{524FBFA8-85A2-B944-9A08-E8914D4A37E9}"/>
              </a:ext>
            </a:extLst>
          </p:cNvPr>
          <p:cNvGraphicFramePr>
            <a:graphicFrameLocks noGrp="1"/>
          </p:cNvGraphicFramePr>
          <p:nvPr>
            <p:ph idx="1"/>
          </p:nvPr>
        </p:nvGraphicFramePr>
        <p:xfrm>
          <a:off x="1685925" y="1311275"/>
          <a:ext cx="5700713" cy="4754563"/>
        </p:xfrm>
        <a:graphic>
          <a:graphicData uri="http://schemas.openxmlformats.org/drawingml/2006/table">
            <a:tbl>
              <a:tblPr/>
              <a:tblGrid>
                <a:gridCol w="1500188">
                  <a:extLst>
                    <a:ext uri="{9D8B030D-6E8A-4147-A177-3AD203B41FA5}">
                      <a16:colId xmlns:a16="http://schemas.microsoft.com/office/drawing/2014/main" val="20000"/>
                    </a:ext>
                  </a:extLst>
                </a:gridCol>
                <a:gridCol w="300037">
                  <a:extLst>
                    <a:ext uri="{9D8B030D-6E8A-4147-A177-3AD203B41FA5}">
                      <a16:colId xmlns:a16="http://schemas.microsoft.com/office/drawing/2014/main" val="20001"/>
                    </a:ext>
                  </a:extLst>
                </a:gridCol>
                <a:gridCol w="300038">
                  <a:extLst>
                    <a:ext uri="{9D8B030D-6E8A-4147-A177-3AD203B41FA5}">
                      <a16:colId xmlns:a16="http://schemas.microsoft.com/office/drawing/2014/main" val="20002"/>
                    </a:ext>
                  </a:extLst>
                </a:gridCol>
                <a:gridCol w="300037">
                  <a:extLst>
                    <a:ext uri="{9D8B030D-6E8A-4147-A177-3AD203B41FA5}">
                      <a16:colId xmlns:a16="http://schemas.microsoft.com/office/drawing/2014/main" val="20003"/>
                    </a:ext>
                  </a:extLst>
                </a:gridCol>
                <a:gridCol w="300038">
                  <a:extLst>
                    <a:ext uri="{9D8B030D-6E8A-4147-A177-3AD203B41FA5}">
                      <a16:colId xmlns:a16="http://schemas.microsoft.com/office/drawing/2014/main" val="20004"/>
                    </a:ext>
                  </a:extLst>
                </a:gridCol>
                <a:gridCol w="300037">
                  <a:extLst>
                    <a:ext uri="{9D8B030D-6E8A-4147-A177-3AD203B41FA5}">
                      <a16:colId xmlns:a16="http://schemas.microsoft.com/office/drawing/2014/main" val="20005"/>
                    </a:ext>
                  </a:extLst>
                </a:gridCol>
                <a:gridCol w="300038">
                  <a:extLst>
                    <a:ext uri="{9D8B030D-6E8A-4147-A177-3AD203B41FA5}">
                      <a16:colId xmlns:a16="http://schemas.microsoft.com/office/drawing/2014/main" val="20006"/>
                    </a:ext>
                  </a:extLst>
                </a:gridCol>
                <a:gridCol w="300037">
                  <a:extLst>
                    <a:ext uri="{9D8B030D-6E8A-4147-A177-3AD203B41FA5}">
                      <a16:colId xmlns:a16="http://schemas.microsoft.com/office/drawing/2014/main" val="20007"/>
                    </a:ext>
                  </a:extLst>
                </a:gridCol>
                <a:gridCol w="300038">
                  <a:extLst>
                    <a:ext uri="{9D8B030D-6E8A-4147-A177-3AD203B41FA5}">
                      <a16:colId xmlns:a16="http://schemas.microsoft.com/office/drawing/2014/main" val="20008"/>
                    </a:ext>
                  </a:extLst>
                </a:gridCol>
                <a:gridCol w="300037">
                  <a:extLst>
                    <a:ext uri="{9D8B030D-6E8A-4147-A177-3AD203B41FA5}">
                      <a16:colId xmlns:a16="http://schemas.microsoft.com/office/drawing/2014/main" val="20009"/>
                    </a:ext>
                  </a:extLst>
                </a:gridCol>
                <a:gridCol w="300038">
                  <a:extLst>
                    <a:ext uri="{9D8B030D-6E8A-4147-A177-3AD203B41FA5}">
                      <a16:colId xmlns:a16="http://schemas.microsoft.com/office/drawing/2014/main" val="20010"/>
                    </a:ext>
                  </a:extLst>
                </a:gridCol>
                <a:gridCol w="300037">
                  <a:extLst>
                    <a:ext uri="{9D8B030D-6E8A-4147-A177-3AD203B41FA5}">
                      <a16:colId xmlns:a16="http://schemas.microsoft.com/office/drawing/2014/main" val="20011"/>
                    </a:ext>
                  </a:extLst>
                </a:gridCol>
                <a:gridCol w="300038">
                  <a:extLst>
                    <a:ext uri="{9D8B030D-6E8A-4147-A177-3AD203B41FA5}">
                      <a16:colId xmlns:a16="http://schemas.microsoft.com/office/drawing/2014/main" val="20012"/>
                    </a:ext>
                  </a:extLst>
                </a:gridCol>
                <a:gridCol w="300037">
                  <a:extLst>
                    <a:ext uri="{9D8B030D-6E8A-4147-A177-3AD203B41FA5}">
                      <a16:colId xmlns:a16="http://schemas.microsoft.com/office/drawing/2014/main" val="20013"/>
                    </a:ext>
                  </a:extLst>
                </a:gridCol>
                <a:gridCol w="300038">
                  <a:extLst>
                    <a:ext uri="{9D8B030D-6E8A-4147-A177-3AD203B41FA5}">
                      <a16:colId xmlns:a16="http://schemas.microsoft.com/office/drawing/2014/main" val="20014"/>
                    </a:ext>
                  </a:extLst>
                </a:gridCol>
              </a:tblGrid>
              <a:tr h="274668">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Instructions</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1</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2</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3</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4</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5</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6</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7</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8</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9</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10</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11</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12</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13</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14</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9985">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LD R1, 0(R2)</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F</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D</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X</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M</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W</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9985">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DADDI R1, R1, #1</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F</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D</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HG Mincho Light J" charset="0"/>
                        </a:rPr>
                        <a:t>-</a:t>
                      </a:r>
                      <a:endParaRPr kumimoji="0" lang="en-US" altLang="en-US" sz="1700" b="0" i="0" u="none" strike="noStrike" cap="none" normalizeH="0" baseline="0" dirty="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X</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M</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HG Mincho Light J" charset="0"/>
                        </a:rPr>
                        <a:t>W</a:t>
                      </a:r>
                      <a:endParaRPr kumimoji="0" lang="en-US" altLang="en-US" sz="1700" b="0" i="0" u="none" strike="noStrike" cap="none" normalizeH="0" baseline="0" dirty="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9985">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SD 0(R2), R1</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HG Mincho Light J" charset="0"/>
                        </a:rPr>
                        <a:t>F</a:t>
                      </a:r>
                      <a:endParaRPr kumimoji="0" lang="en-US" altLang="en-US" sz="1700" b="0" i="0" u="none" strike="noStrike" cap="none" normalizeH="0" baseline="0" dirty="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HG Mincho Light J" charset="0"/>
                        </a:rPr>
                        <a:t>-</a:t>
                      </a:r>
                      <a:endParaRPr kumimoji="0" lang="en-US" altLang="en-US" sz="1700" b="0" i="0" u="none" strike="noStrike" cap="none" normalizeH="0" baseline="0" dirty="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D</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X</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M</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W</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9985">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DADDI R2, R2, #4</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F</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D</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X</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M</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W</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39985">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DSUB R4, R2, R2</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F</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D</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HG Mincho Light J" charset="0"/>
                        </a:rPr>
                        <a:t>X</a:t>
                      </a:r>
                      <a:endParaRPr kumimoji="0" lang="en-US" altLang="en-US" sz="1700" b="0" i="0" u="none" strike="noStrike" cap="none" normalizeH="0" baseline="0" dirty="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M</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W</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39985">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BNEZ R4, Loop</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F</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HG Mincho Light J" charset="0"/>
                        </a:rPr>
                        <a:t>D</a:t>
                      </a:r>
                      <a:endParaRPr kumimoji="0" lang="en-US" altLang="en-US" sz="1700" b="0" i="0" u="none" strike="noStrike" cap="none" normalizeH="0" baseline="0" dirty="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X</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M</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W</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39985">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2nd iter: LD R1, 0(R2)</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l" defTabSz="457200" rtl="0" eaLnBrk="1" fontAlgn="t" latinLnBrk="0" hangingPunct="1">
                        <a:lnSpc>
                          <a:spcPct val="100000"/>
                        </a:lnSpc>
                        <a:spcBef>
                          <a:spcPct val="0"/>
                        </a:spcBef>
                        <a:spcAft>
                          <a:spcPct val="0"/>
                        </a:spcAft>
                        <a:buClrTx/>
                        <a:buSzTx/>
                        <a:buFontTx/>
                        <a:buNone/>
                        <a:tabLst/>
                      </a:pPr>
                      <a:br>
                        <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rPr>
                      </a:b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HG Mincho Light J" charset="0"/>
                        </a:rPr>
                        <a:t>-</a:t>
                      </a:r>
                      <a:endParaRPr kumimoji="0" lang="en-US" altLang="en-US" sz="1700" b="0" i="0" u="none" strike="noStrike" cap="none" normalizeH="0" baseline="0" dirty="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HG Mincho Light J" charset="0"/>
                        </a:rPr>
                        <a:t>=</a:t>
                      </a:r>
                      <a:endParaRPr kumimoji="0" lang="en-US" altLang="en-US" sz="1700" b="0" i="0" u="none" strike="noStrike" cap="none" normalizeH="0" baseline="0" dirty="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F</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D</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X</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rial" panose="020B0604020202020204" pitchFamily="34" charset="0"/>
                          <a:ea typeface="MS PGothic" panose="020B0600070205080204" pitchFamily="34" charset="-128"/>
                          <a:cs typeface="HG Mincho Light J" charset="0"/>
                        </a:rPr>
                        <a:t>M</a:t>
                      </a:r>
                      <a:endParaRPr kumimoji="0" lang="en-US" altLang="en-US" sz="1700" b="0" i="0" u="none" strike="noStrike" cap="none" normalizeH="0" baseline="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457200">
                        <a:spcBef>
                          <a:spcPts val="688"/>
                        </a:spcBef>
                        <a:buClr>
                          <a:srgbClr val="FFC000"/>
                        </a:buClr>
                        <a:buSzPct val="100000"/>
                        <a:buFont typeface="Wingdings" panose="05000000000000000000" pitchFamily="2" charset="2"/>
                        <a:defRPr sz="24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defTabSz="457200">
                        <a:spcBef>
                          <a:spcPts val="588"/>
                        </a:spcBef>
                        <a:buClr>
                          <a:srgbClr val="000000"/>
                        </a:buClr>
                        <a:buSzPct val="100000"/>
                        <a:buFont typeface="Times New Roman" panose="02020603050405020304" pitchFamily="18" charset="0"/>
                        <a:defRPr sz="2000">
                          <a:solidFill>
                            <a:srgbClr val="000000"/>
                          </a:solidFill>
                          <a:latin typeface="Garamond" panose="02020404030301010803" pitchFamily="18" charset="0"/>
                          <a:ea typeface="HG Mincho Light J" charset="0"/>
                          <a:cs typeface="HG Mincho Light J" charset="0"/>
                        </a:defRPr>
                      </a:lvl2pPr>
                      <a:lvl3pPr marL="1143000" indent="-228600" defTabSz="457200">
                        <a:spcBef>
                          <a:spcPts val="588"/>
                        </a:spcBef>
                        <a:buClr>
                          <a:srgbClr val="000000"/>
                        </a:buClr>
                        <a:buSzPct val="100000"/>
                        <a:buFont typeface="Times New Roman" panose="02020603050405020304" pitchFamily="18" charset="0"/>
                        <a:defRPr>
                          <a:solidFill>
                            <a:srgbClr val="000000"/>
                          </a:solidFill>
                          <a:latin typeface="Garamond" panose="02020404030301010803" pitchFamily="18" charset="0"/>
                          <a:ea typeface="HG Mincho Light J" charset="0"/>
                          <a:cs typeface="HG Mincho Light J" charset="0"/>
                        </a:defRPr>
                      </a:lvl3pPr>
                      <a:lvl4pPr marL="1600200" indent="-228600" defTabSz="457200">
                        <a:spcBef>
                          <a:spcPts val="488"/>
                        </a:spcBef>
                        <a:buClr>
                          <a:srgbClr val="000000"/>
                        </a:buClr>
                        <a:buSzPct val="100000"/>
                        <a:buFont typeface="Wingdings" panose="05000000000000000000" pitchFamily="2" charset="2"/>
                        <a:defRPr sz="1600">
                          <a:solidFill>
                            <a:srgbClr val="000000"/>
                          </a:solidFill>
                          <a:latin typeface="Garamond" panose="02020404030301010803" pitchFamily="18" charset="0"/>
                          <a:ea typeface="HG Mincho Light J" charset="0"/>
                          <a:cs typeface="HG Mincho Light J" charset="0"/>
                        </a:defRPr>
                      </a:lvl4pPr>
                      <a:lvl5pPr marL="2057400" indent="-228600" defTabSz="457200">
                        <a:spcBef>
                          <a:spcPts val="488"/>
                        </a:spcBef>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5pPr>
                      <a:lvl6pPr marL="25146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6pPr>
                      <a:lvl7pPr marL="29718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7pPr>
                      <a:lvl8pPr marL="34290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8pPr>
                      <a:lvl9pPr marL="3886200" indent="-228600" defTabSz="457200" eaLnBrk="0" fontAlgn="base" hangingPunct="0">
                        <a:spcBef>
                          <a:spcPts val="488"/>
                        </a:spcBef>
                        <a:spcAft>
                          <a:spcPct val="0"/>
                        </a:spcAft>
                        <a:buClr>
                          <a:srgbClr val="000000"/>
                        </a:buClr>
                        <a:buSzPct val="100000"/>
                        <a:buFont typeface="Times New Roman" panose="02020603050405020304" pitchFamily="18" charset="0"/>
                        <a:defRPr sz="1200">
                          <a:solidFill>
                            <a:srgbClr val="000000"/>
                          </a:solidFill>
                          <a:latin typeface="Garamond" panose="02020404030301010803" pitchFamily="18" charset="0"/>
                          <a:ea typeface="HG Mincho Light J" charset="0"/>
                          <a:cs typeface="HG Mincho Light J" charset="0"/>
                        </a:defRPr>
                      </a:lvl9pPr>
                    </a:lstStyle>
                    <a:p>
                      <a:pPr marL="0" marR="0" lvl="0" indent="0" algn="ctr" defTabSz="457200" rtl="0" eaLnBrk="1" fontAlgn="t" latinLnBrk="0" hangingPunct="1">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Arial" panose="020B0604020202020204" pitchFamily="34" charset="0"/>
                          <a:ea typeface="MS PGothic" panose="020B0600070205080204" pitchFamily="34" charset="-128"/>
                          <a:cs typeface="HG Mincho Light J" charset="0"/>
                        </a:rPr>
                        <a:t>W</a:t>
                      </a:r>
                      <a:endParaRPr kumimoji="0" lang="en-US" altLang="en-US" sz="1700" b="0" i="0" u="none" strike="noStrike" cap="none" normalizeH="0" baseline="0" dirty="0">
                        <a:ln>
                          <a:noFill/>
                        </a:ln>
                        <a:solidFill>
                          <a:schemeClr val="tx1"/>
                        </a:solidFill>
                        <a:effectLst/>
                        <a:latin typeface="Garamond" panose="02020404030301010803" pitchFamily="18" charset="0"/>
                        <a:ea typeface="MS PGothic" panose="020B0600070205080204" pitchFamily="34" charset="-128"/>
                        <a:cs typeface="HG Mincho Light J" charset="0"/>
                      </a:endParaRPr>
                    </a:p>
                  </a:txBody>
                  <a:tcPr marL="60905" marR="60905" marT="60885" marB="6088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5989" name="Rectangle 3">
            <a:extLst>
              <a:ext uri="{FF2B5EF4-FFF2-40B4-BE49-F238E27FC236}">
                <a16:creationId xmlns:a16="http://schemas.microsoft.com/office/drawing/2014/main" id="{263F04F0-F89C-554E-BA2A-7BE301F1D3DB}"/>
              </a:ext>
            </a:extLst>
          </p:cNvPr>
          <p:cNvSpPr>
            <a:spLocks noChangeArrowheads="1"/>
          </p:cNvSpPr>
          <p:nvPr/>
        </p:nvSpPr>
        <p:spPr bwMode="auto">
          <a:xfrm>
            <a:off x="1720850" y="1292225"/>
            <a:ext cx="914400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br>
              <a:rPr lang="en-GB" altLang="en-US" sz="2400">
                <a:latin typeface="Times New Roman" panose="02020603050405020304" pitchFamily="18" charset="0"/>
              </a:rPr>
            </a:br>
            <a:endParaRPr lang="en-GB" altLang="en-US" sz="2400">
              <a:latin typeface="Times New Roman" panose="02020603050405020304" pitchFamily="18" charset="0"/>
            </a:endParaRPr>
          </a:p>
          <a:p>
            <a:pPr>
              <a:spcBef>
                <a:spcPct val="0"/>
              </a:spcBef>
              <a:buClrTx/>
              <a:buSzTx/>
              <a:buFontTx/>
              <a:buNone/>
            </a:pPr>
            <a:endParaRPr lang="en-GB" altLang="en-US" sz="24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E380D3DE-E03C-4745-85C9-23057CF96EE3}"/>
              </a:ext>
            </a:extLst>
          </p:cNvPr>
          <p:cNvSpPr>
            <a:spLocks noGrp="1" noChangeArrowheads="1"/>
          </p:cNvSpPr>
          <p:nvPr>
            <p:ph type="subTitle" idx="1"/>
          </p:nvPr>
        </p:nvSpPr>
        <p:spPr>
          <a:xfrm>
            <a:off x="685800" y="3505200"/>
            <a:ext cx="6400800" cy="1752600"/>
          </a:xfrm>
        </p:spPr>
        <p:txBody>
          <a:bodyPr>
            <a:normAutofit/>
          </a:bodyPr>
          <a:lstStyle/>
          <a:p>
            <a:r>
              <a:rPr lang="en-US" altLang="en-US" sz="3600" dirty="0"/>
              <a:t>Module </a:t>
            </a:r>
            <a:r>
              <a:rPr lang="en-US" altLang="ko-KR" sz="3600" dirty="0"/>
              <a:t>4</a:t>
            </a:r>
            <a:r>
              <a:rPr lang="en-US" altLang="en-US" sz="3600" dirty="0"/>
              <a:t>.2: Pipelining 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205EF-B0DA-424B-4B70-4185985F4D0F}"/>
              </a:ext>
            </a:extLst>
          </p:cNvPr>
          <p:cNvSpPr>
            <a:spLocks noGrp="1"/>
          </p:cNvSpPr>
          <p:nvPr>
            <p:ph type="title"/>
          </p:nvPr>
        </p:nvSpPr>
        <p:spPr/>
        <p:txBody>
          <a:bodyPr/>
          <a:lstStyle/>
          <a:p>
            <a:r>
              <a:rPr lang="en-US" dirty="0"/>
              <a:t>Schedule</a:t>
            </a:r>
          </a:p>
        </p:txBody>
      </p:sp>
      <p:sp>
        <p:nvSpPr>
          <p:cNvPr id="3" name="Content Placeholder 2">
            <a:extLst>
              <a:ext uri="{FF2B5EF4-FFF2-40B4-BE49-F238E27FC236}">
                <a16:creationId xmlns:a16="http://schemas.microsoft.com/office/drawing/2014/main" id="{09FB36C4-A2F4-4EF7-E79F-242AD40C73F7}"/>
              </a:ext>
            </a:extLst>
          </p:cNvPr>
          <p:cNvSpPr>
            <a:spLocks noGrp="1"/>
          </p:cNvSpPr>
          <p:nvPr>
            <p:ph idx="1"/>
          </p:nvPr>
        </p:nvSpPr>
        <p:spPr/>
        <p:txBody>
          <a:bodyPr/>
          <a:lstStyle/>
          <a:p>
            <a:r>
              <a:rPr lang="en-US" dirty="0"/>
              <a:t>Quiz: Feb. 20 (online, all day)</a:t>
            </a:r>
          </a:p>
          <a:p>
            <a:r>
              <a:rPr lang="en-US" dirty="0"/>
              <a:t>Midterm: Feb. 25 (in-class, 6pm-7:15pm)</a:t>
            </a:r>
          </a:p>
        </p:txBody>
      </p:sp>
    </p:spTree>
    <p:extLst>
      <p:ext uri="{BB962C8B-B14F-4D97-AF65-F5344CB8AC3E}">
        <p14:creationId xmlns:p14="http://schemas.microsoft.com/office/powerpoint/2010/main" val="46023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F0D8A192-B360-E146-B1B7-DFF5C86EBD25}"/>
              </a:ext>
            </a:extLst>
          </p:cNvPr>
          <p:cNvSpPr>
            <a:spLocks noGrp="1" noChangeArrowheads="1"/>
          </p:cNvSpPr>
          <p:nvPr>
            <p:ph type="title"/>
          </p:nvPr>
        </p:nvSpPr>
        <p:spPr/>
        <p:txBody>
          <a:bodyPr/>
          <a:lstStyle/>
          <a:p>
            <a:r>
              <a:rPr lang="en-US" altLang="en-US"/>
              <a:t>Objectives and Outline</a:t>
            </a:r>
          </a:p>
        </p:txBody>
      </p:sp>
      <p:sp>
        <p:nvSpPr>
          <p:cNvPr id="37891" name="Content Placeholder 2">
            <a:extLst>
              <a:ext uri="{FF2B5EF4-FFF2-40B4-BE49-F238E27FC236}">
                <a16:creationId xmlns:a16="http://schemas.microsoft.com/office/drawing/2014/main" id="{9CF0D5C9-EE3B-6246-B165-DA6123156D23}"/>
              </a:ext>
            </a:extLst>
          </p:cNvPr>
          <p:cNvSpPr>
            <a:spLocks noGrp="1" noChangeArrowheads="1"/>
          </p:cNvSpPr>
          <p:nvPr>
            <p:ph idx="1"/>
          </p:nvPr>
        </p:nvSpPr>
        <p:spPr/>
        <p:txBody>
          <a:bodyPr/>
          <a:lstStyle/>
          <a:p>
            <a:r>
              <a:rPr lang="en-US" altLang="en-US"/>
              <a:t>Objectives:</a:t>
            </a:r>
          </a:p>
          <a:p>
            <a:pPr lvl="1"/>
            <a:r>
              <a:rPr lang="en-US" altLang="en-US">
                <a:ea typeface="MS PGothic" panose="020B0600070205080204" pitchFamily="34" charset="-128"/>
              </a:rPr>
              <a:t>Understand how control hazard affect pipeline performance</a:t>
            </a:r>
          </a:p>
          <a:p>
            <a:pPr lvl="1"/>
            <a:r>
              <a:rPr lang="en-US" altLang="en-US">
                <a:ea typeface="MS PGothic" panose="020B0600070205080204" pitchFamily="34" charset="-128"/>
              </a:rPr>
              <a:t>Understand how to predict branch and its target</a:t>
            </a:r>
          </a:p>
          <a:p>
            <a:pPr lvl="1"/>
            <a:r>
              <a:rPr lang="en-US" altLang="en-US">
                <a:ea typeface="MS PGothic" panose="020B0600070205080204" pitchFamily="34" charset="-128"/>
              </a:rPr>
              <a:t>Understand how to predict outcome of a branch</a:t>
            </a:r>
          </a:p>
          <a:p>
            <a:r>
              <a:rPr lang="en-US" altLang="en-US"/>
              <a:t>Outline:</a:t>
            </a:r>
          </a:p>
          <a:p>
            <a:pPr lvl="1"/>
            <a:r>
              <a:rPr lang="en-US" altLang="en-US">
                <a:ea typeface="MS PGothic" panose="020B0600070205080204" pitchFamily="34" charset="-128"/>
              </a:rPr>
              <a:t>Performance impact of control hazards</a:t>
            </a:r>
          </a:p>
          <a:p>
            <a:pPr lvl="1"/>
            <a:r>
              <a:rPr lang="en-US" altLang="en-US">
                <a:ea typeface="MS PGothic" panose="020B0600070205080204" pitchFamily="34" charset="-128"/>
              </a:rPr>
              <a:t>Branch Target Buffer (BTB) and Return Address Stack (RAS)</a:t>
            </a:r>
          </a:p>
          <a:p>
            <a:pPr lvl="1"/>
            <a:r>
              <a:rPr lang="en-US" altLang="en-US">
                <a:ea typeface="MS PGothic" panose="020B0600070205080204" pitchFamily="34" charset="-128"/>
              </a:rPr>
              <a:t>Dynamic branch predictors: 1-bit, Smith n-bit, McFarling’s GShare</a:t>
            </a:r>
          </a:p>
          <a:p>
            <a:pPr lvl="1"/>
            <a:endParaRPr lang="en-US" altLang="en-US">
              <a:ea typeface="MS PGothic"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1BBFA835-CEA9-824E-911E-DBC8E2EA5E4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Control Hazards</a:t>
            </a:r>
          </a:p>
        </p:txBody>
      </p:sp>
      <p:sp>
        <p:nvSpPr>
          <p:cNvPr id="38915" name="Rectangle 3">
            <a:extLst>
              <a:ext uri="{FF2B5EF4-FFF2-40B4-BE49-F238E27FC236}">
                <a16:creationId xmlns:a16="http://schemas.microsoft.com/office/drawing/2014/main" id="{B13CFCA1-E2AB-634F-8E40-054C7CBCBFB0}"/>
              </a:ext>
            </a:extLst>
          </p:cNvPr>
          <p:cNvSpPr>
            <a:spLocks noGrp="1" noChangeArrowheads="1"/>
          </p:cNvSpPr>
          <p:nvPr>
            <p:ph type="body" idx="1"/>
          </p:nvPr>
        </p:nvSpPr>
        <p:spPr>
          <a:xfrm>
            <a:off x="990600" y="4953000"/>
            <a:ext cx="7162800" cy="1143000"/>
          </a:xfrm>
        </p:spPr>
        <p:txBody>
          <a:bodyPr/>
          <a:lstStyle/>
          <a:p>
            <a:pPr>
              <a:lnSpc>
                <a:spcPct val="80000"/>
              </a:lnSpc>
            </a:pPr>
            <a:r>
              <a:rPr lang="en-US" altLang="en-US"/>
              <a:t>NPC = PC+4 not always the brightest choice</a:t>
            </a:r>
          </a:p>
          <a:p>
            <a:pPr>
              <a:lnSpc>
                <a:spcPct val="80000"/>
              </a:lnSpc>
            </a:pPr>
            <a:r>
              <a:rPr lang="en-US" altLang="en-US"/>
              <a:t>Solution: use branch prediction. But what to predict? </a:t>
            </a:r>
          </a:p>
        </p:txBody>
      </p:sp>
      <p:sp>
        <p:nvSpPr>
          <p:cNvPr id="38916" name="Line 4">
            <a:extLst>
              <a:ext uri="{FF2B5EF4-FFF2-40B4-BE49-F238E27FC236}">
                <a16:creationId xmlns:a16="http://schemas.microsoft.com/office/drawing/2014/main" id="{C457A1EF-A083-FC4E-86F7-9DBA919F2F20}"/>
              </a:ext>
            </a:extLst>
          </p:cNvPr>
          <p:cNvSpPr>
            <a:spLocks noChangeShapeType="1"/>
          </p:cNvSpPr>
          <p:nvPr/>
        </p:nvSpPr>
        <p:spPr bwMode="auto">
          <a:xfrm flipH="1">
            <a:off x="2514600" y="1447800"/>
            <a:ext cx="20638" cy="3124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17" name="Rectangle 5">
            <a:extLst>
              <a:ext uri="{FF2B5EF4-FFF2-40B4-BE49-F238E27FC236}">
                <a16:creationId xmlns:a16="http://schemas.microsoft.com/office/drawing/2014/main" id="{6F2FBCEB-046F-7248-B937-916CAE1AE4E0}"/>
              </a:ext>
            </a:extLst>
          </p:cNvPr>
          <p:cNvSpPr>
            <a:spLocks noChangeArrowheads="1"/>
          </p:cNvSpPr>
          <p:nvPr/>
        </p:nvSpPr>
        <p:spPr bwMode="auto">
          <a:xfrm>
            <a:off x="1147763" y="1698625"/>
            <a:ext cx="3222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i="1">
                <a:latin typeface="Arial" panose="020B0604020202020204" pitchFamily="34" charset="0"/>
              </a:rPr>
              <a:t>A</a:t>
            </a:r>
          </a:p>
        </p:txBody>
      </p:sp>
      <p:sp>
        <p:nvSpPr>
          <p:cNvPr id="38918" name="Rectangle 6">
            <a:extLst>
              <a:ext uri="{FF2B5EF4-FFF2-40B4-BE49-F238E27FC236}">
                <a16:creationId xmlns:a16="http://schemas.microsoft.com/office/drawing/2014/main" id="{B57F2857-08E7-1849-8F70-606B3B5B39F8}"/>
              </a:ext>
            </a:extLst>
          </p:cNvPr>
          <p:cNvSpPr>
            <a:spLocks noChangeArrowheads="1"/>
          </p:cNvSpPr>
          <p:nvPr/>
        </p:nvSpPr>
        <p:spPr bwMode="auto">
          <a:xfrm>
            <a:off x="1147763" y="2232025"/>
            <a:ext cx="3222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i="1">
                <a:latin typeface="Arial" panose="020B0604020202020204" pitchFamily="34" charset="0"/>
              </a:rPr>
              <a:t>B</a:t>
            </a:r>
          </a:p>
        </p:txBody>
      </p:sp>
      <p:sp>
        <p:nvSpPr>
          <p:cNvPr id="38919" name="Rectangle 7">
            <a:extLst>
              <a:ext uri="{FF2B5EF4-FFF2-40B4-BE49-F238E27FC236}">
                <a16:creationId xmlns:a16="http://schemas.microsoft.com/office/drawing/2014/main" id="{69DB666C-3FED-FE4A-8721-73AB347F252E}"/>
              </a:ext>
            </a:extLst>
          </p:cNvPr>
          <p:cNvSpPr>
            <a:spLocks noChangeArrowheads="1"/>
          </p:cNvSpPr>
          <p:nvPr/>
        </p:nvSpPr>
        <p:spPr bwMode="auto">
          <a:xfrm>
            <a:off x="2062163" y="1622425"/>
            <a:ext cx="368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IF</a:t>
            </a:r>
          </a:p>
        </p:txBody>
      </p:sp>
      <p:sp>
        <p:nvSpPr>
          <p:cNvPr id="38920" name="Rectangle 8">
            <a:extLst>
              <a:ext uri="{FF2B5EF4-FFF2-40B4-BE49-F238E27FC236}">
                <a16:creationId xmlns:a16="http://schemas.microsoft.com/office/drawing/2014/main" id="{A4B7A310-6B9A-FF4B-94E9-795A686E2862}"/>
              </a:ext>
            </a:extLst>
          </p:cNvPr>
          <p:cNvSpPr>
            <a:spLocks noChangeArrowheads="1"/>
          </p:cNvSpPr>
          <p:nvPr/>
        </p:nvSpPr>
        <p:spPr bwMode="auto">
          <a:xfrm>
            <a:off x="2671763" y="1622425"/>
            <a:ext cx="3905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ID</a:t>
            </a:r>
          </a:p>
        </p:txBody>
      </p:sp>
      <p:sp>
        <p:nvSpPr>
          <p:cNvPr id="38921" name="Rectangle 9">
            <a:extLst>
              <a:ext uri="{FF2B5EF4-FFF2-40B4-BE49-F238E27FC236}">
                <a16:creationId xmlns:a16="http://schemas.microsoft.com/office/drawing/2014/main" id="{59CBB4B5-37BC-4B43-A539-5CC3BD12B6FD}"/>
              </a:ext>
            </a:extLst>
          </p:cNvPr>
          <p:cNvSpPr>
            <a:spLocks noChangeArrowheads="1"/>
          </p:cNvSpPr>
          <p:nvPr/>
        </p:nvSpPr>
        <p:spPr bwMode="auto">
          <a:xfrm>
            <a:off x="3738563" y="1622425"/>
            <a:ext cx="6651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MEM</a:t>
            </a:r>
          </a:p>
        </p:txBody>
      </p:sp>
      <p:sp>
        <p:nvSpPr>
          <p:cNvPr id="38922" name="Rectangle 10">
            <a:extLst>
              <a:ext uri="{FF2B5EF4-FFF2-40B4-BE49-F238E27FC236}">
                <a16:creationId xmlns:a16="http://schemas.microsoft.com/office/drawing/2014/main" id="{11F0F65F-7B7D-954D-9131-4B850918F984}"/>
              </a:ext>
            </a:extLst>
          </p:cNvPr>
          <p:cNvSpPr>
            <a:spLocks noChangeArrowheads="1"/>
          </p:cNvSpPr>
          <p:nvPr/>
        </p:nvSpPr>
        <p:spPr bwMode="auto">
          <a:xfrm>
            <a:off x="3205163" y="1622425"/>
            <a:ext cx="4587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EX</a:t>
            </a:r>
          </a:p>
        </p:txBody>
      </p:sp>
      <p:sp>
        <p:nvSpPr>
          <p:cNvPr id="38923" name="Rectangle 11">
            <a:extLst>
              <a:ext uri="{FF2B5EF4-FFF2-40B4-BE49-F238E27FC236}">
                <a16:creationId xmlns:a16="http://schemas.microsoft.com/office/drawing/2014/main" id="{6977F377-EB55-014B-A076-3D1EC45581C9}"/>
              </a:ext>
            </a:extLst>
          </p:cNvPr>
          <p:cNvSpPr>
            <a:spLocks noChangeArrowheads="1"/>
          </p:cNvSpPr>
          <p:nvPr/>
        </p:nvSpPr>
        <p:spPr bwMode="auto">
          <a:xfrm>
            <a:off x="4424363" y="1622425"/>
            <a:ext cx="5159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WB</a:t>
            </a:r>
          </a:p>
        </p:txBody>
      </p:sp>
      <p:sp>
        <p:nvSpPr>
          <p:cNvPr id="38924" name="Line 12">
            <a:extLst>
              <a:ext uri="{FF2B5EF4-FFF2-40B4-BE49-F238E27FC236}">
                <a16:creationId xmlns:a16="http://schemas.microsoft.com/office/drawing/2014/main" id="{21D352B9-C2AF-F041-A5E1-C924D241B8F0}"/>
              </a:ext>
            </a:extLst>
          </p:cNvPr>
          <p:cNvSpPr>
            <a:spLocks noChangeShapeType="1"/>
          </p:cNvSpPr>
          <p:nvPr/>
        </p:nvSpPr>
        <p:spPr bwMode="auto">
          <a:xfrm>
            <a:off x="2078038" y="2133600"/>
            <a:ext cx="480060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38925" name="Group 13">
            <a:extLst>
              <a:ext uri="{FF2B5EF4-FFF2-40B4-BE49-F238E27FC236}">
                <a16:creationId xmlns:a16="http://schemas.microsoft.com/office/drawing/2014/main" id="{F05C3014-922C-7243-8700-E29F3E666DA1}"/>
              </a:ext>
            </a:extLst>
          </p:cNvPr>
          <p:cNvGrpSpPr>
            <a:grpSpLocks/>
          </p:cNvGrpSpPr>
          <p:nvPr/>
        </p:nvGrpSpPr>
        <p:grpSpPr bwMode="auto">
          <a:xfrm>
            <a:off x="2671763" y="2308225"/>
            <a:ext cx="2790825" cy="339725"/>
            <a:chOff x="1683" y="1454"/>
            <a:chExt cx="1758" cy="214"/>
          </a:xfrm>
        </p:grpSpPr>
        <p:sp>
          <p:nvSpPr>
            <p:cNvPr id="38962" name="Rectangle 14">
              <a:extLst>
                <a:ext uri="{FF2B5EF4-FFF2-40B4-BE49-F238E27FC236}">
                  <a16:creationId xmlns:a16="http://schemas.microsoft.com/office/drawing/2014/main" id="{1E87F1B4-4AF3-D34D-98C5-F76888EC75E7}"/>
                </a:ext>
              </a:extLst>
            </p:cNvPr>
            <p:cNvSpPr>
              <a:spLocks noChangeArrowheads="1"/>
            </p:cNvSpPr>
            <p:nvPr/>
          </p:nvSpPr>
          <p:spPr bwMode="auto">
            <a:xfrm>
              <a:off x="1683" y="1454"/>
              <a:ext cx="23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IF</a:t>
              </a:r>
            </a:p>
          </p:txBody>
        </p:sp>
        <p:sp>
          <p:nvSpPr>
            <p:cNvPr id="38963" name="Rectangle 15">
              <a:extLst>
                <a:ext uri="{FF2B5EF4-FFF2-40B4-BE49-F238E27FC236}">
                  <a16:creationId xmlns:a16="http://schemas.microsoft.com/office/drawing/2014/main" id="{C9206CEA-D15C-B44D-BC0D-D0C41062A0A4}"/>
                </a:ext>
              </a:extLst>
            </p:cNvPr>
            <p:cNvSpPr>
              <a:spLocks noChangeArrowheads="1"/>
            </p:cNvSpPr>
            <p:nvPr/>
          </p:nvSpPr>
          <p:spPr bwMode="auto">
            <a:xfrm>
              <a:off x="2067" y="1454"/>
              <a:ext cx="24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ID</a:t>
              </a:r>
            </a:p>
          </p:txBody>
        </p:sp>
        <p:sp>
          <p:nvSpPr>
            <p:cNvPr id="38964" name="Rectangle 16">
              <a:extLst>
                <a:ext uri="{FF2B5EF4-FFF2-40B4-BE49-F238E27FC236}">
                  <a16:creationId xmlns:a16="http://schemas.microsoft.com/office/drawing/2014/main" id="{DB0F6965-391F-5742-B48D-8AB13A40D97C}"/>
                </a:ext>
              </a:extLst>
            </p:cNvPr>
            <p:cNvSpPr>
              <a:spLocks noChangeArrowheads="1"/>
            </p:cNvSpPr>
            <p:nvPr/>
          </p:nvSpPr>
          <p:spPr bwMode="auto">
            <a:xfrm>
              <a:off x="2739" y="1454"/>
              <a:ext cx="2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   -</a:t>
              </a:r>
            </a:p>
          </p:txBody>
        </p:sp>
        <p:sp>
          <p:nvSpPr>
            <p:cNvPr id="38965" name="Rectangle 17">
              <a:extLst>
                <a:ext uri="{FF2B5EF4-FFF2-40B4-BE49-F238E27FC236}">
                  <a16:creationId xmlns:a16="http://schemas.microsoft.com/office/drawing/2014/main" id="{E7154D8A-EE06-7A47-B4A8-87FCA8C874F9}"/>
                </a:ext>
              </a:extLst>
            </p:cNvPr>
            <p:cNvSpPr>
              <a:spLocks noChangeArrowheads="1"/>
            </p:cNvSpPr>
            <p:nvPr/>
          </p:nvSpPr>
          <p:spPr bwMode="auto">
            <a:xfrm>
              <a:off x="2403" y="1454"/>
              <a:ext cx="28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EX</a:t>
              </a:r>
            </a:p>
          </p:txBody>
        </p:sp>
        <p:sp>
          <p:nvSpPr>
            <p:cNvPr id="38966" name="Rectangle 18">
              <a:extLst>
                <a:ext uri="{FF2B5EF4-FFF2-40B4-BE49-F238E27FC236}">
                  <a16:creationId xmlns:a16="http://schemas.microsoft.com/office/drawing/2014/main" id="{87A488C9-C924-6144-97A8-02C388AA0B94}"/>
                </a:ext>
              </a:extLst>
            </p:cNvPr>
            <p:cNvSpPr>
              <a:spLocks noChangeArrowheads="1"/>
            </p:cNvSpPr>
            <p:nvPr/>
          </p:nvSpPr>
          <p:spPr bwMode="auto">
            <a:xfrm>
              <a:off x="3171" y="1454"/>
              <a:ext cx="2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   -</a:t>
              </a:r>
            </a:p>
          </p:txBody>
        </p:sp>
      </p:grpSp>
      <p:sp>
        <p:nvSpPr>
          <p:cNvPr id="38926" name="Line 19">
            <a:extLst>
              <a:ext uri="{FF2B5EF4-FFF2-40B4-BE49-F238E27FC236}">
                <a16:creationId xmlns:a16="http://schemas.microsoft.com/office/drawing/2014/main" id="{07423466-F8FA-5646-ABA7-2356827ABC8C}"/>
              </a:ext>
            </a:extLst>
          </p:cNvPr>
          <p:cNvSpPr>
            <a:spLocks noChangeShapeType="1"/>
          </p:cNvSpPr>
          <p:nvPr/>
        </p:nvSpPr>
        <p:spPr bwMode="auto">
          <a:xfrm flipH="1">
            <a:off x="4343400" y="1447800"/>
            <a:ext cx="20638" cy="16764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27" name="Rectangle 20">
            <a:extLst>
              <a:ext uri="{FF2B5EF4-FFF2-40B4-BE49-F238E27FC236}">
                <a16:creationId xmlns:a16="http://schemas.microsoft.com/office/drawing/2014/main" id="{2BEEC33B-7D80-CF42-9073-54F3DAD7331E}"/>
              </a:ext>
            </a:extLst>
          </p:cNvPr>
          <p:cNvSpPr>
            <a:spLocks noChangeArrowheads="1"/>
          </p:cNvSpPr>
          <p:nvPr/>
        </p:nvSpPr>
        <p:spPr bwMode="auto">
          <a:xfrm>
            <a:off x="1127125" y="1054053"/>
            <a:ext cx="1751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dirty="0">
                <a:latin typeface="Arial" panose="020B0604020202020204" pitchFamily="34" charset="0"/>
              </a:rPr>
              <a:t>A  BEQZ R1, G</a:t>
            </a:r>
          </a:p>
        </p:txBody>
      </p:sp>
      <p:grpSp>
        <p:nvGrpSpPr>
          <p:cNvPr id="38928" name="Group 21">
            <a:extLst>
              <a:ext uri="{FF2B5EF4-FFF2-40B4-BE49-F238E27FC236}">
                <a16:creationId xmlns:a16="http://schemas.microsoft.com/office/drawing/2014/main" id="{CE47262B-E8D4-0645-A97D-6273A584D35B}"/>
              </a:ext>
            </a:extLst>
          </p:cNvPr>
          <p:cNvGrpSpPr>
            <a:grpSpLocks/>
          </p:cNvGrpSpPr>
          <p:nvPr/>
        </p:nvGrpSpPr>
        <p:grpSpPr bwMode="auto">
          <a:xfrm>
            <a:off x="3281363" y="2765425"/>
            <a:ext cx="2790825" cy="339725"/>
            <a:chOff x="2067" y="1742"/>
            <a:chExt cx="1758" cy="214"/>
          </a:xfrm>
        </p:grpSpPr>
        <p:sp>
          <p:nvSpPr>
            <p:cNvPr id="38957" name="Rectangle 22">
              <a:extLst>
                <a:ext uri="{FF2B5EF4-FFF2-40B4-BE49-F238E27FC236}">
                  <a16:creationId xmlns:a16="http://schemas.microsoft.com/office/drawing/2014/main" id="{22E0EC89-42B8-7B47-841C-5A6AED50A742}"/>
                </a:ext>
              </a:extLst>
            </p:cNvPr>
            <p:cNvSpPr>
              <a:spLocks noChangeArrowheads="1"/>
            </p:cNvSpPr>
            <p:nvPr/>
          </p:nvSpPr>
          <p:spPr bwMode="auto">
            <a:xfrm>
              <a:off x="2067" y="1742"/>
              <a:ext cx="23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IF</a:t>
              </a:r>
            </a:p>
          </p:txBody>
        </p:sp>
        <p:sp>
          <p:nvSpPr>
            <p:cNvPr id="38958" name="Rectangle 23">
              <a:extLst>
                <a:ext uri="{FF2B5EF4-FFF2-40B4-BE49-F238E27FC236}">
                  <a16:creationId xmlns:a16="http://schemas.microsoft.com/office/drawing/2014/main" id="{0174BE58-3279-0847-9E00-03895F6AD1EA}"/>
                </a:ext>
              </a:extLst>
            </p:cNvPr>
            <p:cNvSpPr>
              <a:spLocks noChangeArrowheads="1"/>
            </p:cNvSpPr>
            <p:nvPr/>
          </p:nvSpPr>
          <p:spPr bwMode="auto">
            <a:xfrm>
              <a:off x="2451" y="1742"/>
              <a:ext cx="24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ID</a:t>
              </a:r>
            </a:p>
          </p:txBody>
        </p:sp>
        <p:sp>
          <p:nvSpPr>
            <p:cNvPr id="38959" name="Rectangle 24">
              <a:extLst>
                <a:ext uri="{FF2B5EF4-FFF2-40B4-BE49-F238E27FC236}">
                  <a16:creationId xmlns:a16="http://schemas.microsoft.com/office/drawing/2014/main" id="{C3A2E8B9-F0F9-9B47-A75C-A07A4D6699E4}"/>
                </a:ext>
              </a:extLst>
            </p:cNvPr>
            <p:cNvSpPr>
              <a:spLocks noChangeArrowheads="1"/>
            </p:cNvSpPr>
            <p:nvPr/>
          </p:nvSpPr>
          <p:spPr bwMode="auto">
            <a:xfrm>
              <a:off x="3123" y="1742"/>
              <a:ext cx="2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   -</a:t>
              </a:r>
            </a:p>
          </p:txBody>
        </p:sp>
        <p:sp>
          <p:nvSpPr>
            <p:cNvPr id="38960" name="Rectangle 25">
              <a:extLst>
                <a:ext uri="{FF2B5EF4-FFF2-40B4-BE49-F238E27FC236}">
                  <a16:creationId xmlns:a16="http://schemas.microsoft.com/office/drawing/2014/main" id="{C03D7F4C-EEFE-6B4B-8C76-444A53FA4655}"/>
                </a:ext>
              </a:extLst>
            </p:cNvPr>
            <p:cNvSpPr>
              <a:spLocks noChangeArrowheads="1"/>
            </p:cNvSpPr>
            <p:nvPr/>
          </p:nvSpPr>
          <p:spPr bwMode="auto">
            <a:xfrm>
              <a:off x="2787" y="1742"/>
              <a:ext cx="2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  -</a:t>
              </a:r>
            </a:p>
          </p:txBody>
        </p:sp>
        <p:sp>
          <p:nvSpPr>
            <p:cNvPr id="38961" name="Rectangle 26">
              <a:extLst>
                <a:ext uri="{FF2B5EF4-FFF2-40B4-BE49-F238E27FC236}">
                  <a16:creationId xmlns:a16="http://schemas.microsoft.com/office/drawing/2014/main" id="{BB76BA58-B387-4149-AF57-9E2C6F92C0A1}"/>
                </a:ext>
              </a:extLst>
            </p:cNvPr>
            <p:cNvSpPr>
              <a:spLocks noChangeArrowheads="1"/>
            </p:cNvSpPr>
            <p:nvPr/>
          </p:nvSpPr>
          <p:spPr bwMode="auto">
            <a:xfrm>
              <a:off x="3555" y="1742"/>
              <a:ext cx="2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   -</a:t>
              </a:r>
            </a:p>
          </p:txBody>
        </p:sp>
      </p:grpSp>
      <p:sp>
        <p:nvSpPr>
          <p:cNvPr id="38929" name="Line 27">
            <a:extLst>
              <a:ext uri="{FF2B5EF4-FFF2-40B4-BE49-F238E27FC236}">
                <a16:creationId xmlns:a16="http://schemas.microsoft.com/office/drawing/2014/main" id="{569F78BD-BD5C-FE4D-ADCF-ED998F948BF5}"/>
              </a:ext>
            </a:extLst>
          </p:cNvPr>
          <p:cNvSpPr>
            <a:spLocks noChangeShapeType="1"/>
          </p:cNvSpPr>
          <p:nvPr/>
        </p:nvSpPr>
        <p:spPr bwMode="auto">
          <a:xfrm flipH="1">
            <a:off x="3048000" y="1447800"/>
            <a:ext cx="20638" cy="3124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30" name="Line 28">
            <a:extLst>
              <a:ext uri="{FF2B5EF4-FFF2-40B4-BE49-F238E27FC236}">
                <a16:creationId xmlns:a16="http://schemas.microsoft.com/office/drawing/2014/main" id="{0FE341DA-F199-7340-9966-71094752BF77}"/>
              </a:ext>
            </a:extLst>
          </p:cNvPr>
          <p:cNvSpPr>
            <a:spLocks noChangeShapeType="1"/>
          </p:cNvSpPr>
          <p:nvPr/>
        </p:nvSpPr>
        <p:spPr bwMode="auto">
          <a:xfrm flipH="1">
            <a:off x="3657600" y="1447800"/>
            <a:ext cx="20638" cy="3124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31" name="Line 29">
            <a:extLst>
              <a:ext uri="{FF2B5EF4-FFF2-40B4-BE49-F238E27FC236}">
                <a16:creationId xmlns:a16="http://schemas.microsoft.com/office/drawing/2014/main" id="{DE5BCC25-91B8-724F-B6A6-CA828C85DD7F}"/>
              </a:ext>
            </a:extLst>
          </p:cNvPr>
          <p:cNvSpPr>
            <a:spLocks noChangeShapeType="1"/>
          </p:cNvSpPr>
          <p:nvPr/>
        </p:nvSpPr>
        <p:spPr bwMode="auto">
          <a:xfrm flipH="1">
            <a:off x="4343400" y="1447800"/>
            <a:ext cx="20638" cy="3124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32" name="Line 30">
            <a:extLst>
              <a:ext uri="{FF2B5EF4-FFF2-40B4-BE49-F238E27FC236}">
                <a16:creationId xmlns:a16="http://schemas.microsoft.com/office/drawing/2014/main" id="{9A217F3D-911A-8247-80E9-DDA3B6E467E6}"/>
              </a:ext>
            </a:extLst>
          </p:cNvPr>
          <p:cNvSpPr>
            <a:spLocks noChangeShapeType="1"/>
          </p:cNvSpPr>
          <p:nvPr/>
        </p:nvSpPr>
        <p:spPr bwMode="auto">
          <a:xfrm flipH="1">
            <a:off x="4953000" y="1447800"/>
            <a:ext cx="20638" cy="3124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33" name="Line 31">
            <a:extLst>
              <a:ext uri="{FF2B5EF4-FFF2-40B4-BE49-F238E27FC236}">
                <a16:creationId xmlns:a16="http://schemas.microsoft.com/office/drawing/2014/main" id="{C4BCEE49-53BD-344B-9C5C-7C573BF1B36D}"/>
              </a:ext>
            </a:extLst>
          </p:cNvPr>
          <p:cNvSpPr>
            <a:spLocks noChangeShapeType="1"/>
          </p:cNvSpPr>
          <p:nvPr/>
        </p:nvSpPr>
        <p:spPr bwMode="auto">
          <a:xfrm flipH="1">
            <a:off x="5562600" y="1447800"/>
            <a:ext cx="20638" cy="3124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34" name="Line 32">
            <a:extLst>
              <a:ext uri="{FF2B5EF4-FFF2-40B4-BE49-F238E27FC236}">
                <a16:creationId xmlns:a16="http://schemas.microsoft.com/office/drawing/2014/main" id="{EBB4149D-B8B2-1343-BA05-9C5EE1236572}"/>
              </a:ext>
            </a:extLst>
          </p:cNvPr>
          <p:cNvSpPr>
            <a:spLocks noChangeShapeType="1"/>
          </p:cNvSpPr>
          <p:nvPr/>
        </p:nvSpPr>
        <p:spPr bwMode="auto">
          <a:xfrm flipH="1">
            <a:off x="6172200" y="1447800"/>
            <a:ext cx="20638" cy="3124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35" name="Line 33">
            <a:extLst>
              <a:ext uri="{FF2B5EF4-FFF2-40B4-BE49-F238E27FC236}">
                <a16:creationId xmlns:a16="http://schemas.microsoft.com/office/drawing/2014/main" id="{AD13BF5B-63B3-5F4E-8E29-A833B9A3BDFB}"/>
              </a:ext>
            </a:extLst>
          </p:cNvPr>
          <p:cNvSpPr>
            <a:spLocks noChangeShapeType="1"/>
          </p:cNvSpPr>
          <p:nvPr/>
        </p:nvSpPr>
        <p:spPr bwMode="auto">
          <a:xfrm flipH="1">
            <a:off x="6781800" y="1447800"/>
            <a:ext cx="20638" cy="31242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36" name="Line 34">
            <a:extLst>
              <a:ext uri="{FF2B5EF4-FFF2-40B4-BE49-F238E27FC236}">
                <a16:creationId xmlns:a16="http://schemas.microsoft.com/office/drawing/2014/main" id="{A3E68148-8F33-274F-82CD-97897A4B9530}"/>
              </a:ext>
            </a:extLst>
          </p:cNvPr>
          <p:cNvSpPr>
            <a:spLocks noChangeShapeType="1"/>
          </p:cNvSpPr>
          <p:nvPr/>
        </p:nvSpPr>
        <p:spPr bwMode="auto">
          <a:xfrm>
            <a:off x="4267200" y="1752600"/>
            <a:ext cx="228600" cy="22098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8937" name="Rectangle 35">
            <a:extLst>
              <a:ext uri="{FF2B5EF4-FFF2-40B4-BE49-F238E27FC236}">
                <a16:creationId xmlns:a16="http://schemas.microsoft.com/office/drawing/2014/main" id="{1A3451BB-96BB-944B-9185-429AE49906E1}"/>
              </a:ext>
            </a:extLst>
          </p:cNvPr>
          <p:cNvSpPr>
            <a:spLocks noChangeArrowheads="1"/>
          </p:cNvSpPr>
          <p:nvPr/>
        </p:nvSpPr>
        <p:spPr bwMode="auto">
          <a:xfrm>
            <a:off x="1127125" y="2765425"/>
            <a:ext cx="3333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C</a:t>
            </a:r>
          </a:p>
        </p:txBody>
      </p:sp>
      <p:sp>
        <p:nvSpPr>
          <p:cNvPr id="38938" name="Line 36">
            <a:extLst>
              <a:ext uri="{FF2B5EF4-FFF2-40B4-BE49-F238E27FC236}">
                <a16:creationId xmlns:a16="http://schemas.microsoft.com/office/drawing/2014/main" id="{7C5C8135-861F-EC46-AA20-C071CADACF5F}"/>
              </a:ext>
            </a:extLst>
          </p:cNvPr>
          <p:cNvSpPr>
            <a:spLocks noChangeShapeType="1"/>
          </p:cNvSpPr>
          <p:nvPr/>
        </p:nvSpPr>
        <p:spPr bwMode="auto">
          <a:xfrm>
            <a:off x="2078038" y="2667000"/>
            <a:ext cx="480060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38939" name="Group 37">
            <a:extLst>
              <a:ext uri="{FF2B5EF4-FFF2-40B4-BE49-F238E27FC236}">
                <a16:creationId xmlns:a16="http://schemas.microsoft.com/office/drawing/2014/main" id="{438606F2-7E79-E34C-B772-9CF9D75FF433}"/>
              </a:ext>
            </a:extLst>
          </p:cNvPr>
          <p:cNvGrpSpPr>
            <a:grpSpLocks/>
          </p:cNvGrpSpPr>
          <p:nvPr/>
        </p:nvGrpSpPr>
        <p:grpSpPr bwMode="auto">
          <a:xfrm>
            <a:off x="1127125" y="3733800"/>
            <a:ext cx="6175375" cy="438150"/>
            <a:chOff x="710" y="2352"/>
            <a:chExt cx="3890" cy="276"/>
          </a:xfrm>
        </p:grpSpPr>
        <p:grpSp>
          <p:nvGrpSpPr>
            <p:cNvPr id="38949" name="Group 38">
              <a:extLst>
                <a:ext uri="{FF2B5EF4-FFF2-40B4-BE49-F238E27FC236}">
                  <a16:creationId xmlns:a16="http://schemas.microsoft.com/office/drawing/2014/main" id="{A3DCD568-1BA7-704A-A14E-576701A0B042}"/>
                </a:ext>
              </a:extLst>
            </p:cNvPr>
            <p:cNvGrpSpPr>
              <a:grpSpLocks/>
            </p:cNvGrpSpPr>
            <p:nvPr/>
          </p:nvGrpSpPr>
          <p:grpSpPr bwMode="auto">
            <a:xfrm>
              <a:off x="2787" y="2414"/>
              <a:ext cx="1813" cy="214"/>
              <a:chOff x="2787" y="2414"/>
              <a:chExt cx="1813" cy="214"/>
            </a:xfrm>
          </p:grpSpPr>
          <p:sp>
            <p:nvSpPr>
              <p:cNvPr id="38952" name="Rectangle 39">
                <a:extLst>
                  <a:ext uri="{FF2B5EF4-FFF2-40B4-BE49-F238E27FC236}">
                    <a16:creationId xmlns:a16="http://schemas.microsoft.com/office/drawing/2014/main" id="{34703BE6-13A5-0A44-B1FB-5AE6F9816B42}"/>
                  </a:ext>
                </a:extLst>
              </p:cNvPr>
              <p:cNvSpPr>
                <a:spLocks noChangeArrowheads="1"/>
              </p:cNvSpPr>
              <p:nvPr/>
            </p:nvSpPr>
            <p:spPr bwMode="auto">
              <a:xfrm>
                <a:off x="2787" y="2414"/>
                <a:ext cx="23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IF</a:t>
                </a:r>
              </a:p>
            </p:txBody>
          </p:sp>
          <p:sp>
            <p:nvSpPr>
              <p:cNvPr id="38953" name="Rectangle 40">
                <a:extLst>
                  <a:ext uri="{FF2B5EF4-FFF2-40B4-BE49-F238E27FC236}">
                    <a16:creationId xmlns:a16="http://schemas.microsoft.com/office/drawing/2014/main" id="{7FA1BDE0-F45E-B341-9F27-EAF17972C35E}"/>
                  </a:ext>
                </a:extLst>
              </p:cNvPr>
              <p:cNvSpPr>
                <a:spLocks noChangeArrowheads="1"/>
              </p:cNvSpPr>
              <p:nvPr/>
            </p:nvSpPr>
            <p:spPr bwMode="auto">
              <a:xfrm>
                <a:off x="3171" y="2414"/>
                <a:ext cx="24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ID</a:t>
                </a:r>
              </a:p>
            </p:txBody>
          </p:sp>
          <p:sp>
            <p:nvSpPr>
              <p:cNvPr id="38954" name="Rectangle 41">
                <a:extLst>
                  <a:ext uri="{FF2B5EF4-FFF2-40B4-BE49-F238E27FC236}">
                    <a16:creationId xmlns:a16="http://schemas.microsoft.com/office/drawing/2014/main" id="{95AA21F8-1F02-F645-83D3-7AD4A3DCD3E9}"/>
                  </a:ext>
                </a:extLst>
              </p:cNvPr>
              <p:cNvSpPr>
                <a:spLocks noChangeArrowheads="1"/>
              </p:cNvSpPr>
              <p:nvPr/>
            </p:nvSpPr>
            <p:spPr bwMode="auto">
              <a:xfrm>
                <a:off x="3843" y="2414"/>
                <a:ext cx="41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MEM</a:t>
                </a:r>
              </a:p>
            </p:txBody>
          </p:sp>
          <p:sp>
            <p:nvSpPr>
              <p:cNvPr id="38955" name="Rectangle 42">
                <a:extLst>
                  <a:ext uri="{FF2B5EF4-FFF2-40B4-BE49-F238E27FC236}">
                    <a16:creationId xmlns:a16="http://schemas.microsoft.com/office/drawing/2014/main" id="{01ACD163-798A-A047-8517-899602ABA2CD}"/>
                  </a:ext>
                </a:extLst>
              </p:cNvPr>
              <p:cNvSpPr>
                <a:spLocks noChangeArrowheads="1"/>
              </p:cNvSpPr>
              <p:nvPr/>
            </p:nvSpPr>
            <p:spPr bwMode="auto">
              <a:xfrm>
                <a:off x="3507" y="2414"/>
                <a:ext cx="289"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EX</a:t>
                </a:r>
              </a:p>
            </p:txBody>
          </p:sp>
          <p:sp>
            <p:nvSpPr>
              <p:cNvPr id="38956" name="Rectangle 43">
                <a:extLst>
                  <a:ext uri="{FF2B5EF4-FFF2-40B4-BE49-F238E27FC236}">
                    <a16:creationId xmlns:a16="http://schemas.microsoft.com/office/drawing/2014/main" id="{E90F3273-142D-6D43-9643-0956526C9602}"/>
                  </a:ext>
                </a:extLst>
              </p:cNvPr>
              <p:cNvSpPr>
                <a:spLocks noChangeArrowheads="1"/>
              </p:cNvSpPr>
              <p:nvPr/>
            </p:nvSpPr>
            <p:spPr bwMode="auto">
              <a:xfrm>
                <a:off x="4275" y="2414"/>
                <a:ext cx="325"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WB</a:t>
                </a:r>
              </a:p>
            </p:txBody>
          </p:sp>
        </p:grpSp>
        <p:sp>
          <p:nvSpPr>
            <p:cNvPr id="38950" name="Rectangle 44">
              <a:extLst>
                <a:ext uri="{FF2B5EF4-FFF2-40B4-BE49-F238E27FC236}">
                  <a16:creationId xmlns:a16="http://schemas.microsoft.com/office/drawing/2014/main" id="{5FE94E60-DA42-674B-908D-EEF23EC5ACC0}"/>
                </a:ext>
              </a:extLst>
            </p:cNvPr>
            <p:cNvSpPr>
              <a:spLocks noChangeArrowheads="1"/>
            </p:cNvSpPr>
            <p:nvPr/>
          </p:nvSpPr>
          <p:spPr bwMode="auto">
            <a:xfrm>
              <a:off x="710" y="2414"/>
              <a:ext cx="21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G</a:t>
              </a:r>
            </a:p>
          </p:txBody>
        </p:sp>
        <p:sp>
          <p:nvSpPr>
            <p:cNvPr id="38951" name="Line 45">
              <a:extLst>
                <a:ext uri="{FF2B5EF4-FFF2-40B4-BE49-F238E27FC236}">
                  <a16:creationId xmlns:a16="http://schemas.microsoft.com/office/drawing/2014/main" id="{81B6809E-EF53-4745-865F-358A3ABC11AD}"/>
                </a:ext>
              </a:extLst>
            </p:cNvPr>
            <p:cNvSpPr>
              <a:spLocks noChangeShapeType="1"/>
            </p:cNvSpPr>
            <p:nvPr/>
          </p:nvSpPr>
          <p:spPr bwMode="auto">
            <a:xfrm>
              <a:off x="1309" y="2352"/>
              <a:ext cx="3024"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38940" name="Line 46">
            <a:extLst>
              <a:ext uri="{FF2B5EF4-FFF2-40B4-BE49-F238E27FC236}">
                <a16:creationId xmlns:a16="http://schemas.microsoft.com/office/drawing/2014/main" id="{CD47A7C1-1A77-7144-99C6-79A5FC612287}"/>
              </a:ext>
            </a:extLst>
          </p:cNvPr>
          <p:cNvSpPr>
            <a:spLocks noChangeShapeType="1"/>
          </p:cNvSpPr>
          <p:nvPr/>
        </p:nvSpPr>
        <p:spPr bwMode="auto">
          <a:xfrm>
            <a:off x="2078038" y="3733800"/>
            <a:ext cx="480060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941" name="Rectangle 47">
            <a:extLst>
              <a:ext uri="{FF2B5EF4-FFF2-40B4-BE49-F238E27FC236}">
                <a16:creationId xmlns:a16="http://schemas.microsoft.com/office/drawing/2014/main" id="{C9698F7C-6F36-9849-B626-AFFAAA90021B}"/>
              </a:ext>
            </a:extLst>
          </p:cNvPr>
          <p:cNvSpPr>
            <a:spLocks noChangeArrowheads="1"/>
          </p:cNvSpPr>
          <p:nvPr/>
        </p:nvSpPr>
        <p:spPr bwMode="auto">
          <a:xfrm>
            <a:off x="1127125" y="3222625"/>
            <a:ext cx="3333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D</a:t>
            </a:r>
          </a:p>
        </p:txBody>
      </p:sp>
      <p:grpSp>
        <p:nvGrpSpPr>
          <p:cNvPr id="38942" name="Group 48">
            <a:extLst>
              <a:ext uri="{FF2B5EF4-FFF2-40B4-BE49-F238E27FC236}">
                <a16:creationId xmlns:a16="http://schemas.microsoft.com/office/drawing/2014/main" id="{D8FAEE86-CF14-D444-97FA-D26CD1713CEA}"/>
              </a:ext>
            </a:extLst>
          </p:cNvPr>
          <p:cNvGrpSpPr>
            <a:grpSpLocks/>
          </p:cNvGrpSpPr>
          <p:nvPr/>
        </p:nvGrpSpPr>
        <p:grpSpPr bwMode="auto">
          <a:xfrm>
            <a:off x="3890963" y="3298825"/>
            <a:ext cx="2790825" cy="339725"/>
            <a:chOff x="2451" y="2078"/>
            <a:chExt cx="1758" cy="214"/>
          </a:xfrm>
        </p:grpSpPr>
        <p:sp>
          <p:nvSpPr>
            <p:cNvPr id="38944" name="Rectangle 49">
              <a:extLst>
                <a:ext uri="{FF2B5EF4-FFF2-40B4-BE49-F238E27FC236}">
                  <a16:creationId xmlns:a16="http://schemas.microsoft.com/office/drawing/2014/main" id="{459CAEE3-AC0C-3E4A-8ADD-40C70CBB6C81}"/>
                </a:ext>
              </a:extLst>
            </p:cNvPr>
            <p:cNvSpPr>
              <a:spLocks noChangeArrowheads="1"/>
            </p:cNvSpPr>
            <p:nvPr/>
          </p:nvSpPr>
          <p:spPr bwMode="auto">
            <a:xfrm>
              <a:off x="2451" y="2078"/>
              <a:ext cx="23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IF</a:t>
              </a:r>
            </a:p>
          </p:txBody>
        </p:sp>
        <p:sp>
          <p:nvSpPr>
            <p:cNvPr id="38945" name="Rectangle 50">
              <a:extLst>
                <a:ext uri="{FF2B5EF4-FFF2-40B4-BE49-F238E27FC236}">
                  <a16:creationId xmlns:a16="http://schemas.microsoft.com/office/drawing/2014/main" id="{31BE8AF5-9185-904C-B2F7-2D9BB486EAF0}"/>
                </a:ext>
              </a:extLst>
            </p:cNvPr>
            <p:cNvSpPr>
              <a:spLocks noChangeArrowheads="1"/>
            </p:cNvSpPr>
            <p:nvPr/>
          </p:nvSpPr>
          <p:spPr bwMode="auto">
            <a:xfrm>
              <a:off x="2835" y="2078"/>
              <a:ext cx="16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a:t>
              </a:r>
            </a:p>
          </p:txBody>
        </p:sp>
        <p:sp>
          <p:nvSpPr>
            <p:cNvPr id="38946" name="Rectangle 51">
              <a:extLst>
                <a:ext uri="{FF2B5EF4-FFF2-40B4-BE49-F238E27FC236}">
                  <a16:creationId xmlns:a16="http://schemas.microsoft.com/office/drawing/2014/main" id="{988C106E-682D-114C-91C9-4C198F22806E}"/>
                </a:ext>
              </a:extLst>
            </p:cNvPr>
            <p:cNvSpPr>
              <a:spLocks noChangeArrowheads="1"/>
            </p:cNvSpPr>
            <p:nvPr/>
          </p:nvSpPr>
          <p:spPr bwMode="auto">
            <a:xfrm>
              <a:off x="3507" y="2078"/>
              <a:ext cx="2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   -</a:t>
              </a:r>
            </a:p>
          </p:txBody>
        </p:sp>
        <p:sp>
          <p:nvSpPr>
            <p:cNvPr id="38947" name="Rectangle 52">
              <a:extLst>
                <a:ext uri="{FF2B5EF4-FFF2-40B4-BE49-F238E27FC236}">
                  <a16:creationId xmlns:a16="http://schemas.microsoft.com/office/drawing/2014/main" id="{0B11B656-05D6-0B4B-803D-AE4C0ABC5664}"/>
                </a:ext>
              </a:extLst>
            </p:cNvPr>
            <p:cNvSpPr>
              <a:spLocks noChangeArrowheads="1"/>
            </p:cNvSpPr>
            <p:nvPr/>
          </p:nvSpPr>
          <p:spPr bwMode="auto">
            <a:xfrm>
              <a:off x="3171" y="2078"/>
              <a:ext cx="23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  -</a:t>
              </a:r>
            </a:p>
          </p:txBody>
        </p:sp>
        <p:sp>
          <p:nvSpPr>
            <p:cNvPr id="38948" name="Rectangle 53">
              <a:extLst>
                <a:ext uri="{FF2B5EF4-FFF2-40B4-BE49-F238E27FC236}">
                  <a16:creationId xmlns:a16="http://schemas.microsoft.com/office/drawing/2014/main" id="{341001E1-8CB4-054A-B410-F972F6074296}"/>
                </a:ext>
              </a:extLst>
            </p:cNvPr>
            <p:cNvSpPr>
              <a:spLocks noChangeArrowheads="1"/>
            </p:cNvSpPr>
            <p:nvPr/>
          </p:nvSpPr>
          <p:spPr bwMode="auto">
            <a:xfrm>
              <a:off x="3939" y="2078"/>
              <a:ext cx="2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   -</a:t>
              </a:r>
            </a:p>
          </p:txBody>
        </p:sp>
      </p:grpSp>
      <p:sp>
        <p:nvSpPr>
          <p:cNvPr id="38943" name="Line 54">
            <a:extLst>
              <a:ext uri="{FF2B5EF4-FFF2-40B4-BE49-F238E27FC236}">
                <a16:creationId xmlns:a16="http://schemas.microsoft.com/office/drawing/2014/main" id="{5D95174D-69FE-3D44-B07D-CC27084D0FD0}"/>
              </a:ext>
            </a:extLst>
          </p:cNvPr>
          <p:cNvSpPr>
            <a:spLocks noChangeShapeType="1"/>
          </p:cNvSpPr>
          <p:nvPr/>
        </p:nvSpPr>
        <p:spPr bwMode="auto">
          <a:xfrm>
            <a:off x="2078038" y="3200400"/>
            <a:ext cx="4800600" cy="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AutoShape 2">
            <a:extLst>
              <a:ext uri="{FF2B5EF4-FFF2-40B4-BE49-F238E27FC236}">
                <a16:creationId xmlns:a16="http://schemas.microsoft.com/office/drawing/2014/main" id="{CB78DDF7-D290-DD48-9C5E-87FB72E0909B}"/>
              </a:ext>
            </a:extLst>
          </p:cNvPr>
          <p:cNvSpPr>
            <a:spLocks noChangeArrowheads="1"/>
          </p:cNvSpPr>
          <p:nvPr/>
        </p:nvSpPr>
        <p:spPr bwMode="auto">
          <a:xfrm rot="5400000" flipH="1" flipV="1">
            <a:off x="996950" y="1911350"/>
            <a:ext cx="1358900" cy="4445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ALU</a:t>
            </a:r>
          </a:p>
        </p:txBody>
      </p:sp>
      <p:sp>
        <p:nvSpPr>
          <p:cNvPr id="40963" name="Rectangle 3">
            <a:extLst>
              <a:ext uri="{FF2B5EF4-FFF2-40B4-BE49-F238E27FC236}">
                <a16:creationId xmlns:a16="http://schemas.microsoft.com/office/drawing/2014/main" id="{F3F724F9-936F-CD41-A1B0-BC1E2B10F2CE}"/>
              </a:ext>
            </a:extLst>
          </p:cNvPr>
          <p:cNvSpPr>
            <a:spLocks noChangeArrowheads="1"/>
          </p:cNvSpPr>
          <p:nvPr/>
        </p:nvSpPr>
        <p:spPr bwMode="auto">
          <a:xfrm>
            <a:off x="1073150" y="3054350"/>
            <a:ext cx="1054100" cy="1130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Instruction</a:t>
            </a:r>
          </a:p>
          <a:p>
            <a:pPr algn="ctr">
              <a:spcBef>
                <a:spcPct val="0"/>
              </a:spcBef>
              <a:buClrTx/>
              <a:buSzTx/>
              <a:buFontTx/>
              <a:buNone/>
            </a:pPr>
            <a:r>
              <a:rPr lang="en-US" altLang="en-US" sz="1200">
                <a:latin typeface="Arial" panose="020B0604020202020204" pitchFamily="34" charset="0"/>
              </a:rPr>
              <a:t>cache</a:t>
            </a:r>
          </a:p>
        </p:txBody>
      </p:sp>
      <p:sp>
        <p:nvSpPr>
          <p:cNvPr id="40964" name="Rectangle 4">
            <a:extLst>
              <a:ext uri="{FF2B5EF4-FFF2-40B4-BE49-F238E27FC236}">
                <a16:creationId xmlns:a16="http://schemas.microsoft.com/office/drawing/2014/main" id="{7DD98F9A-9BB3-9348-A00E-A981DF354C8D}"/>
              </a:ext>
            </a:extLst>
          </p:cNvPr>
          <p:cNvSpPr>
            <a:spLocks noChangeArrowheads="1"/>
          </p:cNvSpPr>
          <p:nvPr/>
        </p:nvSpPr>
        <p:spPr bwMode="auto">
          <a:xfrm>
            <a:off x="311150" y="2216150"/>
            <a:ext cx="444500" cy="1358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PC</a:t>
            </a:r>
          </a:p>
        </p:txBody>
      </p:sp>
      <p:sp>
        <p:nvSpPr>
          <p:cNvPr id="40965" name="Rectangle 5">
            <a:extLst>
              <a:ext uri="{FF2B5EF4-FFF2-40B4-BE49-F238E27FC236}">
                <a16:creationId xmlns:a16="http://schemas.microsoft.com/office/drawing/2014/main" id="{D802950E-BB23-A54B-88D8-2FB54CD336E3}"/>
              </a:ext>
            </a:extLst>
          </p:cNvPr>
          <p:cNvSpPr>
            <a:spLocks noChangeArrowheads="1"/>
          </p:cNvSpPr>
          <p:nvPr/>
        </p:nvSpPr>
        <p:spPr bwMode="auto">
          <a:xfrm>
            <a:off x="2597150" y="1911350"/>
            <a:ext cx="5207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NPC</a:t>
            </a:r>
          </a:p>
        </p:txBody>
      </p:sp>
      <p:sp>
        <p:nvSpPr>
          <p:cNvPr id="40966" name="Rectangle 6">
            <a:extLst>
              <a:ext uri="{FF2B5EF4-FFF2-40B4-BE49-F238E27FC236}">
                <a16:creationId xmlns:a16="http://schemas.microsoft.com/office/drawing/2014/main" id="{EE4B99AC-E372-E246-BF7C-987AB572FB3E}"/>
              </a:ext>
            </a:extLst>
          </p:cNvPr>
          <p:cNvSpPr>
            <a:spLocks noChangeArrowheads="1"/>
          </p:cNvSpPr>
          <p:nvPr/>
        </p:nvSpPr>
        <p:spPr bwMode="auto">
          <a:xfrm>
            <a:off x="2368550" y="2901950"/>
            <a:ext cx="520700" cy="1511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IR</a:t>
            </a:r>
          </a:p>
          <a:p>
            <a:pPr algn="ctr">
              <a:spcBef>
                <a:spcPct val="0"/>
              </a:spcBef>
              <a:buClrTx/>
              <a:buSzTx/>
              <a:buFontTx/>
              <a:buNone/>
            </a:pPr>
            <a:r>
              <a:rPr lang="en-US" altLang="en-US" sz="1200">
                <a:latin typeface="Arial" panose="020B0604020202020204" pitchFamily="34" charset="0"/>
              </a:rPr>
              <a:t>(inst.</a:t>
            </a:r>
          </a:p>
          <a:p>
            <a:pPr algn="ctr">
              <a:spcBef>
                <a:spcPct val="0"/>
              </a:spcBef>
              <a:buClrTx/>
              <a:buSzTx/>
              <a:buFontTx/>
              <a:buNone/>
            </a:pPr>
            <a:r>
              <a:rPr lang="en-US" altLang="en-US" sz="1200">
                <a:latin typeface="Arial" panose="020B0604020202020204" pitchFamily="34" charset="0"/>
              </a:rPr>
              <a:t>reg.)</a:t>
            </a:r>
          </a:p>
        </p:txBody>
      </p:sp>
      <p:sp>
        <p:nvSpPr>
          <p:cNvPr id="40967" name="Rectangle 7">
            <a:extLst>
              <a:ext uri="{FF2B5EF4-FFF2-40B4-BE49-F238E27FC236}">
                <a16:creationId xmlns:a16="http://schemas.microsoft.com/office/drawing/2014/main" id="{B65130A8-F74B-0C46-8D09-74ED388D5A15}"/>
              </a:ext>
            </a:extLst>
          </p:cNvPr>
          <p:cNvSpPr>
            <a:spLocks noChangeArrowheads="1"/>
          </p:cNvSpPr>
          <p:nvPr/>
        </p:nvSpPr>
        <p:spPr bwMode="auto">
          <a:xfrm>
            <a:off x="3587750" y="2520950"/>
            <a:ext cx="901700" cy="24257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Regs</a:t>
            </a:r>
          </a:p>
        </p:txBody>
      </p:sp>
      <p:sp>
        <p:nvSpPr>
          <p:cNvPr id="40968" name="Oval 8">
            <a:extLst>
              <a:ext uri="{FF2B5EF4-FFF2-40B4-BE49-F238E27FC236}">
                <a16:creationId xmlns:a16="http://schemas.microsoft.com/office/drawing/2014/main" id="{F3B315B2-B643-A144-999B-7047C0B7588F}"/>
              </a:ext>
            </a:extLst>
          </p:cNvPr>
          <p:cNvSpPr>
            <a:spLocks noChangeArrowheads="1"/>
          </p:cNvSpPr>
          <p:nvPr/>
        </p:nvSpPr>
        <p:spPr bwMode="auto">
          <a:xfrm>
            <a:off x="3663950" y="5264150"/>
            <a:ext cx="977900" cy="596900"/>
          </a:xfrm>
          <a:prstGeom prst="ellipse">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sign</a:t>
            </a:r>
          </a:p>
          <a:p>
            <a:pPr algn="ctr">
              <a:spcBef>
                <a:spcPct val="0"/>
              </a:spcBef>
              <a:buClrTx/>
              <a:buSzTx/>
              <a:buFontTx/>
              <a:buNone/>
            </a:pPr>
            <a:r>
              <a:rPr lang="en-US" altLang="en-US" sz="1200">
                <a:latin typeface="Arial" panose="020B0604020202020204" pitchFamily="34" charset="0"/>
              </a:rPr>
              <a:t>extend</a:t>
            </a:r>
          </a:p>
        </p:txBody>
      </p:sp>
      <p:sp>
        <p:nvSpPr>
          <p:cNvPr id="40969" name="Rectangle 9">
            <a:extLst>
              <a:ext uri="{FF2B5EF4-FFF2-40B4-BE49-F238E27FC236}">
                <a16:creationId xmlns:a16="http://schemas.microsoft.com/office/drawing/2014/main" id="{76D3961E-1B85-4D4C-ABB9-2BBACCF1C3C3}"/>
              </a:ext>
            </a:extLst>
          </p:cNvPr>
          <p:cNvSpPr>
            <a:spLocks noChangeArrowheads="1"/>
          </p:cNvSpPr>
          <p:nvPr/>
        </p:nvSpPr>
        <p:spPr bwMode="auto">
          <a:xfrm>
            <a:off x="4730750" y="2825750"/>
            <a:ext cx="5207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A</a:t>
            </a:r>
          </a:p>
        </p:txBody>
      </p:sp>
      <p:sp>
        <p:nvSpPr>
          <p:cNvPr id="40970" name="Rectangle 10">
            <a:extLst>
              <a:ext uri="{FF2B5EF4-FFF2-40B4-BE49-F238E27FC236}">
                <a16:creationId xmlns:a16="http://schemas.microsoft.com/office/drawing/2014/main" id="{EBF097F2-46F9-8D48-AD46-06810AB43D30}"/>
              </a:ext>
            </a:extLst>
          </p:cNvPr>
          <p:cNvSpPr>
            <a:spLocks noChangeArrowheads="1"/>
          </p:cNvSpPr>
          <p:nvPr/>
        </p:nvSpPr>
        <p:spPr bwMode="auto">
          <a:xfrm>
            <a:off x="4730750" y="3968750"/>
            <a:ext cx="5207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B</a:t>
            </a:r>
          </a:p>
        </p:txBody>
      </p:sp>
      <p:sp>
        <p:nvSpPr>
          <p:cNvPr id="40971" name="AutoShape 11">
            <a:extLst>
              <a:ext uri="{FF2B5EF4-FFF2-40B4-BE49-F238E27FC236}">
                <a16:creationId xmlns:a16="http://schemas.microsoft.com/office/drawing/2014/main" id="{1C54CF36-4C43-594F-B018-7C7456FB5F60}"/>
              </a:ext>
            </a:extLst>
          </p:cNvPr>
          <p:cNvSpPr>
            <a:spLocks noChangeArrowheads="1"/>
          </p:cNvSpPr>
          <p:nvPr/>
        </p:nvSpPr>
        <p:spPr bwMode="auto">
          <a:xfrm rot="5400000" flipH="1" flipV="1">
            <a:off x="5568950" y="3282950"/>
            <a:ext cx="1358900" cy="4445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ALU</a:t>
            </a:r>
          </a:p>
        </p:txBody>
      </p:sp>
      <p:sp>
        <p:nvSpPr>
          <p:cNvPr id="40972" name="AutoShape 12">
            <a:extLst>
              <a:ext uri="{FF2B5EF4-FFF2-40B4-BE49-F238E27FC236}">
                <a16:creationId xmlns:a16="http://schemas.microsoft.com/office/drawing/2014/main" id="{EBFA7275-FBC3-C74A-AE45-D69AB10C4599}"/>
              </a:ext>
            </a:extLst>
          </p:cNvPr>
          <p:cNvSpPr>
            <a:spLocks noChangeArrowheads="1"/>
          </p:cNvSpPr>
          <p:nvPr/>
        </p:nvSpPr>
        <p:spPr bwMode="auto">
          <a:xfrm rot="-5400000">
            <a:off x="5264150" y="2673350"/>
            <a:ext cx="825500" cy="368300"/>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40973" name="AutoShape 13">
            <a:extLst>
              <a:ext uri="{FF2B5EF4-FFF2-40B4-BE49-F238E27FC236}">
                <a16:creationId xmlns:a16="http://schemas.microsoft.com/office/drawing/2014/main" id="{E1D479C7-9DF4-BE40-A4EC-D2045FAEF374}"/>
              </a:ext>
            </a:extLst>
          </p:cNvPr>
          <p:cNvSpPr>
            <a:spLocks noChangeArrowheads="1"/>
          </p:cNvSpPr>
          <p:nvPr/>
        </p:nvSpPr>
        <p:spPr bwMode="auto">
          <a:xfrm rot="-5400000">
            <a:off x="5264150" y="4121150"/>
            <a:ext cx="825500" cy="368300"/>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40974" name="Rectangle 14">
            <a:extLst>
              <a:ext uri="{FF2B5EF4-FFF2-40B4-BE49-F238E27FC236}">
                <a16:creationId xmlns:a16="http://schemas.microsoft.com/office/drawing/2014/main" id="{6B1E7814-9D12-8844-8824-1C50C3EA2A48}"/>
              </a:ext>
            </a:extLst>
          </p:cNvPr>
          <p:cNvSpPr>
            <a:spLocks noChangeArrowheads="1"/>
          </p:cNvSpPr>
          <p:nvPr/>
        </p:nvSpPr>
        <p:spPr bwMode="auto">
          <a:xfrm>
            <a:off x="5492750" y="1682750"/>
            <a:ext cx="3683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=0?</a:t>
            </a:r>
          </a:p>
        </p:txBody>
      </p:sp>
      <p:sp>
        <p:nvSpPr>
          <p:cNvPr id="40975" name="Rectangle 15">
            <a:extLst>
              <a:ext uri="{FF2B5EF4-FFF2-40B4-BE49-F238E27FC236}">
                <a16:creationId xmlns:a16="http://schemas.microsoft.com/office/drawing/2014/main" id="{335B7266-6CAE-214C-8F7D-B5B0B82F6126}"/>
              </a:ext>
            </a:extLst>
          </p:cNvPr>
          <p:cNvSpPr>
            <a:spLocks noChangeArrowheads="1"/>
          </p:cNvSpPr>
          <p:nvPr/>
        </p:nvSpPr>
        <p:spPr bwMode="auto">
          <a:xfrm>
            <a:off x="6026150" y="1682750"/>
            <a:ext cx="3683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cond</a:t>
            </a:r>
          </a:p>
        </p:txBody>
      </p:sp>
      <p:sp>
        <p:nvSpPr>
          <p:cNvPr id="40976" name="AutoShape 16">
            <a:extLst>
              <a:ext uri="{FF2B5EF4-FFF2-40B4-BE49-F238E27FC236}">
                <a16:creationId xmlns:a16="http://schemas.microsoft.com/office/drawing/2014/main" id="{66E901BE-A439-4B46-BDD7-B9A1DA4799F9}"/>
              </a:ext>
            </a:extLst>
          </p:cNvPr>
          <p:cNvSpPr>
            <a:spLocks noChangeArrowheads="1"/>
          </p:cNvSpPr>
          <p:nvPr/>
        </p:nvSpPr>
        <p:spPr bwMode="auto">
          <a:xfrm rot="-5400000">
            <a:off x="6559550" y="1225550"/>
            <a:ext cx="825500" cy="368300"/>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40977" name="Rectangle 17">
            <a:extLst>
              <a:ext uri="{FF2B5EF4-FFF2-40B4-BE49-F238E27FC236}">
                <a16:creationId xmlns:a16="http://schemas.microsoft.com/office/drawing/2014/main" id="{0CC5A604-314E-7642-93B9-5536E54D2CC0}"/>
              </a:ext>
            </a:extLst>
          </p:cNvPr>
          <p:cNvSpPr>
            <a:spLocks noChangeArrowheads="1"/>
          </p:cNvSpPr>
          <p:nvPr/>
        </p:nvSpPr>
        <p:spPr bwMode="auto">
          <a:xfrm>
            <a:off x="6788150" y="2901950"/>
            <a:ext cx="596900" cy="1358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data</a:t>
            </a:r>
          </a:p>
          <a:p>
            <a:pPr algn="ctr">
              <a:spcBef>
                <a:spcPct val="0"/>
              </a:spcBef>
              <a:buClrTx/>
              <a:buSzTx/>
              <a:buFontTx/>
              <a:buNone/>
            </a:pPr>
            <a:r>
              <a:rPr lang="en-US" altLang="en-US" sz="1200">
                <a:latin typeface="Arial" panose="020B0604020202020204" pitchFamily="34" charset="0"/>
              </a:rPr>
              <a:t>cache</a:t>
            </a:r>
          </a:p>
        </p:txBody>
      </p:sp>
      <p:sp>
        <p:nvSpPr>
          <p:cNvPr id="40978" name="Rectangle 18">
            <a:extLst>
              <a:ext uri="{FF2B5EF4-FFF2-40B4-BE49-F238E27FC236}">
                <a16:creationId xmlns:a16="http://schemas.microsoft.com/office/drawing/2014/main" id="{D7F35D3B-B810-754A-A620-1B2A3A5387A9}"/>
              </a:ext>
            </a:extLst>
          </p:cNvPr>
          <p:cNvSpPr>
            <a:spLocks noChangeArrowheads="1"/>
          </p:cNvSpPr>
          <p:nvPr/>
        </p:nvSpPr>
        <p:spPr bwMode="auto">
          <a:xfrm>
            <a:off x="7550150" y="3282950"/>
            <a:ext cx="368300" cy="4445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LMD</a:t>
            </a:r>
          </a:p>
        </p:txBody>
      </p:sp>
      <p:sp>
        <p:nvSpPr>
          <p:cNvPr id="40979" name="AutoShape 19">
            <a:extLst>
              <a:ext uri="{FF2B5EF4-FFF2-40B4-BE49-F238E27FC236}">
                <a16:creationId xmlns:a16="http://schemas.microsoft.com/office/drawing/2014/main" id="{B30BD2A0-903C-2946-8F4E-3743E93191A5}"/>
              </a:ext>
            </a:extLst>
          </p:cNvPr>
          <p:cNvSpPr>
            <a:spLocks noChangeArrowheads="1"/>
          </p:cNvSpPr>
          <p:nvPr/>
        </p:nvSpPr>
        <p:spPr bwMode="auto">
          <a:xfrm rot="-5400000">
            <a:off x="7854950" y="3587750"/>
            <a:ext cx="825500" cy="368300"/>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40980" name="Line 20">
            <a:extLst>
              <a:ext uri="{FF2B5EF4-FFF2-40B4-BE49-F238E27FC236}">
                <a16:creationId xmlns:a16="http://schemas.microsoft.com/office/drawing/2014/main" id="{7025EF51-47C0-8D46-876D-97ECC65FDC0C}"/>
              </a:ext>
            </a:extLst>
          </p:cNvPr>
          <p:cNvSpPr>
            <a:spLocks noChangeShapeType="1"/>
          </p:cNvSpPr>
          <p:nvPr/>
        </p:nvSpPr>
        <p:spPr bwMode="auto">
          <a:xfrm>
            <a:off x="762000" y="3276600"/>
            <a:ext cx="3048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981" name="Line 21">
            <a:extLst>
              <a:ext uri="{FF2B5EF4-FFF2-40B4-BE49-F238E27FC236}">
                <a16:creationId xmlns:a16="http://schemas.microsoft.com/office/drawing/2014/main" id="{8D0AD869-A533-124C-89E8-F669C68D8A27}"/>
              </a:ext>
            </a:extLst>
          </p:cNvPr>
          <p:cNvSpPr>
            <a:spLocks noChangeShapeType="1"/>
          </p:cNvSpPr>
          <p:nvPr/>
        </p:nvSpPr>
        <p:spPr bwMode="auto">
          <a:xfrm flipV="1">
            <a:off x="914400" y="2514600"/>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982" name="Line 22">
            <a:extLst>
              <a:ext uri="{FF2B5EF4-FFF2-40B4-BE49-F238E27FC236}">
                <a16:creationId xmlns:a16="http://schemas.microsoft.com/office/drawing/2014/main" id="{B802FD66-C709-2B41-804E-3BB96E7D5387}"/>
              </a:ext>
            </a:extLst>
          </p:cNvPr>
          <p:cNvSpPr>
            <a:spLocks noChangeShapeType="1"/>
          </p:cNvSpPr>
          <p:nvPr/>
        </p:nvSpPr>
        <p:spPr bwMode="auto">
          <a:xfrm>
            <a:off x="914400" y="2514600"/>
            <a:ext cx="533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983" name="Line 23">
            <a:extLst>
              <a:ext uri="{FF2B5EF4-FFF2-40B4-BE49-F238E27FC236}">
                <a16:creationId xmlns:a16="http://schemas.microsoft.com/office/drawing/2014/main" id="{2D88DA2B-ED64-3A43-B7AA-3E837CFE2FD0}"/>
              </a:ext>
            </a:extLst>
          </p:cNvPr>
          <p:cNvSpPr>
            <a:spLocks noChangeShapeType="1"/>
          </p:cNvSpPr>
          <p:nvPr/>
        </p:nvSpPr>
        <p:spPr bwMode="auto">
          <a:xfrm>
            <a:off x="1143000" y="1676400"/>
            <a:ext cx="3048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984" name="Rectangle 24">
            <a:extLst>
              <a:ext uri="{FF2B5EF4-FFF2-40B4-BE49-F238E27FC236}">
                <a16:creationId xmlns:a16="http://schemas.microsoft.com/office/drawing/2014/main" id="{2D98AE74-5BB6-724E-8029-2BB8D23D5B9D}"/>
              </a:ext>
            </a:extLst>
          </p:cNvPr>
          <p:cNvSpPr>
            <a:spLocks noChangeArrowheads="1"/>
          </p:cNvSpPr>
          <p:nvPr/>
        </p:nvSpPr>
        <p:spPr bwMode="auto">
          <a:xfrm>
            <a:off x="898525" y="1546225"/>
            <a:ext cx="27146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4</a:t>
            </a:r>
          </a:p>
        </p:txBody>
      </p:sp>
      <p:sp>
        <p:nvSpPr>
          <p:cNvPr id="40985" name="Line 25">
            <a:extLst>
              <a:ext uri="{FF2B5EF4-FFF2-40B4-BE49-F238E27FC236}">
                <a16:creationId xmlns:a16="http://schemas.microsoft.com/office/drawing/2014/main" id="{06239363-A002-E24A-BFCB-BB5883707868}"/>
              </a:ext>
            </a:extLst>
          </p:cNvPr>
          <p:cNvSpPr>
            <a:spLocks noChangeShapeType="1"/>
          </p:cNvSpPr>
          <p:nvPr/>
        </p:nvSpPr>
        <p:spPr bwMode="auto">
          <a:xfrm>
            <a:off x="6400800" y="1905000"/>
            <a:ext cx="533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986" name="Line 26">
            <a:extLst>
              <a:ext uri="{FF2B5EF4-FFF2-40B4-BE49-F238E27FC236}">
                <a16:creationId xmlns:a16="http://schemas.microsoft.com/office/drawing/2014/main" id="{AF3FC036-6A45-8B4E-AC64-8B463FD7D159}"/>
              </a:ext>
            </a:extLst>
          </p:cNvPr>
          <p:cNvSpPr>
            <a:spLocks noChangeShapeType="1"/>
          </p:cNvSpPr>
          <p:nvPr/>
        </p:nvSpPr>
        <p:spPr bwMode="auto">
          <a:xfrm flipV="1">
            <a:off x="6934200" y="1828800"/>
            <a:ext cx="0" cy="76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987" name="Line 27">
            <a:extLst>
              <a:ext uri="{FF2B5EF4-FFF2-40B4-BE49-F238E27FC236}">
                <a16:creationId xmlns:a16="http://schemas.microsoft.com/office/drawing/2014/main" id="{620DCF90-2307-074D-BE66-1D7BCD596E15}"/>
              </a:ext>
            </a:extLst>
          </p:cNvPr>
          <p:cNvSpPr>
            <a:spLocks noChangeShapeType="1"/>
          </p:cNvSpPr>
          <p:nvPr/>
        </p:nvSpPr>
        <p:spPr bwMode="auto">
          <a:xfrm>
            <a:off x="7162800" y="1447800"/>
            <a:ext cx="228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988" name="Line 28">
            <a:extLst>
              <a:ext uri="{FF2B5EF4-FFF2-40B4-BE49-F238E27FC236}">
                <a16:creationId xmlns:a16="http://schemas.microsoft.com/office/drawing/2014/main" id="{E6369132-E594-2642-B6D3-15C94778DB01}"/>
              </a:ext>
            </a:extLst>
          </p:cNvPr>
          <p:cNvSpPr>
            <a:spLocks noChangeShapeType="1"/>
          </p:cNvSpPr>
          <p:nvPr/>
        </p:nvSpPr>
        <p:spPr bwMode="auto">
          <a:xfrm flipV="1">
            <a:off x="7391400" y="838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989" name="Line 29">
            <a:extLst>
              <a:ext uri="{FF2B5EF4-FFF2-40B4-BE49-F238E27FC236}">
                <a16:creationId xmlns:a16="http://schemas.microsoft.com/office/drawing/2014/main" id="{070AD259-4BA2-5049-869C-8E86505D16C0}"/>
              </a:ext>
            </a:extLst>
          </p:cNvPr>
          <p:cNvSpPr>
            <a:spLocks noChangeShapeType="1"/>
          </p:cNvSpPr>
          <p:nvPr/>
        </p:nvSpPr>
        <p:spPr bwMode="auto">
          <a:xfrm flipH="1">
            <a:off x="533400" y="838200"/>
            <a:ext cx="6858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990" name="Line 30">
            <a:extLst>
              <a:ext uri="{FF2B5EF4-FFF2-40B4-BE49-F238E27FC236}">
                <a16:creationId xmlns:a16="http://schemas.microsoft.com/office/drawing/2014/main" id="{14E59B2F-474E-0A4B-A9F1-BE61A2FFBE4C}"/>
              </a:ext>
            </a:extLst>
          </p:cNvPr>
          <p:cNvSpPr>
            <a:spLocks noChangeShapeType="1"/>
          </p:cNvSpPr>
          <p:nvPr/>
        </p:nvSpPr>
        <p:spPr bwMode="auto">
          <a:xfrm>
            <a:off x="533400" y="838200"/>
            <a:ext cx="0" cy="1371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991" name="Line 31">
            <a:extLst>
              <a:ext uri="{FF2B5EF4-FFF2-40B4-BE49-F238E27FC236}">
                <a16:creationId xmlns:a16="http://schemas.microsoft.com/office/drawing/2014/main" id="{84A48B30-7A08-5344-81E3-4DFAA8183739}"/>
              </a:ext>
            </a:extLst>
          </p:cNvPr>
          <p:cNvSpPr>
            <a:spLocks noChangeShapeType="1"/>
          </p:cNvSpPr>
          <p:nvPr/>
        </p:nvSpPr>
        <p:spPr bwMode="auto">
          <a:xfrm>
            <a:off x="1905000" y="2133600"/>
            <a:ext cx="6858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992" name="Rectangle 32">
            <a:extLst>
              <a:ext uri="{FF2B5EF4-FFF2-40B4-BE49-F238E27FC236}">
                <a16:creationId xmlns:a16="http://schemas.microsoft.com/office/drawing/2014/main" id="{D616FEA6-1F3A-D343-A33E-62A865A66C3A}"/>
              </a:ext>
            </a:extLst>
          </p:cNvPr>
          <p:cNvSpPr>
            <a:spLocks noChangeArrowheads="1"/>
          </p:cNvSpPr>
          <p:nvPr/>
        </p:nvSpPr>
        <p:spPr bwMode="auto">
          <a:xfrm>
            <a:off x="4806950" y="5340350"/>
            <a:ext cx="673100" cy="4445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Imm</a:t>
            </a:r>
          </a:p>
        </p:txBody>
      </p:sp>
      <p:sp>
        <p:nvSpPr>
          <p:cNvPr id="40993" name="Line 33">
            <a:extLst>
              <a:ext uri="{FF2B5EF4-FFF2-40B4-BE49-F238E27FC236}">
                <a16:creationId xmlns:a16="http://schemas.microsoft.com/office/drawing/2014/main" id="{AF32AFE3-887B-3940-A31E-06405AE94056}"/>
              </a:ext>
            </a:extLst>
          </p:cNvPr>
          <p:cNvSpPr>
            <a:spLocks noChangeShapeType="1"/>
          </p:cNvSpPr>
          <p:nvPr/>
        </p:nvSpPr>
        <p:spPr bwMode="auto">
          <a:xfrm>
            <a:off x="4648200" y="55626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994" name="Line 34">
            <a:extLst>
              <a:ext uri="{FF2B5EF4-FFF2-40B4-BE49-F238E27FC236}">
                <a16:creationId xmlns:a16="http://schemas.microsoft.com/office/drawing/2014/main" id="{602C2CE1-266D-2643-A68B-56527EEC2E3B}"/>
              </a:ext>
            </a:extLst>
          </p:cNvPr>
          <p:cNvSpPr>
            <a:spLocks noChangeShapeType="1"/>
          </p:cNvSpPr>
          <p:nvPr/>
        </p:nvSpPr>
        <p:spPr bwMode="auto">
          <a:xfrm flipV="1">
            <a:off x="5105400" y="4572000"/>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995" name="Line 35">
            <a:extLst>
              <a:ext uri="{FF2B5EF4-FFF2-40B4-BE49-F238E27FC236}">
                <a16:creationId xmlns:a16="http://schemas.microsoft.com/office/drawing/2014/main" id="{07EF2CA4-0AEA-2D45-8909-77440758F585}"/>
              </a:ext>
            </a:extLst>
          </p:cNvPr>
          <p:cNvSpPr>
            <a:spLocks noChangeShapeType="1"/>
          </p:cNvSpPr>
          <p:nvPr/>
        </p:nvSpPr>
        <p:spPr bwMode="auto">
          <a:xfrm>
            <a:off x="5105400" y="4572000"/>
            <a:ext cx="381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996" name="Line 36">
            <a:extLst>
              <a:ext uri="{FF2B5EF4-FFF2-40B4-BE49-F238E27FC236}">
                <a16:creationId xmlns:a16="http://schemas.microsoft.com/office/drawing/2014/main" id="{3E173078-F38A-C642-A1E7-5ED3907D7E95}"/>
              </a:ext>
            </a:extLst>
          </p:cNvPr>
          <p:cNvSpPr>
            <a:spLocks noChangeShapeType="1"/>
          </p:cNvSpPr>
          <p:nvPr/>
        </p:nvSpPr>
        <p:spPr bwMode="auto">
          <a:xfrm>
            <a:off x="5257800" y="41910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997" name="Line 37">
            <a:extLst>
              <a:ext uri="{FF2B5EF4-FFF2-40B4-BE49-F238E27FC236}">
                <a16:creationId xmlns:a16="http://schemas.microsoft.com/office/drawing/2014/main" id="{82BB7C52-02A3-2542-94A0-8F7FECD76902}"/>
              </a:ext>
            </a:extLst>
          </p:cNvPr>
          <p:cNvSpPr>
            <a:spLocks noChangeShapeType="1"/>
          </p:cNvSpPr>
          <p:nvPr/>
        </p:nvSpPr>
        <p:spPr bwMode="auto">
          <a:xfrm>
            <a:off x="5257800" y="30480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998" name="Line 38">
            <a:extLst>
              <a:ext uri="{FF2B5EF4-FFF2-40B4-BE49-F238E27FC236}">
                <a16:creationId xmlns:a16="http://schemas.microsoft.com/office/drawing/2014/main" id="{F24FFE9A-A355-1F4C-A281-38E62FD441F4}"/>
              </a:ext>
            </a:extLst>
          </p:cNvPr>
          <p:cNvSpPr>
            <a:spLocks noChangeShapeType="1"/>
          </p:cNvSpPr>
          <p:nvPr/>
        </p:nvSpPr>
        <p:spPr bwMode="auto">
          <a:xfrm>
            <a:off x="4495800" y="41910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999" name="Line 39">
            <a:extLst>
              <a:ext uri="{FF2B5EF4-FFF2-40B4-BE49-F238E27FC236}">
                <a16:creationId xmlns:a16="http://schemas.microsoft.com/office/drawing/2014/main" id="{044D5027-D2F0-D84A-86EE-937EA8D03068}"/>
              </a:ext>
            </a:extLst>
          </p:cNvPr>
          <p:cNvSpPr>
            <a:spLocks noChangeShapeType="1"/>
          </p:cNvSpPr>
          <p:nvPr/>
        </p:nvSpPr>
        <p:spPr bwMode="auto">
          <a:xfrm>
            <a:off x="4495800" y="30480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00" name="Line 40">
            <a:extLst>
              <a:ext uri="{FF2B5EF4-FFF2-40B4-BE49-F238E27FC236}">
                <a16:creationId xmlns:a16="http://schemas.microsoft.com/office/drawing/2014/main" id="{40794B68-533D-BF4B-8EB3-7772FD63EA6E}"/>
              </a:ext>
            </a:extLst>
          </p:cNvPr>
          <p:cNvSpPr>
            <a:spLocks noChangeShapeType="1"/>
          </p:cNvSpPr>
          <p:nvPr/>
        </p:nvSpPr>
        <p:spPr bwMode="auto">
          <a:xfrm>
            <a:off x="5334000" y="19050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01" name="Line 41">
            <a:extLst>
              <a:ext uri="{FF2B5EF4-FFF2-40B4-BE49-F238E27FC236}">
                <a16:creationId xmlns:a16="http://schemas.microsoft.com/office/drawing/2014/main" id="{9FC01798-AA1A-8B4F-BBE7-8A7D18888BEB}"/>
              </a:ext>
            </a:extLst>
          </p:cNvPr>
          <p:cNvSpPr>
            <a:spLocks noChangeShapeType="1"/>
          </p:cNvSpPr>
          <p:nvPr/>
        </p:nvSpPr>
        <p:spPr bwMode="auto">
          <a:xfrm flipV="1">
            <a:off x="5334000" y="1905000"/>
            <a:ext cx="0" cy="1143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02" name="Line 42">
            <a:extLst>
              <a:ext uri="{FF2B5EF4-FFF2-40B4-BE49-F238E27FC236}">
                <a16:creationId xmlns:a16="http://schemas.microsoft.com/office/drawing/2014/main" id="{5224C95E-00FB-624F-8C8D-9244259FD6B9}"/>
              </a:ext>
            </a:extLst>
          </p:cNvPr>
          <p:cNvSpPr>
            <a:spLocks noChangeShapeType="1"/>
          </p:cNvSpPr>
          <p:nvPr/>
        </p:nvSpPr>
        <p:spPr bwMode="auto">
          <a:xfrm flipV="1">
            <a:off x="6629400" y="1600200"/>
            <a:ext cx="0" cy="1905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03" name="Line 43">
            <a:extLst>
              <a:ext uri="{FF2B5EF4-FFF2-40B4-BE49-F238E27FC236}">
                <a16:creationId xmlns:a16="http://schemas.microsoft.com/office/drawing/2014/main" id="{62BDBDB2-B97B-A146-A15F-FB34AB9A01BB}"/>
              </a:ext>
            </a:extLst>
          </p:cNvPr>
          <p:cNvSpPr>
            <a:spLocks noChangeShapeType="1"/>
          </p:cNvSpPr>
          <p:nvPr/>
        </p:nvSpPr>
        <p:spPr bwMode="auto">
          <a:xfrm>
            <a:off x="6629400" y="16002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04" name="Line 44">
            <a:extLst>
              <a:ext uri="{FF2B5EF4-FFF2-40B4-BE49-F238E27FC236}">
                <a16:creationId xmlns:a16="http://schemas.microsoft.com/office/drawing/2014/main" id="{2EAADBAE-8B10-794E-AB3F-46B1F2D8CF8C}"/>
              </a:ext>
            </a:extLst>
          </p:cNvPr>
          <p:cNvSpPr>
            <a:spLocks noChangeShapeType="1"/>
          </p:cNvSpPr>
          <p:nvPr/>
        </p:nvSpPr>
        <p:spPr bwMode="auto">
          <a:xfrm>
            <a:off x="7391400" y="35052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05" name="Line 45">
            <a:extLst>
              <a:ext uri="{FF2B5EF4-FFF2-40B4-BE49-F238E27FC236}">
                <a16:creationId xmlns:a16="http://schemas.microsoft.com/office/drawing/2014/main" id="{58C0C963-6F78-D441-BEA7-2EB2E05879EE}"/>
              </a:ext>
            </a:extLst>
          </p:cNvPr>
          <p:cNvSpPr>
            <a:spLocks noChangeShapeType="1"/>
          </p:cNvSpPr>
          <p:nvPr/>
        </p:nvSpPr>
        <p:spPr bwMode="auto">
          <a:xfrm>
            <a:off x="7924800" y="35052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06" name="Line 46">
            <a:extLst>
              <a:ext uri="{FF2B5EF4-FFF2-40B4-BE49-F238E27FC236}">
                <a16:creationId xmlns:a16="http://schemas.microsoft.com/office/drawing/2014/main" id="{5E8AE393-BB9C-4640-9794-7E8516B29EAF}"/>
              </a:ext>
            </a:extLst>
          </p:cNvPr>
          <p:cNvSpPr>
            <a:spLocks noChangeShapeType="1"/>
          </p:cNvSpPr>
          <p:nvPr/>
        </p:nvSpPr>
        <p:spPr bwMode="auto">
          <a:xfrm flipV="1">
            <a:off x="6629400" y="3505200"/>
            <a:ext cx="0" cy="1066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07" name="Line 47">
            <a:extLst>
              <a:ext uri="{FF2B5EF4-FFF2-40B4-BE49-F238E27FC236}">
                <a16:creationId xmlns:a16="http://schemas.microsoft.com/office/drawing/2014/main" id="{2984F0CB-E1F1-1546-93EC-681ADD8F4684}"/>
              </a:ext>
            </a:extLst>
          </p:cNvPr>
          <p:cNvSpPr>
            <a:spLocks noChangeShapeType="1"/>
          </p:cNvSpPr>
          <p:nvPr/>
        </p:nvSpPr>
        <p:spPr bwMode="auto">
          <a:xfrm>
            <a:off x="6629400" y="4572000"/>
            <a:ext cx="1295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08" name="Line 48">
            <a:extLst>
              <a:ext uri="{FF2B5EF4-FFF2-40B4-BE49-F238E27FC236}">
                <a16:creationId xmlns:a16="http://schemas.microsoft.com/office/drawing/2014/main" id="{D6FCA48F-659E-1B43-8D94-81F7D4FF231F}"/>
              </a:ext>
            </a:extLst>
          </p:cNvPr>
          <p:cNvSpPr>
            <a:spLocks noChangeShapeType="1"/>
          </p:cNvSpPr>
          <p:nvPr/>
        </p:nvSpPr>
        <p:spPr bwMode="auto">
          <a:xfrm flipV="1">
            <a:off x="7924800" y="39624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09" name="Line 49">
            <a:extLst>
              <a:ext uri="{FF2B5EF4-FFF2-40B4-BE49-F238E27FC236}">
                <a16:creationId xmlns:a16="http://schemas.microsoft.com/office/drawing/2014/main" id="{D0E6F621-5C19-3248-94C8-0066C81B7B84}"/>
              </a:ext>
            </a:extLst>
          </p:cNvPr>
          <p:cNvSpPr>
            <a:spLocks noChangeShapeType="1"/>
          </p:cNvSpPr>
          <p:nvPr/>
        </p:nvSpPr>
        <p:spPr bwMode="auto">
          <a:xfrm>
            <a:off x="7924800" y="39624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10" name="Line 50">
            <a:extLst>
              <a:ext uri="{FF2B5EF4-FFF2-40B4-BE49-F238E27FC236}">
                <a16:creationId xmlns:a16="http://schemas.microsoft.com/office/drawing/2014/main" id="{9D74E869-9427-5C4B-9A31-DBA2DF9F2235}"/>
              </a:ext>
            </a:extLst>
          </p:cNvPr>
          <p:cNvSpPr>
            <a:spLocks noChangeShapeType="1"/>
          </p:cNvSpPr>
          <p:nvPr/>
        </p:nvSpPr>
        <p:spPr bwMode="auto">
          <a:xfrm flipH="1">
            <a:off x="3200400" y="6096000"/>
            <a:ext cx="5410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11" name="Line 51">
            <a:extLst>
              <a:ext uri="{FF2B5EF4-FFF2-40B4-BE49-F238E27FC236}">
                <a16:creationId xmlns:a16="http://schemas.microsoft.com/office/drawing/2014/main" id="{4693D88A-6AFD-ED49-AD97-5DEE1F8909CB}"/>
              </a:ext>
            </a:extLst>
          </p:cNvPr>
          <p:cNvSpPr>
            <a:spLocks noChangeShapeType="1"/>
          </p:cNvSpPr>
          <p:nvPr/>
        </p:nvSpPr>
        <p:spPr bwMode="auto">
          <a:xfrm flipV="1">
            <a:off x="8610600" y="3733800"/>
            <a:ext cx="0" cy="2362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12" name="Line 52">
            <a:extLst>
              <a:ext uri="{FF2B5EF4-FFF2-40B4-BE49-F238E27FC236}">
                <a16:creationId xmlns:a16="http://schemas.microsoft.com/office/drawing/2014/main" id="{057D2AE9-5758-994C-8321-96F8D5292458}"/>
              </a:ext>
            </a:extLst>
          </p:cNvPr>
          <p:cNvSpPr>
            <a:spLocks noChangeShapeType="1"/>
          </p:cNvSpPr>
          <p:nvPr/>
        </p:nvSpPr>
        <p:spPr bwMode="auto">
          <a:xfrm>
            <a:off x="8458200" y="37338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13" name="Line 53">
            <a:extLst>
              <a:ext uri="{FF2B5EF4-FFF2-40B4-BE49-F238E27FC236}">
                <a16:creationId xmlns:a16="http://schemas.microsoft.com/office/drawing/2014/main" id="{C590EC62-874D-CF45-A12E-C1B6C6A4FE28}"/>
              </a:ext>
            </a:extLst>
          </p:cNvPr>
          <p:cNvSpPr>
            <a:spLocks noChangeShapeType="1"/>
          </p:cNvSpPr>
          <p:nvPr/>
        </p:nvSpPr>
        <p:spPr bwMode="auto">
          <a:xfrm flipV="1">
            <a:off x="3200400" y="4724400"/>
            <a:ext cx="0" cy="1371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14" name="Line 54">
            <a:extLst>
              <a:ext uri="{FF2B5EF4-FFF2-40B4-BE49-F238E27FC236}">
                <a16:creationId xmlns:a16="http://schemas.microsoft.com/office/drawing/2014/main" id="{3A1E3F6F-72D3-C64D-9E38-BBADC53A6573}"/>
              </a:ext>
            </a:extLst>
          </p:cNvPr>
          <p:cNvSpPr>
            <a:spLocks noChangeShapeType="1"/>
          </p:cNvSpPr>
          <p:nvPr/>
        </p:nvSpPr>
        <p:spPr bwMode="auto">
          <a:xfrm>
            <a:off x="3200400" y="4724400"/>
            <a:ext cx="381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15" name="Line 55">
            <a:extLst>
              <a:ext uri="{FF2B5EF4-FFF2-40B4-BE49-F238E27FC236}">
                <a16:creationId xmlns:a16="http://schemas.microsoft.com/office/drawing/2014/main" id="{ED108FE8-D0A1-CD46-80D6-94354ABB3ABD}"/>
              </a:ext>
            </a:extLst>
          </p:cNvPr>
          <p:cNvSpPr>
            <a:spLocks noChangeShapeType="1"/>
          </p:cNvSpPr>
          <p:nvPr/>
        </p:nvSpPr>
        <p:spPr bwMode="auto">
          <a:xfrm>
            <a:off x="2133600" y="36576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16" name="Line 56">
            <a:extLst>
              <a:ext uri="{FF2B5EF4-FFF2-40B4-BE49-F238E27FC236}">
                <a16:creationId xmlns:a16="http://schemas.microsoft.com/office/drawing/2014/main" id="{57E974B0-8209-FF4C-8856-A0FD266DF1C0}"/>
              </a:ext>
            </a:extLst>
          </p:cNvPr>
          <p:cNvSpPr>
            <a:spLocks noChangeShapeType="1"/>
          </p:cNvSpPr>
          <p:nvPr/>
        </p:nvSpPr>
        <p:spPr bwMode="auto">
          <a:xfrm>
            <a:off x="3352800" y="30480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17" name="Line 57">
            <a:extLst>
              <a:ext uri="{FF2B5EF4-FFF2-40B4-BE49-F238E27FC236}">
                <a16:creationId xmlns:a16="http://schemas.microsoft.com/office/drawing/2014/main" id="{A0859CF7-BD1C-B845-9DAA-B945DA76F49A}"/>
              </a:ext>
            </a:extLst>
          </p:cNvPr>
          <p:cNvSpPr>
            <a:spLocks noChangeShapeType="1"/>
          </p:cNvSpPr>
          <p:nvPr/>
        </p:nvSpPr>
        <p:spPr bwMode="auto">
          <a:xfrm>
            <a:off x="3352800" y="35814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18" name="Line 58">
            <a:extLst>
              <a:ext uri="{FF2B5EF4-FFF2-40B4-BE49-F238E27FC236}">
                <a16:creationId xmlns:a16="http://schemas.microsoft.com/office/drawing/2014/main" id="{1288444F-FC90-EE45-B644-BC3A525D30B4}"/>
              </a:ext>
            </a:extLst>
          </p:cNvPr>
          <p:cNvSpPr>
            <a:spLocks noChangeShapeType="1"/>
          </p:cNvSpPr>
          <p:nvPr/>
        </p:nvSpPr>
        <p:spPr bwMode="auto">
          <a:xfrm>
            <a:off x="3352800" y="41148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19" name="Line 59">
            <a:extLst>
              <a:ext uri="{FF2B5EF4-FFF2-40B4-BE49-F238E27FC236}">
                <a16:creationId xmlns:a16="http://schemas.microsoft.com/office/drawing/2014/main" id="{C8716738-03E5-8D42-B391-7E044A0B3F4B}"/>
              </a:ext>
            </a:extLst>
          </p:cNvPr>
          <p:cNvSpPr>
            <a:spLocks noChangeShapeType="1"/>
          </p:cNvSpPr>
          <p:nvPr/>
        </p:nvSpPr>
        <p:spPr bwMode="auto">
          <a:xfrm flipV="1">
            <a:off x="3352800" y="3048000"/>
            <a:ext cx="0" cy="1066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20" name="Line 60">
            <a:extLst>
              <a:ext uri="{FF2B5EF4-FFF2-40B4-BE49-F238E27FC236}">
                <a16:creationId xmlns:a16="http://schemas.microsoft.com/office/drawing/2014/main" id="{C9B8ECD9-29BF-F94D-A9D0-A5731F354E0C}"/>
              </a:ext>
            </a:extLst>
          </p:cNvPr>
          <p:cNvSpPr>
            <a:spLocks noChangeShapeType="1"/>
          </p:cNvSpPr>
          <p:nvPr/>
        </p:nvSpPr>
        <p:spPr bwMode="auto">
          <a:xfrm>
            <a:off x="2895600" y="3657600"/>
            <a:ext cx="457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21" name="Line 61">
            <a:extLst>
              <a:ext uri="{FF2B5EF4-FFF2-40B4-BE49-F238E27FC236}">
                <a16:creationId xmlns:a16="http://schemas.microsoft.com/office/drawing/2014/main" id="{FB683227-D3B6-5B44-BA46-78979CF1BA09}"/>
              </a:ext>
            </a:extLst>
          </p:cNvPr>
          <p:cNvSpPr>
            <a:spLocks noChangeShapeType="1"/>
          </p:cNvSpPr>
          <p:nvPr/>
        </p:nvSpPr>
        <p:spPr bwMode="auto">
          <a:xfrm>
            <a:off x="6477000" y="35052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22" name="Line 62">
            <a:extLst>
              <a:ext uri="{FF2B5EF4-FFF2-40B4-BE49-F238E27FC236}">
                <a16:creationId xmlns:a16="http://schemas.microsoft.com/office/drawing/2014/main" id="{8A02E2B0-7460-054A-ADEF-6619B6A0550E}"/>
              </a:ext>
            </a:extLst>
          </p:cNvPr>
          <p:cNvSpPr>
            <a:spLocks noChangeShapeType="1"/>
          </p:cNvSpPr>
          <p:nvPr/>
        </p:nvSpPr>
        <p:spPr bwMode="auto">
          <a:xfrm>
            <a:off x="6629400" y="36576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23" name="Line 63">
            <a:extLst>
              <a:ext uri="{FF2B5EF4-FFF2-40B4-BE49-F238E27FC236}">
                <a16:creationId xmlns:a16="http://schemas.microsoft.com/office/drawing/2014/main" id="{BEA41622-33D1-2046-A9DB-89943D53708B}"/>
              </a:ext>
            </a:extLst>
          </p:cNvPr>
          <p:cNvSpPr>
            <a:spLocks noChangeShapeType="1"/>
          </p:cNvSpPr>
          <p:nvPr/>
        </p:nvSpPr>
        <p:spPr bwMode="auto">
          <a:xfrm>
            <a:off x="5867400" y="40386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24" name="Line 64">
            <a:extLst>
              <a:ext uri="{FF2B5EF4-FFF2-40B4-BE49-F238E27FC236}">
                <a16:creationId xmlns:a16="http://schemas.microsoft.com/office/drawing/2014/main" id="{588BDBC5-80D9-4447-8D60-4675F2CF9DD2}"/>
              </a:ext>
            </a:extLst>
          </p:cNvPr>
          <p:cNvSpPr>
            <a:spLocks noChangeShapeType="1"/>
          </p:cNvSpPr>
          <p:nvPr/>
        </p:nvSpPr>
        <p:spPr bwMode="auto">
          <a:xfrm>
            <a:off x="5867400" y="30480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25" name="Line 65">
            <a:extLst>
              <a:ext uri="{FF2B5EF4-FFF2-40B4-BE49-F238E27FC236}">
                <a16:creationId xmlns:a16="http://schemas.microsoft.com/office/drawing/2014/main" id="{06EBFF20-A0DB-9041-A018-7689C7F236FA}"/>
              </a:ext>
            </a:extLst>
          </p:cNvPr>
          <p:cNvSpPr>
            <a:spLocks noChangeShapeType="1"/>
          </p:cNvSpPr>
          <p:nvPr/>
        </p:nvSpPr>
        <p:spPr bwMode="auto">
          <a:xfrm flipV="1">
            <a:off x="3352800" y="4114800"/>
            <a:ext cx="0" cy="1447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26" name="Line 66">
            <a:extLst>
              <a:ext uri="{FF2B5EF4-FFF2-40B4-BE49-F238E27FC236}">
                <a16:creationId xmlns:a16="http://schemas.microsoft.com/office/drawing/2014/main" id="{04E15DC0-BD79-7644-AFFE-ADC730F754BE}"/>
              </a:ext>
            </a:extLst>
          </p:cNvPr>
          <p:cNvSpPr>
            <a:spLocks noChangeShapeType="1"/>
          </p:cNvSpPr>
          <p:nvPr/>
        </p:nvSpPr>
        <p:spPr bwMode="auto">
          <a:xfrm>
            <a:off x="3352800" y="5562600"/>
            <a:ext cx="3048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27" name="Line 67">
            <a:extLst>
              <a:ext uri="{FF2B5EF4-FFF2-40B4-BE49-F238E27FC236}">
                <a16:creationId xmlns:a16="http://schemas.microsoft.com/office/drawing/2014/main" id="{C7241199-0AEE-ED43-9D83-2A521F4EB179}"/>
              </a:ext>
            </a:extLst>
          </p:cNvPr>
          <p:cNvSpPr>
            <a:spLocks noChangeShapeType="1"/>
          </p:cNvSpPr>
          <p:nvPr/>
        </p:nvSpPr>
        <p:spPr bwMode="auto">
          <a:xfrm>
            <a:off x="3124200" y="2133600"/>
            <a:ext cx="1600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28" name="Line 68">
            <a:extLst>
              <a:ext uri="{FF2B5EF4-FFF2-40B4-BE49-F238E27FC236}">
                <a16:creationId xmlns:a16="http://schemas.microsoft.com/office/drawing/2014/main" id="{48C31F59-967E-9345-99BF-031B3BDE6EB1}"/>
              </a:ext>
            </a:extLst>
          </p:cNvPr>
          <p:cNvSpPr>
            <a:spLocks noChangeShapeType="1"/>
          </p:cNvSpPr>
          <p:nvPr/>
        </p:nvSpPr>
        <p:spPr bwMode="auto">
          <a:xfrm>
            <a:off x="4724400" y="2133600"/>
            <a:ext cx="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29" name="Line 69">
            <a:extLst>
              <a:ext uri="{FF2B5EF4-FFF2-40B4-BE49-F238E27FC236}">
                <a16:creationId xmlns:a16="http://schemas.microsoft.com/office/drawing/2014/main" id="{B50E4024-F547-9D4C-B600-655F03EDB9BC}"/>
              </a:ext>
            </a:extLst>
          </p:cNvPr>
          <p:cNvSpPr>
            <a:spLocks noChangeShapeType="1"/>
          </p:cNvSpPr>
          <p:nvPr/>
        </p:nvSpPr>
        <p:spPr bwMode="auto">
          <a:xfrm>
            <a:off x="4724400" y="2667000"/>
            <a:ext cx="762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30" name="Line 70">
            <a:extLst>
              <a:ext uri="{FF2B5EF4-FFF2-40B4-BE49-F238E27FC236}">
                <a16:creationId xmlns:a16="http://schemas.microsoft.com/office/drawing/2014/main" id="{97AC2111-5D08-C64A-8040-6FB4DADC0A37}"/>
              </a:ext>
            </a:extLst>
          </p:cNvPr>
          <p:cNvSpPr>
            <a:spLocks noChangeShapeType="1"/>
          </p:cNvSpPr>
          <p:nvPr/>
        </p:nvSpPr>
        <p:spPr bwMode="auto">
          <a:xfrm>
            <a:off x="4648200" y="121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31" name="Line 71">
            <a:extLst>
              <a:ext uri="{FF2B5EF4-FFF2-40B4-BE49-F238E27FC236}">
                <a16:creationId xmlns:a16="http://schemas.microsoft.com/office/drawing/2014/main" id="{E90AC9D7-6CF6-404D-8800-C4A2DD310185}"/>
              </a:ext>
            </a:extLst>
          </p:cNvPr>
          <p:cNvSpPr>
            <a:spLocks noChangeShapeType="1"/>
          </p:cNvSpPr>
          <p:nvPr/>
        </p:nvSpPr>
        <p:spPr bwMode="auto">
          <a:xfrm>
            <a:off x="4648200" y="1219200"/>
            <a:ext cx="2133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32" name="Line 72">
            <a:extLst>
              <a:ext uri="{FF2B5EF4-FFF2-40B4-BE49-F238E27FC236}">
                <a16:creationId xmlns:a16="http://schemas.microsoft.com/office/drawing/2014/main" id="{56F7956C-CBE0-2F4B-9585-A6BCD87A95F5}"/>
              </a:ext>
            </a:extLst>
          </p:cNvPr>
          <p:cNvSpPr>
            <a:spLocks noChangeShapeType="1"/>
          </p:cNvSpPr>
          <p:nvPr/>
        </p:nvSpPr>
        <p:spPr bwMode="auto">
          <a:xfrm>
            <a:off x="3124200" y="762000"/>
            <a:ext cx="0" cy="55626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33" name="Line 73">
            <a:extLst>
              <a:ext uri="{FF2B5EF4-FFF2-40B4-BE49-F238E27FC236}">
                <a16:creationId xmlns:a16="http://schemas.microsoft.com/office/drawing/2014/main" id="{7820A046-6AF9-804D-8FB4-64A34E9CAF22}"/>
              </a:ext>
            </a:extLst>
          </p:cNvPr>
          <p:cNvSpPr>
            <a:spLocks noChangeShapeType="1"/>
          </p:cNvSpPr>
          <p:nvPr/>
        </p:nvSpPr>
        <p:spPr bwMode="auto">
          <a:xfrm>
            <a:off x="5410200" y="762000"/>
            <a:ext cx="0" cy="55626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34" name="Line 74">
            <a:extLst>
              <a:ext uri="{FF2B5EF4-FFF2-40B4-BE49-F238E27FC236}">
                <a16:creationId xmlns:a16="http://schemas.microsoft.com/office/drawing/2014/main" id="{4ADAA5DA-9C50-0A42-B787-7E9B17AA811F}"/>
              </a:ext>
            </a:extLst>
          </p:cNvPr>
          <p:cNvSpPr>
            <a:spLocks noChangeShapeType="1"/>
          </p:cNvSpPr>
          <p:nvPr/>
        </p:nvSpPr>
        <p:spPr bwMode="auto">
          <a:xfrm>
            <a:off x="8001000" y="762000"/>
            <a:ext cx="0" cy="55626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35" name="Line 75">
            <a:extLst>
              <a:ext uri="{FF2B5EF4-FFF2-40B4-BE49-F238E27FC236}">
                <a16:creationId xmlns:a16="http://schemas.microsoft.com/office/drawing/2014/main" id="{71C10A58-BEBE-F047-AC60-2AEABD7E7FDC}"/>
              </a:ext>
            </a:extLst>
          </p:cNvPr>
          <p:cNvSpPr>
            <a:spLocks noChangeShapeType="1"/>
          </p:cNvSpPr>
          <p:nvPr/>
        </p:nvSpPr>
        <p:spPr bwMode="auto">
          <a:xfrm>
            <a:off x="6553200" y="762000"/>
            <a:ext cx="0" cy="5562600"/>
          </a:xfrm>
          <a:prstGeom prst="line">
            <a:avLst/>
          </a:prstGeom>
          <a:noFill/>
          <a:ln w="127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36" name="Line 76">
            <a:extLst>
              <a:ext uri="{FF2B5EF4-FFF2-40B4-BE49-F238E27FC236}">
                <a16:creationId xmlns:a16="http://schemas.microsoft.com/office/drawing/2014/main" id="{92DAFF03-11EC-5B4B-A23E-59AAEFE0593F}"/>
              </a:ext>
            </a:extLst>
          </p:cNvPr>
          <p:cNvSpPr>
            <a:spLocks noChangeShapeType="1"/>
          </p:cNvSpPr>
          <p:nvPr/>
        </p:nvSpPr>
        <p:spPr bwMode="auto">
          <a:xfrm>
            <a:off x="5867400" y="19050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037" name="Rectangle 77">
            <a:extLst>
              <a:ext uri="{FF2B5EF4-FFF2-40B4-BE49-F238E27FC236}">
                <a16:creationId xmlns:a16="http://schemas.microsoft.com/office/drawing/2014/main" id="{8C0D9F13-86E0-CD44-AE38-B72DD67AA233}"/>
              </a:ext>
            </a:extLst>
          </p:cNvPr>
          <p:cNvSpPr>
            <a:spLocks noChangeArrowheads="1"/>
          </p:cNvSpPr>
          <p:nvPr/>
        </p:nvSpPr>
        <p:spPr bwMode="auto">
          <a:xfrm>
            <a:off x="1127125" y="503238"/>
            <a:ext cx="17002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Instruction Fetch (IF)</a:t>
            </a:r>
          </a:p>
        </p:txBody>
      </p:sp>
      <p:sp>
        <p:nvSpPr>
          <p:cNvPr id="41038" name="Rectangle 78">
            <a:extLst>
              <a:ext uri="{FF2B5EF4-FFF2-40B4-BE49-F238E27FC236}">
                <a16:creationId xmlns:a16="http://schemas.microsoft.com/office/drawing/2014/main" id="{ED7BC56D-CB6A-9F45-942B-865B6482E01D}"/>
              </a:ext>
            </a:extLst>
          </p:cNvPr>
          <p:cNvSpPr>
            <a:spLocks noChangeArrowheads="1"/>
          </p:cNvSpPr>
          <p:nvPr/>
        </p:nvSpPr>
        <p:spPr bwMode="auto">
          <a:xfrm>
            <a:off x="3260725" y="503238"/>
            <a:ext cx="1860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Instruction Decode (ID)</a:t>
            </a:r>
          </a:p>
        </p:txBody>
      </p:sp>
      <p:sp>
        <p:nvSpPr>
          <p:cNvPr id="41039" name="Rectangle 79">
            <a:extLst>
              <a:ext uri="{FF2B5EF4-FFF2-40B4-BE49-F238E27FC236}">
                <a16:creationId xmlns:a16="http://schemas.microsoft.com/office/drawing/2014/main" id="{67EC2D00-989F-2745-8147-F3B658830584}"/>
              </a:ext>
            </a:extLst>
          </p:cNvPr>
          <p:cNvSpPr>
            <a:spLocks noChangeArrowheads="1"/>
          </p:cNvSpPr>
          <p:nvPr/>
        </p:nvSpPr>
        <p:spPr bwMode="auto">
          <a:xfrm>
            <a:off x="5546725" y="503238"/>
            <a:ext cx="11160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Execute (EX)</a:t>
            </a:r>
          </a:p>
        </p:txBody>
      </p:sp>
      <p:sp>
        <p:nvSpPr>
          <p:cNvPr id="41040" name="Rectangle 80">
            <a:extLst>
              <a:ext uri="{FF2B5EF4-FFF2-40B4-BE49-F238E27FC236}">
                <a16:creationId xmlns:a16="http://schemas.microsoft.com/office/drawing/2014/main" id="{D4C1B5A7-EA55-AD48-8118-1E1F124484C1}"/>
              </a:ext>
            </a:extLst>
          </p:cNvPr>
          <p:cNvSpPr>
            <a:spLocks noChangeArrowheads="1"/>
          </p:cNvSpPr>
          <p:nvPr/>
        </p:nvSpPr>
        <p:spPr bwMode="auto">
          <a:xfrm>
            <a:off x="6765925" y="503238"/>
            <a:ext cx="1268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Memory (MEM)</a:t>
            </a:r>
          </a:p>
        </p:txBody>
      </p:sp>
      <p:sp>
        <p:nvSpPr>
          <p:cNvPr id="41041" name="Rectangle 81">
            <a:extLst>
              <a:ext uri="{FF2B5EF4-FFF2-40B4-BE49-F238E27FC236}">
                <a16:creationId xmlns:a16="http://schemas.microsoft.com/office/drawing/2014/main" id="{8B12242B-A737-8349-8ADC-E0E06B009871}"/>
              </a:ext>
            </a:extLst>
          </p:cNvPr>
          <p:cNvSpPr>
            <a:spLocks noChangeArrowheads="1"/>
          </p:cNvSpPr>
          <p:nvPr/>
        </p:nvSpPr>
        <p:spPr bwMode="auto">
          <a:xfrm>
            <a:off x="8077200" y="503238"/>
            <a:ext cx="1106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Writeback (WB)</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80BE3E74-D9EF-BA4F-A5B2-6B05FA65317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Move branch target back</a:t>
            </a:r>
          </a:p>
        </p:txBody>
      </p:sp>
      <p:sp>
        <p:nvSpPr>
          <p:cNvPr id="43011" name="AutoShape 3">
            <a:extLst>
              <a:ext uri="{FF2B5EF4-FFF2-40B4-BE49-F238E27FC236}">
                <a16:creationId xmlns:a16="http://schemas.microsoft.com/office/drawing/2014/main" id="{5A34C668-C395-D64E-88A1-ACDA4EE33042}"/>
              </a:ext>
            </a:extLst>
          </p:cNvPr>
          <p:cNvSpPr>
            <a:spLocks noChangeArrowheads="1"/>
          </p:cNvSpPr>
          <p:nvPr/>
        </p:nvSpPr>
        <p:spPr bwMode="auto">
          <a:xfrm rot="5400000" flipH="1" flipV="1">
            <a:off x="1073150" y="2825750"/>
            <a:ext cx="1358900" cy="4445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ALU</a:t>
            </a:r>
          </a:p>
        </p:txBody>
      </p:sp>
      <p:sp>
        <p:nvSpPr>
          <p:cNvPr id="43012" name="Rectangle 4">
            <a:extLst>
              <a:ext uri="{FF2B5EF4-FFF2-40B4-BE49-F238E27FC236}">
                <a16:creationId xmlns:a16="http://schemas.microsoft.com/office/drawing/2014/main" id="{69B670D1-9330-C045-A18E-39F171F38006}"/>
              </a:ext>
            </a:extLst>
          </p:cNvPr>
          <p:cNvSpPr>
            <a:spLocks noChangeArrowheads="1"/>
          </p:cNvSpPr>
          <p:nvPr/>
        </p:nvSpPr>
        <p:spPr bwMode="auto">
          <a:xfrm>
            <a:off x="1149350" y="3968750"/>
            <a:ext cx="1054100" cy="1130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Instruction</a:t>
            </a:r>
          </a:p>
          <a:p>
            <a:pPr algn="ctr">
              <a:spcBef>
                <a:spcPct val="0"/>
              </a:spcBef>
              <a:buClrTx/>
              <a:buSzTx/>
              <a:buFontTx/>
              <a:buNone/>
            </a:pPr>
            <a:r>
              <a:rPr lang="en-US" altLang="en-US" sz="1400">
                <a:latin typeface="Arial" panose="020B0604020202020204" pitchFamily="34" charset="0"/>
              </a:rPr>
              <a:t>cache</a:t>
            </a:r>
          </a:p>
        </p:txBody>
      </p:sp>
      <p:sp>
        <p:nvSpPr>
          <p:cNvPr id="43013" name="Rectangle 5">
            <a:extLst>
              <a:ext uri="{FF2B5EF4-FFF2-40B4-BE49-F238E27FC236}">
                <a16:creationId xmlns:a16="http://schemas.microsoft.com/office/drawing/2014/main" id="{D9271369-3F41-3747-826C-6212EC15B3A5}"/>
              </a:ext>
            </a:extLst>
          </p:cNvPr>
          <p:cNvSpPr>
            <a:spLocks noChangeArrowheads="1"/>
          </p:cNvSpPr>
          <p:nvPr/>
        </p:nvSpPr>
        <p:spPr bwMode="auto">
          <a:xfrm>
            <a:off x="387350" y="3130550"/>
            <a:ext cx="444500" cy="1358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PC</a:t>
            </a:r>
          </a:p>
        </p:txBody>
      </p:sp>
      <p:sp>
        <p:nvSpPr>
          <p:cNvPr id="43014" name="Rectangle 6">
            <a:extLst>
              <a:ext uri="{FF2B5EF4-FFF2-40B4-BE49-F238E27FC236}">
                <a16:creationId xmlns:a16="http://schemas.microsoft.com/office/drawing/2014/main" id="{0AAE10E2-2E3C-274D-9FFD-53EA1D2A7522}"/>
              </a:ext>
            </a:extLst>
          </p:cNvPr>
          <p:cNvSpPr>
            <a:spLocks noChangeArrowheads="1"/>
          </p:cNvSpPr>
          <p:nvPr/>
        </p:nvSpPr>
        <p:spPr bwMode="auto">
          <a:xfrm>
            <a:off x="2368550" y="2825750"/>
            <a:ext cx="5207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NPC</a:t>
            </a:r>
          </a:p>
        </p:txBody>
      </p:sp>
      <p:sp>
        <p:nvSpPr>
          <p:cNvPr id="43015" name="Rectangle 7">
            <a:extLst>
              <a:ext uri="{FF2B5EF4-FFF2-40B4-BE49-F238E27FC236}">
                <a16:creationId xmlns:a16="http://schemas.microsoft.com/office/drawing/2014/main" id="{7004BCE8-635D-6A4C-B5C5-F119DE1E75FE}"/>
              </a:ext>
            </a:extLst>
          </p:cNvPr>
          <p:cNvSpPr>
            <a:spLocks noChangeArrowheads="1"/>
          </p:cNvSpPr>
          <p:nvPr/>
        </p:nvSpPr>
        <p:spPr bwMode="auto">
          <a:xfrm>
            <a:off x="2444750" y="3816350"/>
            <a:ext cx="520700" cy="1511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IR</a:t>
            </a:r>
          </a:p>
          <a:p>
            <a:pPr algn="ctr">
              <a:spcBef>
                <a:spcPct val="0"/>
              </a:spcBef>
              <a:buClrTx/>
              <a:buSzTx/>
              <a:buFontTx/>
              <a:buNone/>
            </a:pPr>
            <a:r>
              <a:rPr lang="en-US" altLang="en-US" sz="1400">
                <a:latin typeface="Arial" panose="020B0604020202020204" pitchFamily="34" charset="0"/>
              </a:rPr>
              <a:t>(inst.</a:t>
            </a:r>
          </a:p>
          <a:p>
            <a:pPr algn="ctr">
              <a:spcBef>
                <a:spcPct val="0"/>
              </a:spcBef>
              <a:buClrTx/>
              <a:buSzTx/>
              <a:buFontTx/>
              <a:buNone/>
            </a:pPr>
            <a:r>
              <a:rPr lang="en-US" altLang="en-US" sz="1400">
                <a:latin typeface="Arial" panose="020B0604020202020204" pitchFamily="34" charset="0"/>
              </a:rPr>
              <a:t>reg.)</a:t>
            </a:r>
          </a:p>
        </p:txBody>
      </p:sp>
      <p:sp>
        <p:nvSpPr>
          <p:cNvPr id="43016" name="Rectangle 8">
            <a:extLst>
              <a:ext uri="{FF2B5EF4-FFF2-40B4-BE49-F238E27FC236}">
                <a16:creationId xmlns:a16="http://schemas.microsoft.com/office/drawing/2014/main" id="{786D90B7-5BDC-B349-B44B-CC7F85533FEF}"/>
              </a:ext>
            </a:extLst>
          </p:cNvPr>
          <p:cNvSpPr>
            <a:spLocks noChangeArrowheads="1"/>
          </p:cNvSpPr>
          <p:nvPr/>
        </p:nvSpPr>
        <p:spPr bwMode="auto">
          <a:xfrm>
            <a:off x="4806950" y="3740150"/>
            <a:ext cx="5207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A</a:t>
            </a:r>
          </a:p>
        </p:txBody>
      </p:sp>
      <p:sp>
        <p:nvSpPr>
          <p:cNvPr id="43017" name="AutoShape 9">
            <a:extLst>
              <a:ext uri="{FF2B5EF4-FFF2-40B4-BE49-F238E27FC236}">
                <a16:creationId xmlns:a16="http://schemas.microsoft.com/office/drawing/2014/main" id="{C6DAABA4-C096-654F-87C1-A4BD1B9B3ECD}"/>
              </a:ext>
            </a:extLst>
          </p:cNvPr>
          <p:cNvSpPr>
            <a:spLocks noChangeArrowheads="1"/>
          </p:cNvSpPr>
          <p:nvPr/>
        </p:nvSpPr>
        <p:spPr bwMode="auto">
          <a:xfrm rot="5400000" flipH="1" flipV="1">
            <a:off x="5645150" y="4197350"/>
            <a:ext cx="1358900" cy="4445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ALU</a:t>
            </a:r>
          </a:p>
        </p:txBody>
      </p:sp>
      <p:sp>
        <p:nvSpPr>
          <p:cNvPr id="43018" name="AutoShape 10">
            <a:extLst>
              <a:ext uri="{FF2B5EF4-FFF2-40B4-BE49-F238E27FC236}">
                <a16:creationId xmlns:a16="http://schemas.microsoft.com/office/drawing/2014/main" id="{6ED1D8BD-4D41-5649-A3C5-1011F11F7955}"/>
              </a:ext>
            </a:extLst>
          </p:cNvPr>
          <p:cNvSpPr>
            <a:spLocks noChangeArrowheads="1"/>
          </p:cNvSpPr>
          <p:nvPr/>
        </p:nvSpPr>
        <p:spPr bwMode="auto">
          <a:xfrm rot="-5400000">
            <a:off x="5340350" y="3587750"/>
            <a:ext cx="825500" cy="368300"/>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43019" name="Rectangle 11">
            <a:extLst>
              <a:ext uri="{FF2B5EF4-FFF2-40B4-BE49-F238E27FC236}">
                <a16:creationId xmlns:a16="http://schemas.microsoft.com/office/drawing/2014/main" id="{CFF4B9B4-A43E-F144-9240-AFC1FC2DD341}"/>
              </a:ext>
            </a:extLst>
          </p:cNvPr>
          <p:cNvSpPr>
            <a:spLocks noChangeArrowheads="1"/>
          </p:cNvSpPr>
          <p:nvPr/>
        </p:nvSpPr>
        <p:spPr bwMode="auto">
          <a:xfrm>
            <a:off x="6864350" y="3816350"/>
            <a:ext cx="596900" cy="13589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data</a:t>
            </a:r>
          </a:p>
          <a:p>
            <a:pPr algn="ctr">
              <a:spcBef>
                <a:spcPct val="0"/>
              </a:spcBef>
              <a:buClrTx/>
              <a:buSzTx/>
              <a:buFontTx/>
              <a:buNone/>
            </a:pPr>
            <a:r>
              <a:rPr lang="en-US" altLang="en-US" sz="1400">
                <a:latin typeface="Arial" panose="020B0604020202020204" pitchFamily="34" charset="0"/>
              </a:rPr>
              <a:t>cache</a:t>
            </a:r>
          </a:p>
        </p:txBody>
      </p:sp>
      <p:sp>
        <p:nvSpPr>
          <p:cNvPr id="43020" name="Rectangle 12">
            <a:extLst>
              <a:ext uri="{FF2B5EF4-FFF2-40B4-BE49-F238E27FC236}">
                <a16:creationId xmlns:a16="http://schemas.microsoft.com/office/drawing/2014/main" id="{FE7A91F6-1A9E-5542-A413-210E0F0329B2}"/>
              </a:ext>
            </a:extLst>
          </p:cNvPr>
          <p:cNvSpPr>
            <a:spLocks noChangeArrowheads="1"/>
          </p:cNvSpPr>
          <p:nvPr/>
        </p:nvSpPr>
        <p:spPr bwMode="auto">
          <a:xfrm>
            <a:off x="7626350" y="4197350"/>
            <a:ext cx="368300" cy="4445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LMD</a:t>
            </a:r>
          </a:p>
        </p:txBody>
      </p:sp>
      <p:sp>
        <p:nvSpPr>
          <p:cNvPr id="43021" name="AutoShape 13">
            <a:extLst>
              <a:ext uri="{FF2B5EF4-FFF2-40B4-BE49-F238E27FC236}">
                <a16:creationId xmlns:a16="http://schemas.microsoft.com/office/drawing/2014/main" id="{A7AFC431-3CF8-E04C-BBB1-83A24D12EC92}"/>
              </a:ext>
            </a:extLst>
          </p:cNvPr>
          <p:cNvSpPr>
            <a:spLocks noChangeArrowheads="1"/>
          </p:cNvSpPr>
          <p:nvPr/>
        </p:nvSpPr>
        <p:spPr bwMode="auto">
          <a:xfrm rot="-5400000">
            <a:off x="7931150" y="4502150"/>
            <a:ext cx="825500" cy="368300"/>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43022" name="Line 14">
            <a:extLst>
              <a:ext uri="{FF2B5EF4-FFF2-40B4-BE49-F238E27FC236}">
                <a16:creationId xmlns:a16="http://schemas.microsoft.com/office/drawing/2014/main" id="{FA0F8AF2-5A1B-1D41-998D-AD1D5C7D1946}"/>
              </a:ext>
            </a:extLst>
          </p:cNvPr>
          <p:cNvSpPr>
            <a:spLocks noChangeShapeType="1"/>
          </p:cNvSpPr>
          <p:nvPr/>
        </p:nvSpPr>
        <p:spPr bwMode="auto">
          <a:xfrm>
            <a:off x="838200" y="4191000"/>
            <a:ext cx="3048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23" name="Line 15">
            <a:extLst>
              <a:ext uri="{FF2B5EF4-FFF2-40B4-BE49-F238E27FC236}">
                <a16:creationId xmlns:a16="http://schemas.microsoft.com/office/drawing/2014/main" id="{5E48B182-DC18-A44B-B359-E2BDFDD0C5F7}"/>
              </a:ext>
            </a:extLst>
          </p:cNvPr>
          <p:cNvSpPr>
            <a:spLocks noChangeShapeType="1"/>
          </p:cNvSpPr>
          <p:nvPr/>
        </p:nvSpPr>
        <p:spPr bwMode="auto">
          <a:xfrm flipV="1">
            <a:off x="990600" y="3429000"/>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24" name="Line 16">
            <a:extLst>
              <a:ext uri="{FF2B5EF4-FFF2-40B4-BE49-F238E27FC236}">
                <a16:creationId xmlns:a16="http://schemas.microsoft.com/office/drawing/2014/main" id="{3FD033C7-9C9B-7249-BBF2-40193EBD7E4B}"/>
              </a:ext>
            </a:extLst>
          </p:cNvPr>
          <p:cNvSpPr>
            <a:spLocks noChangeShapeType="1"/>
          </p:cNvSpPr>
          <p:nvPr/>
        </p:nvSpPr>
        <p:spPr bwMode="auto">
          <a:xfrm>
            <a:off x="990600" y="3429000"/>
            <a:ext cx="533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25" name="Line 17">
            <a:extLst>
              <a:ext uri="{FF2B5EF4-FFF2-40B4-BE49-F238E27FC236}">
                <a16:creationId xmlns:a16="http://schemas.microsoft.com/office/drawing/2014/main" id="{187FA9AA-647C-B541-B5DD-DF02F9C5DB31}"/>
              </a:ext>
            </a:extLst>
          </p:cNvPr>
          <p:cNvSpPr>
            <a:spLocks noChangeShapeType="1"/>
          </p:cNvSpPr>
          <p:nvPr/>
        </p:nvSpPr>
        <p:spPr bwMode="auto">
          <a:xfrm>
            <a:off x="1219200" y="2590800"/>
            <a:ext cx="3048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26" name="Rectangle 18">
            <a:extLst>
              <a:ext uri="{FF2B5EF4-FFF2-40B4-BE49-F238E27FC236}">
                <a16:creationId xmlns:a16="http://schemas.microsoft.com/office/drawing/2014/main" id="{0F1E1A19-53CC-DE48-B53F-55FC3612732A}"/>
              </a:ext>
            </a:extLst>
          </p:cNvPr>
          <p:cNvSpPr>
            <a:spLocks noChangeArrowheads="1"/>
          </p:cNvSpPr>
          <p:nvPr/>
        </p:nvSpPr>
        <p:spPr bwMode="auto">
          <a:xfrm>
            <a:off x="974725" y="2460625"/>
            <a:ext cx="285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4</a:t>
            </a:r>
          </a:p>
        </p:txBody>
      </p:sp>
      <p:sp>
        <p:nvSpPr>
          <p:cNvPr id="43027" name="Line 19">
            <a:extLst>
              <a:ext uri="{FF2B5EF4-FFF2-40B4-BE49-F238E27FC236}">
                <a16:creationId xmlns:a16="http://schemas.microsoft.com/office/drawing/2014/main" id="{83584E48-EC10-C644-BC07-2AF899368310}"/>
              </a:ext>
            </a:extLst>
          </p:cNvPr>
          <p:cNvSpPr>
            <a:spLocks noChangeShapeType="1"/>
          </p:cNvSpPr>
          <p:nvPr/>
        </p:nvSpPr>
        <p:spPr bwMode="auto">
          <a:xfrm>
            <a:off x="7239000" y="2362200"/>
            <a:ext cx="228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28" name="Line 20">
            <a:extLst>
              <a:ext uri="{FF2B5EF4-FFF2-40B4-BE49-F238E27FC236}">
                <a16:creationId xmlns:a16="http://schemas.microsoft.com/office/drawing/2014/main" id="{56BD8B3F-B9F7-634C-B1BD-DDEBED33A01B}"/>
              </a:ext>
            </a:extLst>
          </p:cNvPr>
          <p:cNvSpPr>
            <a:spLocks noChangeShapeType="1"/>
          </p:cNvSpPr>
          <p:nvPr/>
        </p:nvSpPr>
        <p:spPr bwMode="auto">
          <a:xfrm flipV="1">
            <a:off x="7467600" y="17526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29" name="Line 21">
            <a:extLst>
              <a:ext uri="{FF2B5EF4-FFF2-40B4-BE49-F238E27FC236}">
                <a16:creationId xmlns:a16="http://schemas.microsoft.com/office/drawing/2014/main" id="{63CEBCAB-72D6-C84C-98CB-3D70A92F3F27}"/>
              </a:ext>
            </a:extLst>
          </p:cNvPr>
          <p:cNvSpPr>
            <a:spLocks noChangeShapeType="1"/>
          </p:cNvSpPr>
          <p:nvPr/>
        </p:nvSpPr>
        <p:spPr bwMode="auto">
          <a:xfrm flipH="1">
            <a:off x="609600" y="1524000"/>
            <a:ext cx="4419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30" name="Line 22">
            <a:extLst>
              <a:ext uri="{FF2B5EF4-FFF2-40B4-BE49-F238E27FC236}">
                <a16:creationId xmlns:a16="http://schemas.microsoft.com/office/drawing/2014/main" id="{8793682A-9AB8-964A-997A-E390C6C3488B}"/>
              </a:ext>
            </a:extLst>
          </p:cNvPr>
          <p:cNvSpPr>
            <a:spLocks noChangeShapeType="1"/>
          </p:cNvSpPr>
          <p:nvPr/>
        </p:nvSpPr>
        <p:spPr bwMode="auto">
          <a:xfrm>
            <a:off x="609600" y="1524000"/>
            <a:ext cx="0" cy="16002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31" name="Line 23">
            <a:extLst>
              <a:ext uri="{FF2B5EF4-FFF2-40B4-BE49-F238E27FC236}">
                <a16:creationId xmlns:a16="http://schemas.microsoft.com/office/drawing/2014/main" id="{3EC4A1ED-AA11-AE4A-A331-9C3966CF26D5}"/>
              </a:ext>
            </a:extLst>
          </p:cNvPr>
          <p:cNvSpPr>
            <a:spLocks noChangeShapeType="1"/>
          </p:cNvSpPr>
          <p:nvPr/>
        </p:nvSpPr>
        <p:spPr bwMode="auto">
          <a:xfrm>
            <a:off x="1981200" y="3048000"/>
            <a:ext cx="381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32" name="Line 24">
            <a:extLst>
              <a:ext uri="{FF2B5EF4-FFF2-40B4-BE49-F238E27FC236}">
                <a16:creationId xmlns:a16="http://schemas.microsoft.com/office/drawing/2014/main" id="{A4FD2F9E-6D64-ED4B-91E0-4CC632C2D90F}"/>
              </a:ext>
            </a:extLst>
          </p:cNvPr>
          <p:cNvSpPr>
            <a:spLocks noChangeShapeType="1"/>
          </p:cNvSpPr>
          <p:nvPr/>
        </p:nvSpPr>
        <p:spPr bwMode="auto">
          <a:xfrm>
            <a:off x="5334000" y="39624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33" name="Line 25">
            <a:extLst>
              <a:ext uri="{FF2B5EF4-FFF2-40B4-BE49-F238E27FC236}">
                <a16:creationId xmlns:a16="http://schemas.microsoft.com/office/drawing/2014/main" id="{B828B282-DA29-0F4F-93AF-522F8A2B94B5}"/>
              </a:ext>
            </a:extLst>
          </p:cNvPr>
          <p:cNvSpPr>
            <a:spLocks noChangeShapeType="1"/>
          </p:cNvSpPr>
          <p:nvPr/>
        </p:nvSpPr>
        <p:spPr bwMode="auto">
          <a:xfrm>
            <a:off x="4572000" y="39624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34" name="Line 26">
            <a:extLst>
              <a:ext uri="{FF2B5EF4-FFF2-40B4-BE49-F238E27FC236}">
                <a16:creationId xmlns:a16="http://schemas.microsoft.com/office/drawing/2014/main" id="{668DF6F3-96D4-7241-861F-88ADDE6F006C}"/>
              </a:ext>
            </a:extLst>
          </p:cNvPr>
          <p:cNvSpPr>
            <a:spLocks noChangeShapeType="1"/>
          </p:cNvSpPr>
          <p:nvPr/>
        </p:nvSpPr>
        <p:spPr bwMode="auto">
          <a:xfrm flipV="1">
            <a:off x="6705600" y="2514600"/>
            <a:ext cx="0" cy="1905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35" name="Line 27">
            <a:extLst>
              <a:ext uri="{FF2B5EF4-FFF2-40B4-BE49-F238E27FC236}">
                <a16:creationId xmlns:a16="http://schemas.microsoft.com/office/drawing/2014/main" id="{0E15ECE4-7A63-C944-85D7-3B954E4F1D3A}"/>
              </a:ext>
            </a:extLst>
          </p:cNvPr>
          <p:cNvSpPr>
            <a:spLocks noChangeShapeType="1"/>
          </p:cNvSpPr>
          <p:nvPr/>
        </p:nvSpPr>
        <p:spPr bwMode="auto">
          <a:xfrm>
            <a:off x="6705600" y="25146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36" name="Line 28">
            <a:extLst>
              <a:ext uri="{FF2B5EF4-FFF2-40B4-BE49-F238E27FC236}">
                <a16:creationId xmlns:a16="http://schemas.microsoft.com/office/drawing/2014/main" id="{09781839-532B-3644-8EFE-AE85C614E721}"/>
              </a:ext>
            </a:extLst>
          </p:cNvPr>
          <p:cNvSpPr>
            <a:spLocks noChangeShapeType="1"/>
          </p:cNvSpPr>
          <p:nvPr/>
        </p:nvSpPr>
        <p:spPr bwMode="auto">
          <a:xfrm>
            <a:off x="7467600" y="44196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37" name="Line 29">
            <a:extLst>
              <a:ext uri="{FF2B5EF4-FFF2-40B4-BE49-F238E27FC236}">
                <a16:creationId xmlns:a16="http://schemas.microsoft.com/office/drawing/2014/main" id="{3039BC29-2A23-3648-AF5D-BCD6759307AC}"/>
              </a:ext>
            </a:extLst>
          </p:cNvPr>
          <p:cNvSpPr>
            <a:spLocks noChangeShapeType="1"/>
          </p:cNvSpPr>
          <p:nvPr/>
        </p:nvSpPr>
        <p:spPr bwMode="auto">
          <a:xfrm>
            <a:off x="8001000" y="44196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38" name="Line 30">
            <a:extLst>
              <a:ext uri="{FF2B5EF4-FFF2-40B4-BE49-F238E27FC236}">
                <a16:creationId xmlns:a16="http://schemas.microsoft.com/office/drawing/2014/main" id="{CC866D5A-66F2-DD45-8E56-BE4E36B92D44}"/>
              </a:ext>
            </a:extLst>
          </p:cNvPr>
          <p:cNvSpPr>
            <a:spLocks noChangeShapeType="1"/>
          </p:cNvSpPr>
          <p:nvPr/>
        </p:nvSpPr>
        <p:spPr bwMode="auto">
          <a:xfrm>
            <a:off x="8001000" y="48768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39" name="Line 31">
            <a:extLst>
              <a:ext uri="{FF2B5EF4-FFF2-40B4-BE49-F238E27FC236}">
                <a16:creationId xmlns:a16="http://schemas.microsoft.com/office/drawing/2014/main" id="{7ABF8580-D294-344A-97A3-A0C3C14C1F8D}"/>
              </a:ext>
            </a:extLst>
          </p:cNvPr>
          <p:cNvSpPr>
            <a:spLocks noChangeShapeType="1"/>
          </p:cNvSpPr>
          <p:nvPr/>
        </p:nvSpPr>
        <p:spPr bwMode="auto">
          <a:xfrm>
            <a:off x="8534400" y="46482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40" name="Line 32">
            <a:extLst>
              <a:ext uri="{FF2B5EF4-FFF2-40B4-BE49-F238E27FC236}">
                <a16:creationId xmlns:a16="http://schemas.microsoft.com/office/drawing/2014/main" id="{714CD532-6CA3-AC4A-9A4C-3F07F0C151D8}"/>
              </a:ext>
            </a:extLst>
          </p:cNvPr>
          <p:cNvSpPr>
            <a:spLocks noChangeShapeType="1"/>
          </p:cNvSpPr>
          <p:nvPr/>
        </p:nvSpPr>
        <p:spPr bwMode="auto">
          <a:xfrm>
            <a:off x="2209800" y="4572000"/>
            <a:ext cx="228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41" name="Line 33">
            <a:extLst>
              <a:ext uri="{FF2B5EF4-FFF2-40B4-BE49-F238E27FC236}">
                <a16:creationId xmlns:a16="http://schemas.microsoft.com/office/drawing/2014/main" id="{FFEFA740-309A-DE40-B431-621EC050971D}"/>
              </a:ext>
            </a:extLst>
          </p:cNvPr>
          <p:cNvSpPr>
            <a:spLocks noChangeShapeType="1"/>
          </p:cNvSpPr>
          <p:nvPr/>
        </p:nvSpPr>
        <p:spPr bwMode="auto">
          <a:xfrm>
            <a:off x="2971800" y="4572000"/>
            <a:ext cx="457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42" name="Line 34">
            <a:extLst>
              <a:ext uri="{FF2B5EF4-FFF2-40B4-BE49-F238E27FC236}">
                <a16:creationId xmlns:a16="http://schemas.microsoft.com/office/drawing/2014/main" id="{0A169D54-66F1-2E45-A395-7B84D1FE77E9}"/>
              </a:ext>
            </a:extLst>
          </p:cNvPr>
          <p:cNvSpPr>
            <a:spLocks noChangeShapeType="1"/>
          </p:cNvSpPr>
          <p:nvPr/>
        </p:nvSpPr>
        <p:spPr bwMode="auto">
          <a:xfrm>
            <a:off x="6553200" y="44196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43" name="Line 35">
            <a:extLst>
              <a:ext uri="{FF2B5EF4-FFF2-40B4-BE49-F238E27FC236}">
                <a16:creationId xmlns:a16="http://schemas.microsoft.com/office/drawing/2014/main" id="{B4627178-06FD-3F48-921E-814E2B3D6D73}"/>
              </a:ext>
            </a:extLst>
          </p:cNvPr>
          <p:cNvSpPr>
            <a:spLocks noChangeShapeType="1"/>
          </p:cNvSpPr>
          <p:nvPr/>
        </p:nvSpPr>
        <p:spPr bwMode="auto">
          <a:xfrm>
            <a:off x="6705600" y="45720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44" name="Line 36">
            <a:extLst>
              <a:ext uri="{FF2B5EF4-FFF2-40B4-BE49-F238E27FC236}">
                <a16:creationId xmlns:a16="http://schemas.microsoft.com/office/drawing/2014/main" id="{904184F7-8AB3-CB4A-A795-3ED40ADFF5FC}"/>
              </a:ext>
            </a:extLst>
          </p:cNvPr>
          <p:cNvSpPr>
            <a:spLocks noChangeShapeType="1"/>
          </p:cNvSpPr>
          <p:nvPr/>
        </p:nvSpPr>
        <p:spPr bwMode="auto">
          <a:xfrm>
            <a:off x="5943600" y="39624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45" name="Line 37">
            <a:extLst>
              <a:ext uri="{FF2B5EF4-FFF2-40B4-BE49-F238E27FC236}">
                <a16:creationId xmlns:a16="http://schemas.microsoft.com/office/drawing/2014/main" id="{350EB7D7-4695-834A-8F90-617B1F0E1DE3}"/>
              </a:ext>
            </a:extLst>
          </p:cNvPr>
          <p:cNvSpPr>
            <a:spLocks noChangeShapeType="1"/>
          </p:cNvSpPr>
          <p:nvPr/>
        </p:nvSpPr>
        <p:spPr bwMode="auto">
          <a:xfrm flipH="1">
            <a:off x="2895600" y="3048000"/>
            <a:ext cx="304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46" name="Line 38">
            <a:extLst>
              <a:ext uri="{FF2B5EF4-FFF2-40B4-BE49-F238E27FC236}">
                <a16:creationId xmlns:a16="http://schemas.microsoft.com/office/drawing/2014/main" id="{6C4947D2-9A3F-B441-9E11-ED7C35850802}"/>
              </a:ext>
            </a:extLst>
          </p:cNvPr>
          <p:cNvSpPr>
            <a:spLocks noChangeShapeType="1"/>
          </p:cNvSpPr>
          <p:nvPr/>
        </p:nvSpPr>
        <p:spPr bwMode="auto">
          <a:xfrm>
            <a:off x="4800600" y="3048000"/>
            <a:ext cx="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47" name="Line 39">
            <a:extLst>
              <a:ext uri="{FF2B5EF4-FFF2-40B4-BE49-F238E27FC236}">
                <a16:creationId xmlns:a16="http://schemas.microsoft.com/office/drawing/2014/main" id="{A476C2D6-2E91-8A40-88C9-A772B9419439}"/>
              </a:ext>
            </a:extLst>
          </p:cNvPr>
          <p:cNvSpPr>
            <a:spLocks noChangeShapeType="1"/>
          </p:cNvSpPr>
          <p:nvPr/>
        </p:nvSpPr>
        <p:spPr bwMode="auto">
          <a:xfrm>
            <a:off x="4800600" y="3581400"/>
            <a:ext cx="762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43048" name="Group 40">
            <a:extLst>
              <a:ext uri="{FF2B5EF4-FFF2-40B4-BE49-F238E27FC236}">
                <a16:creationId xmlns:a16="http://schemas.microsoft.com/office/drawing/2014/main" id="{DC777353-7891-E545-9537-0038E0EF8FC0}"/>
              </a:ext>
            </a:extLst>
          </p:cNvPr>
          <p:cNvGrpSpPr>
            <a:grpSpLocks/>
          </p:cNvGrpSpPr>
          <p:nvPr/>
        </p:nvGrpSpPr>
        <p:grpSpPr bwMode="auto">
          <a:xfrm>
            <a:off x="5410200" y="1911350"/>
            <a:ext cx="1822450" cy="2051050"/>
            <a:chOff x="3408" y="1204"/>
            <a:chExt cx="1148" cy="1292"/>
          </a:xfrm>
        </p:grpSpPr>
        <p:sp>
          <p:nvSpPr>
            <p:cNvPr id="43076" name="Rectangle 41">
              <a:extLst>
                <a:ext uri="{FF2B5EF4-FFF2-40B4-BE49-F238E27FC236}">
                  <a16:creationId xmlns:a16="http://schemas.microsoft.com/office/drawing/2014/main" id="{7979CE3A-EC3C-A74B-B227-9DBC45851081}"/>
                </a:ext>
              </a:extLst>
            </p:cNvPr>
            <p:cNvSpPr>
              <a:spLocks noChangeArrowheads="1"/>
            </p:cNvSpPr>
            <p:nvPr/>
          </p:nvSpPr>
          <p:spPr bwMode="auto">
            <a:xfrm>
              <a:off x="3508" y="1636"/>
              <a:ext cx="232" cy="232"/>
            </a:xfrm>
            <a:prstGeom prst="rect">
              <a:avLst/>
            </a:prstGeom>
            <a:solidFill>
              <a:schemeClr val="bg1"/>
            </a:solidFill>
            <a:ln w="12700">
              <a:solidFill>
                <a:schemeClr val="tx1"/>
              </a:solidFill>
              <a:prstDash val="dash"/>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=0?</a:t>
              </a:r>
            </a:p>
          </p:txBody>
        </p:sp>
        <p:sp>
          <p:nvSpPr>
            <p:cNvPr id="43077" name="Rectangle 42">
              <a:extLst>
                <a:ext uri="{FF2B5EF4-FFF2-40B4-BE49-F238E27FC236}">
                  <a16:creationId xmlns:a16="http://schemas.microsoft.com/office/drawing/2014/main" id="{0A9101F9-D5A4-A44A-A173-AAF53AF3986C}"/>
                </a:ext>
              </a:extLst>
            </p:cNvPr>
            <p:cNvSpPr>
              <a:spLocks noChangeArrowheads="1"/>
            </p:cNvSpPr>
            <p:nvPr/>
          </p:nvSpPr>
          <p:spPr bwMode="auto">
            <a:xfrm>
              <a:off x="3844" y="1636"/>
              <a:ext cx="232" cy="232"/>
            </a:xfrm>
            <a:prstGeom prst="rect">
              <a:avLst/>
            </a:prstGeom>
            <a:solidFill>
              <a:schemeClr val="bg1"/>
            </a:solidFill>
            <a:ln w="12700">
              <a:solidFill>
                <a:schemeClr val="tx1"/>
              </a:solidFill>
              <a:prstDash val="dash"/>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cond</a:t>
              </a:r>
            </a:p>
          </p:txBody>
        </p:sp>
        <p:sp>
          <p:nvSpPr>
            <p:cNvPr id="43078" name="AutoShape 43">
              <a:extLst>
                <a:ext uri="{FF2B5EF4-FFF2-40B4-BE49-F238E27FC236}">
                  <a16:creationId xmlns:a16="http://schemas.microsoft.com/office/drawing/2014/main" id="{61752044-662B-7E48-B72A-A215C1AC6728}"/>
                </a:ext>
              </a:extLst>
            </p:cNvPr>
            <p:cNvSpPr>
              <a:spLocks noChangeArrowheads="1"/>
            </p:cNvSpPr>
            <p:nvPr/>
          </p:nvSpPr>
          <p:spPr bwMode="auto">
            <a:xfrm rot="-5400000">
              <a:off x="4180" y="1348"/>
              <a:ext cx="520" cy="232"/>
            </a:xfrm>
            <a:prstGeom prst="roundRect">
              <a:avLst>
                <a:gd name="adj" fmla="val 12495"/>
              </a:avLst>
            </a:prstGeom>
            <a:solidFill>
              <a:schemeClr val="bg1"/>
            </a:solidFill>
            <a:ln w="12700">
              <a:solidFill>
                <a:schemeClr val="tx1"/>
              </a:solidFill>
              <a:prstDash val="dash"/>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43079" name="Line 44">
              <a:extLst>
                <a:ext uri="{FF2B5EF4-FFF2-40B4-BE49-F238E27FC236}">
                  <a16:creationId xmlns:a16="http://schemas.microsoft.com/office/drawing/2014/main" id="{77776607-BA20-884A-B5CF-7B51AB72B927}"/>
                </a:ext>
              </a:extLst>
            </p:cNvPr>
            <p:cNvSpPr>
              <a:spLocks noChangeShapeType="1"/>
            </p:cNvSpPr>
            <p:nvPr/>
          </p:nvSpPr>
          <p:spPr bwMode="auto">
            <a:xfrm>
              <a:off x="4080" y="1776"/>
              <a:ext cx="336"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80" name="Line 45">
              <a:extLst>
                <a:ext uri="{FF2B5EF4-FFF2-40B4-BE49-F238E27FC236}">
                  <a16:creationId xmlns:a16="http://schemas.microsoft.com/office/drawing/2014/main" id="{AE7E79A4-EEFB-8743-920C-B984E8C64CAA}"/>
                </a:ext>
              </a:extLst>
            </p:cNvPr>
            <p:cNvSpPr>
              <a:spLocks noChangeShapeType="1"/>
            </p:cNvSpPr>
            <p:nvPr/>
          </p:nvSpPr>
          <p:spPr bwMode="auto">
            <a:xfrm flipV="1">
              <a:off x="4416" y="1728"/>
              <a:ext cx="0" cy="4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81" name="Line 46">
              <a:extLst>
                <a:ext uri="{FF2B5EF4-FFF2-40B4-BE49-F238E27FC236}">
                  <a16:creationId xmlns:a16="http://schemas.microsoft.com/office/drawing/2014/main" id="{C86617A8-65BA-F24B-9242-6AFF652648D2}"/>
                </a:ext>
              </a:extLst>
            </p:cNvPr>
            <p:cNvSpPr>
              <a:spLocks noChangeShapeType="1"/>
            </p:cNvSpPr>
            <p:nvPr/>
          </p:nvSpPr>
          <p:spPr bwMode="auto">
            <a:xfrm>
              <a:off x="3408" y="1776"/>
              <a:ext cx="96" cy="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82" name="Line 47">
              <a:extLst>
                <a:ext uri="{FF2B5EF4-FFF2-40B4-BE49-F238E27FC236}">
                  <a16:creationId xmlns:a16="http://schemas.microsoft.com/office/drawing/2014/main" id="{28244E92-BDD2-6D4A-836F-1E49073F2D85}"/>
                </a:ext>
              </a:extLst>
            </p:cNvPr>
            <p:cNvSpPr>
              <a:spLocks noChangeShapeType="1"/>
            </p:cNvSpPr>
            <p:nvPr/>
          </p:nvSpPr>
          <p:spPr bwMode="auto">
            <a:xfrm flipV="1">
              <a:off x="3408" y="1776"/>
              <a:ext cx="0" cy="72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83" name="Line 48">
              <a:extLst>
                <a:ext uri="{FF2B5EF4-FFF2-40B4-BE49-F238E27FC236}">
                  <a16:creationId xmlns:a16="http://schemas.microsoft.com/office/drawing/2014/main" id="{825278D2-4C08-0744-9B69-0FE117AC1661}"/>
                </a:ext>
              </a:extLst>
            </p:cNvPr>
            <p:cNvSpPr>
              <a:spLocks noChangeShapeType="1"/>
            </p:cNvSpPr>
            <p:nvPr/>
          </p:nvSpPr>
          <p:spPr bwMode="auto">
            <a:xfrm>
              <a:off x="3744" y="1776"/>
              <a:ext cx="96" cy="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3049" name="Rectangle 49">
            <a:extLst>
              <a:ext uri="{FF2B5EF4-FFF2-40B4-BE49-F238E27FC236}">
                <a16:creationId xmlns:a16="http://schemas.microsoft.com/office/drawing/2014/main" id="{E4F384E2-4869-AF45-A615-A1895D243303}"/>
              </a:ext>
            </a:extLst>
          </p:cNvPr>
          <p:cNvSpPr>
            <a:spLocks noChangeArrowheads="1"/>
          </p:cNvSpPr>
          <p:nvPr/>
        </p:nvSpPr>
        <p:spPr bwMode="auto">
          <a:xfrm>
            <a:off x="1203325" y="1265238"/>
            <a:ext cx="17002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Instruction Fetch (IF)</a:t>
            </a:r>
          </a:p>
        </p:txBody>
      </p:sp>
      <p:sp>
        <p:nvSpPr>
          <p:cNvPr id="43050" name="Rectangle 50">
            <a:extLst>
              <a:ext uri="{FF2B5EF4-FFF2-40B4-BE49-F238E27FC236}">
                <a16:creationId xmlns:a16="http://schemas.microsoft.com/office/drawing/2014/main" id="{EC3189D9-8052-F643-8562-31585795E7D0}"/>
              </a:ext>
            </a:extLst>
          </p:cNvPr>
          <p:cNvSpPr>
            <a:spLocks noChangeArrowheads="1"/>
          </p:cNvSpPr>
          <p:nvPr/>
        </p:nvSpPr>
        <p:spPr bwMode="auto">
          <a:xfrm>
            <a:off x="3336925" y="1265238"/>
            <a:ext cx="1860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Instruction Decode (ID)</a:t>
            </a:r>
          </a:p>
        </p:txBody>
      </p:sp>
      <p:sp>
        <p:nvSpPr>
          <p:cNvPr id="43051" name="Rectangle 51">
            <a:extLst>
              <a:ext uri="{FF2B5EF4-FFF2-40B4-BE49-F238E27FC236}">
                <a16:creationId xmlns:a16="http://schemas.microsoft.com/office/drawing/2014/main" id="{2F929238-11BA-D14E-AF0C-E1D127D96376}"/>
              </a:ext>
            </a:extLst>
          </p:cNvPr>
          <p:cNvSpPr>
            <a:spLocks noChangeArrowheads="1"/>
          </p:cNvSpPr>
          <p:nvPr/>
        </p:nvSpPr>
        <p:spPr bwMode="auto">
          <a:xfrm>
            <a:off x="5622925" y="1265238"/>
            <a:ext cx="11160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Execute (EX)</a:t>
            </a:r>
          </a:p>
        </p:txBody>
      </p:sp>
      <p:sp>
        <p:nvSpPr>
          <p:cNvPr id="43052" name="Rectangle 52">
            <a:extLst>
              <a:ext uri="{FF2B5EF4-FFF2-40B4-BE49-F238E27FC236}">
                <a16:creationId xmlns:a16="http://schemas.microsoft.com/office/drawing/2014/main" id="{C99C5434-4DEA-4646-B710-EF471ED24BA8}"/>
              </a:ext>
            </a:extLst>
          </p:cNvPr>
          <p:cNvSpPr>
            <a:spLocks noChangeArrowheads="1"/>
          </p:cNvSpPr>
          <p:nvPr/>
        </p:nvSpPr>
        <p:spPr bwMode="auto">
          <a:xfrm>
            <a:off x="6842125" y="1265238"/>
            <a:ext cx="12684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Memory (MEM)</a:t>
            </a:r>
          </a:p>
        </p:txBody>
      </p:sp>
      <p:sp>
        <p:nvSpPr>
          <p:cNvPr id="43053" name="Rectangle 53">
            <a:extLst>
              <a:ext uri="{FF2B5EF4-FFF2-40B4-BE49-F238E27FC236}">
                <a16:creationId xmlns:a16="http://schemas.microsoft.com/office/drawing/2014/main" id="{CC669E95-CCE1-0A48-AE26-6BB0EB1CB6F5}"/>
              </a:ext>
            </a:extLst>
          </p:cNvPr>
          <p:cNvSpPr>
            <a:spLocks noChangeArrowheads="1"/>
          </p:cNvSpPr>
          <p:nvPr/>
        </p:nvSpPr>
        <p:spPr bwMode="auto">
          <a:xfrm>
            <a:off x="3511550" y="2597150"/>
            <a:ext cx="3683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=0?</a:t>
            </a:r>
          </a:p>
        </p:txBody>
      </p:sp>
      <p:sp>
        <p:nvSpPr>
          <p:cNvPr id="43054" name="Rectangle 54">
            <a:extLst>
              <a:ext uri="{FF2B5EF4-FFF2-40B4-BE49-F238E27FC236}">
                <a16:creationId xmlns:a16="http://schemas.microsoft.com/office/drawing/2014/main" id="{040290B1-7992-7B49-8BAE-C22EDC2D4BB8}"/>
              </a:ext>
            </a:extLst>
          </p:cNvPr>
          <p:cNvSpPr>
            <a:spLocks noChangeArrowheads="1"/>
          </p:cNvSpPr>
          <p:nvPr/>
        </p:nvSpPr>
        <p:spPr bwMode="auto">
          <a:xfrm>
            <a:off x="4044950" y="2597150"/>
            <a:ext cx="3683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000">
                <a:latin typeface="Arial" panose="020B0604020202020204" pitchFamily="34" charset="0"/>
              </a:rPr>
              <a:t>cond</a:t>
            </a:r>
          </a:p>
        </p:txBody>
      </p:sp>
      <p:sp>
        <p:nvSpPr>
          <p:cNvPr id="43055" name="AutoShape 55">
            <a:extLst>
              <a:ext uri="{FF2B5EF4-FFF2-40B4-BE49-F238E27FC236}">
                <a16:creationId xmlns:a16="http://schemas.microsoft.com/office/drawing/2014/main" id="{B472446F-096B-4447-8DA6-0E55C1BBD532}"/>
              </a:ext>
            </a:extLst>
          </p:cNvPr>
          <p:cNvSpPr>
            <a:spLocks noChangeArrowheads="1"/>
          </p:cNvSpPr>
          <p:nvPr/>
        </p:nvSpPr>
        <p:spPr bwMode="auto">
          <a:xfrm rot="-5400000">
            <a:off x="4197350" y="1987550"/>
            <a:ext cx="825500" cy="368300"/>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43056" name="Line 56">
            <a:extLst>
              <a:ext uri="{FF2B5EF4-FFF2-40B4-BE49-F238E27FC236}">
                <a16:creationId xmlns:a16="http://schemas.microsoft.com/office/drawing/2014/main" id="{22C89264-08D6-AB4F-B88B-7956C79D853A}"/>
              </a:ext>
            </a:extLst>
          </p:cNvPr>
          <p:cNvSpPr>
            <a:spLocks noChangeShapeType="1"/>
          </p:cNvSpPr>
          <p:nvPr/>
        </p:nvSpPr>
        <p:spPr bwMode="auto">
          <a:xfrm>
            <a:off x="4419600" y="28194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57" name="Line 57">
            <a:extLst>
              <a:ext uri="{FF2B5EF4-FFF2-40B4-BE49-F238E27FC236}">
                <a16:creationId xmlns:a16="http://schemas.microsoft.com/office/drawing/2014/main" id="{A65167EC-536A-4B46-BBCF-14BB085EA036}"/>
              </a:ext>
            </a:extLst>
          </p:cNvPr>
          <p:cNvSpPr>
            <a:spLocks noChangeShapeType="1"/>
          </p:cNvSpPr>
          <p:nvPr/>
        </p:nvSpPr>
        <p:spPr bwMode="auto">
          <a:xfrm flipV="1">
            <a:off x="4572000" y="25908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58" name="Line 58">
            <a:extLst>
              <a:ext uri="{FF2B5EF4-FFF2-40B4-BE49-F238E27FC236}">
                <a16:creationId xmlns:a16="http://schemas.microsoft.com/office/drawing/2014/main" id="{CAA5C9BE-8938-2E44-B3E8-A21C38A8DDC1}"/>
              </a:ext>
            </a:extLst>
          </p:cNvPr>
          <p:cNvSpPr>
            <a:spLocks noChangeShapeType="1"/>
          </p:cNvSpPr>
          <p:nvPr/>
        </p:nvSpPr>
        <p:spPr bwMode="auto">
          <a:xfrm>
            <a:off x="3352800" y="28194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59" name="Line 59">
            <a:extLst>
              <a:ext uri="{FF2B5EF4-FFF2-40B4-BE49-F238E27FC236}">
                <a16:creationId xmlns:a16="http://schemas.microsoft.com/office/drawing/2014/main" id="{78EDEC13-5118-AF49-A2B6-DAB78F1C4C42}"/>
              </a:ext>
            </a:extLst>
          </p:cNvPr>
          <p:cNvSpPr>
            <a:spLocks noChangeShapeType="1"/>
          </p:cNvSpPr>
          <p:nvPr/>
        </p:nvSpPr>
        <p:spPr bwMode="auto">
          <a:xfrm flipV="1">
            <a:off x="3352800" y="28194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60" name="Line 60">
            <a:extLst>
              <a:ext uri="{FF2B5EF4-FFF2-40B4-BE49-F238E27FC236}">
                <a16:creationId xmlns:a16="http://schemas.microsoft.com/office/drawing/2014/main" id="{9856685D-76FF-AE4D-AF21-27086E8BF47A}"/>
              </a:ext>
            </a:extLst>
          </p:cNvPr>
          <p:cNvSpPr>
            <a:spLocks noChangeShapeType="1"/>
          </p:cNvSpPr>
          <p:nvPr/>
        </p:nvSpPr>
        <p:spPr bwMode="auto">
          <a:xfrm>
            <a:off x="3886200" y="2819400"/>
            <a:ext cx="152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061" name="Line 61">
            <a:extLst>
              <a:ext uri="{FF2B5EF4-FFF2-40B4-BE49-F238E27FC236}">
                <a16:creationId xmlns:a16="http://schemas.microsoft.com/office/drawing/2014/main" id="{557258DD-BF92-6F43-9F8A-2349EC68D395}"/>
              </a:ext>
            </a:extLst>
          </p:cNvPr>
          <p:cNvSpPr>
            <a:spLocks noChangeShapeType="1"/>
          </p:cNvSpPr>
          <p:nvPr/>
        </p:nvSpPr>
        <p:spPr bwMode="auto">
          <a:xfrm>
            <a:off x="4800600" y="2286000"/>
            <a:ext cx="228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62" name="Line 62">
            <a:extLst>
              <a:ext uri="{FF2B5EF4-FFF2-40B4-BE49-F238E27FC236}">
                <a16:creationId xmlns:a16="http://schemas.microsoft.com/office/drawing/2014/main" id="{BEFB576C-51D6-1949-9546-B6ACA7804C41}"/>
              </a:ext>
            </a:extLst>
          </p:cNvPr>
          <p:cNvSpPr>
            <a:spLocks noChangeShapeType="1"/>
          </p:cNvSpPr>
          <p:nvPr/>
        </p:nvSpPr>
        <p:spPr bwMode="auto">
          <a:xfrm flipV="1">
            <a:off x="5029200" y="1524000"/>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63" name="AutoShape 63">
            <a:extLst>
              <a:ext uri="{FF2B5EF4-FFF2-40B4-BE49-F238E27FC236}">
                <a16:creationId xmlns:a16="http://schemas.microsoft.com/office/drawing/2014/main" id="{2EDA4D4C-C956-F645-AB14-3D5C7DE4720E}"/>
              </a:ext>
            </a:extLst>
          </p:cNvPr>
          <p:cNvSpPr>
            <a:spLocks noChangeArrowheads="1"/>
          </p:cNvSpPr>
          <p:nvPr/>
        </p:nvSpPr>
        <p:spPr bwMode="auto">
          <a:xfrm rot="5400000" flipH="1" flipV="1">
            <a:off x="3473450" y="1873250"/>
            <a:ext cx="977900" cy="2921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ALU</a:t>
            </a:r>
          </a:p>
        </p:txBody>
      </p:sp>
      <p:sp>
        <p:nvSpPr>
          <p:cNvPr id="43064" name="Line 64">
            <a:extLst>
              <a:ext uri="{FF2B5EF4-FFF2-40B4-BE49-F238E27FC236}">
                <a16:creationId xmlns:a16="http://schemas.microsoft.com/office/drawing/2014/main" id="{716D19F2-D02C-1348-B800-EDB8F8477559}"/>
              </a:ext>
            </a:extLst>
          </p:cNvPr>
          <p:cNvSpPr>
            <a:spLocks noChangeShapeType="1"/>
          </p:cNvSpPr>
          <p:nvPr/>
        </p:nvSpPr>
        <p:spPr bwMode="auto">
          <a:xfrm>
            <a:off x="4114800" y="2057400"/>
            <a:ext cx="304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65" name="Line 65">
            <a:extLst>
              <a:ext uri="{FF2B5EF4-FFF2-40B4-BE49-F238E27FC236}">
                <a16:creationId xmlns:a16="http://schemas.microsoft.com/office/drawing/2014/main" id="{467AA65A-3DCF-2949-9537-ACF7418684D3}"/>
              </a:ext>
            </a:extLst>
          </p:cNvPr>
          <p:cNvSpPr>
            <a:spLocks noChangeShapeType="1"/>
          </p:cNvSpPr>
          <p:nvPr/>
        </p:nvSpPr>
        <p:spPr bwMode="auto">
          <a:xfrm flipV="1">
            <a:off x="3276600" y="1828800"/>
            <a:ext cx="0" cy="2743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66" name="Line 66">
            <a:extLst>
              <a:ext uri="{FF2B5EF4-FFF2-40B4-BE49-F238E27FC236}">
                <a16:creationId xmlns:a16="http://schemas.microsoft.com/office/drawing/2014/main" id="{0637AA35-CA24-E24C-BB3A-98795BEC6520}"/>
              </a:ext>
            </a:extLst>
          </p:cNvPr>
          <p:cNvSpPr>
            <a:spLocks noChangeShapeType="1"/>
          </p:cNvSpPr>
          <p:nvPr/>
        </p:nvSpPr>
        <p:spPr bwMode="auto">
          <a:xfrm flipV="1">
            <a:off x="3200400" y="22098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67" name="Line 67">
            <a:extLst>
              <a:ext uri="{FF2B5EF4-FFF2-40B4-BE49-F238E27FC236}">
                <a16:creationId xmlns:a16="http://schemas.microsoft.com/office/drawing/2014/main" id="{DBA6DA66-B839-3B43-835C-F36CE28C1B16}"/>
              </a:ext>
            </a:extLst>
          </p:cNvPr>
          <p:cNvSpPr>
            <a:spLocks noChangeShapeType="1"/>
          </p:cNvSpPr>
          <p:nvPr/>
        </p:nvSpPr>
        <p:spPr bwMode="auto">
          <a:xfrm>
            <a:off x="3276600" y="1828800"/>
            <a:ext cx="533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68" name="Line 68">
            <a:extLst>
              <a:ext uri="{FF2B5EF4-FFF2-40B4-BE49-F238E27FC236}">
                <a16:creationId xmlns:a16="http://schemas.microsoft.com/office/drawing/2014/main" id="{66DB0A7D-797C-6A45-AF25-5DB38C776C7C}"/>
              </a:ext>
            </a:extLst>
          </p:cNvPr>
          <p:cNvSpPr>
            <a:spLocks noChangeShapeType="1"/>
          </p:cNvSpPr>
          <p:nvPr/>
        </p:nvSpPr>
        <p:spPr bwMode="auto">
          <a:xfrm>
            <a:off x="3200400" y="2209800"/>
            <a:ext cx="609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069" name="AutoShape 69">
            <a:extLst>
              <a:ext uri="{FF2B5EF4-FFF2-40B4-BE49-F238E27FC236}">
                <a16:creationId xmlns:a16="http://schemas.microsoft.com/office/drawing/2014/main" id="{DA920E27-73B5-CB4B-A423-24282CD5DF6D}"/>
              </a:ext>
            </a:extLst>
          </p:cNvPr>
          <p:cNvSpPr>
            <a:spLocks noChangeArrowheads="1"/>
          </p:cNvSpPr>
          <p:nvPr/>
        </p:nvSpPr>
        <p:spPr bwMode="auto">
          <a:xfrm>
            <a:off x="5416550" y="1911350"/>
            <a:ext cx="749300" cy="292100"/>
          </a:xfrm>
          <a:prstGeom prst="leftArrow">
            <a:avLst>
              <a:gd name="adj1" fmla="val 50000"/>
              <a:gd name="adj2" fmla="val 128249"/>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Arial" panose="020B0604020202020204" pitchFamily="34" charset="0"/>
            </a:endParaRPr>
          </a:p>
        </p:txBody>
      </p:sp>
      <p:sp>
        <p:nvSpPr>
          <p:cNvPr id="43070" name="Rectangle 70">
            <a:extLst>
              <a:ext uri="{FF2B5EF4-FFF2-40B4-BE49-F238E27FC236}">
                <a16:creationId xmlns:a16="http://schemas.microsoft.com/office/drawing/2014/main" id="{C85E63FA-AF7C-5344-A8CE-264A020313A8}"/>
              </a:ext>
            </a:extLst>
          </p:cNvPr>
          <p:cNvSpPr>
            <a:spLocks noChangeArrowheads="1"/>
          </p:cNvSpPr>
          <p:nvPr/>
        </p:nvSpPr>
        <p:spPr bwMode="auto">
          <a:xfrm>
            <a:off x="1965325" y="1774825"/>
            <a:ext cx="1143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Add an ALU</a:t>
            </a:r>
          </a:p>
        </p:txBody>
      </p:sp>
      <p:sp>
        <p:nvSpPr>
          <p:cNvPr id="43071" name="Rectangle 71">
            <a:extLst>
              <a:ext uri="{FF2B5EF4-FFF2-40B4-BE49-F238E27FC236}">
                <a16:creationId xmlns:a16="http://schemas.microsoft.com/office/drawing/2014/main" id="{CD203C27-A3E0-6945-A935-5BEDDD64AB30}"/>
              </a:ext>
            </a:extLst>
          </p:cNvPr>
          <p:cNvSpPr>
            <a:spLocks noChangeArrowheads="1"/>
          </p:cNvSpPr>
          <p:nvPr/>
        </p:nvSpPr>
        <p:spPr bwMode="auto">
          <a:xfrm>
            <a:off x="685800" y="541020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nSpc>
                <a:spcPct val="90000"/>
              </a:lnSpc>
              <a:spcBef>
                <a:spcPct val="30000"/>
              </a:spcBef>
              <a:buClr>
                <a:schemeClr val="accent2"/>
              </a:buClr>
              <a:buSzPct val="80000"/>
              <a:buFont typeface="Arial" panose="020B0604020202020204" pitchFamily="34" charset="0"/>
              <a:buChar char="•"/>
            </a:pPr>
            <a:r>
              <a:rPr lang="en-US" altLang="en-US" sz="2400">
                <a:latin typeface="Arial" panose="020B0604020202020204" pitchFamily="34" charset="0"/>
              </a:rPr>
              <a:t>May increase time for ID</a:t>
            </a:r>
          </a:p>
          <a:p>
            <a:pPr>
              <a:lnSpc>
                <a:spcPct val="90000"/>
              </a:lnSpc>
              <a:spcBef>
                <a:spcPct val="30000"/>
              </a:spcBef>
              <a:buClr>
                <a:schemeClr val="accent2"/>
              </a:buClr>
              <a:buSzPct val="80000"/>
              <a:buFont typeface="Arial" panose="020B0604020202020204" pitchFamily="34" charset="0"/>
              <a:buChar char="•"/>
            </a:pPr>
            <a:r>
              <a:rPr lang="en-US" altLang="en-US" sz="2400">
                <a:latin typeface="Arial" panose="020B0604020202020204" pitchFamily="34" charset="0"/>
              </a:rPr>
              <a:t>Eliminates 2 cycles, but still 1 additional stall</a:t>
            </a:r>
          </a:p>
        </p:txBody>
      </p:sp>
      <p:sp>
        <p:nvSpPr>
          <p:cNvPr id="43072" name="Rectangle 72">
            <a:extLst>
              <a:ext uri="{FF2B5EF4-FFF2-40B4-BE49-F238E27FC236}">
                <a16:creationId xmlns:a16="http://schemas.microsoft.com/office/drawing/2014/main" id="{82823024-386E-F040-82C8-16863253501C}"/>
              </a:ext>
            </a:extLst>
          </p:cNvPr>
          <p:cNvSpPr>
            <a:spLocks noChangeArrowheads="1"/>
          </p:cNvSpPr>
          <p:nvPr/>
        </p:nvSpPr>
        <p:spPr bwMode="auto">
          <a:xfrm>
            <a:off x="3429000" y="4114800"/>
            <a:ext cx="533400" cy="990600"/>
          </a:xfrm>
          <a:prstGeom prst="rect">
            <a:avLst/>
          </a:prstGeom>
          <a:solidFill>
            <a:schemeClr val="bg1"/>
          </a:solidFill>
          <a:ln w="12700">
            <a:solidFill>
              <a:schemeClr val="tx1"/>
            </a:solidFill>
            <a:miter lim="800000"/>
            <a:headEnd type="none" w="sm" len="sm"/>
            <a:tailEnd type="none" w="sm" len="sm"/>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RF</a:t>
            </a:r>
          </a:p>
        </p:txBody>
      </p:sp>
      <p:sp>
        <p:nvSpPr>
          <p:cNvPr id="43073" name="Line 73">
            <a:extLst>
              <a:ext uri="{FF2B5EF4-FFF2-40B4-BE49-F238E27FC236}">
                <a16:creationId xmlns:a16="http://schemas.microsoft.com/office/drawing/2014/main" id="{624E1A9F-06F3-2045-927C-9D38DB3875C6}"/>
              </a:ext>
            </a:extLst>
          </p:cNvPr>
          <p:cNvSpPr>
            <a:spLocks noChangeShapeType="1"/>
          </p:cNvSpPr>
          <p:nvPr/>
        </p:nvSpPr>
        <p:spPr bwMode="auto">
          <a:xfrm>
            <a:off x="3962400" y="45720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74" name="Line 74">
            <a:extLst>
              <a:ext uri="{FF2B5EF4-FFF2-40B4-BE49-F238E27FC236}">
                <a16:creationId xmlns:a16="http://schemas.microsoft.com/office/drawing/2014/main" id="{92C1384A-8DA2-D945-B13A-F8E1276F06D8}"/>
              </a:ext>
            </a:extLst>
          </p:cNvPr>
          <p:cNvSpPr>
            <a:spLocks noChangeShapeType="1"/>
          </p:cNvSpPr>
          <p:nvPr/>
        </p:nvSpPr>
        <p:spPr bwMode="auto">
          <a:xfrm flipV="1">
            <a:off x="4114800" y="3657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3075" name="Line 75">
            <a:extLst>
              <a:ext uri="{FF2B5EF4-FFF2-40B4-BE49-F238E27FC236}">
                <a16:creationId xmlns:a16="http://schemas.microsoft.com/office/drawing/2014/main" id="{96DD5C61-D319-D046-9816-5B311799FB4E}"/>
              </a:ext>
            </a:extLst>
          </p:cNvPr>
          <p:cNvSpPr>
            <a:spLocks noChangeShapeType="1"/>
          </p:cNvSpPr>
          <p:nvPr/>
        </p:nvSpPr>
        <p:spPr bwMode="auto">
          <a:xfrm flipH="1">
            <a:off x="3352800" y="3657600"/>
            <a:ext cx="762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A3E24782-074A-234C-B9E2-D109927B191C}"/>
              </a:ext>
            </a:extLst>
          </p:cNvPr>
          <p:cNvSpPr>
            <a:spLocks noGrp="1" noChangeArrowheads="1"/>
          </p:cNvSpPr>
          <p:nvPr>
            <p:ph type="title"/>
          </p:nvPr>
        </p:nvSpPr>
        <p:spPr>
          <a:xfrm>
            <a:off x="8860" y="0"/>
            <a:ext cx="8449340" cy="772400"/>
          </a:xfrm>
        </p:spPr>
        <p:txBody>
          <a:bodyPr>
            <a:normAutofit fontScale="90000"/>
          </a:bodyPr>
          <a:lstStyle/>
          <a:p>
            <a:pPr>
              <a:defRPr/>
            </a:pPr>
            <a:r>
              <a:rPr lang="en-US" altLang="en-US" dirty="0">
                <a:effectLst>
                  <a:outerShdw blurRad="38100" dist="38100" dir="2700000" algn="tl">
                    <a:srgbClr val="C0C0C0"/>
                  </a:outerShdw>
                </a:effectLst>
                <a:ea typeface="ＭＳ Ｐゴシック" charset="0"/>
              </a:rPr>
              <a:t>Branch Prediction: Eliminating Control Hazard Stalls</a:t>
            </a:r>
          </a:p>
        </p:txBody>
      </p:sp>
      <p:sp>
        <p:nvSpPr>
          <p:cNvPr id="45059" name="Rectangle 3">
            <a:extLst>
              <a:ext uri="{FF2B5EF4-FFF2-40B4-BE49-F238E27FC236}">
                <a16:creationId xmlns:a16="http://schemas.microsoft.com/office/drawing/2014/main" id="{35906D57-7D75-B34E-B7EB-51A12018E801}"/>
              </a:ext>
            </a:extLst>
          </p:cNvPr>
          <p:cNvSpPr>
            <a:spLocks noGrp="1" noChangeArrowheads="1"/>
          </p:cNvSpPr>
          <p:nvPr>
            <p:ph idx="1"/>
          </p:nvPr>
        </p:nvSpPr>
        <p:spPr/>
        <p:txBody>
          <a:bodyPr/>
          <a:lstStyle/>
          <a:p>
            <a:r>
              <a:rPr lang="en-US" altLang="en-US">
                <a:solidFill>
                  <a:srgbClr val="FF0000"/>
                </a:solidFill>
              </a:rPr>
              <a:t>When</a:t>
            </a:r>
            <a:endParaRPr lang="en-US" altLang="en-US"/>
          </a:p>
          <a:p>
            <a:pPr lvl="1"/>
            <a:r>
              <a:rPr lang="en-US" altLang="en-US"/>
              <a:t>Detect an undecoded instruction is a branch</a:t>
            </a:r>
          </a:p>
          <a:p>
            <a:r>
              <a:rPr lang="en-US" altLang="en-US">
                <a:solidFill>
                  <a:srgbClr val="FF0000"/>
                </a:solidFill>
              </a:rPr>
              <a:t>Where</a:t>
            </a:r>
            <a:endParaRPr lang="en-US" altLang="en-US"/>
          </a:p>
          <a:p>
            <a:pPr lvl="1"/>
            <a:r>
              <a:rPr lang="en-US" altLang="en-US"/>
              <a:t>Predicting where the branch will go (if taken)</a:t>
            </a:r>
          </a:p>
          <a:p>
            <a:r>
              <a:rPr lang="en-US" altLang="en-US">
                <a:solidFill>
                  <a:srgbClr val="FF0000"/>
                </a:solidFill>
              </a:rPr>
              <a:t>Whether</a:t>
            </a:r>
            <a:endParaRPr lang="en-US" altLang="en-US"/>
          </a:p>
          <a:p>
            <a:pPr lvl="1"/>
            <a:r>
              <a:rPr lang="en-US" altLang="en-US"/>
              <a:t>(For conditional branches) Predict if it will branch or not, </a:t>
            </a:r>
            <a:r>
              <a:rPr lang="en-US" altLang="en-US" i="1"/>
              <a:t>before</a:t>
            </a:r>
            <a:r>
              <a:rPr lang="en-US" altLang="en-US"/>
              <a:t> execution</a:t>
            </a:r>
          </a:p>
          <a:p>
            <a:r>
              <a:rPr lang="en-US" altLang="en-US"/>
              <a:t>Optimal: try to determine all three in IF stage</a:t>
            </a:r>
          </a:p>
          <a:p>
            <a:pPr lvl="1"/>
            <a:r>
              <a:rPr lang="en-US" altLang="en-US"/>
              <a:t>Won</a:t>
            </a:r>
            <a:r>
              <a:rPr lang="ja-JP" altLang="en-US"/>
              <a:t>’</a:t>
            </a:r>
            <a:r>
              <a:rPr lang="en-US" altLang="ja-JP"/>
              <a:t>t work perfectly (</a:t>
            </a:r>
            <a:r>
              <a:rPr lang="en-US" altLang="ja-JP" i="1"/>
              <a:t>prediction</a:t>
            </a:r>
            <a:r>
              <a:rPr lang="en-US" altLang="ja-JP"/>
              <a:t>), but we can try our best</a:t>
            </a:r>
            <a:endParaRPr lang="en-US"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6CAA3E9A-F3DB-384A-872E-81203CACDB72}"/>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Issues with </a:t>
            </a:r>
            <a:r>
              <a:rPr lang="en-US" altLang="en-US" dirty="0">
                <a:solidFill>
                  <a:srgbClr val="FF0000"/>
                </a:solidFill>
                <a:effectLst>
                  <a:outerShdw blurRad="38100" dist="38100" dir="2700000" algn="tl">
                    <a:srgbClr val="C0C0C0"/>
                  </a:outerShdw>
                </a:effectLst>
                <a:ea typeface="ＭＳ Ｐゴシック" charset="0"/>
              </a:rPr>
              <a:t>When </a:t>
            </a:r>
            <a:r>
              <a:rPr lang="en-US" altLang="en-US" dirty="0">
                <a:solidFill>
                  <a:schemeClr val="tx1"/>
                </a:solidFill>
                <a:effectLst>
                  <a:outerShdw blurRad="38100" dist="38100" dir="2700000" algn="tl">
                    <a:srgbClr val="C0C0C0"/>
                  </a:outerShdw>
                </a:effectLst>
                <a:ea typeface="ＭＳ Ｐゴシック" charset="0"/>
              </a:rPr>
              <a:t>and</a:t>
            </a:r>
            <a:r>
              <a:rPr lang="en-US" altLang="en-US" dirty="0">
                <a:solidFill>
                  <a:srgbClr val="FF0000"/>
                </a:solidFill>
                <a:effectLst>
                  <a:outerShdw blurRad="38100" dist="38100" dir="2700000" algn="tl">
                    <a:srgbClr val="C0C0C0"/>
                  </a:outerShdw>
                </a:effectLst>
                <a:ea typeface="ＭＳ Ｐゴシック" charset="0"/>
              </a:rPr>
              <a:t> Where</a:t>
            </a:r>
          </a:p>
        </p:txBody>
      </p:sp>
      <p:sp>
        <p:nvSpPr>
          <p:cNvPr id="47107" name="Rectangle 3">
            <a:extLst>
              <a:ext uri="{FF2B5EF4-FFF2-40B4-BE49-F238E27FC236}">
                <a16:creationId xmlns:a16="http://schemas.microsoft.com/office/drawing/2014/main" id="{D00FDD92-68BB-1B44-9021-1DF90641242F}"/>
              </a:ext>
            </a:extLst>
          </p:cNvPr>
          <p:cNvSpPr>
            <a:spLocks noGrp="1" noChangeArrowheads="1"/>
          </p:cNvSpPr>
          <p:nvPr>
            <p:ph idx="1"/>
          </p:nvPr>
        </p:nvSpPr>
        <p:spPr/>
        <p:txBody>
          <a:bodyPr/>
          <a:lstStyle/>
          <a:p>
            <a:pPr>
              <a:lnSpc>
                <a:spcPct val="80000"/>
              </a:lnSpc>
            </a:pPr>
            <a:r>
              <a:rPr lang="en-US" altLang="en-US"/>
              <a:t>What does IF know?</a:t>
            </a:r>
          </a:p>
          <a:p>
            <a:pPr lvl="1">
              <a:lnSpc>
                <a:spcPct val="80000"/>
              </a:lnSpc>
            </a:pPr>
            <a:r>
              <a:rPr lang="en-US" altLang="en-US"/>
              <a:t>Only the address of the instruction (PC)</a:t>
            </a:r>
          </a:p>
          <a:p>
            <a:pPr lvl="1">
              <a:lnSpc>
                <a:spcPct val="80000"/>
              </a:lnSpc>
            </a:pPr>
            <a:r>
              <a:rPr lang="en-US" altLang="en-US"/>
              <a:t>Keep buffer (cache) of last known branch targets around</a:t>
            </a:r>
          </a:p>
          <a:p>
            <a:pPr lvl="1">
              <a:lnSpc>
                <a:spcPct val="80000"/>
              </a:lnSpc>
            </a:pPr>
            <a:r>
              <a:rPr lang="en-US" altLang="en-US"/>
              <a:t>Buffer is written to by WB stage</a:t>
            </a:r>
          </a:p>
        </p:txBody>
      </p:sp>
      <p:sp>
        <p:nvSpPr>
          <p:cNvPr id="47108" name="Rectangle 4">
            <a:extLst>
              <a:ext uri="{FF2B5EF4-FFF2-40B4-BE49-F238E27FC236}">
                <a16:creationId xmlns:a16="http://schemas.microsoft.com/office/drawing/2014/main" id="{248FF064-91D5-3647-807B-2D302C0F37BF}"/>
              </a:ext>
            </a:extLst>
          </p:cNvPr>
          <p:cNvSpPr>
            <a:spLocks noChangeArrowheads="1"/>
          </p:cNvSpPr>
          <p:nvPr/>
        </p:nvSpPr>
        <p:spPr bwMode="auto">
          <a:xfrm>
            <a:off x="2057400" y="2895600"/>
            <a:ext cx="1130300" cy="14351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Last</a:t>
            </a:r>
          </a:p>
          <a:p>
            <a:pPr algn="ctr">
              <a:spcBef>
                <a:spcPct val="0"/>
              </a:spcBef>
              <a:buClrTx/>
              <a:buSzTx/>
              <a:buFontTx/>
              <a:buNone/>
            </a:pPr>
            <a:r>
              <a:rPr lang="en-US" altLang="en-US" sz="1400">
                <a:latin typeface="Arial" panose="020B0604020202020204" pitchFamily="34" charset="0"/>
              </a:rPr>
              <a:t>known</a:t>
            </a:r>
          </a:p>
          <a:p>
            <a:pPr algn="ctr">
              <a:spcBef>
                <a:spcPct val="0"/>
              </a:spcBef>
              <a:buClrTx/>
              <a:buSzTx/>
              <a:buFontTx/>
              <a:buNone/>
            </a:pPr>
            <a:r>
              <a:rPr lang="en-US" altLang="en-US" sz="1400">
                <a:latin typeface="Arial" panose="020B0604020202020204" pitchFamily="34" charset="0"/>
              </a:rPr>
              <a:t>branches</a:t>
            </a:r>
          </a:p>
        </p:txBody>
      </p:sp>
      <p:sp>
        <p:nvSpPr>
          <p:cNvPr id="47109" name="Line 5">
            <a:extLst>
              <a:ext uri="{FF2B5EF4-FFF2-40B4-BE49-F238E27FC236}">
                <a16:creationId xmlns:a16="http://schemas.microsoft.com/office/drawing/2014/main" id="{306222DE-5876-0047-BACF-CA53393F1854}"/>
              </a:ext>
            </a:extLst>
          </p:cNvPr>
          <p:cNvSpPr>
            <a:spLocks noChangeShapeType="1"/>
          </p:cNvSpPr>
          <p:nvPr/>
        </p:nvSpPr>
        <p:spPr bwMode="auto">
          <a:xfrm>
            <a:off x="1136650" y="3651250"/>
            <a:ext cx="914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0" name="Rectangle 6">
            <a:extLst>
              <a:ext uri="{FF2B5EF4-FFF2-40B4-BE49-F238E27FC236}">
                <a16:creationId xmlns:a16="http://schemas.microsoft.com/office/drawing/2014/main" id="{203FED6E-0142-4641-8EFF-7E165738FDB3}"/>
              </a:ext>
            </a:extLst>
          </p:cNvPr>
          <p:cNvSpPr>
            <a:spLocks noChangeArrowheads="1"/>
          </p:cNvSpPr>
          <p:nvPr/>
        </p:nvSpPr>
        <p:spPr bwMode="auto">
          <a:xfrm>
            <a:off x="434975" y="3368675"/>
            <a:ext cx="91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PC value</a:t>
            </a:r>
          </a:p>
        </p:txBody>
      </p:sp>
      <p:sp>
        <p:nvSpPr>
          <p:cNvPr id="47111" name="Line 7">
            <a:extLst>
              <a:ext uri="{FF2B5EF4-FFF2-40B4-BE49-F238E27FC236}">
                <a16:creationId xmlns:a16="http://schemas.microsoft.com/office/drawing/2014/main" id="{315E6B04-C021-F047-9FB5-829477D71EFF}"/>
              </a:ext>
            </a:extLst>
          </p:cNvPr>
          <p:cNvSpPr>
            <a:spLocks noChangeShapeType="1"/>
          </p:cNvSpPr>
          <p:nvPr/>
        </p:nvSpPr>
        <p:spPr bwMode="auto">
          <a:xfrm>
            <a:off x="3194050" y="3651250"/>
            <a:ext cx="914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12" name="Rectangle 8">
            <a:extLst>
              <a:ext uri="{FF2B5EF4-FFF2-40B4-BE49-F238E27FC236}">
                <a16:creationId xmlns:a16="http://schemas.microsoft.com/office/drawing/2014/main" id="{8C1050A4-F142-1047-AD37-E52C25E30981}"/>
              </a:ext>
            </a:extLst>
          </p:cNvPr>
          <p:cNvSpPr>
            <a:spLocks noChangeArrowheads="1"/>
          </p:cNvSpPr>
          <p:nvPr/>
        </p:nvSpPr>
        <p:spPr bwMode="auto">
          <a:xfrm>
            <a:off x="3905250" y="3203575"/>
            <a:ext cx="384175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b="1">
                <a:solidFill>
                  <a:schemeClr val="tx1"/>
                </a:solidFill>
                <a:latin typeface="Arial" panose="020B0604020202020204" pitchFamily="34" charset="0"/>
              </a:rPr>
              <a:t>Hit = we know it is a branch (</a:t>
            </a:r>
            <a:r>
              <a:rPr lang="ja-JP" altLang="en-US" sz="1400" b="1">
                <a:solidFill>
                  <a:schemeClr val="tx1"/>
                </a:solidFill>
                <a:latin typeface="Arial" panose="020B0604020202020204" pitchFamily="34" charset="0"/>
              </a:rPr>
              <a:t>“</a:t>
            </a:r>
            <a:r>
              <a:rPr lang="en-US" altLang="ja-JP" sz="1400" b="1">
                <a:solidFill>
                  <a:schemeClr val="tx1"/>
                </a:solidFill>
                <a:latin typeface="Arial" panose="020B0604020202020204" pitchFamily="34" charset="0"/>
              </a:rPr>
              <a:t>WHEN</a:t>
            </a:r>
            <a:r>
              <a:rPr lang="ja-JP" altLang="en-US" sz="1400" b="1">
                <a:solidFill>
                  <a:schemeClr val="tx1"/>
                </a:solidFill>
                <a:latin typeface="Arial" panose="020B0604020202020204" pitchFamily="34" charset="0"/>
              </a:rPr>
              <a:t>”</a:t>
            </a:r>
            <a:r>
              <a:rPr lang="en-US" altLang="ja-JP" sz="1400" b="1">
                <a:solidFill>
                  <a:schemeClr val="tx1"/>
                </a:solidFill>
                <a:latin typeface="Arial" panose="020B0604020202020204" pitchFamily="34" charset="0"/>
              </a:rPr>
              <a:t>),</a:t>
            </a:r>
          </a:p>
          <a:p>
            <a:pPr>
              <a:spcBef>
                <a:spcPct val="0"/>
              </a:spcBef>
              <a:buClrTx/>
              <a:buSzTx/>
              <a:buFontTx/>
              <a:buNone/>
            </a:pPr>
            <a:r>
              <a:rPr lang="en-US" altLang="en-US" sz="1400" b="1">
                <a:solidFill>
                  <a:schemeClr val="tx1"/>
                </a:solidFill>
                <a:latin typeface="Arial" panose="020B0604020202020204" pitchFamily="34" charset="0"/>
              </a:rPr>
              <a:t>         BTB returns branch target (</a:t>
            </a:r>
            <a:r>
              <a:rPr lang="ja-JP" altLang="en-US" sz="1400" b="1">
                <a:solidFill>
                  <a:schemeClr val="tx1"/>
                </a:solidFill>
                <a:latin typeface="Arial" panose="020B0604020202020204" pitchFamily="34" charset="0"/>
              </a:rPr>
              <a:t>“</a:t>
            </a:r>
            <a:r>
              <a:rPr lang="en-US" altLang="ja-JP" sz="1400" b="1">
                <a:solidFill>
                  <a:schemeClr val="tx1"/>
                </a:solidFill>
                <a:latin typeface="Arial" panose="020B0604020202020204" pitchFamily="34" charset="0"/>
              </a:rPr>
              <a:t>WHERE</a:t>
            </a:r>
            <a:r>
              <a:rPr lang="ja-JP" altLang="en-US" sz="1400" b="1">
                <a:solidFill>
                  <a:schemeClr val="tx1"/>
                </a:solidFill>
                <a:latin typeface="Arial" panose="020B0604020202020204" pitchFamily="34" charset="0"/>
              </a:rPr>
              <a:t>”</a:t>
            </a:r>
            <a:r>
              <a:rPr lang="en-US" altLang="ja-JP" sz="1400" b="1">
                <a:solidFill>
                  <a:schemeClr val="tx1"/>
                </a:solidFill>
                <a:latin typeface="Arial" panose="020B0604020202020204" pitchFamily="34" charset="0"/>
              </a:rPr>
              <a:t>)</a:t>
            </a:r>
          </a:p>
          <a:p>
            <a:pPr>
              <a:spcBef>
                <a:spcPct val="0"/>
              </a:spcBef>
              <a:buClrTx/>
              <a:buSzTx/>
              <a:buFontTx/>
              <a:buNone/>
            </a:pPr>
            <a:endParaRPr lang="en-US" altLang="en-US" sz="1400" b="1">
              <a:solidFill>
                <a:schemeClr val="tx1"/>
              </a:solidFill>
              <a:latin typeface="Arial" panose="020B0604020202020204" pitchFamily="34" charset="0"/>
            </a:endParaRPr>
          </a:p>
          <a:p>
            <a:pPr>
              <a:spcBef>
                <a:spcPct val="0"/>
              </a:spcBef>
              <a:buClrTx/>
              <a:buSzTx/>
              <a:buFontTx/>
              <a:buNone/>
            </a:pPr>
            <a:r>
              <a:rPr lang="en-US" altLang="en-US" sz="1400" b="1">
                <a:solidFill>
                  <a:schemeClr val="tx1"/>
                </a:solidFill>
                <a:latin typeface="Arial" panose="020B0604020202020204" pitchFamily="34" charset="0"/>
              </a:rPr>
              <a:t>Miss = </a:t>
            </a:r>
            <a:r>
              <a:rPr lang="en-US" altLang="en-US" sz="1400" b="1" i="1">
                <a:solidFill>
                  <a:schemeClr val="tx1"/>
                </a:solidFill>
                <a:latin typeface="Arial" panose="020B0604020202020204" pitchFamily="34" charset="0"/>
              </a:rPr>
              <a:t>assume</a:t>
            </a:r>
            <a:r>
              <a:rPr lang="en-US" altLang="en-US" sz="1400" b="1">
                <a:solidFill>
                  <a:schemeClr val="tx1"/>
                </a:solidFill>
                <a:latin typeface="Arial" panose="020B0604020202020204" pitchFamily="34" charset="0"/>
              </a:rPr>
              <a:t> not a branch</a:t>
            </a:r>
          </a:p>
        </p:txBody>
      </p:sp>
      <p:sp>
        <p:nvSpPr>
          <p:cNvPr id="47113" name="Rectangle 9">
            <a:extLst>
              <a:ext uri="{FF2B5EF4-FFF2-40B4-BE49-F238E27FC236}">
                <a16:creationId xmlns:a16="http://schemas.microsoft.com/office/drawing/2014/main" id="{4E9CA9E9-D227-0C46-83D0-C899B887CC44}"/>
              </a:ext>
            </a:extLst>
          </p:cNvPr>
          <p:cNvSpPr>
            <a:spLocks noChangeArrowheads="1"/>
          </p:cNvSpPr>
          <p:nvPr/>
        </p:nvSpPr>
        <p:spPr bwMode="auto">
          <a:xfrm>
            <a:off x="914400" y="5181600"/>
            <a:ext cx="7162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nSpc>
                <a:spcPct val="90000"/>
              </a:lnSpc>
              <a:spcBef>
                <a:spcPct val="30000"/>
              </a:spcBef>
              <a:buClr>
                <a:schemeClr val="accent2"/>
              </a:buClr>
              <a:buSzPct val="80000"/>
              <a:buFont typeface="Arial" panose="020B0604020202020204" pitchFamily="34" charset="0"/>
              <a:buChar char="•"/>
            </a:pPr>
            <a:r>
              <a:rPr lang="en-US" altLang="en-US" sz="2400"/>
              <a:t>Traditional name for this is a </a:t>
            </a:r>
            <a:r>
              <a:rPr lang="en-US" altLang="en-US" sz="2400" i="1"/>
              <a:t>Branch Target Buffer (BTB)</a:t>
            </a:r>
          </a:p>
        </p:txBody>
      </p:sp>
      <p:sp>
        <p:nvSpPr>
          <p:cNvPr id="47114" name="Text Box 10">
            <a:extLst>
              <a:ext uri="{FF2B5EF4-FFF2-40B4-BE49-F238E27FC236}">
                <a16:creationId xmlns:a16="http://schemas.microsoft.com/office/drawing/2014/main" id="{DAD24354-CF4C-0F49-A33D-088D3F4266EC}"/>
              </a:ext>
            </a:extLst>
          </p:cNvPr>
          <p:cNvSpPr txBox="1">
            <a:spLocks noChangeArrowheads="1"/>
          </p:cNvSpPr>
          <p:nvPr/>
        </p:nvSpPr>
        <p:spPr bwMode="auto">
          <a:xfrm>
            <a:off x="3651250" y="4572000"/>
            <a:ext cx="685800" cy="22701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50000"/>
              </a:spcBef>
              <a:buClrTx/>
              <a:buSzTx/>
              <a:buFontTx/>
              <a:buNone/>
            </a:pPr>
            <a:r>
              <a:rPr lang="en-US" altLang="en-US" sz="800">
                <a:latin typeface="Arial" panose="020B0604020202020204" pitchFamily="34" charset="0"/>
              </a:rPr>
              <a:t>tag</a:t>
            </a:r>
          </a:p>
        </p:txBody>
      </p:sp>
      <p:sp>
        <p:nvSpPr>
          <p:cNvPr id="47115" name="Text Box 11">
            <a:extLst>
              <a:ext uri="{FF2B5EF4-FFF2-40B4-BE49-F238E27FC236}">
                <a16:creationId xmlns:a16="http://schemas.microsoft.com/office/drawing/2014/main" id="{ABA4A3B8-8CA3-BA44-ABC6-714DB40733A3}"/>
              </a:ext>
            </a:extLst>
          </p:cNvPr>
          <p:cNvSpPr txBox="1">
            <a:spLocks noChangeArrowheads="1"/>
          </p:cNvSpPr>
          <p:nvPr/>
        </p:nvSpPr>
        <p:spPr bwMode="auto">
          <a:xfrm>
            <a:off x="4343400" y="4572000"/>
            <a:ext cx="1219200" cy="22701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50000"/>
              </a:spcBef>
              <a:buClrTx/>
              <a:buSzTx/>
              <a:buFontTx/>
              <a:buNone/>
            </a:pPr>
            <a:r>
              <a:rPr lang="en-US" altLang="en-US" sz="800">
                <a:latin typeface="Arial" panose="020B0604020202020204" pitchFamily="34" charset="0"/>
              </a:rPr>
              <a:t>pre-computed target</a:t>
            </a:r>
          </a:p>
        </p:txBody>
      </p:sp>
      <p:sp>
        <p:nvSpPr>
          <p:cNvPr id="47116" name="Text Box 12">
            <a:extLst>
              <a:ext uri="{FF2B5EF4-FFF2-40B4-BE49-F238E27FC236}">
                <a16:creationId xmlns:a16="http://schemas.microsoft.com/office/drawing/2014/main" id="{A5E843C4-301E-394E-A993-7FC10308914C}"/>
              </a:ext>
            </a:extLst>
          </p:cNvPr>
          <p:cNvSpPr txBox="1">
            <a:spLocks noChangeArrowheads="1"/>
          </p:cNvSpPr>
          <p:nvPr/>
        </p:nvSpPr>
        <p:spPr bwMode="auto">
          <a:xfrm>
            <a:off x="2508250" y="4572000"/>
            <a:ext cx="10302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BTB entry:</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F1F7F288-57D9-1F4D-9C4B-AC9FB68BFBCA}"/>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Aside: Predicting </a:t>
            </a:r>
            <a:r>
              <a:rPr lang="en-US" altLang="en-US" dirty="0">
                <a:solidFill>
                  <a:srgbClr val="FF0000"/>
                </a:solidFill>
                <a:effectLst>
                  <a:outerShdw blurRad="38100" dist="38100" dir="2700000" algn="tl">
                    <a:srgbClr val="C0C0C0"/>
                  </a:outerShdw>
                </a:effectLst>
                <a:ea typeface="ＭＳ Ｐゴシック" charset="0"/>
              </a:rPr>
              <a:t>Where</a:t>
            </a:r>
            <a:r>
              <a:rPr lang="en-US" altLang="en-US" dirty="0">
                <a:effectLst>
                  <a:outerShdw blurRad="38100" dist="38100" dir="2700000" algn="tl">
                    <a:srgbClr val="C0C0C0"/>
                  </a:outerShdw>
                </a:effectLst>
                <a:ea typeface="ＭＳ Ｐゴシック" charset="0"/>
              </a:rPr>
              <a:t> with returns</a:t>
            </a:r>
          </a:p>
        </p:txBody>
      </p:sp>
      <p:sp>
        <p:nvSpPr>
          <p:cNvPr id="49155" name="Rectangle 3">
            <a:extLst>
              <a:ext uri="{FF2B5EF4-FFF2-40B4-BE49-F238E27FC236}">
                <a16:creationId xmlns:a16="http://schemas.microsoft.com/office/drawing/2014/main" id="{43AD0F5E-BA92-6F49-8F5C-D2BB6B6714B5}"/>
              </a:ext>
            </a:extLst>
          </p:cNvPr>
          <p:cNvSpPr>
            <a:spLocks noGrp="1" noChangeArrowheads="1"/>
          </p:cNvSpPr>
          <p:nvPr>
            <p:ph idx="1"/>
          </p:nvPr>
        </p:nvSpPr>
        <p:spPr/>
        <p:txBody>
          <a:bodyPr/>
          <a:lstStyle/>
          <a:p>
            <a:r>
              <a:rPr lang="en-US" altLang="en-US"/>
              <a:t>Problem: A lot of branches are returns from procedures</a:t>
            </a:r>
          </a:p>
          <a:p>
            <a:pPr lvl="1"/>
            <a:r>
              <a:rPr lang="en-US" altLang="en-US"/>
              <a:t>Holding the last target address is a poor predictor</a:t>
            </a:r>
          </a:p>
          <a:p>
            <a:r>
              <a:rPr lang="en-US" altLang="en-US"/>
              <a:t>Solution: Keep a hardware </a:t>
            </a:r>
            <a:r>
              <a:rPr lang="ja-JP" altLang="en-US"/>
              <a:t>“</a:t>
            </a:r>
            <a:r>
              <a:rPr lang="en-US" altLang="ja-JP"/>
              <a:t>stack</a:t>
            </a:r>
            <a:r>
              <a:rPr lang="ja-JP" altLang="en-US"/>
              <a:t>”</a:t>
            </a:r>
            <a:r>
              <a:rPr lang="en-US" altLang="ja-JP"/>
              <a:t> of return addresses</a:t>
            </a:r>
          </a:p>
          <a:p>
            <a:pPr lvl="1"/>
            <a:r>
              <a:rPr lang="en-US" altLang="en-US"/>
              <a:t>Push return address when a </a:t>
            </a:r>
            <a:r>
              <a:rPr lang="ja-JP" altLang="en-US"/>
              <a:t>“</a:t>
            </a:r>
            <a:r>
              <a:rPr lang="en-US" altLang="ja-JP"/>
              <a:t>call</a:t>
            </a:r>
            <a:r>
              <a:rPr lang="ja-JP" altLang="en-US"/>
              <a:t>”</a:t>
            </a:r>
            <a:r>
              <a:rPr lang="en-US" altLang="ja-JP"/>
              <a:t> is executed</a:t>
            </a:r>
          </a:p>
          <a:p>
            <a:pPr lvl="1"/>
            <a:r>
              <a:rPr lang="en-US" altLang="en-US"/>
              <a:t>Pop buffer on returns to get prediction</a:t>
            </a:r>
          </a:p>
          <a:p>
            <a:pPr lvl="2"/>
            <a:r>
              <a:rPr lang="en-US" altLang="en-US"/>
              <a:t>Bottom of stack is filled with old value on a pop</a:t>
            </a:r>
          </a:p>
          <a:p>
            <a:pPr lvl="1"/>
            <a:r>
              <a:rPr lang="en-US" altLang="en-US"/>
              <a:t>Need approx 4-8 entries for integer code</a:t>
            </a:r>
          </a:p>
          <a:p>
            <a:pPr lvl="1"/>
            <a:endParaRPr lang="en-US" altLang="en-US"/>
          </a:p>
        </p:txBody>
      </p:sp>
      <p:sp>
        <p:nvSpPr>
          <p:cNvPr id="49156" name="Rectangle 4">
            <a:extLst>
              <a:ext uri="{FF2B5EF4-FFF2-40B4-BE49-F238E27FC236}">
                <a16:creationId xmlns:a16="http://schemas.microsoft.com/office/drawing/2014/main" id="{7C6008E3-664E-C748-AEAB-F4B6771436AF}"/>
              </a:ext>
            </a:extLst>
          </p:cNvPr>
          <p:cNvSpPr>
            <a:spLocks noChangeArrowheads="1"/>
          </p:cNvSpPr>
          <p:nvPr/>
        </p:nvSpPr>
        <p:spPr bwMode="auto">
          <a:xfrm>
            <a:off x="5210175" y="5410200"/>
            <a:ext cx="130175" cy="228600"/>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Arial" panose="020B0604020202020204" pitchFamily="34" charset="0"/>
            </a:endParaRPr>
          </a:p>
        </p:txBody>
      </p:sp>
      <p:sp>
        <p:nvSpPr>
          <p:cNvPr id="49157" name="Rectangle 5">
            <a:extLst>
              <a:ext uri="{FF2B5EF4-FFF2-40B4-BE49-F238E27FC236}">
                <a16:creationId xmlns:a16="http://schemas.microsoft.com/office/drawing/2014/main" id="{19329A48-56D3-7449-9581-AF77CBB30930}"/>
              </a:ext>
            </a:extLst>
          </p:cNvPr>
          <p:cNvSpPr>
            <a:spLocks noChangeArrowheads="1"/>
          </p:cNvSpPr>
          <p:nvPr/>
        </p:nvSpPr>
        <p:spPr bwMode="auto">
          <a:xfrm>
            <a:off x="5111750" y="5791200"/>
            <a:ext cx="717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return?</a:t>
            </a:r>
          </a:p>
        </p:txBody>
      </p:sp>
      <p:sp>
        <p:nvSpPr>
          <p:cNvPr id="49158" name="Line 6">
            <a:extLst>
              <a:ext uri="{FF2B5EF4-FFF2-40B4-BE49-F238E27FC236}">
                <a16:creationId xmlns:a16="http://schemas.microsoft.com/office/drawing/2014/main" id="{1B166285-FE1F-1345-BEBA-958C92545085}"/>
              </a:ext>
            </a:extLst>
          </p:cNvPr>
          <p:cNvSpPr>
            <a:spLocks noChangeShapeType="1"/>
          </p:cNvSpPr>
          <p:nvPr/>
        </p:nvSpPr>
        <p:spPr bwMode="auto">
          <a:xfrm>
            <a:off x="5280025" y="5592763"/>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9159" name="Rectangle 7">
            <a:extLst>
              <a:ext uri="{FF2B5EF4-FFF2-40B4-BE49-F238E27FC236}">
                <a16:creationId xmlns:a16="http://schemas.microsoft.com/office/drawing/2014/main" id="{4705209B-F757-1543-AE86-A410DDFFF1F4}"/>
              </a:ext>
            </a:extLst>
          </p:cNvPr>
          <p:cNvSpPr>
            <a:spLocks noChangeArrowheads="1"/>
          </p:cNvSpPr>
          <p:nvPr/>
        </p:nvSpPr>
        <p:spPr bwMode="auto">
          <a:xfrm>
            <a:off x="2101850" y="5267325"/>
            <a:ext cx="1101725"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i="1">
                <a:latin typeface="Arial" panose="020B0604020202020204" pitchFamily="34" charset="0"/>
              </a:rPr>
              <a:t>Each entry</a:t>
            </a:r>
          </a:p>
          <a:p>
            <a:pPr>
              <a:spcBef>
                <a:spcPct val="0"/>
              </a:spcBef>
              <a:buClrTx/>
              <a:buSzTx/>
              <a:buFontTx/>
              <a:buNone/>
            </a:pPr>
            <a:r>
              <a:rPr lang="en-US" altLang="en-US" sz="1400" i="1">
                <a:latin typeface="Arial" panose="020B0604020202020204" pitchFamily="34" charset="0"/>
              </a:rPr>
              <a:t>in BTB now</a:t>
            </a:r>
          </a:p>
          <a:p>
            <a:pPr>
              <a:spcBef>
                <a:spcPct val="0"/>
              </a:spcBef>
              <a:buClrTx/>
              <a:buSzTx/>
              <a:buFontTx/>
              <a:buNone/>
            </a:pPr>
            <a:r>
              <a:rPr lang="en-US" altLang="en-US" sz="1400" i="1">
                <a:latin typeface="Arial" panose="020B0604020202020204" pitchFamily="34" charset="0"/>
              </a:rPr>
              <a:t>contains:</a:t>
            </a:r>
          </a:p>
        </p:txBody>
      </p:sp>
      <p:sp>
        <p:nvSpPr>
          <p:cNvPr id="49160" name="Text Box 8">
            <a:extLst>
              <a:ext uri="{FF2B5EF4-FFF2-40B4-BE49-F238E27FC236}">
                <a16:creationId xmlns:a16="http://schemas.microsoft.com/office/drawing/2014/main" id="{53AEDD7C-5909-B04B-8055-E88A3C612A39}"/>
              </a:ext>
            </a:extLst>
          </p:cNvPr>
          <p:cNvSpPr txBox="1">
            <a:spLocks noChangeArrowheads="1"/>
          </p:cNvSpPr>
          <p:nvPr/>
        </p:nvSpPr>
        <p:spPr bwMode="auto">
          <a:xfrm>
            <a:off x="3276600" y="5410200"/>
            <a:ext cx="685800" cy="22701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50000"/>
              </a:spcBef>
              <a:buClrTx/>
              <a:buSzTx/>
              <a:buFontTx/>
              <a:buNone/>
            </a:pPr>
            <a:r>
              <a:rPr lang="en-US" altLang="en-US" sz="800">
                <a:latin typeface="Arial" panose="020B0604020202020204" pitchFamily="34" charset="0"/>
              </a:rPr>
              <a:t>tag</a:t>
            </a:r>
          </a:p>
        </p:txBody>
      </p:sp>
      <p:sp>
        <p:nvSpPr>
          <p:cNvPr id="49161" name="Text Box 9">
            <a:extLst>
              <a:ext uri="{FF2B5EF4-FFF2-40B4-BE49-F238E27FC236}">
                <a16:creationId xmlns:a16="http://schemas.microsoft.com/office/drawing/2014/main" id="{9F4C565F-4FFE-B249-B1A8-35F2A8502B10}"/>
              </a:ext>
            </a:extLst>
          </p:cNvPr>
          <p:cNvSpPr txBox="1">
            <a:spLocks noChangeArrowheads="1"/>
          </p:cNvSpPr>
          <p:nvPr/>
        </p:nvSpPr>
        <p:spPr bwMode="auto">
          <a:xfrm>
            <a:off x="3968750" y="5410200"/>
            <a:ext cx="1219200" cy="22701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50000"/>
              </a:spcBef>
              <a:buClrTx/>
              <a:buSzTx/>
              <a:buFontTx/>
              <a:buNone/>
            </a:pPr>
            <a:r>
              <a:rPr lang="en-US" altLang="en-US" sz="800">
                <a:latin typeface="Arial" panose="020B0604020202020204" pitchFamily="34" charset="0"/>
              </a:rPr>
              <a:t>pre-computed target</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AC3E479B-6FD2-0E48-81D9-442D2642A6FF}"/>
              </a:ext>
            </a:extLst>
          </p:cNvPr>
          <p:cNvSpPr>
            <a:spLocks noGrp="1" noChangeArrowheads="1"/>
          </p:cNvSpPr>
          <p:nvPr>
            <p:ph type="title"/>
          </p:nvPr>
        </p:nvSpPr>
        <p:spPr/>
        <p:txBody>
          <a:bodyPr>
            <a:normAutofit fontScale="90000"/>
          </a:bodyPr>
          <a:lstStyle/>
          <a:p>
            <a:pPr>
              <a:defRPr/>
            </a:pPr>
            <a:r>
              <a:rPr lang="en-US" altLang="en-US">
                <a:effectLst>
                  <a:outerShdw blurRad="38100" dist="38100" dir="2700000" algn="tl">
                    <a:srgbClr val="C0C0C0"/>
                  </a:outerShdw>
                </a:effectLst>
                <a:ea typeface="ＭＳ Ｐゴシック" charset="0"/>
              </a:rPr>
              <a:t>Issues with </a:t>
            </a:r>
            <a:r>
              <a:rPr lang="en-US" altLang="en-US">
                <a:solidFill>
                  <a:srgbClr val="FF0000"/>
                </a:solidFill>
                <a:effectLst>
                  <a:outerShdw blurRad="38100" dist="38100" dir="2700000" algn="tl">
                    <a:srgbClr val="C0C0C0"/>
                  </a:outerShdw>
                </a:effectLst>
                <a:ea typeface="ＭＳ Ｐゴシック" charset="0"/>
              </a:rPr>
              <a:t>Whether: </a:t>
            </a:r>
            <a:r>
              <a:rPr lang="en-US" altLang="en-US">
                <a:effectLst>
                  <a:outerShdw blurRad="38100" dist="38100" dir="2700000" algn="tl">
                    <a:srgbClr val="C0C0C0"/>
                  </a:outerShdw>
                </a:effectLst>
                <a:ea typeface="ＭＳ Ｐゴシック" charset="0"/>
              </a:rPr>
              <a:t>Hardware branch prediction</a:t>
            </a:r>
            <a:endParaRPr lang="en-US" altLang="en-US" dirty="0">
              <a:effectLst>
                <a:outerShdw blurRad="38100" dist="38100" dir="2700000" algn="tl">
                  <a:srgbClr val="C0C0C0"/>
                </a:outerShdw>
              </a:effectLst>
              <a:ea typeface="ＭＳ Ｐゴシック" charset="0"/>
            </a:endParaRPr>
          </a:p>
        </p:txBody>
      </p:sp>
      <p:sp>
        <p:nvSpPr>
          <p:cNvPr id="51203" name="Rectangle 3">
            <a:extLst>
              <a:ext uri="{FF2B5EF4-FFF2-40B4-BE49-F238E27FC236}">
                <a16:creationId xmlns:a16="http://schemas.microsoft.com/office/drawing/2014/main" id="{9BBE5AEE-CC80-A144-A512-794550B0ACC7}"/>
              </a:ext>
            </a:extLst>
          </p:cNvPr>
          <p:cNvSpPr>
            <a:spLocks noGrp="1" noChangeArrowheads="1"/>
          </p:cNvSpPr>
          <p:nvPr>
            <p:ph idx="1"/>
          </p:nvPr>
        </p:nvSpPr>
        <p:spPr/>
        <p:txBody>
          <a:bodyPr/>
          <a:lstStyle/>
          <a:p>
            <a:r>
              <a:rPr lang="en-US" altLang="en-US"/>
              <a:t>1-bit schemes:</a:t>
            </a:r>
          </a:p>
          <a:p>
            <a:pPr lvl="1"/>
            <a:r>
              <a:rPr lang="en-US" altLang="en-US"/>
              <a:t>Add 1-bit prediction field to branch target buffer</a:t>
            </a:r>
          </a:p>
          <a:p>
            <a:pPr lvl="1"/>
            <a:r>
              <a:rPr lang="en-US" altLang="en-US"/>
              <a:t>Set prediction field = 1 if branch was </a:t>
            </a:r>
            <a:r>
              <a:rPr lang="en-US" altLang="en-US" i="1"/>
              <a:t>taken</a:t>
            </a:r>
            <a:r>
              <a:rPr lang="en-US" altLang="en-US"/>
              <a:t>, 0 if branch was not </a:t>
            </a:r>
            <a:r>
              <a:rPr lang="en-US" altLang="en-US" i="1"/>
              <a:t>taken</a:t>
            </a:r>
          </a:p>
          <a:p>
            <a:pPr lvl="1"/>
            <a:r>
              <a:rPr lang="en-US" altLang="en-US"/>
              <a:t>At IF, check </a:t>
            </a:r>
            <a:r>
              <a:rPr lang="ja-JP" altLang="en-US"/>
              <a:t>“</a:t>
            </a:r>
            <a:r>
              <a:rPr lang="en-US" altLang="ja-JP"/>
              <a:t>branch prediction buffer</a:t>
            </a:r>
            <a:r>
              <a:rPr lang="ja-JP" altLang="en-US"/>
              <a:t>”</a:t>
            </a:r>
            <a:r>
              <a:rPr lang="en-US" altLang="ja-JP"/>
              <a:t>:</a:t>
            </a:r>
          </a:p>
          <a:p>
            <a:pPr lvl="2"/>
            <a:r>
              <a:rPr lang="en-US" altLang="en-US"/>
              <a:t>if  prediction field = 1 then predict </a:t>
            </a:r>
            <a:r>
              <a:rPr lang="en-US" altLang="en-US" i="1"/>
              <a:t>taken</a:t>
            </a:r>
            <a:endParaRPr lang="en-US" altLang="en-US"/>
          </a:p>
          <a:p>
            <a:pPr lvl="2"/>
            <a:r>
              <a:rPr lang="en-US" altLang="en-US"/>
              <a:t>else predict </a:t>
            </a:r>
            <a:r>
              <a:rPr lang="en-US" altLang="en-US" i="1"/>
              <a:t>not-taken</a:t>
            </a:r>
            <a:endParaRPr lang="en-US" altLang="en-US"/>
          </a:p>
          <a:p>
            <a:pPr lvl="1"/>
            <a:r>
              <a:rPr lang="en-US" altLang="en-US"/>
              <a:t>Problems:</a:t>
            </a:r>
          </a:p>
          <a:p>
            <a:pPr lvl="2"/>
            <a:r>
              <a:rPr lang="en-US" altLang="en-US"/>
              <a:t>Some branches don</a:t>
            </a:r>
            <a:r>
              <a:rPr lang="ja-JP" altLang="en-US"/>
              <a:t>’</a:t>
            </a:r>
            <a:r>
              <a:rPr lang="en-US" altLang="ja-JP"/>
              <a:t>t do what they did last time!</a:t>
            </a:r>
          </a:p>
          <a:p>
            <a:pPr lvl="2"/>
            <a:r>
              <a:rPr lang="en-US" altLang="en-US"/>
              <a:t>Need more sophisticated predictor</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4C9DF97A-7034-DC42-BF3A-58331A71B54D}"/>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Smith </a:t>
            </a:r>
            <a:r>
              <a:rPr lang="en-US" altLang="en-US" i="1">
                <a:effectLst>
                  <a:outerShdw blurRad="38100" dist="38100" dir="2700000" algn="tl">
                    <a:srgbClr val="C0C0C0"/>
                  </a:outerShdw>
                </a:effectLst>
                <a:ea typeface="ＭＳ Ｐゴシック" charset="0"/>
              </a:rPr>
              <a:t>n</a:t>
            </a:r>
            <a:r>
              <a:rPr lang="en-US" altLang="en-US">
                <a:effectLst>
                  <a:outerShdw blurRad="38100" dist="38100" dir="2700000" algn="tl">
                    <a:srgbClr val="C0C0C0"/>
                  </a:outerShdw>
                </a:effectLst>
                <a:ea typeface="ＭＳ Ｐゴシック" charset="0"/>
              </a:rPr>
              <a:t>-bit counter predictor</a:t>
            </a:r>
          </a:p>
        </p:txBody>
      </p:sp>
      <p:sp>
        <p:nvSpPr>
          <p:cNvPr id="55299" name="Rectangle 3">
            <a:extLst>
              <a:ext uri="{FF2B5EF4-FFF2-40B4-BE49-F238E27FC236}">
                <a16:creationId xmlns:a16="http://schemas.microsoft.com/office/drawing/2014/main" id="{B75A46BD-B7DA-1645-87FC-8D3493409E31}"/>
              </a:ext>
            </a:extLst>
          </p:cNvPr>
          <p:cNvSpPr>
            <a:spLocks noGrp="1" noChangeArrowheads="1"/>
          </p:cNvSpPr>
          <p:nvPr>
            <p:ph idx="1"/>
          </p:nvPr>
        </p:nvSpPr>
        <p:spPr>
          <a:xfrm>
            <a:off x="441325" y="1060450"/>
            <a:ext cx="8229600" cy="4876800"/>
          </a:xfrm>
        </p:spPr>
        <p:txBody>
          <a:bodyPr/>
          <a:lstStyle/>
          <a:p>
            <a:r>
              <a:rPr lang="en-US" altLang="en-US" dirty="0"/>
              <a:t>Replace prediction bit with </a:t>
            </a:r>
            <a:r>
              <a:rPr lang="en-US" altLang="en-US" i="1" dirty="0"/>
              <a:t>n-</a:t>
            </a:r>
            <a:r>
              <a:rPr lang="en-US" altLang="en-US" dirty="0"/>
              <a:t>bit counter:</a:t>
            </a:r>
          </a:p>
        </p:txBody>
      </p:sp>
      <p:sp>
        <p:nvSpPr>
          <p:cNvPr id="55300" name="Oval 4">
            <a:extLst>
              <a:ext uri="{FF2B5EF4-FFF2-40B4-BE49-F238E27FC236}">
                <a16:creationId xmlns:a16="http://schemas.microsoft.com/office/drawing/2014/main" id="{84580606-AE1F-4D47-8FE4-1442093FAF15}"/>
              </a:ext>
            </a:extLst>
          </p:cNvPr>
          <p:cNvSpPr>
            <a:spLocks noChangeArrowheads="1"/>
          </p:cNvSpPr>
          <p:nvPr/>
        </p:nvSpPr>
        <p:spPr bwMode="auto">
          <a:xfrm>
            <a:off x="3740150" y="2216150"/>
            <a:ext cx="596900" cy="520700"/>
          </a:xfrm>
          <a:prstGeom prst="ellipse">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800">
                <a:latin typeface="Arial" panose="020B0604020202020204" pitchFamily="34" charset="0"/>
              </a:rPr>
              <a:t>11</a:t>
            </a:r>
          </a:p>
        </p:txBody>
      </p:sp>
      <p:sp>
        <p:nvSpPr>
          <p:cNvPr id="55301" name="Oval 5">
            <a:extLst>
              <a:ext uri="{FF2B5EF4-FFF2-40B4-BE49-F238E27FC236}">
                <a16:creationId xmlns:a16="http://schemas.microsoft.com/office/drawing/2014/main" id="{A97B275B-B3EC-394F-B7D8-516C1FB4C900}"/>
              </a:ext>
            </a:extLst>
          </p:cNvPr>
          <p:cNvSpPr>
            <a:spLocks noChangeArrowheads="1"/>
          </p:cNvSpPr>
          <p:nvPr/>
        </p:nvSpPr>
        <p:spPr bwMode="auto">
          <a:xfrm>
            <a:off x="3740150" y="3054350"/>
            <a:ext cx="596900" cy="520700"/>
          </a:xfrm>
          <a:prstGeom prst="ellipse">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800">
                <a:latin typeface="Arial" panose="020B0604020202020204" pitchFamily="34" charset="0"/>
              </a:rPr>
              <a:t>10</a:t>
            </a:r>
          </a:p>
        </p:txBody>
      </p:sp>
      <p:sp>
        <p:nvSpPr>
          <p:cNvPr id="55302" name="Oval 6">
            <a:extLst>
              <a:ext uri="{FF2B5EF4-FFF2-40B4-BE49-F238E27FC236}">
                <a16:creationId xmlns:a16="http://schemas.microsoft.com/office/drawing/2014/main" id="{B42608DC-56DA-2F47-BC90-AC0120DBF700}"/>
              </a:ext>
            </a:extLst>
          </p:cNvPr>
          <p:cNvSpPr>
            <a:spLocks noChangeArrowheads="1"/>
          </p:cNvSpPr>
          <p:nvPr/>
        </p:nvSpPr>
        <p:spPr bwMode="auto">
          <a:xfrm>
            <a:off x="3740150" y="3892550"/>
            <a:ext cx="596900" cy="520700"/>
          </a:xfrm>
          <a:prstGeom prst="ellipse">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800">
                <a:latin typeface="Arial" panose="020B0604020202020204" pitchFamily="34" charset="0"/>
              </a:rPr>
              <a:t>01</a:t>
            </a:r>
          </a:p>
        </p:txBody>
      </p:sp>
      <p:sp>
        <p:nvSpPr>
          <p:cNvPr id="55303" name="Oval 7">
            <a:extLst>
              <a:ext uri="{FF2B5EF4-FFF2-40B4-BE49-F238E27FC236}">
                <a16:creationId xmlns:a16="http://schemas.microsoft.com/office/drawing/2014/main" id="{7875D875-151A-104C-A23B-3923BFD01234}"/>
              </a:ext>
            </a:extLst>
          </p:cNvPr>
          <p:cNvSpPr>
            <a:spLocks noChangeArrowheads="1"/>
          </p:cNvSpPr>
          <p:nvPr/>
        </p:nvSpPr>
        <p:spPr bwMode="auto">
          <a:xfrm>
            <a:off x="3740150" y="4730750"/>
            <a:ext cx="596900" cy="520700"/>
          </a:xfrm>
          <a:prstGeom prst="ellipse">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800">
                <a:latin typeface="Arial" panose="020B0604020202020204" pitchFamily="34" charset="0"/>
              </a:rPr>
              <a:t>00</a:t>
            </a:r>
          </a:p>
        </p:txBody>
      </p:sp>
      <p:grpSp>
        <p:nvGrpSpPr>
          <p:cNvPr id="55304" name="Group 8">
            <a:extLst>
              <a:ext uri="{FF2B5EF4-FFF2-40B4-BE49-F238E27FC236}">
                <a16:creationId xmlns:a16="http://schemas.microsoft.com/office/drawing/2014/main" id="{06BE0877-FCBD-5049-BB9F-510F83503090}"/>
              </a:ext>
            </a:extLst>
          </p:cNvPr>
          <p:cNvGrpSpPr>
            <a:grpSpLocks/>
          </p:cNvGrpSpPr>
          <p:nvPr/>
        </p:nvGrpSpPr>
        <p:grpSpPr bwMode="auto">
          <a:xfrm>
            <a:off x="4343400" y="2438400"/>
            <a:ext cx="230188" cy="2667000"/>
            <a:chOff x="2736" y="1536"/>
            <a:chExt cx="145" cy="1680"/>
          </a:xfrm>
        </p:grpSpPr>
        <p:grpSp>
          <p:nvGrpSpPr>
            <p:cNvPr id="55327" name="Group 9">
              <a:extLst>
                <a:ext uri="{FF2B5EF4-FFF2-40B4-BE49-F238E27FC236}">
                  <a16:creationId xmlns:a16="http://schemas.microsoft.com/office/drawing/2014/main" id="{3B3C86A4-4A54-7243-A134-66C30718BE53}"/>
                </a:ext>
              </a:extLst>
            </p:cNvPr>
            <p:cNvGrpSpPr>
              <a:grpSpLocks/>
            </p:cNvGrpSpPr>
            <p:nvPr/>
          </p:nvGrpSpPr>
          <p:grpSpPr bwMode="auto">
            <a:xfrm>
              <a:off x="2736" y="1536"/>
              <a:ext cx="145" cy="528"/>
              <a:chOff x="2736" y="1536"/>
              <a:chExt cx="145" cy="528"/>
            </a:xfrm>
          </p:grpSpPr>
          <p:sp>
            <p:nvSpPr>
              <p:cNvPr id="55334" name="Arc 10">
                <a:extLst>
                  <a:ext uri="{FF2B5EF4-FFF2-40B4-BE49-F238E27FC236}">
                    <a16:creationId xmlns:a16="http://schemas.microsoft.com/office/drawing/2014/main" id="{6AFED821-E975-D84D-A100-5418DBBDACB1}"/>
                  </a:ext>
                </a:extLst>
              </p:cNvPr>
              <p:cNvSpPr>
                <a:spLocks/>
              </p:cNvSpPr>
              <p:nvPr/>
            </p:nvSpPr>
            <p:spPr bwMode="auto">
              <a:xfrm>
                <a:off x="2736" y="1756"/>
                <a:ext cx="144" cy="30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lnTo>
                      <a:pt x="2160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335" name="Arc 11">
                <a:extLst>
                  <a:ext uri="{FF2B5EF4-FFF2-40B4-BE49-F238E27FC236}">
                    <a16:creationId xmlns:a16="http://schemas.microsoft.com/office/drawing/2014/main" id="{1015B19A-12AE-374B-B35D-BBF860439AB0}"/>
                  </a:ext>
                </a:extLst>
              </p:cNvPr>
              <p:cNvSpPr>
                <a:spLocks/>
              </p:cNvSpPr>
              <p:nvPr/>
            </p:nvSpPr>
            <p:spPr bwMode="auto">
              <a:xfrm rot="10800000">
                <a:off x="2737" y="1536"/>
                <a:ext cx="144" cy="265"/>
              </a:xfrm>
              <a:custGeom>
                <a:avLst/>
                <a:gdLst>
                  <a:gd name="T0" fmla="*/ 0 w 21600"/>
                  <a:gd name="T1" fmla="*/ 0 h 22099"/>
                  <a:gd name="T2" fmla="*/ 0 w 21600"/>
                  <a:gd name="T3" fmla="*/ 0 h 22099"/>
                  <a:gd name="T4" fmla="*/ 0 w 21600"/>
                  <a:gd name="T5" fmla="*/ 0 h 22099"/>
                  <a:gd name="T6" fmla="*/ 0 60000 65536"/>
                  <a:gd name="T7" fmla="*/ 0 60000 65536"/>
                  <a:gd name="T8" fmla="*/ 0 60000 65536"/>
                </a:gdLst>
                <a:ahLst/>
                <a:cxnLst>
                  <a:cxn ang="T6">
                    <a:pos x="T0" y="T1"/>
                  </a:cxn>
                  <a:cxn ang="T7">
                    <a:pos x="T2" y="T3"/>
                  </a:cxn>
                  <a:cxn ang="T8">
                    <a:pos x="T4" y="T5"/>
                  </a:cxn>
                </a:cxnLst>
                <a:rect l="0" t="0" r="r" b="b"/>
                <a:pathLst>
                  <a:path w="21600" h="22099" fill="none" extrusionOk="0">
                    <a:moveTo>
                      <a:pt x="21600" y="22098"/>
                    </a:moveTo>
                    <a:cubicBezTo>
                      <a:pt x="9670" y="22099"/>
                      <a:pt x="0" y="12428"/>
                      <a:pt x="0" y="499"/>
                    </a:cubicBezTo>
                    <a:cubicBezTo>
                      <a:pt x="0" y="332"/>
                      <a:pt x="1" y="166"/>
                      <a:pt x="5" y="-1"/>
                    </a:cubicBezTo>
                  </a:path>
                  <a:path w="21600" h="22099" stroke="0" extrusionOk="0">
                    <a:moveTo>
                      <a:pt x="21600" y="22098"/>
                    </a:moveTo>
                    <a:cubicBezTo>
                      <a:pt x="9670" y="22099"/>
                      <a:pt x="0" y="12428"/>
                      <a:pt x="0" y="499"/>
                    </a:cubicBezTo>
                    <a:cubicBezTo>
                      <a:pt x="0" y="332"/>
                      <a:pt x="1" y="166"/>
                      <a:pt x="5" y="-1"/>
                    </a:cubicBezTo>
                    <a:lnTo>
                      <a:pt x="21600" y="499"/>
                    </a:lnTo>
                    <a:lnTo>
                      <a:pt x="21600" y="22098"/>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55328" name="Group 12">
              <a:extLst>
                <a:ext uri="{FF2B5EF4-FFF2-40B4-BE49-F238E27FC236}">
                  <a16:creationId xmlns:a16="http://schemas.microsoft.com/office/drawing/2014/main" id="{57A4AEBD-E73F-0A4F-946F-84599221FC75}"/>
                </a:ext>
              </a:extLst>
            </p:cNvPr>
            <p:cNvGrpSpPr>
              <a:grpSpLocks/>
            </p:cNvGrpSpPr>
            <p:nvPr/>
          </p:nvGrpSpPr>
          <p:grpSpPr bwMode="auto">
            <a:xfrm>
              <a:off x="2736" y="2112"/>
              <a:ext cx="145" cy="528"/>
              <a:chOff x="2736" y="2112"/>
              <a:chExt cx="145" cy="528"/>
            </a:xfrm>
          </p:grpSpPr>
          <p:sp>
            <p:nvSpPr>
              <p:cNvPr id="55332" name="Arc 13">
                <a:extLst>
                  <a:ext uri="{FF2B5EF4-FFF2-40B4-BE49-F238E27FC236}">
                    <a16:creationId xmlns:a16="http://schemas.microsoft.com/office/drawing/2014/main" id="{AE21588E-7F6D-6941-831C-4E2D138559AE}"/>
                  </a:ext>
                </a:extLst>
              </p:cNvPr>
              <p:cNvSpPr>
                <a:spLocks/>
              </p:cNvSpPr>
              <p:nvPr/>
            </p:nvSpPr>
            <p:spPr bwMode="auto">
              <a:xfrm>
                <a:off x="2736" y="2332"/>
                <a:ext cx="144" cy="30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lnTo>
                      <a:pt x="2160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333" name="Arc 14">
                <a:extLst>
                  <a:ext uri="{FF2B5EF4-FFF2-40B4-BE49-F238E27FC236}">
                    <a16:creationId xmlns:a16="http://schemas.microsoft.com/office/drawing/2014/main" id="{1DECAFB2-0736-9642-A13A-838068C3529B}"/>
                  </a:ext>
                </a:extLst>
              </p:cNvPr>
              <p:cNvSpPr>
                <a:spLocks/>
              </p:cNvSpPr>
              <p:nvPr/>
            </p:nvSpPr>
            <p:spPr bwMode="auto">
              <a:xfrm rot="10800000">
                <a:off x="2737" y="2112"/>
                <a:ext cx="144" cy="265"/>
              </a:xfrm>
              <a:custGeom>
                <a:avLst/>
                <a:gdLst>
                  <a:gd name="T0" fmla="*/ 0 w 21600"/>
                  <a:gd name="T1" fmla="*/ 0 h 22099"/>
                  <a:gd name="T2" fmla="*/ 0 w 21600"/>
                  <a:gd name="T3" fmla="*/ 0 h 22099"/>
                  <a:gd name="T4" fmla="*/ 0 w 21600"/>
                  <a:gd name="T5" fmla="*/ 0 h 22099"/>
                  <a:gd name="T6" fmla="*/ 0 60000 65536"/>
                  <a:gd name="T7" fmla="*/ 0 60000 65536"/>
                  <a:gd name="T8" fmla="*/ 0 60000 65536"/>
                </a:gdLst>
                <a:ahLst/>
                <a:cxnLst>
                  <a:cxn ang="T6">
                    <a:pos x="T0" y="T1"/>
                  </a:cxn>
                  <a:cxn ang="T7">
                    <a:pos x="T2" y="T3"/>
                  </a:cxn>
                  <a:cxn ang="T8">
                    <a:pos x="T4" y="T5"/>
                  </a:cxn>
                </a:cxnLst>
                <a:rect l="0" t="0" r="r" b="b"/>
                <a:pathLst>
                  <a:path w="21600" h="22099" fill="none" extrusionOk="0">
                    <a:moveTo>
                      <a:pt x="21600" y="22098"/>
                    </a:moveTo>
                    <a:cubicBezTo>
                      <a:pt x="9670" y="22099"/>
                      <a:pt x="0" y="12428"/>
                      <a:pt x="0" y="499"/>
                    </a:cubicBezTo>
                    <a:cubicBezTo>
                      <a:pt x="0" y="332"/>
                      <a:pt x="1" y="166"/>
                      <a:pt x="5" y="-1"/>
                    </a:cubicBezTo>
                  </a:path>
                  <a:path w="21600" h="22099" stroke="0" extrusionOk="0">
                    <a:moveTo>
                      <a:pt x="21600" y="22098"/>
                    </a:moveTo>
                    <a:cubicBezTo>
                      <a:pt x="9670" y="22099"/>
                      <a:pt x="0" y="12428"/>
                      <a:pt x="0" y="499"/>
                    </a:cubicBezTo>
                    <a:cubicBezTo>
                      <a:pt x="0" y="332"/>
                      <a:pt x="1" y="166"/>
                      <a:pt x="5" y="-1"/>
                    </a:cubicBezTo>
                    <a:lnTo>
                      <a:pt x="21600" y="499"/>
                    </a:lnTo>
                    <a:lnTo>
                      <a:pt x="21600" y="22098"/>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55329" name="Group 15">
              <a:extLst>
                <a:ext uri="{FF2B5EF4-FFF2-40B4-BE49-F238E27FC236}">
                  <a16:creationId xmlns:a16="http://schemas.microsoft.com/office/drawing/2014/main" id="{886A169F-DAAD-6146-9353-C465EF02DED0}"/>
                </a:ext>
              </a:extLst>
            </p:cNvPr>
            <p:cNvGrpSpPr>
              <a:grpSpLocks/>
            </p:cNvGrpSpPr>
            <p:nvPr/>
          </p:nvGrpSpPr>
          <p:grpSpPr bwMode="auto">
            <a:xfrm>
              <a:off x="2736" y="2688"/>
              <a:ext cx="145" cy="528"/>
              <a:chOff x="2736" y="2688"/>
              <a:chExt cx="145" cy="528"/>
            </a:xfrm>
          </p:grpSpPr>
          <p:sp>
            <p:nvSpPr>
              <p:cNvPr id="55330" name="Arc 16">
                <a:extLst>
                  <a:ext uri="{FF2B5EF4-FFF2-40B4-BE49-F238E27FC236}">
                    <a16:creationId xmlns:a16="http://schemas.microsoft.com/office/drawing/2014/main" id="{E5EEEE18-3A96-9941-8AAA-9B091CB21778}"/>
                  </a:ext>
                </a:extLst>
              </p:cNvPr>
              <p:cNvSpPr>
                <a:spLocks/>
              </p:cNvSpPr>
              <p:nvPr/>
            </p:nvSpPr>
            <p:spPr bwMode="auto">
              <a:xfrm>
                <a:off x="2736" y="2908"/>
                <a:ext cx="144" cy="30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lnTo>
                      <a:pt x="2160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331" name="Arc 17">
                <a:extLst>
                  <a:ext uri="{FF2B5EF4-FFF2-40B4-BE49-F238E27FC236}">
                    <a16:creationId xmlns:a16="http://schemas.microsoft.com/office/drawing/2014/main" id="{A07F0E7F-7BC1-6D4B-8BAD-C83287FE0AAC}"/>
                  </a:ext>
                </a:extLst>
              </p:cNvPr>
              <p:cNvSpPr>
                <a:spLocks/>
              </p:cNvSpPr>
              <p:nvPr/>
            </p:nvSpPr>
            <p:spPr bwMode="auto">
              <a:xfrm rot="10800000">
                <a:off x="2737" y="2688"/>
                <a:ext cx="144" cy="265"/>
              </a:xfrm>
              <a:custGeom>
                <a:avLst/>
                <a:gdLst>
                  <a:gd name="T0" fmla="*/ 0 w 21600"/>
                  <a:gd name="T1" fmla="*/ 0 h 22099"/>
                  <a:gd name="T2" fmla="*/ 0 w 21600"/>
                  <a:gd name="T3" fmla="*/ 0 h 22099"/>
                  <a:gd name="T4" fmla="*/ 0 w 21600"/>
                  <a:gd name="T5" fmla="*/ 0 h 22099"/>
                  <a:gd name="T6" fmla="*/ 0 60000 65536"/>
                  <a:gd name="T7" fmla="*/ 0 60000 65536"/>
                  <a:gd name="T8" fmla="*/ 0 60000 65536"/>
                </a:gdLst>
                <a:ahLst/>
                <a:cxnLst>
                  <a:cxn ang="T6">
                    <a:pos x="T0" y="T1"/>
                  </a:cxn>
                  <a:cxn ang="T7">
                    <a:pos x="T2" y="T3"/>
                  </a:cxn>
                  <a:cxn ang="T8">
                    <a:pos x="T4" y="T5"/>
                  </a:cxn>
                </a:cxnLst>
                <a:rect l="0" t="0" r="r" b="b"/>
                <a:pathLst>
                  <a:path w="21600" h="22099" fill="none" extrusionOk="0">
                    <a:moveTo>
                      <a:pt x="21600" y="22098"/>
                    </a:moveTo>
                    <a:cubicBezTo>
                      <a:pt x="9670" y="22099"/>
                      <a:pt x="0" y="12428"/>
                      <a:pt x="0" y="499"/>
                    </a:cubicBezTo>
                    <a:cubicBezTo>
                      <a:pt x="0" y="332"/>
                      <a:pt x="1" y="166"/>
                      <a:pt x="5" y="-1"/>
                    </a:cubicBezTo>
                  </a:path>
                  <a:path w="21600" h="22099" stroke="0" extrusionOk="0">
                    <a:moveTo>
                      <a:pt x="21600" y="22098"/>
                    </a:moveTo>
                    <a:cubicBezTo>
                      <a:pt x="9670" y="22099"/>
                      <a:pt x="0" y="12428"/>
                      <a:pt x="0" y="499"/>
                    </a:cubicBezTo>
                    <a:cubicBezTo>
                      <a:pt x="0" y="332"/>
                      <a:pt x="1" y="166"/>
                      <a:pt x="5" y="-1"/>
                    </a:cubicBezTo>
                    <a:lnTo>
                      <a:pt x="21600" y="499"/>
                    </a:lnTo>
                    <a:lnTo>
                      <a:pt x="21600" y="22098"/>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55305" name="Arc 18">
            <a:extLst>
              <a:ext uri="{FF2B5EF4-FFF2-40B4-BE49-F238E27FC236}">
                <a16:creationId xmlns:a16="http://schemas.microsoft.com/office/drawing/2014/main" id="{A34C17CA-E9E2-C644-BB8F-323E59BD5E57}"/>
              </a:ext>
            </a:extLst>
          </p:cNvPr>
          <p:cNvSpPr>
            <a:spLocks/>
          </p:cNvSpPr>
          <p:nvPr/>
        </p:nvSpPr>
        <p:spPr bwMode="auto">
          <a:xfrm>
            <a:off x="3506788" y="2787650"/>
            <a:ext cx="228600" cy="488950"/>
          </a:xfrm>
          <a:custGeom>
            <a:avLst/>
            <a:gdLst>
              <a:gd name="T0" fmla="*/ 270984006 w 21600"/>
              <a:gd name="T1" fmla="*/ 2147483646 h 21600"/>
              <a:gd name="T2" fmla="*/ 0 w 21600"/>
              <a:gd name="T3" fmla="*/ 0 h 21600"/>
              <a:gd name="T4" fmla="*/ 270984006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599"/>
                </a:moveTo>
                <a:cubicBezTo>
                  <a:pt x="9670" y="21599"/>
                  <a:pt x="-1" y="11929"/>
                  <a:pt x="-1" y="-1"/>
                </a:cubicBezTo>
              </a:path>
              <a:path w="21600" h="21600" stroke="0" extrusionOk="0">
                <a:moveTo>
                  <a:pt x="21600" y="21599"/>
                </a:moveTo>
                <a:cubicBezTo>
                  <a:pt x="9670" y="21599"/>
                  <a:pt x="-1" y="11929"/>
                  <a:pt x="-1" y="-1"/>
                </a:cubicBezTo>
                <a:lnTo>
                  <a:pt x="21600" y="0"/>
                </a:lnTo>
                <a:lnTo>
                  <a:pt x="21600" y="21599"/>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306" name="Arc 19">
            <a:extLst>
              <a:ext uri="{FF2B5EF4-FFF2-40B4-BE49-F238E27FC236}">
                <a16:creationId xmlns:a16="http://schemas.microsoft.com/office/drawing/2014/main" id="{BB291039-0B1A-AE40-AA65-F647BE63FE5E}"/>
              </a:ext>
            </a:extLst>
          </p:cNvPr>
          <p:cNvSpPr>
            <a:spLocks/>
          </p:cNvSpPr>
          <p:nvPr/>
        </p:nvSpPr>
        <p:spPr bwMode="auto">
          <a:xfrm rot="10800000">
            <a:off x="3505200" y="2436813"/>
            <a:ext cx="228600" cy="422275"/>
          </a:xfrm>
          <a:custGeom>
            <a:avLst/>
            <a:gdLst>
              <a:gd name="T0" fmla="*/ 270909288 w 21600"/>
              <a:gd name="T1" fmla="*/ 0 h 22103"/>
              <a:gd name="T2" fmla="*/ 0 w 21600"/>
              <a:gd name="T3" fmla="*/ 2147483646 h 22103"/>
              <a:gd name="T4" fmla="*/ 0 w 21600"/>
              <a:gd name="T5" fmla="*/ 67012557 h 22103"/>
              <a:gd name="T6" fmla="*/ 0 60000 65536"/>
              <a:gd name="T7" fmla="*/ 0 60000 65536"/>
              <a:gd name="T8" fmla="*/ 0 60000 65536"/>
            </a:gdLst>
            <a:ahLst/>
            <a:cxnLst>
              <a:cxn ang="T6">
                <a:pos x="T0" y="T1"/>
              </a:cxn>
              <a:cxn ang="T7">
                <a:pos x="T2" y="T3"/>
              </a:cxn>
              <a:cxn ang="T8">
                <a:pos x="T4" y="T5"/>
              </a:cxn>
            </a:cxnLst>
            <a:rect l="0" t="0" r="r" b="b"/>
            <a:pathLst>
              <a:path w="21600" h="22103" fill="none" extrusionOk="0">
                <a:moveTo>
                  <a:pt x="21594" y="-1"/>
                </a:moveTo>
                <a:cubicBezTo>
                  <a:pt x="21598" y="167"/>
                  <a:pt x="21600" y="335"/>
                  <a:pt x="21600" y="503"/>
                </a:cubicBezTo>
                <a:cubicBezTo>
                  <a:pt x="21600" y="12432"/>
                  <a:pt x="11929" y="22103"/>
                  <a:pt x="-1" y="22103"/>
                </a:cubicBezTo>
              </a:path>
              <a:path w="21600" h="22103" stroke="0" extrusionOk="0">
                <a:moveTo>
                  <a:pt x="21594" y="-1"/>
                </a:moveTo>
                <a:cubicBezTo>
                  <a:pt x="21598" y="167"/>
                  <a:pt x="21600" y="335"/>
                  <a:pt x="21600" y="503"/>
                </a:cubicBezTo>
                <a:cubicBezTo>
                  <a:pt x="21600" y="12432"/>
                  <a:pt x="11929" y="22103"/>
                  <a:pt x="-1" y="22103"/>
                </a:cubicBezTo>
                <a:lnTo>
                  <a:pt x="0" y="503"/>
                </a:lnTo>
                <a:lnTo>
                  <a:pt x="21594" y="-1"/>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307" name="Arc 20">
            <a:extLst>
              <a:ext uri="{FF2B5EF4-FFF2-40B4-BE49-F238E27FC236}">
                <a16:creationId xmlns:a16="http://schemas.microsoft.com/office/drawing/2014/main" id="{EA8915E8-590E-6048-8671-8039AD3D4BF7}"/>
              </a:ext>
            </a:extLst>
          </p:cNvPr>
          <p:cNvSpPr>
            <a:spLocks/>
          </p:cNvSpPr>
          <p:nvPr/>
        </p:nvSpPr>
        <p:spPr bwMode="auto">
          <a:xfrm>
            <a:off x="3506788" y="3702050"/>
            <a:ext cx="228600" cy="488950"/>
          </a:xfrm>
          <a:custGeom>
            <a:avLst/>
            <a:gdLst>
              <a:gd name="T0" fmla="*/ 270984006 w 21600"/>
              <a:gd name="T1" fmla="*/ 2147483646 h 21600"/>
              <a:gd name="T2" fmla="*/ 0 w 21600"/>
              <a:gd name="T3" fmla="*/ 0 h 21600"/>
              <a:gd name="T4" fmla="*/ 270984006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599"/>
                </a:moveTo>
                <a:cubicBezTo>
                  <a:pt x="9670" y="21599"/>
                  <a:pt x="-1" y="11929"/>
                  <a:pt x="-1" y="-1"/>
                </a:cubicBezTo>
              </a:path>
              <a:path w="21600" h="21600" stroke="0" extrusionOk="0">
                <a:moveTo>
                  <a:pt x="21600" y="21599"/>
                </a:moveTo>
                <a:cubicBezTo>
                  <a:pt x="9670" y="21599"/>
                  <a:pt x="-1" y="11929"/>
                  <a:pt x="-1" y="-1"/>
                </a:cubicBezTo>
                <a:lnTo>
                  <a:pt x="21600" y="0"/>
                </a:lnTo>
                <a:lnTo>
                  <a:pt x="21600" y="21599"/>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308" name="Arc 21">
            <a:extLst>
              <a:ext uri="{FF2B5EF4-FFF2-40B4-BE49-F238E27FC236}">
                <a16:creationId xmlns:a16="http://schemas.microsoft.com/office/drawing/2014/main" id="{A022DB15-2705-D645-9FD2-69DD659717D0}"/>
              </a:ext>
            </a:extLst>
          </p:cNvPr>
          <p:cNvSpPr>
            <a:spLocks/>
          </p:cNvSpPr>
          <p:nvPr/>
        </p:nvSpPr>
        <p:spPr bwMode="auto">
          <a:xfrm rot="10800000">
            <a:off x="3505200" y="3351213"/>
            <a:ext cx="228600" cy="422275"/>
          </a:xfrm>
          <a:custGeom>
            <a:avLst/>
            <a:gdLst>
              <a:gd name="T0" fmla="*/ 270909288 w 21600"/>
              <a:gd name="T1" fmla="*/ 0 h 22103"/>
              <a:gd name="T2" fmla="*/ 0 w 21600"/>
              <a:gd name="T3" fmla="*/ 2147483646 h 22103"/>
              <a:gd name="T4" fmla="*/ 0 w 21600"/>
              <a:gd name="T5" fmla="*/ 67012557 h 22103"/>
              <a:gd name="T6" fmla="*/ 0 60000 65536"/>
              <a:gd name="T7" fmla="*/ 0 60000 65536"/>
              <a:gd name="T8" fmla="*/ 0 60000 65536"/>
            </a:gdLst>
            <a:ahLst/>
            <a:cxnLst>
              <a:cxn ang="T6">
                <a:pos x="T0" y="T1"/>
              </a:cxn>
              <a:cxn ang="T7">
                <a:pos x="T2" y="T3"/>
              </a:cxn>
              <a:cxn ang="T8">
                <a:pos x="T4" y="T5"/>
              </a:cxn>
            </a:cxnLst>
            <a:rect l="0" t="0" r="r" b="b"/>
            <a:pathLst>
              <a:path w="21600" h="22103" fill="none" extrusionOk="0">
                <a:moveTo>
                  <a:pt x="21594" y="-1"/>
                </a:moveTo>
                <a:cubicBezTo>
                  <a:pt x="21598" y="167"/>
                  <a:pt x="21600" y="335"/>
                  <a:pt x="21600" y="503"/>
                </a:cubicBezTo>
                <a:cubicBezTo>
                  <a:pt x="21600" y="12432"/>
                  <a:pt x="11929" y="22103"/>
                  <a:pt x="-1" y="22103"/>
                </a:cubicBezTo>
              </a:path>
              <a:path w="21600" h="22103" stroke="0" extrusionOk="0">
                <a:moveTo>
                  <a:pt x="21594" y="-1"/>
                </a:moveTo>
                <a:cubicBezTo>
                  <a:pt x="21598" y="167"/>
                  <a:pt x="21600" y="335"/>
                  <a:pt x="21600" y="503"/>
                </a:cubicBezTo>
                <a:cubicBezTo>
                  <a:pt x="21600" y="12432"/>
                  <a:pt x="11929" y="22103"/>
                  <a:pt x="-1" y="22103"/>
                </a:cubicBezTo>
                <a:lnTo>
                  <a:pt x="0" y="503"/>
                </a:lnTo>
                <a:lnTo>
                  <a:pt x="21594" y="-1"/>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309" name="Arc 22">
            <a:extLst>
              <a:ext uri="{FF2B5EF4-FFF2-40B4-BE49-F238E27FC236}">
                <a16:creationId xmlns:a16="http://schemas.microsoft.com/office/drawing/2014/main" id="{4DAE6EC6-1504-6743-A6F7-5F3D6FEED24B}"/>
              </a:ext>
            </a:extLst>
          </p:cNvPr>
          <p:cNvSpPr>
            <a:spLocks/>
          </p:cNvSpPr>
          <p:nvPr/>
        </p:nvSpPr>
        <p:spPr bwMode="auto">
          <a:xfrm>
            <a:off x="3506788" y="4616450"/>
            <a:ext cx="228600" cy="488950"/>
          </a:xfrm>
          <a:custGeom>
            <a:avLst/>
            <a:gdLst>
              <a:gd name="T0" fmla="*/ 270984006 w 21600"/>
              <a:gd name="T1" fmla="*/ 2147483646 h 21600"/>
              <a:gd name="T2" fmla="*/ 0 w 21600"/>
              <a:gd name="T3" fmla="*/ 0 h 21600"/>
              <a:gd name="T4" fmla="*/ 270984006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599"/>
                </a:moveTo>
                <a:cubicBezTo>
                  <a:pt x="9670" y="21599"/>
                  <a:pt x="-1" y="11929"/>
                  <a:pt x="-1" y="-1"/>
                </a:cubicBezTo>
              </a:path>
              <a:path w="21600" h="21600" stroke="0" extrusionOk="0">
                <a:moveTo>
                  <a:pt x="21600" y="21599"/>
                </a:moveTo>
                <a:cubicBezTo>
                  <a:pt x="9670" y="21599"/>
                  <a:pt x="-1" y="11929"/>
                  <a:pt x="-1" y="-1"/>
                </a:cubicBezTo>
                <a:lnTo>
                  <a:pt x="21600" y="0"/>
                </a:lnTo>
                <a:lnTo>
                  <a:pt x="21600" y="21599"/>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310" name="Arc 23">
            <a:extLst>
              <a:ext uri="{FF2B5EF4-FFF2-40B4-BE49-F238E27FC236}">
                <a16:creationId xmlns:a16="http://schemas.microsoft.com/office/drawing/2014/main" id="{ECAF390B-2F45-8445-AACE-66E2D98E2BA6}"/>
              </a:ext>
            </a:extLst>
          </p:cNvPr>
          <p:cNvSpPr>
            <a:spLocks/>
          </p:cNvSpPr>
          <p:nvPr/>
        </p:nvSpPr>
        <p:spPr bwMode="auto">
          <a:xfrm rot="10800000">
            <a:off x="3505200" y="4265613"/>
            <a:ext cx="228600" cy="422275"/>
          </a:xfrm>
          <a:custGeom>
            <a:avLst/>
            <a:gdLst>
              <a:gd name="T0" fmla="*/ 270909288 w 21600"/>
              <a:gd name="T1" fmla="*/ 0 h 22103"/>
              <a:gd name="T2" fmla="*/ 0 w 21600"/>
              <a:gd name="T3" fmla="*/ 2147483646 h 22103"/>
              <a:gd name="T4" fmla="*/ 0 w 21600"/>
              <a:gd name="T5" fmla="*/ 67012557 h 22103"/>
              <a:gd name="T6" fmla="*/ 0 60000 65536"/>
              <a:gd name="T7" fmla="*/ 0 60000 65536"/>
              <a:gd name="T8" fmla="*/ 0 60000 65536"/>
            </a:gdLst>
            <a:ahLst/>
            <a:cxnLst>
              <a:cxn ang="T6">
                <a:pos x="T0" y="T1"/>
              </a:cxn>
              <a:cxn ang="T7">
                <a:pos x="T2" y="T3"/>
              </a:cxn>
              <a:cxn ang="T8">
                <a:pos x="T4" y="T5"/>
              </a:cxn>
            </a:cxnLst>
            <a:rect l="0" t="0" r="r" b="b"/>
            <a:pathLst>
              <a:path w="21600" h="22103" fill="none" extrusionOk="0">
                <a:moveTo>
                  <a:pt x="21594" y="-1"/>
                </a:moveTo>
                <a:cubicBezTo>
                  <a:pt x="21598" y="167"/>
                  <a:pt x="21600" y="335"/>
                  <a:pt x="21600" y="503"/>
                </a:cubicBezTo>
                <a:cubicBezTo>
                  <a:pt x="21600" y="12432"/>
                  <a:pt x="11929" y="22103"/>
                  <a:pt x="-1" y="22103"/>
                </a:cubicBezTo>
              </a:path>
              <a:path w="21600" h="22103" stroke="0" extrusionOk="0">
                <a:moveTo>
                  <a:pt x="21594" y="-1"/>
                </a:moveTo>
                <a:cubicBezTo>
                  <a:pt x="21598" y="167"/>
                  <a:pt x="21600" y="335"/>
                  <a:pt x="21600" y="503"/>
                </a:cubicBezTo>
                <a:cubicBezTo>
                  <a:pt x="21600" y="12432"/>
                  <a:pt x="11929" y="22103"/>
                  <a:pt x="-1" y="22103"/>
                </a:cubicBezTo>
                <a:lnTo>
                  <a:pt x="0" y="503"/>
                </a:lnTo>
                <a:lnTo>
                  <a:pt x="21594" y="-1"/>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311" name="Arc 24">
            <a:extLst>
              <a:ext uri="{FF2B5EF4-FFF2-40B4-BE49-F238E27FC236}">
                <a16:creationId xmlns:a16="http://schemas.microsoft.com/office/drawing/2014/main" id="{7144C9E6-57CB-4544-AECC-5B8CB13235BA}"/>
              </a:ext>
            </a:extLst>
          </p:cNvPr>
          <p:cNvSpPr>
            <a:spLocks/>
          </p:cNvSpPr>
          <p:nvPr/>
        </p:nvSpPr>
        <p:spPr bwMode="auto">
          <a:xfrm>
            <a:off x="3811588" y="5214938"/>
            <a:ext cx="381000" cy="423862"/>
          </a:xfrm>
          <a:custGeom>
            <a:avLst/>
            <a:gdLst>
              <a:gd name="T0" fmla="*/ 214737694 w 43200"/>
              <a:gd name="T1" fmla="*/ 24699538 h 40122"/>
              <a:gd name="T2" fmla="*/ 63448045 w 43200"/>
              <a:gd name="T3" fmla="*/ 0 h 40122"/>
              <a:gd name="T4" fmla="*/ 130682859 w 43200"/>
              <a:gd name="T5" fmla="*/ 230703580 h 40122"/>
              <a:gd name="T6" fmla="*/ 0 60000 65536"/>
              <a:gd name="T7" fmla="*/ 0 60000 65536"/>
              <a:gd name="T8" fmla="*/ 0 60000 65536"/>
            </a:gdLst>
            <a:ahLst/>
            <a:cxnLst>
              <a:cxn ang="T6">
                <a:pos x="T0" y="T1"/>
              </a:cxn>
              <a:cxn ang="T7">
                <a:pos x="T2" y="T3"/>
              </a:cxn>
              <a:cxn ang="T8">
                <a:pos x="T4" y="T5"/>
              </a:cxn>
            </a:cxnLst>
            <a:rect l="0" t="0" r="r" b="b"/>
            <a:pathLst>
              <a:path w="43200" h="40122" fill="none" extrusionOk="0">
                <a:moveTo>
                  <a:pt x="35493" y="1982"/>
                </a:moveTo>
                <a:cubicBezTo>
                  <a:pt x="40378" y="6086"/>
                  <a:pt x="43200" y="12141"/>
                  <a:pt x="43200" y="18522"/>
                </a:cubicBezTo>
                <a:cubicBezTo>
                  <a:pt x="43200" y="30451"/>
                  <a:pt x="33529" y="40122"/>
                  <a:pt x="21600" y="40122"/>
                </a:cubicBezTo>
                <a:cubicBezTo>
                  <a:pt x="9670" y="40122"/>
                  <a:pt x="0" y="30451"/>
                  <a:pt x="0" y="18522"/>
                </a:cubicBezTo>
                <a:cubicBezTo>
                  <a:pt x="0" y="10934"/>
                  <a:pt x="3980" y="3903"/>
                  <a:pt x="10487" y="0"/>
                </a:cubicBezTo>
              </a:path>
              <a:path w="43200" h="40122" stroke="0" extrusionOk="0">
                <a:moveTo>
                  <a:pt x="35493" y="1982"/>
                </a:moveTo>
                <a:cubicBezTo>
                  <a:pt x="40378" y="6086"/>
                  <a:pt x="43200" y="12141"/>
                  <a:pt x="43200" y="18522"/>
                </a:cubicBezTo>
                <a:cubicBezTo>
                  <a:pt x="43200" y="30451"/>
                  <a:pt x="33529" y="40122"/>
                  <a:pt x="21600" y="40122"/>
                </a:cubicBezTo>
                <a:cubicBezTo>
                  <a:pt x="9670" y="40122"/>
                  <a:pt x="0" y="30451"/>
                  <a:pt x="0" y="18522"/>
                </a:cubicBezTo>
                <a:cubicBezTo>
                  <a:pt x="0" y="10934"/>
                  <a:pt x="3980" y="3903"/>
                  <a:pt x="10487" y="0"/>
                </a:cubicBezTo>
                <a:lnTo>
                  <a:pt x="21600" y="18522"/>
                </a:lnTo>
                <a:lnTo>
                  <a:pt x="35493" y="1982"/>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312" name="Arc 25">
            <a:extLst>
              <a:ext uri="{FF2B5EF4-FFF2-40B4-BE49-F238E27FC236}">
                <a16:creationId xmlns:a16="http://schemas.microsoft.com/office/drawing/2014/main" id="{7AB723DF-C1A7-5F41-A6F2-687FC0F04DB2}"/>
              </a:ext>
            </a:extLst>
          </p:cNvPr>
          <p:cNvSpPr>
            <a:spLocks/>
          </p:cNvSpPr>
          <p:nvPr/>
        </p:nvSpPr>
        <p:spPr bwMode="auto">
          <a:xfrm rot="10800000">
            <a:off x="3887788" y="1785938"/>
            <a:ext cx="381000" cy="434975"/>
          </a:xfrm>
          <a:custGeom>
            <a:avLst/>
            <a:gdLst>
              <a:gd name="T0" fmla="*/ 197113710 w 43200"/>
              <a:gd name="T1" fmla="*/ 10968798 h 41073"/>
              <a:gd name="T2" fmla="*/ 74132493 w 43200"/>
              <a:gd name="T3" fmla="*/ 0 h 41073"/>
              <a:gd name="T4" fmla="*/ 130682859 w 43200"/>
              <a:gd name="T5" fmla="*/ 244942976 h 41073"/>
              <a:gd name="T6" fmla="*/ 0 60000 65536"/>
              <a:gd name="T7" fmla="*/ 0 60000 65536"/>
              <a:gd name="T8" fmla="*/ 0 60000 65536"/>
            </a:gdLst>
            <a:ahLst/>
            <a:cxnLst>
              <a:cxn ang="T6">
                <a:pos x="T0" y="T1"/>
              </a:cxn>
              <a:cxn ang="T7">
                <a:pos x="T2" y="T3"/>
              </a:cxn>
              <a:cxn ang="T8">
                <a:pos x="T4" y="T5"/>
              </a:cxn>
            </a:cxnLst>
            <a:rect l="0" t="0" r="r" b="b"/>
            <a:pathLst>
              <a:path w="43200" h="41073" fill="none" extrusionOk="0">
                <a:moveTo>
                  <a:pt x="32580" y="871"/>
                </a:moveTo>
                <a:cubicBezTo>
                  <a:pt x="39161" y="4756"/>
                  <a:pt x="43200" y="11830"/>
                  <a:pt x="43200" y="19473"/>
                </a:cubicBezTo>
                <a:cubicBezTo>
                  <a:pt x="43200" y="31402"/>
                  <a:pt x="33529" y="41073"/>
                  <a:pt x="21600" y="41073"/>
                </a:cubicBezTo>
                <a:cubicBezTo>
                  <a:pt x="9670" y="41073"/>
                  <a:pt x="0" y="31402"/>
                  <a:pt x="0" y="19473"/>
                </a:cubicBezTo>
                <a:cubicBezTo>
                  <a:pt x="0" y="11165"/>
                  <a:pt x="4763" y="3594"/>
                  <a:pt x="12253" y="0"/>
                </a:cubicBezTo>
              </a:path>
              <a:path w="43200" h="41073" stroke="0" extrusionOk="0">
                <a:moveTo>
                  <a:pt x="32580" y="871"/>
                </a:moveTo>
                <a:cubicBezTo>
                  <a:pt x="39161" y="4756"/>
                  <a:pt x="43200" y="11830"/>
                  <a:pt x="43200" y="19473"/>
                </a:cubicBezTo>
                <a:cubicBezTo>
                  <a:pt x="43200" y="31402"/>
                  <a:pt x="33529" y="41073"/>
                  <a:pt x="21600" y="41073"/>
                </a:cubicBezTo>
                <a:cubicBezTo>
                  <a:pt x="9670" y="41073"/>
                  <a:pt x="0" y="31402"/>
                  <a:pt x="0" y="19473"/>
                </a:cubicBezTo>
                <a:cubicBezTo>
                  <a:pt x="0" y="11165"/>
                  <a:pt x="4763" y="3594"/>
                  <a:pt x="12253" y="0"/>
                </a:cubicBezTo>
                <a:lnTo>
                  <a:pt x="21600" y="19473"/>
                </a:lnTo>
                <a:lnTo>
                  <a:pt x="32580" y="871"/>
                </a:lnTo>
                <a:close/>
              </a:path>
            </a:pathLst>
          </a:custGeom>
          <a:noFill/>
          <a:ln w="12700" cap="rnd">
            <a:solidFill>
              <a:schemeClr val="tx1"/>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5313" name="Rectangle 26">
            <a:extLst>
              <a:ext uri="{FF2B5EF4-FFF2-40B4-BE49-F238E27FC236}">
                <a16:creationId xmlns:a16="http://schemas.microsoft.com/office/drawing/2014/main" id="{3EB7F1D8-BBE2-F544-B7F8-50EC794247A9}"/>
              </a:ext>
            </a:extLst>
          </p:cNvPr>
          <p:cNvSpPr>
            <a:spLocks noChangeArrowheads="1"/>
          </p:cNvSpPr>
          <p:nvPr/>
        </p:nvSpPr>
        <p:spPr bwMode="auto">
          <a:xfrm>
            <a:off x="4175125" y="1622425"/>
            <a:ext cx="327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a:latin typeface="Arial" panose="020B0604020202020204" pitchFamily="34" charset="0"/>
              </a:rPr>
              <a:t>T</a:t>
            </a:r>
          </a:p>
        </p:txBody>
      </p:sp>
      <p:sp>
        <p:nvSpPr>
          <p:cNvPr id="55314" name="Rectangle 27">
            <a:extLst>
              <a:ext uri="{FF2B5EF4-FFF2-40B4-BE49-F238E27FC236}">
                <a16:creationId xmlns:a16="http://schemas.microsoft.com/office/drawing/2014/main" id="{166FBC44-5225-2D4D-8DAE-6067F0E80AFF}"/>
              </a:ext>
            </a:extLst>
          </p:cNvPr>
          <p:cNvSpPr>
            <a:spLocks noChangeArrowheads="1"/>
          </p:cNvSpPr>
          <p:nvPr/>
        </p:nvSpPr>
        <p:spPr bwMode="auto">
          <a:xfrm>
            <a:off x="4556125" y="2689225"/>
            <a:ext cx="327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a:latin typeface="Arial" panose="020B0604020202020204" pitchFamily="34" charset="0"/>
              </a:rPr>
              <a:t>T</a:t>
            </a:r>
          </a:p>
        </p:txBody>
      </p:sp>
      <p:sp>
        <p:nvSpPr>
          <p:cNvPr id="55315" name="Rectangle 28">
            <a:extLst>
              <a:ext uri="{FF2B5EF4-FFF2-40B4-BE49-F238E27FC236}">
                <a16:creationId xmlns:a16="http://schemas.microsoft.com/office/drawing/2014/main" id="{52496C35-13B0-8641-B2B3-A151858F32D7}"/>
              </a:ext>
            </a:extLst>
          </p:cNvPr>
          <p:cNvSpPr>
            <a:spLocks noChangeArrowheads="1"/>
          </p:cNvSpPr>
          <p:nvPr/>
        </p:nvSpPr>
        <p:spPr bwMode="auto">
          <a:xfrm>
            <a:off x="4556125" y="3679825"/>
            <a:ext cx="327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a:latin typeface="Arial" panose="020B0604020202020204" pitchFamily="34" charset="0"/>
              </a:rPr>
              <a:t>T</a:t>
            </a:r>
          </a:p>
        </p:txBody>
      </p:sp>
      <p:sp>
        <p:nvSpPr>
          <p:cNvPr id="55316" name="Rectangle 29">
            <a:extLst>
              <a:ext uri="{FF2B5EF4-FFF2-40B4-BE49-F238E27FC236}">
                <a16:creationId xmlns:a16="http://schemas.microsoft.com/office/drawing/2014/main" id="{7CE3840B-2811-2245-8EC7-D67A5AB53D3C}"/>
              </a:ext>
            </a:extLst>
          </p:cNvPr>
          <p:cNvSpPr>
            <a:spLocks noChangeArrowheads="1"/>
          </p:cNvSpPr>
          <p:nvPr/>
        </p:nvSpPr>
        <p:spPr bwMode="auto">
          <a:xfrm>
            <a:off x="4556125" y="4670425"/>
            <a:ext cx="327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a:latin typeface="Arial" panose="020B0604020202020204" pitchFamily="34" charset="0"/>
              </a:rPr>
              <a:t>T</a:t>
            </a:r>
          </a:p>
        </p:txBody>
      </p:sp>
      <p:sp>
        <p:nvSpPr>
          <p:cNvPr id="55317" name="Rectangle 30">
            <a:extLst>
              <a:ext uri="{FF2B5EF4-FFF2-40B4-BE49-F238E27FC236}">
                <a16:creationId xmlns:a16="http://schemas.microsoft.com/office/drawing/2014/main" id="{03F85200-9A1F-3843-A116-4BFF3BAE3BB7}"/>
              </a:ext>
            </a:extLst>
          </p:cNvPr>
          <p:cNvSpPr>
            <a:spLocks noChangeArrowheads="1"/>
          </p:cNvSpPr>
          <p:nvPr/>
        </p:nvSpPr>
        <p:spPr bwMode="auto">
          <a:xfrm>
            <a:off x="3870325" y="5661025"/>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a:latin typeface="Arial" panose="020B0604020202020204" pitchFamily="34" charset="0"/>
              </a:rPr>
              <a:t>N</a:t>
            </a:r>
          </a:p>
        </p:txBody>
      </p:sp>
      <p:sp>
        <p:nvSpPr>
          <p:cNvPr id="55318" name="Rectangle 31">
            <a:extLst>
              <a:ext uri="{FF2B5EF4-FFF2-40B4-BE49-F238E27FC236}">
                <a16:creationId xmlns:a16="http://schemas.microsoft.com/office/drawing/2014/main" id="{A4F36B99-EE2D-4841-A0C5-D031E111D8E8}"/>
              </a:ext>
            </a:extLst>
          </p:cNvPr>
          <p:cNvSpPr>
            <a:spLocks noChangeArrowheads="1"/>
          </p:cNvSpPr>
          <p:nvPr/>
        </p:nvSpPr>
        <p:spPr bwMode="auto">
          <a:xfrm>
            <a:off x="3184525" y="4518025"/>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a:latin typeface="Arial" panose="020B0604020202020204" pitchFamily="34" charset="0"/>
              </a:rPr>
              <a:t>N</a:t>
            </a:r>
          </a:p>
        </p:txBody>
      </p:sp>
      <p:sp>
        <p:nvSpPr>
          <p:cNvPr id="55319" name="Rectangle 32">
            <a:extLst>
              <a:ext uri="{FF2B5EF4-FFF2-40B4-BE49-F238E27FC236}">
                <a16:creationId xmlns:a16="http://schemas.microsoft.com/office/drawing/2014/main" id="{F2BFE8D4-0267-864E-8ED9-BBF314A6CA64}"/>
              </a:ext>
            </a:extLst>
          </p:cNvPr>
          <p:cNvSpPr>
            <a:spLocks noChangeArrowheads="1"/>
          </p:cNvSpPr>
          <p:nvPr/>
        </p:nvSpPr>
        <p:spPr bwMode="auto">
          <a:xfrm>
            <a:off x="3184525" y="3451225"/>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a:latin typeface="Arial" panose="020B0604020202020204" pitchFamily="34" charset="0"/>
              </a:rPr>
              <a:t>N</a:t>
            </a:r>
          </a:p>
        </p:txBody>
      </p:sp>
      <p:sp>
        <p:nvSpPr>
          <p:cNvPr id="55320" name="Rectangle 33">
            <a:extLst>
              <a:ext uri="{FF2B5EF4-FFF2-40B4-BE49-F238E27FC236}">
                <a16:creationId xmlns:a16="http://schemas.microsoft.com/office/drawing/2014/main" id="{0B426B0B-1D9E-8347-B57B-5B5A035BC135}"/>
              </a:ext>
            </a:extLst>
          </p:cNvPr>
          <p:cNvSpPr>
            <a:spLocks noChangeArrowheads="1"/>
          </p:cNvSpPr>
          <p:nvPr/>
        </p:nvSpPr>
        <p:spPr bwMode="auto">
          <a:xfrm>
            <a:off x="3184525" y="2613025"/>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a:latin typeface="Arial" panose="020B0604020202020204" pitchFamily="34" charset="0"/>
              </a:rPr>
              <a:t>N</a:t>
            </a:r>
          </a:p>
        </p:txBody>
      </p:sp>
      <p:sp>
        <p:nvSpPr>
          <p:cNvPr id="55321" name="Line 34">
            <a:extLst>
              <a:ext uri="{FF2B5EF4-FFF2-40B4-BE49-F238E27FC236}">
                <a16:creationId xmlns:a16="http://schemas.microsoft.com/office/drawing/2014/main" id="{FE8248BC-0EC5-D942-8BC9-1DF07D6E2E36}"/>
              </a:ext>
            </a:extLst>
          </p:cNvPr>
          <p:cNvSpPr>
            <a:spLocks noChangeShapeType="1"/>
          </p:cNvSpPr>
          <p:nvPr/>
        </p:nvSpPr>
        <p:spPr bwMode="auto">
          <a:xfrm>
            <a:off x="2057400" y="3733800"/>
            <a:ext cx="4495800"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5322" name="Rectangle 35">
            <a:extLst>
              <a:ext uri="{FF2B5EF4-FFF2-40B4-BE49-F238E27FC236}">
                <a16:creationId xmlns:a16="http://schemas.microsoft.com/office/drawing/2014/main" id="{32B83C00-DFA3-BA49-A363-D851C4809F57}"/>
              </a:ext>
            </a:extLst>
          </p:cNvPr>
          <p:cNvSpPr>
            <a:spLocks noChangeArrowheads="1"/>
          </p:cNvSpPr>
          <p:nvPr/>
        </p:nvSpPr>
        <p:spPr bwMode="auto">
          <a:xfrm>
            <a:off x="5622925" y="2994025"/>
            <a:ext cx="1506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i="1">
                <a:latin typeface="Arial" panose="020B0604020202020204" pitchFamily="34" charset="0"/>
              </a:rPr>
              <a:t>predict taken</a:t>
            </a:r>
          </a:p>
        </p:txBody>
      </p:sp>
      <p:sp>
        <p:nvSpPr>
          <p:cNvPr id="55323" name="Rectangle 36">
            <a:extLst>
              <a:ext uri="{FF2B5EF4-FFF2-40B4-BE49-F238E27FC236}">
                <a16:creationId xmlns:a16="http://schemas.microsoft.com/office/drawing/2014/main" id="{553A3935-5E53-E54E-9D2B-C3A2A380649A}"/>
              </a:ext>
            </a:extLst>
          </p:cNvPr>
          <p:cNvSpPr>
            <a:spLocks noChangeArrowheads="1"/>
          </p:cNvSpPr>
          <p:nvPr/>
        </p:nvSpPr>
        <p:spPr bwMode="auto">
          <a:xfrm>
            <a:off x="5699125" y="4441825"/>
            <a:ext cx="1905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i="1">
                <a:latin typeface="Arial" panose="020B0604020202020204" pitchFamily="34" charset="0"/>
              </a:rPr>
              <a:t>predict not-taken</a:t>
            </a:r>
          </a:p>
        </p:txBody>
      </p:sp>
      <p:sp>
        <p:nvSpPr>
          <p:cNvPr id="55324" name="Line 37">
            <a:extLst>
              <a:ext uri="{FF2B5EF4-FFF2-40B4-BE49-F238E27FC236}">
                <a16:creationId xmlns:a16="http://schemas.microsoft.com/office/drawing/2014/main" id="{1287D946-C190-6246-88C9-BFF1232BACDC}"/>
              </a:ext>
            </a:extLst>
          </p:cNvPr>
          <p:cNvSpPr>
            <a:spLocks noChangeShapeType="1"/>
          </p:cNvSpPr>
          <p:nvPr/>
        </p:nvSpPr>
        <p:spPr bwMode="auto">
          <a:xfrm>
            <a:off x="2286000" y="4191000"/>
            <a:ext cx="12192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325" name="Rectangle 38">
            <a:extLst>
              <a:ext uri="{FF2B5EF4-FFF2-40B4-BE49-F238E27FC236}">
                <a16:creationId xmlns:a16="http://schemas.microsoft.com/office/drawing/2014/main" id="{1AD77CCE-46F0-2745-975B-69FBC89C06F8}"/>
              </a:ext>
            </a:extLst>
          </p:cNvPr>
          <p:cNvSpPr>
            <a:spLocks noChangeArrowheads="1"/>
          </p:cNvSpPr>
          <p:nvPr/>
        </p:nvSpPr>
        <p:spPr bwMode="auto">
          <a:xfrm>
            <a:off x="1127125" y="3832225"/>
            <a:ext cx="12763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800" i="1">
                <a:latin typeface="Arial" panose="020B0604020202020204" pitchFamily="34" charset="0"/>
              </a:rPr>
              <a:t>initial state</a:t>
            </a:r>
          </a:p>
          <a:p>
            <a:pPr>
              <a:spcBef>
                <a:spcPct val="0"/>
              </a:spcBef>
              <a:buClrTx/>
              <a:buSzTx/>
              <a:buFontTx/>
              <a:buNone/>
            </a:pPr>
            <a:r>
              <a:rPr lang="en-US" altLang="en-US" sz="1800" i="1">
                <a:latin typeface="Arial" panose="020B0604020202020204" pitchFamily="34" charset="0"/>
              </a:rPr>
              <a:t>(using NT</a:t>
            </a:r>
          </a:p>
          <a:p>
            <a:pPr>
              <a:spcBef>
                <a:spcPct val="0"/>
              </a:spcBef>
              <a:buClrTx/>
              <a:buSzTx/>
              <a:buFontTx/>
              <a:buNone/>
            </a:pPr>
            <a:r>
              <a:rPr lang="en-US" altLang="en-US" sz="1800" i="1">
                <a:latin typeface="Arial" panose="020B0604020202020204" pitchFamily="34" charset="0"/>
              </a:rPr>
              <a:t>heuristic)</a:t>
            </a:r>
          </a:p>
        </p:txBody>
      </p:sp>
      <p:sp>
        <p:nvSpPr>
          <p:cNvPr id="55326" name="Rectangle 39">
            <a:extLst>
              <a:ext uri="{FF2B5EF4-FFF2-40B4-BE49-F238E27FC236}">
                <a16:creationId xmlns:a16="http://schemas.microsoft.com/office/drawing/2014/main" id="{B7E16858-7C80-5642-B1EA-01F7DE033650}"/>
              </a:ext>
            </a:extLst>
          </p:cNvPr>
          <p:cNvSpPr>
            <a:spLocks noChangeArrowheads="1"/>
          </p:cNvSpPr>
          <p:nvPr/>
        </p:nvSpPr>
        <p:spPr bwMode="auto">
          <a:xfrm>
            <a:off x="4937125" y="5280025"/>
            <a:ext cx="22256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b="1">
                <a:solidFill>
                  <a:schemeClr val="tx1"/>
                </a:solidFill>
                <a:latin typeface="Arial" panose="020B0604020202020204" pitchFamily="34" charset="0"/>
              </a:rPr>
              <a:t>Problems with </a:t>
            </a:r>
            <a:r>
              <a:rPr lang="en-US" altLang="en-US" sz="1400" b="1" i="1">
                <a:solidFill>
                  <a:schemeClr val="tx1"/>
                </a:solidFill>
                <a:latin typeface="Arial" panose="020B0604020202020204" pitchFamily="34" charset="0"/>
              </a:rPr>
              <a:t>n &gt;</a:t>
            </a:r>
            <a:r>
              <a:rPr lang="en-US" altLang="en-US" sz="1400" b="1">
                <a:solidFill>
                  <a:schemeClr val="tx1"/>
                </a:solidFill>
                <a:latin typeface="Arial" panose="020B0604020202020204" pitchFamily="34" charset="0"/>
              </a:rPr>
              <a:t> 2 to 3</a:t>
            </a:r>
          </a:p>
          <a:p>
            <a:pPr>
              <a:spcBef>
                <a:spcPct val="0"/>
              </a:spcBef>
              <a:buClrTx/>
              <a:buSzTx/>
              <a:buFontTx/>
              <a:buNone/>
            </a:pPr>
            <a:r>
              <a:rPr lang="en-US" altLang="en-US" sz="1400" b="1" i="1">
                <a:solidFill>
                  <a:schemeClr val="tx1"/>
                </a:solidFill>
                <a:latin typeface="Arial" panose="020B0604020202020204" pitchFamily="34" charset="0"/>
              </a:rPr>
              <a:t>Smith called it </a:t>
            </a:r>
            <a:r>
              <a:rPr lang="ja-JP" altLang="en-US" sz="1400" b="1" i="1">
                <a:solidFill>
                  <a:schemeClr val="tx1"/>
                </a:solidFill>
                <a:latin typeface="Arial" panose="020B0604020202020204" pitchFamily="34" charset="0"/>
              </a:rPr>
              <a:t>“</a:t>
            </a:r>
            <a:r>
              <a:rPr lang="en-US" altLang="ja-JP" sz="1400" b="1" i="1">
                <a:solidFill>
                  <a:schemeClr val="tx1"/>
                </a:solidFill>
                <a:latin typeface="Arial" panose="020B0604020202020204" pitchFamily="34" charset="0"/>
              </a:rPr>
              <a:t>inertia</a:t>
            </a:r>
            <a:r>
              <a:rPr lang="ja-JP" altLang="en-US" sz="1400" b="1" i="1">
                <a:solidFill>
                  <a:schemeClr val="tx1"/>
                </a:solidFill>
                <a:latin typeface="Arial" panose="020B0604020202020204" pitchFamily="34" charset="0"/>
              </a:rPr>
              <a:t>”</a:t>
            </a:r>
            <a:endParaRPr lang="en-US" altLang="en-US" sz="1400" b="1" i="1">
              <a:solidFill>
                <a:schemeClr val="tx1"/>
              </a:solidFill>
              <a:latin typeface="Arial" panose="020B0604020202020204" pitchFamily="34" charset="0"/>
            </a:endParaRPr>
          </a:p>
        </p:txBody>
      </p:sp>
      <p:sp>
        <p:nvSpPr>
          <p:cNvPr id="2" name="TextBox 1">
            <a:extLst>
              <a:ext uri="{FF2B5EF4-FFF2-40B4-BE49-F238E27FC236}">
                <a16:creationId xmlns:a16="http://schemas.microsoft.com/office/drawing/2014/main" id="{D0F72F7A-3703-B544-9379-3258049E7CFB}"/>
              </a:ext>
            </a:extLst>
          </p:cNvPr>
          <p:cNvSpPr txBox="1"/>
          <p:nvPr/>
        </p:nvSpPr>
        <p:spPr>
          <a:xfrm>
            <a:off x="7010400" y="1101433"/>
            <a:ext cx="1467068" cy="369332"/>
          </a:xfrm>
          <a:prstGeom prst="rect">
            <a:avLst/>
          </a:prstGeom>
          <a:noFill/>
        </p:spPr>
        <p:txBody>
          <a:bodyPr wrap="none" rtlCol="0">
            <a:spAutoFit/>
          </a:bodyPr>
          <a:lstStyle/>
          <a:p>
            <a:r>
              <a:rPr lang="en-US" dirty="0"/>
              <a:t>2-bit counter</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2F02B991-0CD1-8D43-8E5C-D0897C1D4C9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Example of Smith counter</a:t>
            </a:r>
          </a:p>
        </p:txBody>
      </p:sp>
      <p:sp>
        <p:nvSpPr>
          <p:cNvPr id="57347" name="Rectangle 3">
            <a:extLst>
              <a:ext uri="{FF2B5EF4-FFF2-40B4-BE49-F238E27FC236}">
                <a16:creationId xmlns:a16="http://schemas.microsoft.com/office/drawing/2014/main" id="{2252D34A-C8DB-5642-AE1D-990093F6F74B}"/>
              </a:ext>
            </a:extLst>
          </p:cNvPr>
          <p:cNvSpPr>
            <a:spLocks noChangeArrowheads="1"/>
          </p:cNvSpPr>
          <p:nvPr/>
        </p:nvSpPr>
        <p:spPr bwMode="auto">
          <a:xfrm>
            <a:off x="136525" y="2536825"/>
            <a:ext cx="13001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previous state</a:t>
            </a:r>
          </a:p>
        </p:txBody>
      </p:sp>
      <p:sp>
        <p:nvSpPr>
          <p:cNvPr id="57348" name="Rectangle 4">
            <a:extLst>
              <a:ext uri="{FF2B5EF4-FFF2-40B4-BE49-F238E27FC236}">
                <a16:creationId xmlns:a16="http://schemas.microsoft.com/office/drawing/2014/main" id="{E24573E8-7C12-1744-B6F0-099CD1F75F88}"/>
              </a:ext>
            </a:extLst>
          </p:cNvPr>
          <p:cNvSpPr>
            <a:spLocks noChangeArrowheads="1"/>
          </p:cNvSpPr>
          <p:nvPr/>
        </p:nvSpPr>
        <p:spPr bwMode="auto">
          <a:xfrm>
            <a:off x="136525" y="2841625"/>
            <a:ext cx="952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new state</a:t>
            </a:r>
          </a:p>
        </p:txBody>
      </p:sp>
      <p:grpSp>
        <p:nvGrpSpPr>
          <p:cNvPr id="57349" name="Group 5">
            <a:extLst>
              <a:ext uri="{FF2B5EF4-FFF2-40B4-BE49-F238E27FC236}">
                <a16:creationId xmlns:a16="http://schemas.microsoft.com/office/drawing/2014/main" id="{529CC2C1-5407-4240-B9FE-5817B11E39F3}"/>
              </a:ext>
            </a:extLst>
          </p:cNvPr>
          <p:cNvGrpSpPr>
            <a:grpSpLocks/>
          </p:cNvGrpSpPr>
          <p:nvPr/>
        </p:nvGrpSpPr>
        <p:grpSpPr bwMode="auto">
          <a:xfrm>
            <a:off x="1508125" y="2193925"/>
            <a:ext cx="5840413" cy="946150"/>
            <a:chOff x="950" y="1382"/>
            <a:chExt cx="3679" cy="596"/>
          </a:xfrm>
        </p:grpSpPr>
        <p:sp>
          <p:nvSpPr>
            <p:cNvPr id="57417" name="Rectangle 6">
              <a:extLst>
                <a:ext uri="{FF2B5EF4-FFF2-40B4-BE49-F238E27FC236}">
                  <a16:creationId xmlns:a16="http://schemas.microsoft.com/office/drawing/2014/main" id="{B78AF8BA-4912-C743-B150-8E1022ADF10F}"/>
                </a:ext>
              </a:extLst>
            </p:cNvPr>
            <p:cNvSpPr>
              <a:spLocks noChangeArrowheads="1"/>
            </p:cNvSpPr>
            <p:nvPr/>
          </p:nvSpPr>
          <p:spPr bwMode="auto">
            <a:xfrm>
              <a:off x="950" y="138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T</a:t>
              </a:r>
            </a:p>
          </p:txBody>
        </p:sp>
        <p:sp>
          <p:nvSpPr>
            <p:cNvPr id="57418" name="Rectangle 7">
              <a:extLst>
                <a:ext uri="{FF2B5EF4-FFF2-40B4-BE49-F238E27FC236}">
                  <a16:creationId xmlns:a16="http://schemas.microsoft.com/office/drawing/2014/main" id="{C2F34EAB-32CE-2445-901B-C0297F2DD41B}"/>
                </a:ext>
              </a:extLst>
            </p:cNvPr>
            <p:cNvSpPr>
              <a:spLocks noChangeArrowheads="1"/>
            </p:cNvSpPr>
            <p:nvPr/>
          </p:nvSpPr>
          <p:spPr bwMode="auto">
            <a:xfrm>
              <a:off x="1125" y="138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T</a:t>
              </a:r>
            </a:p>
          </p:txBody>
        </p:sp>
        <p:sp>
          <p:nvSpPr>
            <p:cNvPr id="57419" name="Rectangle 8">
              <a:extLst>
                <a:ext uri="{FF2B5EF4-FFF2-40B4-BE49-F238E27FC236}">
                  <a16:creationId xmlns:a16="http://schemas.microsoft.com/office/drawing/2014/main" id="{068CE2EF-B50F-A643-BD80-25D2663D8708}"/>
                </a:ext>
              </a:extLst>
            </p:cNvPr>
            <p:cNvSpPr>
              <a:spLocks noChangeArrowheads="1"/>
            </p:cNvSpPr>
            <p:nvPr/>
          </p:nvSpPr>
          <p:spPr bwMode="auto">
            <a:xfrm>
              <a:off x="950"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20" name="Rectangle 9">
              <a:extLst>
                <a:ext uri="{FF2B5EF4-FFF2-40B4-BE49-F238E27FC236}">
                  <a16:creationId xmlns:a16="http://schemas.microsoft.com/office/drawing/2014/main" id="{29C6BC28-AF60-4349-B81B-9E14A54A3269}"/>
                </a:ext>
              </a:extLst>
            </p:cNvPr>
            <p:cNvSpPr>
              <a:spLocks noChangeArrowheads="1"/>
            </p:cNvSpPr>
            <p:nvPr/>
          </p:nvSpPr>
          <p:spPr bwMode="auto">
            <a:xfrm>
              <a:off x="1142"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421" name="Rectangle 10">
              <a:extLst>
                <a:ext uri="{FF2B5EF4-FFF2-40B4-BE49-F238E27FC236}">
                  <a16:creationId xmlns:a16="http://schemas.microsoft.com/office/drawing/2014/main" id="{3CB6550B-5B85-D44F-A1F5-67EA85E902F7}"/>
                </a:ext>
              </a:extLst>
            </p:cNvPr>
            <p:cNvSpPr>
              <a:spLocks noChangeArrowheads="1"/>
            </p:cNvSpPr>
            <p:nvPr/>
          </p:nvSpPr>
          <p:spPr bwMode="auto">
            <a:xfrm>
              <a:off x="1334"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22" name="Rectangle 11">
              <a:extLst>
                <a:ext uri="{FF2B5EF4-FFF2-40B4-BE49-F238E27FC236}">
                  <a16:creationId xmlns:a16="http://schemas.microsoft.com/office/drawing/2014/main" id="{268846D0-2393-5A4A-BC49-EC20A17B1D02}"/>
                </a:ext>
              </a:extLst>
            </p:cNvPr>
            <p:cNvSpPr>
              <a:spLocks noChangeArrowheads="1"/>
            </p:cNvSpPr>
            <p:nvPr/>
          </p:nvSpPr>
          <p:spPr bwMode="auto">
            <a:xfrm>
              <a:off x="1526"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23" name="Rectangle 12">
              <a:extLst>
                <a:ext uri="{FF2B5EF4-FFF2-40B4-BE49-F238E27FC236}">
                  <a16:creationId xmlns:a16="http://schemas.microsoft.com/office/drawing/2014/main" id="{5C55715D-EC3D-9647-8165-984ACFED2CDC}"/>
                </a:ext>
              </a:extLst>
            </p:cNvPr>
            <p:cNvSpPr>
              <a:spLocks noChangeArrowheads="1"/>
            </p:cNvSpPr>
            <p:nvPr/>
          </p:nvSpPr>
          <p:spPr bwMode="auto">
            <a:xfrm>
              <a:off x="1718"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24" name="Rectangle 13">
              <a:extLst>
                <a:ext uri="{FF2B5EF4-FFF2-40B4-BE49-F238E27FC236}">
                  <a16:creationId xmlns:a16="http://schemas.microsoft.com/office/drawing/2014/main" id="{1B1125F1-3845-A847-AECB-EDB3BC836503}"/>
                </a:ext>
              </a:extLst>
            </p:cNvPr>
            <p:cNvSpPr>
              <a:spLocks noChangeArrowheads="1"/>
            </p:cNvSpPr>
            <p:nvPr/>
          </p:nvSpPr>
          <p:spPr bwMode="auto">
            <a:xfrm>
              <a:off x="1910"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25" name="Rectangle 14">
              <a:extLst>
                <a:ext uri="{FF2B5EF4-FFF2-40B4-BE49-F238E27FC236}">
                  <a16:creationId xmlns:a16="http://schemas.microsoft.com/office/drawing/2014/main" id="{0BD2A776-47A0-BD4A-A50C-732F1EBEBF59}"/>
                </a:ext>
              </a:extLst>
            </p:cNvPr>
            <p:cNvSpPr>
              <a:spLocks noChangeArrowheads="1"/>
            </p:cNvSpPr>
            <p:nvPr/>
          </p:nvSpPr>
          <p:spPr bwMode="auto">
            <a:xfrm>
              <a:off x="2102"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26" name="Rectangle 15">
              <a:extLst>
                <a:ext uri="{FF2B5EF4-FFF2-40B4-BE49-F238E27FC236}">
                  <a16:creationId xmlns:a16="http://schemas.microsoft.com/office/drawing/2014/main" id="{2C663CEB-0B7D-2544-AFA5-80F59EBD6D7E}"/>
                </a:ext>
              </a:extLst>
            </p:cNvPr>
            <p:cNvSpPr>
              <a:spLocks noChangeArrowheads="1"/>
            </p:cNvSpPr>
            <p:nvPr/>
          </p:nvSpPr>
          <p:spPr bwMode="auto">
            <a:xfrm>
              <a:off x="2294"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427" name="Rectangle 16">
              <a:extLst>
                <a:ext uri="{FF2B5EF4-FFF2-40B4-BE49-F238E27FC236}">
                  <a16:creationId xmlns:a16="http://schemas.microsoft.com/office/drawing/2014/main" id="{FFBD86BE-6E6A-E749-B24A-7C70574E99EB}"/>
                </a:ext>
              </a:extLst>
            </p:cNvPr>
            <p:cNvSpPr>
              <a:spLocks noChangeArrowheads="1"/>
            </p:cNvSpPr>
            <p:nvPr/>
          </p:nvSpPr>
          <p:spPr bwMode="auto">
            <a:xfrm>
              <a:off x="2486"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28" name="Rectangle 17">
              <a:extLst>
                <a:ext uri="{FF2B5EF4-FFF2-40B4-BE49-F238E27FC236}">
                  <a16:creationId xmlns:a16="http://schemas.microsoft.com/office/drawing/2014/main" id="{6653134A-D53D-0F45-8683-9EEDB77AD00B}"/>
                </a:ext>
              </a:extLst>
            </p:cNvPr>
            <p:cNvSpPr>
              <a:spLocks noChangeArrowheads="1"/>
            </p:cNvSpPr>
            <p:nvPr/>
          </p:nvSpPr>
          <p:spPr bwMode="auto">
            <a:xfrm>
              <a:off x="2678"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29" name="Rectangle 18">
              <a:extLst>
                <a:ext uri="{FF2B5EF4-FFF2-40B4-BE49-F238E27FC236}">
                  <a16:creationId xmlns:a16="http://schemas.microsoft.com/office/drawing/2014/main" id="{BCB415EB-D5F1-664A-9E26-06FDE499EA35}"/>
                </a:ext>
              </a:extLst>
            </p:cNvPr>
            <p:cNvSpPr>
              <a:spLocks noChangeArrowheads="1"/>
            </p:cNvSpPr>
            <p:nvPr/>
          </p:nvSpPr>
          <p:spPr bwMode="auto">
            <a:xfrm>
              <a:off x="2870"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430" name="Rectangle 19">
              <a:extLst>
                <a:ext uri="{FF2B5EF4-FFF2-40B4-BE49-F238E27FC236}">
                  <a16:creationId xmlns:a16="http://schemas.microsoft.com/office/drawing/2014/main" id="{52F871B8-C634-2E41-A71D-F3831880705D}"/>
                </a:ext>
              </a:extLst>
            </p:cNvPr>
            <p:cNvSpPr>
              <a:spLocks noChangeArrowheads="1"/>
            </p:cNvSpPr>
            <p:nvPr/>
          </p:nvSpPr>
          <p:spPr bwMode="auto">
            <a:xfrm>
              <a:off x="3062"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31" name="Rectangle 20">
              <a:extLst>
                <a:ext uri="{FF2B5EF4-FFF2-40B4-BE49-F238E27FC236}">
                  <a16:creationId xmlns:a16="http://schemas.microsoft.com/office/drawing/2014/main" id="{D9F28FD2-2B0E-8E43-8144-144BFE78C69C}"/>
                </a:ext>
              </a:extLst>
            </p:cNvPr>
            <p:cNvSpPr>
              <a:spLocks noChangeArrowheads="1"/>
            </p:cNvSpPr>
            <p:nvPr/>
          </p:nvSpPr>
          <p:spPr bwMode="auto">
            <a:xfrm>
              <a:off x="3254"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00</a:t>
              </a:r>
            </a:p>
          </p:txBody>
        </p:sp>
        <p:sp>
          <p:nvSpPr>
            <p:cNvPr id="57432" name="Rectangle 21">
              <a:extLst>
                <a:ext uri="{FF2B5EF4-FFF2-40B4-BE49-F238E27FC236}">
                  <a16:creationId xmlns:a16="http://schemas.microsoft.com/office/drawing/2014/main" id="{4903746E-AC5E-E049-BC1C-38985CA34759}"/>
                </a:ext>
              </a:extLst>
            </p:cNvPr>
            <p:cNvSpPr>
              <a:spLocks noChangeArrowheads="1"/>
            </p:cNvSpPr>
            <p:nvPr/>
          </p:nvSpPr>
          <p:spPr bwMode="auto">
            <a:xfrm>
              <a:off x="3446"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00</a:t>
              </a:r>
            </a:p>
          </p:txBody>
        </p:sp>
        <p:sp>
          <p:nvSpPr>
            <p:cNvPr id="57433" name="Rectangle 22">
              <a:extLst>
                <a:ext uri="{FF2B5EF4-FFF2-40B4-BE49-F238E27FC236}">
                  <a16:creationId xmlns:a16="http://schemas.microsoft.com/office/drawing/2014/main" id="{2A4F9B87-07D5-2B44-A548-DA91BD8FBB61}"/>
                </a:ext>
              </a:extLst>
            </p:cNvPr>
            <p:cNvSpPr>
              <a:spLocks noChangeArrowheads="1"/>
            </p:cNvSpPr>
            <p:nvPr/>
          </p:nvSpPr>
          <p:spPr bwMode="auto">
            <a:xfrm>
              <a:off x="3638"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00</a:t>
              </a:r>
            </a:p>
          </p:txBody>
        </p:sp>
        <p:sp>
          <p:nvSpPr>
            <p:cNvPr id="57434" name="Rectangle 23">
              <a:extLst>
                <a:ext uri="{FF2B5EF4-FFF2-40B4-BE49-F238E27FC236}">
                  <a16:creationId xmlns:a16="http://schemas.microsoft.com/office/drawing/2014/main" id="{43CACA06-9B26-DD4B-B406-C504BFFC74B0}"/>
                </a:ext>
              </a:extLst>
            </p:cNvPr>
            <p:cNvSpPr>
              <a:spLocks noChangeArrowheads="1"/>
            </p:cNvSpPr>
            <p:nvPr/>
          </p:nvSpPr>
          <p:spPr bwMode="auto">
            <a:xfrm>
              <a:off x="3830"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00</a:t>
              </a:r>
            </a:p>
          </p:txBody>
        </p:sp>
        <p:sp>
          <p:nvSpPr>
            <p:cNvPr id="57435" name="Rectangle 24">
              <a:extLst>
                <a:ext uri="{FF2B5EF4-FFF2-40B4-BE49-F238E27FC236}">
                  <a16:creationId xmlns:a16="http://schemas.microsoft.com/office/drawing/2014/main" id="{56353143-FF8B-A040-A59A-9F5549065315}"/>
                </a:ext>
              </a:extLst>
            </p:cNvPr>
            <p:cNvSpPr>
              <a:spLocks noChangeArrowheads="1"/>
            </p:cNvSpPr>
            <p:nvPr/>
          </p:nvSpPr>
          <p:spPr bwMode="auto">
            <a:xfrm>
              <a:off x="4022"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00</a:t>
              </a:r>
            </a:p>
          </p:txBody>
        </p:sp>
        <p:sp>
          <p:nvSpPr>
            <p:cNvPr id="57436" name="Rectangle 25">
              <a:extLst>
                <a:ext uri="{FF2B5EF4-FFF2-40B4-BE49-F238E27FC236}">
                  <a16:creationId xmlns:a16="http://schemas.microsoft.com/office/drawing/2014/main" id="{9FAC5EDC-0B03-FB47-8CB4-39637773D354}"/>
                </a:ext>
              </a:extLst>
            </p:cNvPr>
            <p:cNvSpPr>
              <a:spLocks noChangeArrowheads="1"/>
            </p:cNvSpPr>
            <p:nvPr/>
          </p:nvSpPr>
          <p:spPr bwMode="auto">
            <a:xfrm>
              <a:off x="4214"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00</a:t>
              </a:r>
            </a:p>
          </p:txBody>
        </p:sp>
        <p:sp>
          <p:nvSpPr>
            <p:cNvPr id="57437" name="Rectangle 26">
              <a:extLst>
                <a:ext uri="{FF2B5EF4-FFF2-40B4-BE49-F238E27FC236}">
                  <a16:creationId xmlns:a16="http://schemas.microsoft.com/office/drawing/2014/main" id="{2FC63A31-2C33-1C4D-9890-A4D150B1B007}"/>
                </a:ext>
              </a:extLst>
            </p:cNvPr>
            <p:cNvSpPr>
              <a:spLocks noChangeArrowheads="1"/>
            </p:cNvSpPr>
            <p:nvPr/>
          </p:nvSpPr>
          <p:spPr bwMode="auto">
            <a:xfrm>
              <a:off x="4406" y="16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38" name="Rectangle 27">
              <a:extLst>
                <a:ext uri="{FF2B5EF4-FFF2-40B4-BE49-F238E27FC236}">
                  <a16:creationId xmlns:a16="http://schemas.microsoft.com/office/drawing/2014/main" id="{709C6725-809D-1845-86FF-8D8198294B61}"/>
                </a:ext>
              </a:extLst>
            </p:cNvPr>
            <p:cNvSpPr>
              <a:spLocks noChangeArrowheads="1"/>
            </p:cNvSpPr>
            <p:nvPr/>
          </p:nvSpPr>
          <p:spPr bwMode="auto">
            <a:xfrm>
              <a:off x="1317" y="138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T</a:t>
              </a:r>
            </a:p>
          </p:txBody>
        </p:sp>
        <p:sp>
          <p:nvSpPr>
            <p:cNvPr id="57439" name="Rectangle 28">
              <a:extLst>
                <a:ext uri="{FF2B5EF4-FFF2-40B4-BE49-F238E27FC236}">
                  <a16:creationId xmlns:a16="http://schemas.microsoft.com/office/drawing/2014/main" id="{0B5A9319-6F1F-8043-88E6-18ED7BFE26D8}"/>
                </a:ext>
              </a:extLst>
            </p:cNvPr>
            <p:cNvSpPr>
              <a:spLocks noChangeArrowheads="1"/>
            </p:cNvSpPr>
            <p:nvPr/>
          </p:nvSpPr>
          <p:spPr bwMode="auto">
            <a:xfrm>
              <a:off x="1509" y="138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T</a:t>
              </a:r>
            </a:p>
          </p:txBody>
        </p:sp>
        <p:sp>
          <p:nvSpPr>
            <p:cNvPr id="57440" name="Rectangle 29">
              <a:extLst>
                <a:ext uri="{FF2B5EF4-FFF2-40B4-BE49-F238E27FC236}">
                  <a16:creationId xmlns:a16="http://schemas.microsoft.com/office/drawing/2014/main" id="{CDDCC5E4-143C-244B-BEEB-165D919981D2}"/>
                </a:ext>
              </a:extLst>
            </p:cNvPr>
            <p:cNvSpPr>
              <a:spLocks noChangeArrowheads="1"/>
            </p:cNvSpPr>
            <p:nvPr/>
          </p:nvSpPr>
          <p:spPr bwMode="auto">
            <a:xfrm>
              <a:off x="1701" y="138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T</a:t>
              </a:r>
            </a:p>
          </p:txBody>
        </p:sp>
        <p:sp>
          <p:nvSpPr>
            <p:cNvPr id="57441" name="Rectangle 30">
              <a:extLst>
                <a:ext uri="{FF2B5EF4-FFF2-40B4-BE49-F238E27FC236}">
                  <a16:creationId xmlns:a16="http://schemas.microsoft.com/office/drawing/2014/main" id="{F1DC3239-FA7A-1941-9BDD-5D24079764D4}"/>
                </a:ext>
              </a:extLst>
            </p:cNvPr>
            <p:cNvSpPr>
              <a:spLocks noChangeArrowheads="1"/>
            </p:cNvSpPr>
            <p:nvPr/>
          </p:nvSpPr>
          <p:spPr bwMode="auto">
            <a:xfrm>
              <a:off x="1893" y="138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T</a:t>
              </a:r>
            </a:p>
          </p:txBody>
        </p:sp>
        <p:sp>
          <p:nvSpPr>
            <p:cNvPr id="57442" name="Rectangle 31">
              <a:extLst>
                <a:ext uri="{FF2B5EF4-FFF2-40B4-BE49-F238E27FC236}">
                  <a16:creationId xmlns:a16="http://schemas.microsoft.com/office/drawing/2014/main" id="{49861F6B-C79F-C94E-B8D9-10CC4F8D624C}"/>
                </a:ext>
              </a:extLst>
            </p:cNvPr>
            <p:cNvSpPr>
              <a:spLocks noChangeArrowheads="1"/>
            </p:cNvSpPr>
            <p:nvPr/>
          </p:nvSpPr>
          <p:spPr bwMode="auto">
            <a:xfrm>
              <a:off x="2085" y="138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N</a:t>
              </a:r>
            </a:p>
          </p:txBody>
        </p:sp>
        <p:sp>
          <p:nvSpPr>
            <p:cNvPr id="57443" name="Rectangle 32">
              <a:extLst>
                <a:ext uri="{FF2B5EF4-FFF2-40B4-BE49-F238E27FC236}">
                  <a16:creationId xmlns:a16="http://schemas.microsoft.com/office/drawing/2014/main" id="{A296596A-8F01-F943-9A5B-811827D95047}"/>
                </a:ext>
              </a:extLst>
            </p:cNvPr>
            <p:cNvSpPr>
              <a:spLocks noChangeArrowheads="1"/>
            </p:cNvSpPr>
            <p:nvPr/>
          </p:nvSpPr>
          <p:spPr bwMode="auto">
            <a:xfrm>
              <a:off x="2277" y="138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T</a:t>
              </a:r>
            </a:p>
          </p:txBody>
        </p:sp>
        <p:sp>
          <p:nvSpPr>
            <p:cNvPr id="57444" name="Rectangle 33">
              <a:extLst>
                <a:ext uri="{FF2B5EF4-FFF2-40B4-BE49-F238E27FC236}">
                  <a16:creationId xmlns:a16="http://schemas.microsoft.com/office/drawing/2014/main" id="{F6362423-2CAF-E040-AE75-18E3746E3D18}"/>
                </a:ext>
              </a:extLst>
            </p:cNvPr>
            <p:cNvSpPr>
              <a:spLocks noChangeArrowheads="1"/>
            </p:cNvSpPr>
            <p:nvPr/>
          </p:nvSpPr>
          <p:spPr bwMode="auto">
            <a:xfrm>
              <a:off x="2469" y="138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T</a:t>
              </a:r>
            </a:p>
          </p:txBody>
        </p:sp>
        <p:sp>
          <p:nvSpPr>
            <p:cNvPr id="57445" name="Rectangle 34">
              <a:extLst>
                <a:ext uri="{FF2B5EF4-FFF2-40B4-BE49-F238E27FC236}">
                  <a16:creationId xmlns:a16="http://schemas.microsoft.com/office/drawing/2014/main" id="{276EF5D2-A662-8A49-964F-59F344032C00}"/>
                </a:ext>
              </a:extLst>
            </p:cNvPr>
            <p:cNvSpPr>
              <a:spLocks noChangeArrowheads="1"/>
            </p:cNvSpPr>
            <p:nvPr/>
          </p:nvSpPr>
          <p:spPr bwMode="auto">
            <a:xfrm>
              <a:off x="2661" y="138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N</a:t>
              </a:r>
            </a:p>
          </p:txBody>
        </p:sp>
        <p:sp>
          <p:nvSpPr>
            <p:cNvPr id="57446" name="Rectangle 35">
              <a:extLst>
                <a:ext uri="{FF2B5EF4-FFF2-40B4-BE49-F238E27FC236}">
                  <a16:creationId xmlns:a16="http://schemas.microsoft.com/office/drawing/2014/main" id="{1FC46CF2-AC45-354B-9F69-4F2D65EB6F1D}"/>
                </a:ext>
              </a:extLst>
            </p:cNvPr>
            <p:cNvSpPr>
              <a:spLocks noChangeArrowheads="1"/>
            </p:cNvSpPr>
            <p:nvPr/>
          </p:nvSpPr>
          <p:spPr bwMode="auto">
            <a:xfrm>
              <a:off x="2853" y="138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N</a:t>
              </a:r>
            </a:p>
          </p:txBody>
        </p:sp>
        <p:sp>
          <p:nvSpPr>
            <p:cNvPr id="57447" name="Rectangle 36">
              <a:extLst>
                <a:ext uri="{FF2B5EF4-FFF2-40B4-BE49-F238E27FC236}">
                  <a16:creationId xmlns:a16="http://schemas.microsoft.com/office/drawing/2014/main" id="{E201AA27-DF9B-8F43-8746-E7AAE2451FAE}"/>
                </a:ext>
              </a:extLst>
            </p:cNvPr>
            <p:cNvSpPr>
              <a:spLocks noChangeArrowheads="1"/>
            </p:cNvSpPr>
            <p:nvPr/>
          </p:nvSpPr>
          <p:spPr bwMode="auto">
            <a:xfrm>
              <a:off x="3045" y="138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N</a:t>
              </a:r>
            </a:p>
          </p:txBody>
        </p:sp>
        <p:sp>
          <p:nvSpPr>
            <p:cNvPr id="57448" name="Rectangle 37">
              <a:extLst>
                <a:ext uri="{FF2B5EF4-FFF2-40B4-BE49-F238E27FC236}">
                  <a16:creationId xmlns:a16="http://schemas.microsoft.com/office/drawing/2014/main" id="{E6E1BC6B-21B3-6C4C-9019-8B7DD879A560}"/>
                </a:ext>
              </a:extLst>
            </p:cNvPr>
            <p:cNvSpPr>
              <a:spLocks noChangeArrowheads="1"/>
            </p:cNvSpPr>
            <p:nvPr/>
          </p:nvSpPr>
          <p:spPr bwMode="auto">
            <a:xfrm>
              <a:off x="3237" y="138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N</a:t>
              </a:r>
            </a:p>
          </p:txBody>
        </p:sp>
        <p:sp>
          <p:nvSpPr>
            <p:cNvPr id="57449" name="Rectangle 38">
              <a:extLst>
                <a:ext uri="{FF2B5EF4-FFF2-40B4-BE49-F238E27FC236}">
                  <a16:creationId xmlns:a16="http://schemas.microsoft.com/office/drawing/2014/main" id="{516FC691-2974-6244-B584-B11C99EF8569}"/>
                </a:ext>
              </a:extLst>
            </p:cNvPr>
            <p:cNvSpPr>
              <a:spLocks noChangeArrowheads="1"/>
            </p:cNvSpPr>
            <p:nvPr/>
          </p:nvSpPr>
          <p:spPr bwMode="auto">
            <a:xfrm>
              <a:off x="3429" y="138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N</a:t>
              </a:r>
            </a:p>
          </p:txBody>
        </p:sp>
        <p:sp>
          <p:nvSpPr>
            <p:cNvPr id="57450" name="Rectangle 39">
              <a:extLst>
                <a:ext uri="{FF2B5EF4-FFF2-40B4-BE49-F238E27FC236}">
                  <a16:creationId xmlns:a16="http://schemas.microsoft.com/office/drawing/2014/main" id="{D4C7696F-ECC3-1043-AB9B-EC35EBC76584}"/>
                </a:ext>
              </a:extLst>
            </p:cNvPr>
            <p:cNvSpPr>
              <a:spLocks noChangeArrowheads="1"/>
            </p:cNvSpPr>
            <p:nvPr/>
          </p:nvSpPr>
          <p:spPr bwMode="auto">
            <a:xfrm>
              <a:off x="3621" y="138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N</a:t>
              </a:r>
            </a:p>
          </p:txBody>
        </p:sp>
        <p:sp>
          <p:nvSpPr>
            <p:cNvPr id="57451" name="Rectangle 40">
              <a:extLst>
                <a:ext uri="{FF2B5EF4-FFF2-40B4-BE49-F238E27FC236}">
                  <a16:creationId xmlns:a16="http://schemas.microsoft.com/office/drawing/2014/main" id="{3FFC5158-828B-F44D-A0F6-3FE2A392B620}"/>
                </a:ext>
              </a:extLst>
            </p:cNvPr>
            <p:cNvSpPr>
              <a:spLocks noChangeArrowheads="1"/>
            </p:cNvSpPr>
            <p:nvPr/>
          </p:nvSpPr>
          <p:spPr bwMode="auto">
            <a:xfrm>
              <a:off x="3813" y="138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N</a:t>
              </a:r>
            </a:p>
          </p:txBody>
        </p:sp>
        <p:sp>
          <p:nvSpPr>
            <p:cNvPr id="57452" name="Rectangle 41">
              <a:extLst>
                <a:ext uri="{FF2B5EF4-FFF2-40B4-BE49-F238E27FC236}">
                  <a16:creationId xmlns:a16="http://schemas.microsoft.com/office/drawing/2014/main" id="{B2AAADF5-9FBF-7447-891D-D5B673DB1C05}"/>
                </a:ext>
              </a:extLst>
            </p:cNvPr>
            <p:cNvSpPr>
              <a:spLocks noChangeArrowheads="1"/>
            </p:cNvSpPr>
            <p:nvPr/>
          </p:nvSpPr>
          <p:spPr bwMode="auto">
            <a:xfrm>
              <a:off x="4005" y="138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N</a:t>
              </a:r>
            </a:p>
          </p:txBody>
        </p:sp>
        <p:sp>
          <p:nvSpPr>
            <p:cNvPr id="57453" name="Rectangle 42">
              <a:extLst>
                <a:ext uri="{FF2B5EF4-FFF2-40B4-BE49-F238E27FC236}">
                  <a16:creationId xmlns:a16="http://schemas.microsoft.com/office/drawing/2014/main" id="{6D0FD172-1E83-7746-943F-792675777ABE}"/>
                </a:ext>
              </a:extLst>
            </p:cNvPr>
            <p:cNvSpPr>
              <a:spLocks noChangeArrowheads="1"/>
            </p:cNvSpPr>
            <p:nvPr/>
          </p:nvSpPr>
          <p:spPr bwMode="auto">
            <a:xfrm>
              <a:off x="4197" y="138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T</a:t>
              </a:r>
            </a:p>
          </p:txBody>
        </p:sp>
        <p:sp>
          <p:nvSpPr>
            <p:cNvPr id="57454" name="Rectangle 43">
              <a:extLst>
                <a:ext uri="{FF2B5EF4-FFF2-40B4-BE49-F238E27FC236}">
                  <a16:creationId xmlns:a16="http://schemas.microsoft.com/office/drawing/2014/main" id="{D81B03C0-7F96-804B-B86A-6CEA4AEAE479}"/>
                </a:ext>
              </a:extLst>
            </p:cNvPr>
            <p:cNvSpPr>
              <a:spLocks noChangeArrowheads="1"/>
            </p:cNvSpPr>
            <p:nvPr/>
          </p:nvSpPr>
          <p:spPr bwMode="auto">
            <a:xfrm>
              <a:off x="4389" y="138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T</a:t>
              </a:r>
            </a:p>
          </p:txBody>
        </p:sp>
        <p:sp>
          <p:nvSpPr>
            <p:cNvPr id="57455" name="Rectangle 44">
              <a:extLst>
                <a:ext uri="{FF2B5EF4-FFF2-40B4-BE49-F238E27FC236}">
                  <a16:creationId xmlns:a16="http://schemas.microsoft.com/office/drawing/2014/main" id="{3EFB3F7E-B8B9-CE45-888D-8E39820934CB}"/>
                </a:ext>
              </a:extLst>
            </p:cNvPr>
            <p:cNvSpPr>
              <a:spLocks noChangeArrowheads="1"/>
            </p:cNvSpPr>
            <p:nvPr/>
          </p:nvSpPr>
          <p:spPr bwMode="auto">
            <a:xfrm>
              <a:off x="1142"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56" name="Rectangle 45">
              <a:extLst>
                <a:ext uri="{FF2B5EF4-FFF2-40B4-BE49-F238E27FC236}">
                  <a16:creationId xmlns:a16="http://schemas.microsoft.com/office/drawing/2014/main" id="{1ED3527F-CB62-1A49-A6E4-4C6E6D33FC99}"/>
                </a:ext>
              </a:extLst>
            </p:cNvPr>
            <p:cNvSpPr>
              <a:spLocks noChangeArrowheads="1"/>
            </p:cNvSpPr>
            <p:nvPr/>
          </p:nvSpPr>
          <p:spPr bwMode="auto">
            <a:xfrm>
              <a:off x="1334"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57" name="Rectangle 46">
              <a:extLst>
                <a:ext uri="{FF2B5EF4-FFF2-40B4-BE49-F238E27FC236}">
                  <a16:creationId xmlns:a16="http://schemas.microsoft.com/office/drawing/2014/main" id="{9B01680F-BD07-8248-AFCC-9CE1090697DB}"/>
                </a:ext>
              </a:extLst>
            </p:cNvPr>
            <p:cNvSpPr>
              <a:spLocks noChangeArrowheads="1"/>
            </p:cNvSpPr>
            <p:nvPr/>
          </p:nvSpPr>
          <p:spPr bwMode="auto">
            <a:xfrm>
              <a:off x="1526"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58" name="Rectangle 47">
              <a:extLst>
                <a:ext uri="{FF2B5EF4-FFF2-40B4-BE49-F238E27FC236}">
                  <a16:creationId xmlns:a16="http://schemas.microsoft.com/office/drawing/2014/main" id="{AD31F2C1-9756-B545-8714-5732FCA72EB9}"/>
                </a:ext>
              </a:extLst>
            </p:cNvPr>
            <p:cNvSpPr>
              <a:spLocks noChangeArrowheads="1"/>
            </p:cNvSpPr>
            <p:nvPr/>
          </p:nvSpPr>
          <p:spPr bwMode="auto">
            <a:xfrm>
              <a:off x="1718"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59" name="Rectangle 48">
              <a:extLst>
                <a:ext uri="{FF2B5EF4-FFF2-40B4-BE49-F238E27FC236}">
                  <a16:creationId xmlns:a16="http://schemas.microsoft.com/office/drawing/2014/main" id="{9ABCC16F-82F4-1342-8367-65645670CA92}"/>
                </a:ext>
              </a:extLst>
            </p:cNvPr>
            <p:cNvSpPr>
              <a:spLocks noChangeArrowheads="1"/>
            </p:cNvSpPr>
            <p:nvPr/>
          </p:nvSpPr>
          <p:spPr bwMode="auto">
            <a:xfrm>
              <a:off x="1910"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60" name="Rectangle 49">
              <a:extLst>
                <a:ext uri="{FF2B5EF4-FFF2-40B4-BE49-F238E27FC236}">
                  <a16:creationId xmlns:a16="http://schemas.microsoft.com/office/drawing/2014/main" id="{C5C0EA75-FB75-794F-857D-0D53BE9CA5AC}"/>
                </a:ext>
              </a:extLst>
            </p:cNvPr>
            <p:cNvSpPr>
              <a:spLocks noChangeArrowheads="1"/>
            </p:cNvSpPr>
            <p:nvPr/>
          </p:nvSpPr>
          <p:spPr bwMode="auto">
            <a:xfrm>
              <a:off x="2102"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461" name="Rectangle 50">
              <a:extLst>
                <a:ext uri="{FF2B5EF4-FFF2-40B4-BE49-F238E27FC236}">
                  <a16:creationId xmlns:a16="http://schemas.microsoft.com/office/drawing/2014/main" id="{01F1F8D6-9FE2-5549-866E-82CFC60CAAB5}"/>
                </a:ext>
              </a:extLst>
            </p:cNvPr>
            <p:cNvSpPr>
              <a:spLocks noChangeArrowheads="1"/>
            </p:cNvSpPr>
            <p:nvPr/>
          </p:nvSpPr>
          <p:spPr bwMode="auto">
            <a:xfrm>
              <a:off x="2294"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62" name="Rectangle 51">
              <a:extLst>
                <a:ext uri="{FF2B5EF4-FFF2-40B4-BE49-F238E27FC236}">
                  <a16:creationId xmlns:a16="http://schemas.microsoft.com/office/drawing/2014/main" id="{CFDCA4C2-AE11-C349-975F-FFDAC0E8C529}"/>
                </a:ext>
              </a:extLst>
            </p:cNvPr>
            <p:cNvSpPr>
              <a:spLocks noChangeArrowheads="1"/>
            </p:cNvSpPr>
            <p:nvPr/>
          </p:nvSpPr>
          <p:spPr bwMode="auto">
            <a:xfrm>
              <a:off x="2486"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11</a:t>
              </a:r>
            </a:p>
          </p:txBody>
        </p:sp>
        <p:sp>
          <p:nvSpPr>
            <p:cNvPr id="57463" name="Rectangle 52">
              <a:extLst>
                <a:ext uri="{FF2B5EF4-FFF2-40B4-BE49-F238E27FC236}">
                  <a16:creationId xmlns:a16="http://schemas.microsoft.com/office/drawing/2014/main" id="{2FF1F0BF-04E3-4A48-8535-58298DC47F7F}"/>
                </a:ext>
              </a:extLst>
            </p:cNvPr>
            <p:cNvSpPr>
              <a:spLocks noChangeArrowheads="1"/>
            </p:cNvSpPr>
            <p:nvPr/>
          </p:nvSpPr>
          <p:spPr bwMode="auto">
            <a:xfrm>
              <a:off x="2678"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464" name="Rectangle 53">
              <a:extLst>
                <a:ext uri="{FF2B5EF4-FFF2-40B4-BE49-F238E27FC236}">
                  <a16:creationId xmlns:a16="http://schemas.microsoft.com/office/drawing/2014/main" id="{448BD609-0F61-704E-A859-4BD116445B66}"/>
                </a:ext>
              </a:extLst>
            </p:cNvPr>
            <p:cNvSpPr>
              <a:spLocks noChangeArrowheads="1"/>
            </p:cNvSpPr>
            <p:nvPr/>
          </p:nvSpPr>
          <p:spPr bwMode="auto">
            <a:xfrm>
              <a:off x="2870"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65" name="Rectangle 54">
              <a:extLst>
                <a:ext uri="{FF2B5EF4-FFF2-40B4-BE49-F238E27FC236}">
                  <a16:creationId xmlns:a16="http://schemas.microsoft.com/office/drawing/2014/main" id="{35BFDD4B-12E8-2541-A0F2-705D6260561C}"/>
                </a:ext>
              </a:extLst>
            </p:cNvPr>
            <p:cNvSpPr>
              <a:spLocks noChangeArrowheads="1"/>
            </p:cNvSpPr>
            <p:nvPr/>
          </p:nvSpPr>
          <p:spPr bwMode="auto">
            <a:xfrm>
              <a:off x="3062"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00</a:t>
              </a:r>
            </a:p>
          </p:txBody>
        </p:sp>
        <p:sp>
          <p:nvSpPr>
            <p:cNvPr id="57466" name="Rectangle 55">
              <a:extLst>
                <a:ext uri="{FF2B5EF4-FFF2-40B4-BE49-F238E27FC236}">
                  <a16:creationId xmlns:a16="http://schemas.microsoft.com/office/drawing/2014/main" id="{35A3810C-CFDE-7E42-AB41-95401C60D77E}"/>
                </a:ext>
              </a:extLst>
            </p:cNvPr>
            <p:cNvSpPr>
              <a:spLocks noChangeArrowheads="1"/>
            </p:cNvSpPr>
            <p:nvPr/>
          </p:nvSpPr>
          <p:spPr bwMode="auto">
            <a:xfrm>
              <a:off x="3254"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00</a:t>
              </a:r>
            </a:p>
          </p:txBody>
        </p:sp>
        <p:sp>
          <p:nvSpPr>
            <p:cNvPr id="57467" name="Rectangle 56">
              <a:extLst>
                <a:ext uri="{FF2B5EF4-FFF2-40B4-BE49-F238E27FC236}">
                  <a16:creationId xmlns:a16="http://schemas.microsoft.com/office/drawing/2014/main" id="{9AF9A653-4772-EA4F-A00A-24141630FDD8}"/>
                </a:ext>
              </a:extLst>
            </p:cNvPr>
            <p:cNvSpPr>
              <a:spLocks noChangeArrowheads="1"/>
            </p:cNvSpPr>
            <p:nvPr/>
          </p:nvSpPr>
          <p:spPr bwMode="auto">
            <a:xfrm>
              <a:off x="3446"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00</a:t>
              </a:r>
            </a:p>
          </p:txBody>
        </p:sp>
        <p:sp>
          <p:nvSpPr>
            <p:cNvPr id="57468" name="Rectangle 57">
              <a:extLst>
                <a:ext uri="{FF2B5EF4-FFF2-40B4-BE49-F238E27FC236}">
                  <a16:creationId xmlns:a16="http://schemas.microsoft.com/office/drawing/2014/main" id="{7D3F623D-982D-034B-BC63-79D3FDE9F5FE}"/>
                </a:ext>
              </a:extLst>
            </p:cNvPr>
            <p:cNvSpPr>
              <a:spLocks noChangeArrowheads="1"/>
            </p:cNvSpPr>
            <p:nvPr/>
          </p:nvSpPr>
          <p:spPr bwMode="auto">
            <a:xfrm>
              <a:off x="3638"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00</a:t>
              </a:r>
            </a:p>
          </p:txBody>
        </p:sp>
        <p:sp>
          <p:nvSpPr>
            <p:cNvPr id="57469" name="Rectangle 58">
              <a:extLst>
                <a:ext uri="{FF2B5EF4-FFF2-40B4-BE49-F238E27FC236}">
                  <a16:creationId xmlns:a16="http://schemas.microsoft.com/office/drawing/2014/main" id="{9279302F-4760-FC41-904D-BB977180A2C9}"/>
                </a:ext>
              </a:extLst>
            </p:cNvPr>
            <p:cNvSpPr>
              <a:spLocks noChangeArrowheads="1"/>
            </p:cNvSpPr>
            <p:nvPr/>
          </p:nvSpPr>
          <p:spPr bwMode="auto">
            <a:xfrm>
              <a:off x="3830"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00</a:t>
              </a:r>
            </a:p>
          </p:txBody>
        </p:sp>
        <p:sp>
          <p:nvSpPr>
            <p:cNvPr id="57470" name="Rectangle 59">
              <a:extLst>
                <a:ext uri="{FF2B5EF4-FFF2-40B4-BE49-F238E27FC236}">
                  <a16:creationId xmlns:a16="http://schemas.microsoft.com/office/drawing/2014/main" id="{2FDBEBCF-7CC3-8749-AFD8-1D4EE4B3A53D}"/>
                </a:ext>
              </a:extLst>
            </p:cNvPr>
            <p:cNvSpPr>
              <a:spLocks noChangeArrowheads="1"/>
            </p:cNvSpPr>
            <p:nvPr/>
          </p:nvSpPr>
          <p:spPr bwMode="auto">
            <a:xfrm>
              <a:off x="4022"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00</a:t>
              </a:r>
            </a:p>
          </p:txBody>
        </p:sp>
        <p:sp>
          <p:nvSpPr>
            <p:cNvPr id="57471" name="Rectangle 60">
              <a:extLst>
                <a:ext uri="{FF2B5EF4-FFF2-40B4-BE49-F238E27FC236}">
                  <a16:creationId xmlns:a16="http://schemas.microsoft.com/office/drawing/2014/main" id="{89DC6429-6300-C149-A8BB-AD050947E12C}"/>
                </a:ext>
              </a:extLst>
            </p:cNvPr>
            <p:cNvSpPr>
              <a:spLocks noChangeArrowheads="1"/>
            </p:cNvSpPr>
            <p:nvPr/>
          </p:nvSpPr>
          <p:spPr bwMode="auto">
            <a:xfrm>
              <a:off x="4214"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72" name="Rectangle 61">
              <a:extLst>
                <a:ext uri="{FF2B5EF4-FFF2-40B4-BE49-F238E27FC236}">
                  <a16:creationId xmlns:a16="http://schemas.microsoft.com/office/drawing/2014/main" id="{71F0841F-052C-8146-B297-E2B6136C35E4}"/>
                </a:ext>
              </a:extLst>
            </p:cNvPr>
            <p:cNvSpPr>
              <a:spLocks noChangeArrowheads="1"/>
            </p:cNvSpPr>
            <p:nvPr/>
          </p:nvSpPr>
          <p:spPr bwMode="auto">
            <a:xfrm>
              <a:off x="4406"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473" name="Rectangle 62">
              <a:extLst>
                <a:ext uri="{FF2B5EF4-FFF2-40B4-BE49-F238E27FC236}">
                  <a16:creationId xmlns:a16="http://schemas.microsoft.com/office/drawing/2014/main" id="{A2109015-2CAF-8042-A27E-7B5683A563ED}"/>
                </a:ext>
              </a:extLst>
            </p:cNvPr>
            <p:cNvSpPr>
              <a:spLocks noChangeArrowheads="1"/>
            </p:cNvSpPr>
            <p:nvPr/>
          </p:nvSpPr>
          <p:spPr bwMode="auto">
            <a:xfrm>
              <a:off x="950" y="18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grpSp>
      <p:sp>
        <p:nvSpPr>
          <p:cNvPr id="57350" name="Rectangle 63">
            <a:extLst>
              <a:ext uri="{FF2B5EF4-FFF2-40B4-BE49-F238E27FC236}">
                <a16:creationId xmlns:a16="http://schemas.microsoft.com/office/drawing/2014/main" id="{F271BC5A-9C0F-E944-ADB8-D1BA31B0C807}"/>
              </a:ext>
            </a:extLst>
          </p:cNvPr>
          <p:cNvSpPr>
            <a:spLocks noChangeArrowheads="1"/>
          </p:cNvSpPr>
          <p:nvPr/>
        </p:nvSpPr>
        <p:spPr bwMode="auto">
          <a:xfrm>
            <a:off x="2193925" y="3375025"/>
            <a:ext cx="3727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5 </a:t>
            </a:r>
            <a:r>
              <a:rPr lang="en-US" altLang="en-US" sz="1400" u="sng">
                <a:latin typeface="Arial" panose="020B0604020202020204" pitchFamily="34" charset="0"/>
              </a:rPr>
              <a:t>mispredictions</a:t>
            </a:r>
            <a:r>
              <a:rPr lang="en-US" altLang="en-US" sz="1400">
                <a:latin typeface="Arial" panose="020B0604020202020204" pitchFamily="34" charset="0"/>
              </a:rPr>
              <a:t> out of 19 branch executions</a:t>
            </a:r>
          </a:p>
        </p:txBody>
      </p:sp>
      <p:sp>
        <p:nvSpPr>
          <p:cNvPr id="57351" name="Rectangle 64">
            <a:extLst>
              <a:ext uri="{FF2B5EF4-FFF2-40B4-BE49-F238E27FC236}">
                <a16:creationId xmlns:a16="http://schemas.microsoft.com/office/drawing/2014/main" id="{A8E944A0-C231-0B4E-B5B7-D518084D043A}"/>
              </a:ext>
            </a:extLst>
          </p:cNvPr>
          <p:cNvSpPr>
            <a:spLocks noChangeArrowheads="1"/>
          </p:cNvSpPr>
          <p:nvPr/>
        </p:nvSpPr>
        <p:spPr bwMode="auto">
          <a:xfrm>
            <a:off x="1584325" y="4098925"/>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T</a:t>
            </a:r>
          </a:p>
        </p:txBody>
      </p:sp>
      <p:sp>
        <p:nvSpPr>
          <p:cNvPr id="57352" name="Rectangle 65">
            <a:extLst>
              <a:ext uri="{FF2B5EF4-FFF2-40B4-BE49-F238E27FC236}">
                <a16:creationId xmlns:a16="http://schemas.microsoft.com/office/drawing/2014/main" id="{16928589-075E-8244-B97B-66FA79326CE1}"/>
              </a:ext>
            </a:extLst>
          </p:cNvPr>
          <p:cNvSpPr>
            <a:spLocks noChangeArrowheads="1"/>
          </p:cNvSpPr>
          <p:nvPr/>
        </p:nvSpPr>
        <p:spPr bwMode="auto">
          <a:xfrm>
            <a:off x="1862138" y="409892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N</a:t>
            </a:r>
          </a:p>
        </p:txBody>
      </p:sp>
      <p:sp>
        <p:nvSpPr>
          <p:cNvPr id="57353" name="Rectangle 66">
            <a:extLst>
              <a:ext uri="{FF2B5EF4-FFF2-40B4-BE49-F238E27FC236}">
                <a16:creationId xmlns:a16="http://schemas.microsoft.com/office/drawing/2014/main" id="{3313F513-68B4-4A42-A07D-049C08DD78FF}"/>
              </a:ext>
            </a:extLst>
          </p:cNvPr>
          <p:cNvSpPr>
            <a:spLocks noChangeArrowheads="1"/>
          </p:cNvSpPr>
          <p:nvPr/>
        </p:nvSpPr>
        <p:spPr bwMode="auto">
          <a:xfrm>
            <a:off x="2166938" y="409892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T</a:t>
            </a:r>
          </a:p>
        </p:txBody>
      </p:sp>
      <p:sp>
        <p:nvSpPr>
          <p:cNvPr id="57354" name="Rectangle 67">
            <a:extLst>
              <a:ext uri="{FF2B5EF4-FFF2-40B4-BE49-F238E27FC236}">
                <a16:creationId xmlns:a16="http://schemas.microsoft.com/office/drawing/2014/main" id="{D75CABAD-FCAA-8145-B450-000658D08963}"/>
              </a:ext>
            </a:extLst>
          </p:cNvPr>
          <p:cNvSpPr>
            <a:spLocks noChangeArrowheads="1"/>
          </p:cNvSpPr>
          <p:nvPr/>
        </p:nvSpPr>
        <p:spPr bwMode="auto">
          <a:xfrm>
            <a:off x="2471738" y="409892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N</a:t>
            </a:r>
          </a:p>
        </p:txBody>
      </p:sp>
      <p:sp>
        <p:nvSpPr>
          <p:cNvPr id="57355" name="Rectangle 68">
            <a:extLst>
              <a:ext uri="{FF2B5EF4-FFF2-40B4-BE49-F238E27FC236}">
                <a16:creationId xmlns:a16="http://schemas.microsoft.com/office/drawing/2014/main" id="{A9DC7A52-7E63-3047-9B43-BA92E886A34C}"/>
              </a:ext>
            </a:extLst>
          </p:cNvPr>
          <p:cNvSpPr>
            <a:spLocks noChangeArrowheads="1"/>
          </p:cNvSpPr>
          <p:nvPr/>
        </p:nvSpPr>
        <p:spPr bwMode="auto">
          <a:xfrm>
            <a:off x="2776538" y="409892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T</a:t>
            </a:r>
          </a:p>
        </p:txBody>
      </p:sp>
      <p:sp>
        <p:nvSpPr>
          <p:cNvPr id="57356" name="Rectangle 69">
            <a:extLst>
              <a:ext uri="{FF2B5EF4-FFF2-40B4-BE49-F238E27FC236}">
                <a16:creationId xmlns:a16="http://schemas.microsoft.com/office/drawing/2014/main" id="{3C5B4469-1F23-B041-97D9-7C1785D9792B}"/>
              </a:ext>
            </a:extLst>
          </p:cNvPr>
          <p:cNvSpPr>
            <a:spLocks noChangeArrowheads="1"/>
          </p:cNvSpPr>
          <p:nvPr/>
        </p:nvSpPr>
        <p:spPr bwMode="auto">
          <a:xfrm>
            <a:off x="3081338" y="409892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N</a:t>
            </a:r>
          </a:p>
        </p:txBody>
      </p:sp>
      <p:sp>
        <p:nvSpPr>
          <p:cNvPr id="57357" name="Rectangle 70">
            <a:extLst>
              <a:ext uri="{FF2B5EF4-FFF2-40B4-BE49-F238E27FC236}">
                <a16:creationId xmlns:a16="http://schemas.microsoft.com/office/drawing/2014/main" id="{A35B0883-27E8-4546-8AAA-8A11FB76C9CA}"/>
              </a:ext>
            </a:extLst>
          </p:cNvPr>
          <p:cNvSpPr>
            <a:spLocks noChangeArrowheads="1"/>
          </p:cNvSpPr>
          <p:nvPr/>
        </p:nvSpPr>
        <p:spPr bwMode="auto">
          <a:xfrm>
            <a:off x="3386138" y="409892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T</a:t>
            </a:r>
          </a:p>
        </p:txBody>
      </p:sp>
      <p:sp>
        <p:nvSpPr>
          <p:cNvPr id="57358" name="Rectangle 71">
            <a:extLst>
              <a:ext uri="{FF2B5EF4-FFF2-40B4-BE49-F238E27FC236}">
                <a16:creationId xmlns:a16="http://schemas.microsoft.com/office/drawing/2014/main" id="{DD49681A-BB18-E34A-A062-02700544DD18}"/>
              </a:ext>
            </a:extLst>
          </p:cNvPr>
          <p:cNvSpPr>
            <a:spLocks noChangeArrowheads="1"/>
          </p:cNvSpPr>
          <p:nvPr/>
        </p:nvSpPr>
        <p:spPr bwMode="auto">
          <a:xfrm>
            <a:off x="3690938" y="409892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N</a:t>
            </a:r>
          </a:p>
        </p:txBody>
      </p:sp>
      <p:sp>
        <p:nvSpPr>
          <p:cNvPr id="57359" name="Rectangle 72">
            <a:extLst>
              <a:ext uri="{FF2B5EF4-FFF2-40B4-BE49-F238E27FC236}">
                <a16:creationId xmlns:a16="http://schemas.microsoft.com/office/drawing/2014/main" id="{9EACA1FE-2AAD-D648-9273-592D112C6101}"/>
              </a:ext>
            </a:extLst>
          </p:cNvPr>
          <p:cNvSpPr>
            <a:spLocks noChangeArrowheads="1"/>
          </p:cNvSpPr>
          <p:nvPr/>
        </p:nvSpPr>
        <p:spPr bwMode="auto">
          <a:xfrm>
            <a:off x="3995738" y="409892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T</a:t>
            </a:r>
          </a:p>
        </p:txBody>
      </p:sp>
      <p:sp>
        <p:nvSpPr>
          <p:cNvPr id="57360" name="Rectangle 73">
            <a:extLst>
              <a:ext uri="{FF2B5EF4-FFF2-40B4-BE49-F238E27FC236}">
                <a16:creationId xmlns:a16="http://schemas.microsoft.com/office/drawing/2014/main" id="{5E773C91-7935-7C40-B0F1-3B2812E5B130}"/>
              </a:ext>
            </a:extLst>
          </p:cNvPr>
          <p:cNvSpPr>
            <a:spLocks noChangeArrowheads="1"/>
          </p:cNvSpPr>
          <p:nvPr/>
        </p:nvSpPr>
        <p:spPr bwMode="auto">
          <a:xfrm>
            <a:off x="4300538" y="409892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N</a:t>
            </a:r>
          </a:p>
        </p:txBody>
      </p:sp>
      <p:sp>
        <p:nvSpPr>
          <p:cNvPr id="57361" name="Rectangle 74">
            <a:extLst>
              <a:ext uri="{FF2B5EF4-FFF2-40B4-BE49-F238E27FC236}">
                <a16:creationId xmlns:a16="http://schemas.microsoft.com/office/drawing/2014/main" id="{39367647-E854-284E-A14A-02E75AF2551D}"/>
              </a:ext>
            </a:extLst>
          </p:cNvPr>
          <p:cNvSpPr>
            <a:spLocks noChangeArrowheads="1"/>
          </p:cNvSpPr>
          <p:nvPr/>
        </p:nvSpPr>
        <p:spPr bwMode="auto">
          <a:xfrm>
            <a:off x="4605338" y="409892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T</a:t>
            </a:r>
          </a:p>
        </p:txBody>
      </p:sp>
      <p:sp>
        <p:nvSpPr>
          <p:cNvPr id="57362" name="Rectangle 75">
            <a:extLst>
              <a:ext uri="{FF2B5EF4-FFF2-40B4-BE49-F238E27FC236}">
                <a16:creationId xmlns:a16="http://schemas.microsoft.com/office/drawing/2014/main" id="{CBADAA35-EC56-D64A-AF5E-90AB078549D2}"/>
              </a:ext>
            </a:extLst>
          </p:cNvPr>
          <p:cNvSpPr>
            <a:spLocks noChangeArrowheads="1"/>
          </p:cNvSpPr>
          <p:nvPr/>
        </p:nvSpPr>
        <p:spPr bwMode="auto">
          <a:xfrm>
            <a:off x="4910138" y="409892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N</a:t>
            </a:r>
          </a:p>
        </p:txBody>
      </p:sp>
      <p:sp>
        <p:nvSpPr>
          <p:cNvPr id="57363" name="Rectangle 76">
            <a:extLst>
              <a:ext uri="{FF2B5EF4-FFF2-40B4-BE49-F238E27FC236}">
                <a16:creationId xmlns:a16="http://schemas.microsoft.com/office/drawing/2014/main" id="{CCAC85AE-65FB-E84B-8F2C-605B42F12B61}"/>
              </a:ext>
            </a:extLst>
          </p:cNvPr>
          <p:cNvSpPr>
            <a:spLocks noChangeArrowheads="1"/>
          </p:cNvSpPr>
          <p:nvPr/>
        </p:nvSpPr>
        <p:spPr bwMode="auto">
          <a:xfrm>
            <a:off x="5214938" y="409892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T</a:t>
            </a:r>
          </a:p>
        </p:txBody>
      </p:sp>
      <p:sp>
        <p:nvSpPr>
          <p:cNvPr id="57364" name="Rectangle 77">
            <a:extLst>
              <a:ext uri="{FF2B5EF4-FFF2-40B4-BE49-F238E27FC236}">
                <a16:creationId xmlns:a16="http://schemas.microsoft.com/office/drawing/2014/main" id="{B885B589-DE70-5947-BF12-7DB59636A94B}"/>
              </a:ext>
            </a:extLst>
          </p:cNvPr>
          <p:cNvSpPr>
            <a:spLocks noChangeArrowheads="1"/>
          </p:cNvSpPr>
          <p:nvPr/>
        </p:nvSpPr>
        <p:spPr bwMode="auto">
          <a:xfrm>
            <a:off x="5519738" y="409892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N</a:t>
            </a:r>
          </a:p>
        </p:txBody>
      </p:sp>
      <p:sp>
        <p:nvSpPr>
          <p:cNvPr id="57365" name="Rectangle 78">
            <a:extLst>
              <a:ext uri="{FF2B5EF4-FFF2-40B4-BE49-F238E27FC236}">
                <a16:creationId xmlns:a16="http://schemas.microsoft.com/office/drawing/2014/main" id="{86262F5E-A941-1244-BD26-A54C576A14CF}"/>
              </a:ext>
            </a:extLst>
          </p:cNvPr>
          <p:cNvSpPr>
            <a:spLocks noChangeArrowheads="1"/>
          </p:cNvSpPr>
          <p:nvPr/>
        </p:nvSpPr>
        <p:spPr bwMode="auto">
          <a:xfrm>
            <a:off x="5824538" y="409892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T</a:t>
            </a:r>
          </a:p>
        </p:txBody>
      </p:sp>
      <p:sp>
        <p:nvSpPr>
          <p:cNvPr id="57366" name="Rectangle 79">
            <a:extLst>
              <a:ext uri="{FF2B5EF4-FFF2-40B4-BE49-F238E27FC236}">
                <a16:creationId xmlns:a16="http://schemas.microsoft.com/office/drawing/2014/main" id="{783AA14A-A883-874F-BD78-F536552F8487}"/>
              </a:ext>
            </a:extLst>
          </p:cNvPr>
          <p:cNvSpPr>
            <a:spLocks noChangeArrowheads="1"/>
          </p:cNvSpPr>
          <p:nvPr/>
        </p:nvSpPr>
        <p:spPr bwMode="auto">
          <a:xfrm>
            <a:off x="6129338" y="409892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N</a:t>
            </a:r>
          </a:p>
        </p:txBody>
      </p:sp>
      <p:sp>
        <p:nvSpPr>
          <p:cNvPr id="57367" name="Rectangle 80">
            <a:extLst>
              <a:ext uri="{FF2B5EF4-FFF2-40B4-BE49-F238E27FC236}">
                <a16:creationId xmlns:a16="http://schemas.microsoft.com/office/drawing/2014/main" id="{9559A985-4F87-774B-89E6-C76A3503227A}"/>
              </a:ext>
            </a:extLst>
          </p:cNvPr>
          <p:cNvSpPr>
            <a:spLocks noChangeArrowheads="1"/>
          </p:cNvSpPr>
          <p:nvPr/>
        </p:nvSpPr>
        <p:spPr bwMode="auto">
          <a:xfrm>
            <a:off x="6434138" y="4098925"/>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T</a:t>
            </a:r>
          </a:p>
        </p:txBody>
      </p:sp>
      <p:sp>
        <p:nvSpPr>
          <p:cNvPr id="57368" name="Rectangle 81">
            <a:extLst>
              <a:ext uri="{FF2B5EF4-FFF2-40B4-BE49-F238E27FC236}">
                <a16:creationId xmlns:a16="http://schemas.microsoft.com/office/drawing/2014/main" id="{EEC01044-14EA-E247-A31A-5C711F520330}"/>
              </a:ext>
            </a:extLst>
          </p:cNvPr>
          <p:cNvSpPr>
            <a:spLocks noChangeArrowheads="1"/>
          </p:cNvSpPr>
          <p:nvPr/>
        </p:nvSpPr>
        <p:spPr bwMode="auto">
          <a:xfrm>
            <a:off x="6738938" y="4098925"/>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u="sng">
                <a:latin typeface="Arial" panose="020B0604020202020204" pitchFamily="34" charset="0"/>
              </a:rPr>
              <a:t>N</a:t>
            </a:r>
          </a:p>
        </p:txBody>
      </p:sp>
      <p:grpSp>
        <p:nvGrpSpPr>
          <p:cNvPr id="57369" name="Group 82">
            <a:extLst>
              <a:ext uri="{FF2B5EF4-FFF2-40B4-BE49-F238E27FC236}">
                <a16:creationId xmlns:a16="http://schemas.microsoft.com/office/drawing/2014/main" id="{7867FD71-D92F-6841-8165-E3ECA9E6EAAB}"/>
              </a:ext>
            </a:extLst>
          </p:cNvPr>
          <p:cNvGrpSpPr>
            <a:grpSpLocks/>
          </p:cNvGrpSpPr>
          <p:nvPr/>
        </p:nvGrpSpPr>
        <p:grpSpPr bwMode="auto">
          <a:xfrm>
            <a:off x="1584325" y="4465638"/>
            <a:ext cx="658813" cy="579437"/>
            <a:chOff x="998" y="2813"/>
            <a:chExt cx="415" cy="365"/>
          </a:xfrm>
        </p:grpSpPr>
        <p:sp>
          <p:nvSpPr>
            <p:cNvPr id="57413" name="Rectangle 83">
              <a:extLst>
                <a:ext uri="{FF2B5EF4-FFF2-40B4-BE49-F238E27FC236}">
                  <a16:creationId xmlns:a16="http://schemas.microsoft.com/office/drawing/2014/main" id="{B0DE72ED-FD08-584A-9C3F-59B2F32671EB}"/>
                </a:ext>
              </a:extLst>
            </p:cNvPr>
            <p:cNvSpPr>
              <a:spLocks noChangeArrowheads="1"/>
            </p:cNvSpPr>
            <p:nvPr/>
          </p:nvSpPr>
          <p:spPr bwMode="auto">
            <a:xfrm>
              <a:off x="998"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14" name="Rectangle 84">
              <a:extLst>
                <a:ext uri="{FF2B5EF4-FFF2-40B4-BE49-F238E27FC236}">
                  <a16:creationId xmlns:a16="http://schemas.microsoft.com/office/drawing/2014/main" id="{6B98DDF8-3087-7248-8DE1-C30A54781F81}"/>
                </a:ext>
              </a:extLst>
            </p:cNvPr>
            <p:cNvSpPr>
              <a:spLocks noChangeArrowheads="1"/>
            </p:cNvSpPr>
            <p:nvPr/>
          </p:nvSpPr>
          <p:spPr bwMode="auto">
            <a:xfrm>
              <a:off x="1190"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415" name="Rectangle 85">
              <a:extLst>
                <a:ext uri="{FF2B5EF4-FFF2-40B4-BE49-F238E27FC236}">
                  <a16:creationId xmlns:a16="http://schemas.microsoft.com/office/drawing/2014/main" id="{62490F51-C73D-144C-ACF7-71197A722968}"/>
                </a:ext>
              </a:extLst>
            </p:cNvPr>
            <p:cNvSpPr>
              <a:spLocks noChangeArrowheads="1"/>
            </p:cNvSpPr>
            <p:nvPr/>
          </p:nvSpPr>
          <p:spPr bwMode="auto">
            <a:xfrm>
              <a:off x="1190"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16" name="Rectangle 86">
              <a:extLst>
                <a:ext uri="{FF2B5EF4-FFF2-40B4-BE49-F238E27FC236}">
                  <a16:creationId xmlns:a16="http://schemas.microsoft.com/office/drawing/2014/main" id="{A88B9DE5-73D6-754E-8CA9-0DFE6AAE19CD}"/>
                </a:ext>
              </a:extLst>
            </p:cNvPr>
            <p:cNvSpPr>
              <a:spLocks noChangeArrowheads="1"/>
            </p:cNvSpPr>
            <p:nvPr/>
          </p:nvSpPr>
          <p:spPr bwMode="auto">
            <a:xfrm>
              <a:off x="998"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grpSp>
      <p:sp>
        <p:nvSpPr>
          <p:cNvPr id="57370" name="Rectangle 87">
            <a:extLst>
              <a:ext uri="{FF2B5EF4-FFF2-40B4-BE49-F238E27FC236}">
                <a16:creationId xmlns:a16="http://schemas.microsoft.com/office/drawing/2014/main" id="{DD3797FD-D2A5-BF45-AB6D-0D13675B5005}"/>
              </a:ext>
            </a:extLst>
          </p:cNvPr>
          <p:cNvSpPr>
            <a:spLocks noChangeArrowheads="1"/>
          </p:cNvSpPr>
          <p:nvPr/>
        </p:nvSpPr>
        <p:spPr bwMode="auto">
          <a:xfrm>
            <a:off x="136525" y="4441825"/>
            <a:ext cx="13001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previous state</a:t>
            </a:r>
          </a:p>
        </p:txBody>
      </p:sp>
      <p:sp>
        <p:nvSpPr>
          <p:cNvPr id="57371" name="Rectangle 88">
            <a:extLst>
              <a:ext uri="{FF2B5EF4-FFF2-40B4-BE49-F238E27FC236}">
                <a16:creationId xmlns:a16="http://schemas.microsoft.com/office/drawing/2014/main" id="{E725F558-9FA1-5C4A-AC9C-BF92847AFB2E}"/>
              </a:ext>
            </a:extLst>
          </p:cNvPr>
          <p:cNvSpPr>
            <a:spLocks noChangeArrowheads="1"/>
          </p:cNvSpPr>
          <p:nvPr/>
        </p:nvSpPr>
        <p:spPr bwMode="auto">
          <a:xfrm>
            <a:off x="136525" y="4746625"/>
            <a:ext cx="952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new state</a:t>
            </a:r>
          </a:p>
        </p:txBody>
      </p:sp>
      <p:grpSp>
        <p:nvGrpSpPr>
          <p:cNvPr id="57372" name="Group 89">
            <a:extLst>
              <a:ext uri="{FF2B5EF4-FFF2-40B4-BE49-F238E27FC236}">
                <a16:creationId xmlns:a16="http://schemas.microsoft.com/office/drawing/2014/main" id="{6118BEB2-7735-8049-9277-007C29CC62FB}"/>
              </a:ext>
            </a:extLst>
          </p:cNvPr>
          <p:cNvGrpSpPr>
            <a:grpSpLocks/>
          </p:cNvGrpSpPr>
          <p:nvPr/>
        </p:nvGrpSpPr>
        <p:grpSpPr bwMode="auto">
          <a:xfrm>
            <a:off x="2193925" y="4465638"/>
            <a:ext cx="658813" cy="579437"/>
            <a:chOff x="1382" y="2813"/>
            <a:chExt cx="415" cy="365"/>
          </a:xfrm>
        </p:grpSpPr>
        <p:sp>
          <p:nvSpPr>
            <p:cNvPr id="57409" name="Rectangle 90">
              <a:extLst>
                <a:ext uri="{FF2B5EF4-FFF2-40B4-BE49-F238E27FC236}">
                  <a16:creationId xmlns:a16="http://schemas.microsoft.com/office/drawing/2014/main" id="{0A9BB9C7-79D4-CC42-980A-471B7816DC5D}"/>
                </a:ext>
              </a:extLst>
            </p:cNvPr>
            <p:cNvSpPr>
              <a:spLocks noChangeArrowheads="1"/>
            </p:cNvSpPr>
            <p:nvPr/>
          </p:nvSpPr>
          <p:spPr bwMode="auto">
            <a:xfrm>
              <a:off x="1382"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10" name="Rectangle 91">
              <a:extLst>
                <a:ext uri="{FF2B5EF4-FFF2-40B4-BE49-F238E27FC236}">
                  <a16:creationId xmlns:a16="http://schemas.microsoft.com/office/drawing/2014/main" id="{06CC484F-2F8E-A449-A578-83A296E0C70D}"/>
                </a:ext>
              </a:extLst>
            </p:cNvPr>
            <p:cNvSpPr>
              <a:spLocks noChangeArrowheads="1"/>
            </p:cNvSpPr>
            <p:nvPr/>
          </p:nvSpPr>
          <p:spPr bwMode="auto">
            <a:xfrm>
              <a:off x="1574"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411" name="Rectangle 92">
              <a:extLst>
                <a:ext uri="{FF2B5EF4-FFF2-40B4-BE49-F238E27FC236}">
                  <a16:creationId xmlns:a16="http://schemas.microsoft.com/office/drawing/2014/main" id="{F46B9157-8FEA-014B-BE26-FF90155226A9}"/>
                </a:ext>
              </a:extLst>
            </p:cNvPr>
            <p:cNvSpPr>
              <a:spLocks noChangeArrowheads="1"/>
            </p:cNvSpPr>
            <p:nvPr/>
          </p:nvSpPr>
          <p:spPr bwMode="auto">
            <a:xfrm>
              <a:off x="1574"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12" name="Rectangle 93">
              <a:extLst>
                <a:ext uri="{FF2B5EF4-FFF2-40B4-BE49-F238E27FC236}">
                  <a16:creationId xmlns:a16="http://schemas.microsoft.com/office/drawing/2014/main" id="{726092BE-A014-4F43-B5D1-02C0332644B0}"/>
                </a:ext>
              </a:extLst>
            </p:cNvPr>
            <p:cNvSpPr>
              <a:spLocks noChangeArrowheads="1"/>
            </p:cNvSpPr>
            <p:nvPr/>
          </p:nvSpPr>
          <p:spPr bwMode="auto">
            <a:xfrm>
              <a:off x="1382"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grpSp>
      <p:sp>
        <p:nvSpPr>
          <p:cNvPr id="57373" name="Rectangle 94">
            <a:extLst>
              <a:ext uri="{FF2B5EF4-FFF2-40B4-BE49-F238E27FC236}">
                <a16:creationId xmlns:a16="http://schemas.microsoft.com/office/drawing/2014/main" id="{97EAC55C-A619-6B41-BE03-E843E64AF5A4}"/>
              </a:ext>
            </a:extLst>
          </p:cNvPr>
          <p:cNvSpPr>
            <a:spLocks noChangeArrowheads="1"/>
          </p:cNvSpPr>
          <p:nvPr/>
        </p:nvSpPr>
        <p:spPr bwMode="auto">
          <a:xfrm>
            <a:off x="2270125" y="5280025"/>
            <a:ext cx="47609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solidFill>
                  <a:schemeClr val="tx1"/>
                </a:solidFill>
                <a:latin typeface="Arial" panose="020B0604020202020204" pitchFamily="34" charset="0"/>
                <a:cs typeface="Arial" panose="020B0604020202020204" pitchFamily="34" charset="0"/>
              </a:rPr>
              <a:t>19 </a:t>
            </a:r>
            <a:r>
              <a:rPr lang="en-US" altLang="en-US" sz="1400">
                <a:latin typeface="Arial" panose="020B0604020202020204" pitchFamily="34" charset="0"/>
                <a:cs typeface="Arial" panose="020B0604020202020204" pitchFamily="34" charset="0"/>
              </a:rPr>
              <a:t>mispredictions</a:t>
            </a:r>
            <a:r>
              <a:rPr lang="en-US" altLang="en-US" sz="1400">
                <a:solidFill>
                  <a:schemeClr val="tx1"/>
                </a:solidFill>
                <a:latin typeface="Arial" panose="020B0604020202020204" pitchFamily="34" charset="0"/>
                <a:cs typeface="Arial" panose="020B0604020202020204" pitchFamily="34" charset="0"/>
              </a:rPr>
              <a:t> out of 19: the infamous </a:t>
            </a:r>
            <a:r>
              <a:rPr lang="ja-JP" altLang="en-US" sz="1400" i="1">
                <a:solidFill>
                  <a:schemeClr val="tx1"/>
                </a:solidFill>
                <a:latin typeface="Arial" panose="020B0604020202020204" pitchFamily="34" charset="0"/>
                <a:cs typeface="Arial" panose="020B0604020202020204" pitchFamily="34" charset="0"/>
              </a:rPr>
              <a:t>“</a:t>
            </a:r>
            <a:r>
              <a:rPr lang="en-US" altLang="ja-JP" sz="1400" i="1">
                <a:solidFill>
                  <a:schemeClr val="tx1"/>
                </a:solidFill>
                <a:latin typeface="Arial" panose="020B0604020202020204" pitchFamily="34" charset="0"/>
                <a:cs typeface="Arial" panose="020B0604020202020204" pitchFamily="34" charset="0"/>
              </a:rPr>
              <a:t>toggle branch</a:t>
            </a:r>
            <a:r>
              <a:rPr lang="ja-JP" altLang="en-US" sz="1400" i="1">
                <a:solidFill>
                  <a:schemeClr val="tx1"/>
                </a:solidFill>
                <a:latin typeface="Arial" panose="020B0604020202020204" pitchFamily="34" charset="0"/>
                <a:cs typeface="Arial" panose="020B0604020202020204" pitchFamily="34" charset="0"/>
              </a:rPr>
              <a:t>”</a:t>
            </a:r>
            <a:endParaRPr lang="en-US" altLang="en-US" sz="1400" i="1">
              <a:solidFill>
                <a:schemeClr val="tx1"/>
              </a:solidFill>
              <a:latin typeface="Arial" panose="020B0604020202020204" pitchFamily="34" charset="0"/>
              <a:cs typeface="Arial" panose="020B0604020202020204" pitchFamily="34" charset="0"/>
            </a:endParaRPr>
          </a:p>
        </p:txBody>
      </p:sp>
      <p:grpSp>
        <p:nvGrpSpPr>
          <p:cNvPr id="57374" name="Group 95">
            <a:extLst>
              <a:ext uri="{FF2B5EF4-FFF2-40B4-BE49-F238E27FC236}">
                <a16:creationId xmlns:a16="http://schemas.microsoft.com/office/drawing/2014/main" id="{670C31C7-EF9D-4848-BAB1-553B58BEDFAE}"/>
              </a:ext>
            </a:extLst>
          </p:cNvPr>
          <p:cNvGrpSpPr>
            <a:grpSpLocks/>
          </p:cNvGrpSpPr>
          <p:nvPr/>
        </p:nvGrpSpPr>
        <p:grpSpPr bwMode="auto">
          <a:xfrm>
            <a:off x="2803525" y="4465638"/>
            <a:ext cx="658813" cy="579437"/>
            <a:chOff x="1766" y="2813"/>
            <a:chExt cx="415" cy="365"/>
          </a:xfrm>
        </p:grpSpPr>
        <p:sp>
          <p:nvSpPr>
            <p:cNvPr id="57405" name="Rectangle 96">
              <a:extLst>
                <a:ext uri="{FF2B5EF4-FFF2-40B4-BE49-F238E27FC236}">
                  <a16:creationId xmlns:a16="http://schemas.microsoft.com/office/drawing/2014/main" id="{A0EF92A7-2969-0F44-990D-C169926C02AC}"/>
                </a:ext>
              </a:extLst>
            </p:cNvPr>
            <p:cNvSpPr>
              <a:spLocks noChangeArrowheads="1"/>
            </p:cNvSpPr>
            <p:nvPr/>
          </p:nvSpPr>
          <p:spPr bwMode="auto">
            <a:xfrm>
              <a:off x="1766"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06" name="Rectangle 97">
              <a:extLst>
                <a:ext uri="{FF2B5EF4-FFF2-40B4-BE49-F238E27FC236}">
                  <a16:creationId xmlns:a16="http://schemas.microsoft.com/office/drawing/2014/main" id="{990D6D5E-CBD8-3646-8A29-4148E7BFEAAE}"/>
                </a:ext>
              </a:extLst>
            </p:cNvPr>
            <p:cNvSpPr>
              <a:spLocks noChangeArrowheads="1"/>
            </p:cNvSpPr>
            <p:nvPr/>
          </p:nvSpPr>
          <p:spPr bwMode="auto">
            <a:xfrm>
              <a:off x="1958"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407" name="Rectangle 98">
              <a:extLst>
                <a:ext uri="{FF2B5EF4-FFF2-40B4-BE49-F238E27FC236}">
                  <a16:creationId xmlns:a16="http://schemas.microsoft.com/office/drawing/2014/main" id="{A324A401-BD22-D24C-99F1-5600DEFA53E2}"/>
                </a:ext>
              </a:extLst>
            </p:cNvPr>
            <p:cNvSpPr>
              <a:spLocks noChangeArrowheads="1"/>
            </p:cNvSpPr>
            <p:nvPr/>
          </p:nvSpPr>
          <p:spPr bwMode="auto">
            <a:xfrm>
              <a:off x="1958"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08" name="Rectangle 99">
              <a:extLst>
                <a:ext uri="{FF2B5EF4-FFF2-40B4-BE49-F238E27FC236}">
                  <a16:creationId xmlns:a16="http://schemas.microsoft.com/office/drawing/2014/main" id="{2EFCE546-C9B6-504C-AB02-E7AA086E51C5}"/>
                </a:ext>
              </a:extLst>
            </p:cNvPr>
            <p:cNvSpPr>
              <a:spLocks noChangeArrowheads="1"/>
            </p:cNvSpPr>
            <p:nvPr/>
          </p:nvSpPr>
          <p:spPr bwMode="auto">
            <a:xfrm>
              <a:off x="1766"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grpSp>
      <p:grpSp>
        <p:nvGrpSpPr>
          <p:cNvPr id="57375" name="Group 100">
            <a:extLst>
              <a:ext uri="{FF2B5EF4-FFF2-40B4-BE49-F238E27FC236}">
                <a16:creationId xmlns:a16="http://schemas.microsoft.com/office/drawing/2014/main" id="{B4BFD7B7-FEFB-E74D-A92E-58143CB5825E}"/>
              </a:ext>
            </a:extLst>
          </p:cNvPr>
          <p:cNvGrpSpPr>
            <a:grpSpLocks/>
          </p:cNvGrpSpPr>
          <p:nvPr/>
        </p:nvGrpSpPr>
        <p:grpSpPr bwMode="auto">
          <a:xfrm>
            <a:off x="3413125" y="4465638"/>
            <a:ext cx="658813" cy="579437"/>
            <a:chOff x="2150" y="2813"/>
            <a:chExt cx="415" cy="365"/>
          </a:xfrm>
        </p:grpSpPr>
        <p:sp>
          <p:nvSpPr>
            <p:cNvPr id="57401" name="Rectangle 101">
              <a:extLst>
                <a:ext uri="{FF2B5EF4-FFF2-40B4-BE49-F238E27FC236}">
                  <a16:creationId xmlns:a16="http://schemas.microsoft.com/office/drawing/2014/main" id="{C4B783DC-4BBB-4848-81FE-994BA149224F}"/>
                </a:ext>
              </a:extLst>
            </p:cNvPr>
            <p:cNvSpPr>
              <a:spLocks noChangeArrowheads="1"/>
            </p:cNvSpPr>
            <p:nvPr/>
          </p:nvSpPr>
          <p:spPr bwMode="auto">
            <a:xfrm>
              <a:off x="2150"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02" name="Rectangle 102">
              <a:extLst>
                <a:ext uri="{FF2B5EF4-FFF2-40B4-BE49-F238E27FC236}">
                  <a16:creationId xmlns:a16="http://schemas.microsoft.com/office/drawing/2014/main" id="{A4D48A64-4961-6F42-A476-E02CF9B33931}"/>
                </a:ext>
              </a:extLst>
            </p:cNvPr>
            <p:cNvSpPr>
              <a:spLocks noChangeArrowheads="1"/>
            </p:cNvSpPr>
            <p:nvPr/>
          </p:nvSpPr>
          <p:spPr bwMode="auto">
            <a:xfrm>
              <a:off x="2342"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403" name="Rectangle 103">
              <a:extLst>
                <a:ext uri="{FF2B5EF4-FFF2-40B4-BE49-F238E27FC236}">
                  <a16:creationId xmlns:a16="http://schemas.microsoft.com/office/drawing/2014/main" id="{A105331B-5130-D245-89ED-E5B2CF2B98C2}"/>
                </a:ext>
              </a:extLst>
            </p:cNvPr>
            <p:cNvSpPr>
              <a:spLocks noChangeArrowheads="1"/>
            </p:cNvSpPr>
            <p:nvPr/>
          </p:nvSpPr>
          <p:spPr bwMode="auto">
            <a:xfrm>
              <a:off x="2342"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04" name="Rectangle 104">
              <a:extLst>
                <a:ext uri="{FF2B5EF4-FFF2-40B4-BE49-F238E27FC236}">
                  <a16:creationId xmlns:a16="http://schemas.microsoft.com/office/drawing/2014/main" id="{9609B101-74B1-4D41-BEDE-2137ED8A532C}"/>
                </a:ext>
              </a:extLst>
            </p:cNvPr>
            <p:cNvSpPr>
              <a:spLocks noChangeArrowheads="1"/>
            </p:cNvSpPr>
            <p:nvPr/>
          </p:nvSpPr>
          <p:spPr bwMode="auto">
            <a:xfrm>
              <a:off x="2150"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grpSp>
      <p:grpSp>
        <p:nvGrpSpPr>
          <p:cNvPr id="57376" name="Group 105">
            <a:extLst>
              <a:ext uri="{FF2B5EF4-FFF2-40B4-BE49-F238E27FC236}">
                <a16:creationId xmlns:a16="http://schemas.microsoft.com/office/drawing/2014/main" id="{7563E8D9-259B-964E-A901-CA890246DEC8}"/>
              </a:ext>
            </a:extLst>
          </p:cNvPr>
          <p:cNvGrpSpPr>
            <a:grpSpLocks/>
          </p:cNvGrpSpPr>
          <p:nvPr/>
        </p:nvGrpSpPr>
        <p:grpSpPr bwMode="auto">
          <a:xfrm>
            <a:off x="4022725" y="4465638"/>
            <a:ext cx="658813" cy="579437"/>
            <a:chOff x="2534" y="2813"/>
            <a:chExt cx="415" cy="365"/>
          </a:xfrm>
        </p:grpSpPr>
        <p:sp>
          <p:nvSpPr>
            <p:cNvPr id="57397" name="Rectangle 106">
              <a:extLst>
                <a:ext uri="{FF2B5EF4-FFF2-40B4-BE49-F238E27FC236}">
                  <a16:creationId xmlns:a16="http://schemas.microsoft.com/office/drawing/2014/main" id="{E8DC6D6D-364A-5249-BFD8-D12E59972D66}"/>
                </a:ext>
              </a:extLst>
            </p:cNvPr>
            <p:cNvSpPr>
              <a:spLocks noChangeArrowheads="1"/>
            </p:cNvSpPr>
            <p:nvPr/>
          </p:nvSpPr>
          <p:spPr bwMode="auto">
            <a:xfrm>
              <a:off x="2534"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398" name="Rectangle 107">
              <a:extLst>
                <a:ext uri="{FF2B5EF4-FFF2-40B4-BE49-F238E27FC236}">
                  <a16:creationId xmlns:a16="http://schemas.microsoft.com/office/drawing/2014/main" id="{5532D75E-4C43-B34E-8C72-8AF0028906E9}"/>
                </a:ext>
              </a:extLst>
            </p:cNvPr>
            <p:cNvSpPr>
              <a:spLocks noChangeArrowheads="1"/>
            </p:cNvSpPr>
            <p:nvPr/>
          </p:nvSpPr>
          <p:spPr bwMode="auto">
            <a:xfrm>
              <a:off x="2726"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399" name="Rectangle 108">
              <a:extLst>
                <a:ext uri="{FF2B5EF4-FFF2-40B4-BE49-F238E27FC236}">
                  <a16:creationId xmlns:a16="http://schemas.microsoft.com/office/drawing/2014/main" id="{3E3A68C9-2A5C-704D-887D-2440EAB93EA4}"/>
                </a:ext>
              </a:extLst>
            </p:cNvPr>
            <p:cNvSpPr>
              <a:spLocks noChangeArrowheads="1"/>
            </p:cNvSpPr>
            <p:nvPr/>
          </p:nvSpPr>
          <p:spPr bwMode="auto">
            <a:xfrm>
              <a:off x="2726"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400" name="Rectangle 109">
              <a:extLst>
                <a:ext uri="{FF2B5EF4-FFF2-40B4-BE49-F238E27FC236}">
                  <a16:creationId xmlns:a16="http://schemas.microsoft.com/office/drawing/2014/main" id="{975F9799-2465-434C-92BE-ECC01453165B}"/>
                </a:ext>
              </a:extLst>
            </p:cNvPr>
            <p:cNvSpPr>
              <a:spLocks noChangeArrowheads="1"/>
            </p:cNvSpPr>
            <p:nvPr/>
          </p:nvSpPr>
          <p:spPr bwMode="auto">
            <a:xfrm>
              <a:off x="2534"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grpSp>
      <p:grpSp>
        <p:nvGrpSpPr>
          <p:cNvPr id="57377" name="Group 110">
            <a:extLst>
              <a:ext uri="{FF2B5EF4-FFF2-40B4-BE49-F238E27FC236}">
                <a16:creationId xmlns:a16="http://schemas.microsoft.com/office/drawing/2014/main" id="{5024FA74-0DB6-C24F-9306-97E9F0E476C1}"/>
              </a:ext>
            </a:extLst>
          </p:cNvPr>
          <p:cNvGrpSpPr>
            <a:grpSpLocks/>
          </p:cNvGrpSpPr>
          <p:nvPr/>
        </p:nvGrpSpPr>
        <p:grpSpPr bwMode="auto">
          <a:xfrm>
            <a:off x="5851525" y="4465638"/>
            <a:ext cx="658813" cy="579437"/>
            <a:chOff x="3686" y="2813"/>
            <a:chExt cx="415" cy="365"/>
          </a:xfrm>
        </p:grpSpPr>
        <p:sp>
          <p:nvSpPr>
            <p:cNvPr id="57393" name="Rectangle 111">
              <a:extLst>
                <a:ext uri="{FF2B5EF4-FFF2-40B4-BE49-F238E27FC236}">
                  <a16:creationId xmlns:a16="http://schemas.microsoft.com/office/drawing/2014/main" id="{796615AD-0126-6947-92E8-F52500ACB318}"/>
                </a:ext>
              </a:extLst>
            </p:cNvPr>
            <p:cNvSpPr>
              <a:spLocks noChangeArrowheads="1"/>
            </p:cNvSpPr>
            <p:nvPr/>
          </p:nvSpPr>
          <p:spPr bwMode="auto">
            <a:xfrm>
              <a:off x="3686"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394" name="Rectangle 112">
              <a:extLst>
                <a:ext uri="{FF2B5EF4-FFF2-40B4-BE49-F238E27FC236}">
                  <a16:creationId xmlns:a16="http://schemas.microsoft.com/office/drawing/2014/main" id="{F59F7BA9-A720-2642-80F4-A3C961D61F3E}"/>
                </a:ext>
              </a:extLst>
            </p:cNvPr>
            <p:cNvSpPr>
              <a:spLocks noChangeArrowheads="1"/>
            </p:cNvSpPr>
            <p:nvPr/>
          </p:nvSpPr>
          <p:spPr bwMode="auto">
            <a:xfrm>
              <a:off x="3878"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395" name="Rectangle 113">
              <a:extLst>
                <a:ext uri="{FF2B5EF4-FFF2-40B4-BE49-F238E27FC236}">
                  <a16:creationId xmlns:a16="http://schemas.microsoft.com/office/drawing/2014/main" id="{A8E0223D-DFB6-B644-8800-E6E06EC907C6}"/>
                </a:ext>
              </a:extLst>
            </p:cNvPr>
            <p:cNvSpPr>
              <a:spLocks noChangeArrowheads="1"/>
            </p:cNvSpPr>
            <p:nvPr/>
          </p:nvSpPr>
          <p:spPr bwMode="auto">
            <a:xfrm>
              <a:off x="3878"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396" name="Rectangle 114">
              <a:extLst>
                <a:ext uri="{FF2B5EF4-FFF2-40B4-BE49-F238E27FC236}">
                  <a16:creationId xmlns:a16="http://schemas.microsoft.com/office/drawing/2014/main" id="{C6D2A68C-38B7-C640-BD76-B0115656D78C}"/>
                </a:ext>
              </a:extLst>
            </p:cNvPr>
            <p:cNvSpPr>
              <a:spLocks noChangeArrowheads="1"/>
            </p:cNvSpPr>
            <p:nvPr/>
          </p:nvSpPr>
          <p:spPr bwMode="auto">
            <a:xfrm>
              <a:off x="3686"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grpSp>
      <p:grpSp>
        <p:nvGrpSpPr>
          <p:cNvPr id="57378" name="Group 115">
            <a:extLst>
              <a:ext uri="{FF2B5EF4-FFF2-40B4-BE49-F238E27FC236}">
                <a16:creationId xmlns:a16="http://schemas.microsoft.com/office/drawing/2014/main" id="{43738557-10BA-5A49-AA1C-D8E9B2301F9A}"/>
              </a:ext>
            </a:extLst>
          </p:cNvPr>
          <p:cNvGrpSpPr>
            <a:grpSpLocks/>
          </p:cNvGrpSpPr>
          <p:nvPr/>
        </p:nvGrpSpPr>
        <p:grpSpPr bwMode="auto">
          <a:xfrm>
            <a:off x="4632325" y="4465638"/>
            <a:ext cx="658813" cy="579437"/>
            <a:chOff x="2918" y="2813"/>
            <a:chExt cx="415" cy="365"/>
          </a:xfrm>
        </p:grpSpPr>
        <p:sp>
          <p:nvSpPr>
            <p:cNvPr id="57389" name="Rectangle 116">
              <a:extLst>
                <a:ext uri="{FF2B5EF4-FFF2-40B4-BE49-F238E27FC236}">
                  <a16:creationId xmlns:a16="http://schemas.microsoft.com/office/drawing/2014/main" id="{6F88EA4E-4756-AB4D-887F-5B5F8FA277E7}"/>
                </a:ext>
              </a:extLst>
            </p:cNvPr>
            <p:cNvSpPr>
              <a:spLocks noChangeArrowheads="1"/>
            </p:cNvSpPr>
            <p:nvPr/>
          </p:nvSpPr>
          <p:spPr bwMode="auto">
            <a:xfrm>
              <a:off x="2918"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390" name="Rectangle 117">
              <a:extLst>
                <a:ext uri="{FF2B5EF4-FFF2-40B4-BE49-F238E27FC236}">
                  <a16:creationId xmlns:a16="http://schemas.microsoft.com/office/drawing/2014/main" id="{3697B545-F929-E146-8774-E3553C3884ED}"/>
                </a:ext>
              </a:extLst>
            </p:cNvPr>
            <p:cNvSpPr>
              <a:spLocks noChangeArrowheads="1"/>
            </p:cNvSpPr>
            <p:nvPr/>
          </p:nvSpPr>
          <p:spPr bwMode="auto">
            <a:xfrm>
              <a:off x="3110"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391" name="Rectangle 118">
              <a:extLst>
                <a:ext uri="{FF2B5EF4-FFF2-40B4-BE49-F238E27FC236}">
                  <a16:creationId xmlns:a16="http://schemas.microsoft.com/office/drawing/2014/main" id="{1AF2427C-3619-2E40-97D3-F2762741E8ED}"/>
                </a:ext>
              </a:extLst>
            </p:cNvPr>
            <p:cNvSpPr>
              <a:spLocks noChangeArrowheads="1"/>
            </p:cNvSpPr>
            <p:nvPr/>
          </p:nvSpPr>
          <p:spPr bwMode="auto">
            <a:xfrm>
              <a:off x="3110"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392" name="Rectangle 119">
              <a:extLst>
                <a:ext uri="{FF2B5EF4-FFF2-40B4-BE49-F238E27FC236}">
                  <a16:creationId xmlns:a16="http://schemas.microsoft.com/office/drawing/2014/main" id="{09397FE3-BC67-334B-9576-D15A4EFD1116}"/>
                </a:ext>
              </a:extLst>
            </p:cNvPr>
            <p:cNvSpPr>
              <a:spLocks noChangeArrowheads="1"/>
            </p:cNvSpPr>
            <p:nvPr/>
          </p:nvSpPr>
          <p:spPr bwMode="auto">
            <a:xfrm>
              <a:off x="2918"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grpSp>
      <p:grpSp>
        <p:nvGrpSpPr>
          <p:cNvPr id="57379" name="Group 120">
            <a:extLst>
              <a:ext uri="{FF2B5EF4-FFF2-40B4-BE49-F238E27FC236}">
                <a16:creationId xmlns:a16="http://schemas.microsoft.com/office/drawing/2014/main" id="{FB68F5E6-F2A4-0844-B2C2-8F5D9A7DC366}"/>
              </a:ext>
            </a:extLst>
          </p:cNvPr>
          <p:cNvGrpSpPr>
            <a:grpSpLocks/>
          </p:cNvGrpSpPr>
          <p:nvPr/>
        </p:nvGrpSpPr>
        <p:grpSpPr bwMode="auto">
          <a:xfrm>
            <a:off x="5241925" y="4465638"/>
            <a:ext cx="658813" cy="579437"/>
            <a:chOff x="3302" y="2813"/>
            <a:chExt cx="415" cy="365"/>
          </a:xfrm>
        </p:grpSpPr>
        <p:sp>
          <p:nvSpPr>
            <p:cNvPr id="57385" name="Rectangle 121">
              <a:extLst>
                <a:ext uri="{FF2B5EF4-FFF2-40B4-BE49-F238E27FC236}">
                  <a16:creationId xmlns:a16="http://schemas.microsoft.com/office/drawing/2014/main" id="{8EA73BD3-2795-8E45-BEC3-11B795710C5B}"/>
                </a:ext>
              </a:extLst>
            </p:cNvPr>
            <p:cNvSpPr>
              <a:spLocks noChangeArrowheads="1"/>
            </p:cNvSpPr>
            <p:nvPr/>
          </p:nvSpPr>
          <p:spPr bwMode="auto">
            <a:xfrm>
              <a:off x="3302"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386" name="Rectangle 122">
              <a:extLst>
                <a:ext uri="{FF2B5EF4-FFF2-40B4-BE49-F238E27FC236}">
                  <a16:creationId xmlns:a16="http://schemas.microsoft.com/office/drawing/2014/main" id="{59F809F9-900B-9541-887B-0353582732D8}"/>
                </a:ext>
              </a:extLst>
            </p:cNvPr>
            <p:cNvSpPr>
              <a:spLocks noChangeArrowheads="1"/>
            </p:cNvSpPr>
            <p:nvPr/>
          </p:nvSpPr>
          <p:spPr bwMode="auto">
            <a:xfrm>
              <a:off x="3494"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387" name="Rectangle 123">
              <a:extLst>
                <a:ext uri="{FF2B5EF4-FFF2-40B4-BE49-F238E27FC236}">
                  <a16:creationId xmlns:a16="http://schemas.microsoft.com/office/drawing/2014/main" id="{2E1791F3-5E7F-0A44-91D1-BAE3801F0EBD}"/>
                </a:ext>
              </a:extLst>
            </p:cNvPr>
            <p:cNvSpPr>
              <a:spLocks noChangeArrowheads="1"/>
            </p:cNvSpPr>
            <p:nvPr/>
          </p:nvSpPr>
          <p:spPr bwMode="auto">
            <a:xfrm>
              <a:off x="3494"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388" name="Rectangle 124">
              <a:extLst>
                <a:ext uri="{FF2B5EF4-FFF2-40B4-BE49-F238E27FC236}">
                  <a16:creationId xmlns:a16="http://schemas.microsoft.com/office/drawing/2014/main" id="{52A1FC84-0F8A-FF4D-9BA8-314490C9A41F}"/>
                </a:ext>
              </a:extLst>
            </p:cNvPr>
            <p:cNvSpPr>
              <a:spLocks noChangeArrowheads="1"/>
            </p:cNvSpPr>
            <p:nvPr/>
          </p:nvSpPr>
          <p:spPr bwMode="auto">
            <a:xfrm>
              <a:off x="3302"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grpSp>
      <p:grpSp>
        <p:nvGrpSpPr>
          <p:cNvPr id="57380" name="Group 125">
            <a:extLst>
              <a:ext uri="{FF2B5EF4-FFF2-40B4-BE49-F238E27FC236}">
                <a16:creationId xmlns:a16="http://schemas.microsoft.com/office/drawing/2014/main" id="{F297C124-089A-0247-A91E-8BFA1229D6D2}"/>
              </a:ext>
            </a:extLst>
          </p:cNvPr>
          <p:cNvGrpSpPr>
            <a:grpSpLocks/>
          </p:cNvGrpSpPr>
          <p:nvPr/>
        </p:nvGrpSpPr>
        <p:grpSpPr bwMode="auto">
          <a:xfrm>
            <a:off x="6461125" y="4465638"/>
            <a:ext cx="658813" cy="579437"/>
            <a:chOff x="4070" y="2813"/>
            <a:chExt cx="415" cy="365"/>
          </a:xfrm>
        </p:grpSpPr>
        <p:sp>
          <p:nvSpPr>
            <p:cNvPr id="57381" name="Rectangle 126">
              <a:extLst>
                <a:ext uri="{FF2B5EF4-FFF2-40B4-BE49-F238E27FC236}">
                  <a16:creationId xmlns:a16="http://schemas.microsoft.com/office/drawing/2014/main" id="{CF4C695E-C6B6-F741-A0BD-2C8BCECC187F}"/>
                </a:ext>
              </a:extLst>
            </p:cNvPr>
            <p:cNvSpPr>
              <a:spLocks noChangeArrowheads="1"/>
            </p:cNvSpPr>
            <p:nvPr/>
          </p:nvSpPr>
          <p:spPr bwMode="auto">
            <a:xfrm>
              <a:off x="4070"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382" name="Rectangle 127">
              <a:extLst>
                <a:ext uri="{FF2B5EF4-FFF2-40B4-BE49-F238E27FC236}">
                  <a16:creationId xmlns:a16="http://schemas.microsoft.com/office/drawing/2014/main" id="{0687E515-BDB0-5944-BC59-8055BB09F6AC}"/>
                </a:ext>
              </a:extLst>
            </p:cNvPr>
            <p:cNvSpPr>
              <a:spLocks noChangeArrowheads="1"/>
            </p:cNvSpPr>
            <p:nvPr/>
          </p:nvSpPr>
          <p:spPr bwMode="auto">
            <a:xfrm>
              <a:off x="4262" y="2813"/>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sp>
          <p:nvSpPr>
            <p:cNvPr id="57383" name="Rectangle 128">
              <a:extLst>
                <a:ext uri="{FF2B5EF4-FFF2-40B4-BE49-F238E27FC236}">
                  <a16:creationId xmlns:a16="http://schemas.microsoft.com/office/drawing/2014/main" id="{268F380C-5223-7546-B7A3-F12DD4BA5381}"/>
                </a:ext>
              </a:extLst>
            </p:cNvPr>
            <p:cNvSpPr>
              <a:spLocks noChangeArrowheads="1"/>
            </p:cNvSpPr>
            <p:nvPr/>
          </p:nvSpPr>
          <p:spPr bwMode="auto">
            <a:xfrm>
              <a:off x="4262"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01</a:t>
              </a:r>
            </a:p>
          </p:txBody>
        </p:sp>
        <p:sp>
          <p:nvSpPr>
            <p:cNvPr id="57384" name="Rectangle 129">
              <a:extLst>
                <a:ext uri="{FF2B5EF4-FFF2-40B4-BE49-F238E27FC236}">
                  <a16:creationId xmlns:a16="http://schemas.microsoft.com/office/drawing/2014/main" id="{A2D0488B-4E1B-B540-92EA-D1667E0C8E04}"/>
                </a:ext>
              </a:extLst>
            </p:cNvPr>
            <p:cNvSpPr>
              <a:spLocks noChangeArrowheads="1"/>
            </p:cNvSpPr>
            <p:nvPr/>
          </p:nvSpPr>
          <p:spPr bwMode="auto">
            <a:xfrm>
              <a:off x="4070" y="3005"/>
              <a:ext cx="22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10</a:t>
              </a:r>
            </a:p>
          </p:txBody>
        </p:sp>
      </p:gr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D42FDFF6-A3B4-824E-ABC5-AC036A7C79A3}"/>
              </a:ext>
            </a:extLst>
          </p:cNvPr>
          <p:cNvSpPr>
            <a:spLocks noGrp="1" noChangeArrowheads="1"/>
          </p:cNvSpPr>
          <p:nvPr>
            <p:ph type="title"/>
          </p:nvPr>
        </p:nvSpPr>
        <p:spPr/>
        <p:txBody>
          <a:bodyPr/>
          <a:lstStyle/>
          <a:p>
            <a:r>
              <a:rPr lang="en-US" altLang="en-US"/>
              <a:t>Effectivenss of 2-bit Predictor</a:t>
            </a:r>
          </a:p>
        </p:txBody>
      </p:sp>
      <p:sp>
        <p:nvSpPr>
          <p:cNvPr id="59395" name="Content Placeholder 2">
            <a:extLst>
              <a:ext uri="{FF2B5EF4-FFF2-40B4-BE49-F238E27FC236}">
                <a16:creationId xmlns:a16="http://schemas.microsoft.com/office/drawing/2014/main" id="{00399562-59E8-BC4A-9EFF-E08FE1071705}"/>
              </a:ext>
            </a:extLst>
          </p:cNvPr>
          <p:cNvSpPr>
            <a:spLocks noGrp="1" noChangeArrowheads="1"/>
          </p:cNvSpPr>
          <p:nvPr>
            <p:ph idx="1"/>
          </p:nvPr>
        </p:nvSpPr>
        <p:spPr/>
        <p:txBody>
          <a:bodyPr/>
          <a:lstStyle/>
          <a:p>
            <a:r>
              <a:rPr lang="en-US" altLang="en-US"/>
              <a:t>Misprediction rate ~11% integer apps, 4% fp apps</a:t>
            </a:r>
          </a:p>
        </p:txBody>
      </p:sp>
      <p:pic>
        <p:nvPicPr>
          <p:cNvPr id="59396" name="Picture 4" descr="appc-19-9780123838728">
            <a:extLst>
              <a:ext uri="{FF2B5EF4-FFF2-40B4-BE49-F238E27FC236}">
                <a16:creationId xmlns:a16="http://schemas.microsoft.com/office/drawing/2014/main" id="{9DF37D05-8FF1-8840-867D-523FD2D5AB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068513"/>
            <a:ext cx="3886200" cy="298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397" name="Rectangle 5">
            <a:extLst>
              <a:ext uri="{FF2B5EF4-FFF2-40B4-BE49-F238E27FC236}">
                <a16:creationId xmlns:a16="http://schemas.microsoft.com/office/drawing/2014/main" id="{2F403F9F-6561-D245-B128-498F1B661830}"/>
              </a:ext>
            </a:extLst>
          </p:cNvPr>
          <p:cNvSpPr>
            <a:spLocks noChangeArrowheads="1"/>
          </p:cNvSpPr>
          <p:nvPr/>
        </p:nvSpPr>
        <p:spPr bwMode="auto">
          <a:xfrm>
            <a:off x="363538" y="5029200"/>
            <a:ext cx="8397875"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just">
              <a:spcBef>
                <a:spcPct val="0"/>
              </a:spcBef>
              <a:buClrTx/>
              <a:buSzTx/>
              <a:buFontTx/>
              <a:buNone/>
            </a:pPr>
            <a:r>
              <a:rPr lang="en-US" altLang="en-US" sz="1200" b="1">
                <a:latin typeface="Times New Roman" panose="02020603050405020304" pitchFamily="18" charset="0"/>
              </a:rPr>
              <a:t>Figure C.19 Prediction accuracy of a 4096-entry 2-bit prediction buffer for the SPEC89 benchmarks.</a:t>
            </a:r>
            <a:r>
              <a:rPr lang="en-US" altLang="en-US" sz="1200">
                <a:latin typeface="Times New Roman" panose="02020603050405020304" pitchFamily="18" charset="0"/>
              </a:rPr>
              <a:t> The misprediction rate for the integer benchmarks (gcc, espresso, eqntott, and li) is substantially higher (average of 11%) than that for the floating-point programs (average of 4%). Omitting the floating-point kernels (nasa7, matrix300, and tomcatv) still yields a higher accuracy for the FP benchmarks than for the integer benchmarks. These data, as well as the rest of the data in this section, are taken from a branch-prediction study done using the IBM Power architecture and optimized code for that system. See Pan, So, and Rameh [1992]. Although these data are for an older version of a subset of the SPEC benchmarks, the newer benchmarks are larger and would show slightly worse behavior, especially for the integer benchmarks.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9E875-172B-1014-9BEA-4A67358729B0}"/>
              </a:ext>
            </a:extLst>
          </p:cNvPr>
          <p:cNvSpPr>
            <a:spLocks noGrp="1"/>
          </p:cNvSpPr>
          <p:nvPr>
            <p:ph type="title"/>
          </p:nvPr>
        </p:nvSpPr>
        <p:spPr/>
        <p:txBody>
          <a:bodyPr/>
          <a:lstStyle/>
          <a:p>
            <a:r>
              <a:rPr lang="en-US" dirty="0"/>
              <a:t>Example</a:t>
            </a:r>
          </a:p>
        </p:txBody>
      </p:sp>
      <p:graphicFrame>
        <p:nvGraphicFramePr>
          <p:cNvPr id="3" name="Table 2">
            <a:extLst>
              <a:ext uri="{FF2B5EF4-FFF2-40B4-BE49-F238E27FC236}">
                <a16:creationId xmlns:a16="http://schemas.microsoft.com/office/drawing/2014/main" id="{5FCA506F-FA8E-A393-B577-C7D47A9A2161}"/>
              </a:ext>
            </a:extLst>
          </p:cNvPr>
          <p:cNvGraphicFramePr>
            <a:graphicFrameLocks noGrp="1"/>
          </p:cNvGraphicFramePr>
          <p:nvPr/>
        </p:nvGraphicFramePr>
        <p:xfrm>
          <a:off x="838200" y="3533228"/>
          <a:ext cx="6954955" cy="4945341"/>
        </p:xfrm>
        <a:graphic>
          <a:graphicData uri="http://schemas.openxmlformats.org/drawingml/2006/table">
            <a:tbl>
              <a:tblPr/>
              <a:tblGrid>
                <a:gridCol w="1390991">
                  <a:extLst>
                    <a:ext uri="{9D8B030D-6E8A-4147-A177-3AD203B41FA5}">
                      <a16:colId xmlns:a16="http://schemas.microsoft.com/office/drawing/2014/main" val="3594260443"/>
                    </a:ext>
                  </a:extLst>
                </a:gridCol>
                <a:gridCol w="1390991">
                  <a:extLst>
                    <a:ext uri="{9D8B030D-6E8A-4147-A177-3AD203B41FA5}">
                      <a16:colId xmlns:a16="http://schemas.microsoft.com/office/drawing/2014/main" val="772549271"/>
                    </a:ext>
                  </a:extLst>
                </a:gridCol>
                <a:gridCol w="1390991">
                  <a:extLst>
                    <a:ext uri="{9D8B030D-6E8A-4147-A177-3AD203B41FA5}">
                      <a16:colId xmlns:a16="http://schemas.microsoft.com/office/drawing/2014/main" val="4248456811"/>
                    </a:ext>
                  </a:extLst>
                </a:gridCol>
                <a:gridCol w="1390991">
                  <a:extLst>
                    <a:ext uri="{9D8B030D-6E8A-4147-A177-3AD203B41FA5}">
                      <a16:colId xmlns:a16="http://schemas.microsoft.com/office/drawing/2014/main" val="1754327128"/>
                    </a:ext>
                  </a:extLst>
                </a:gridCol>
                <a:gridCol w="1390991">
                  <a:extLst>
                    <a:ext uri="{9D8B030D-6E8A-4147-A177-3AD203B41FA5}">
                      <a16:colId xmlns:a16="http://schemas.microsoft.com/office/drawing/2014/main" val="3285760680"/>
                    </a:ext>
                  </a:extLst>
                </a:gridCol>
              </a:tblGrid>
              <a:tr h="548655">
                <a:tc>
                  <a:txBody>
                    <a:bodyPr/>
                    <a:lstStyle/>
                    <a:p>
                      <a:pPr algn="ctr"/>
                      <a:r>
                        <a:rPr lang="en-US" sz="1500">
                          <a:effectLst/>
                        </a:rPr>
                        <a:t>Old Counter State</a:t>
                      </a:r>
                    </a:p>
                  </a:txBody>
                  <a:tcPr marL="77410" marR="77410" marT="38705" marB="38705" anchor="ctr">
                    <a:lnL>
                      <a:noFill/>
                    </a:lnL>
                    <a:lnR>
                      <a:noFill/>
                    </a:lnR>
                    <a:lnT>
                      <a:noFill/>
                    </a:lnT>
                    <a:lnB>
                      <a:noFill/>
                    </a:lnB>
                  </a:tcPr>
                </a:tc>
                <a:tc>
                  <a:txBody>
                    <a:bodyPr/>
                    <a:lstStyle/>
                    <a:p>
                      <a:pPr algn="ctr"/>
                      <a:r>
                        <a:rPr lang="en-US" sz="1500">
                          <a:effectLst/>
                        </a:rPr>
                        <a:t>Prediction Direction</a:t>
                      </a:r>
                    </a:p>
                  </a:txBody>
                  <a:tcPr marL="77410" marR="77410" marT="38705" marB="38705" anchor="ctr">
                    <a:lnL>
                      <a:noFill/>
                    </a:lnL>
                    <a:lnR>
                      <a:noFill/>
                    </a:lnR>
                    <a:lnT>
                      <a:noFill/>
                    </a:lnT>
                    <a:lnB>
                      <a:noFill/>
                    </a:lnB>
                  </a:tcPr>
                </a:tc>
                <a:tc>
                  <a:txBody>
                    <a:bodyPr/>
                    <a:lstStyle/>
                    <a:p>
                      <a:pPr algn="ctr"/>
                      <a:r>
                        <a:rPr lang="en-US" sz="1500">
                          <a:effectLst/>
                        </a:rPr>
                        <a:t>Actual Outcome</a:t>
                      </a:r>
                    </a:p>
                  </a:txBody>
                  <a:tcPr marL="77410" marR="77410" marT="38705" marB="38705" anchor="ctr">
                    <a:lnL>
                      <a:noFill/>
                    </a:lnL>
                    <a:lnR>
                      <a:noFill/>
                    </a:lnR>
                    <a:lnT>
                      <a:noFill/>
                    </a:lnT>
                    <a:lnB>
                      <a:noFill/>
                    </a:lnB>
                  </a:tcPr>
                </a:tc>
                <a:tc>
                  <a:txBody>
                    <a:bodyPr/>
                    <a:lstStyle/>
                    <a:p>
                      <a:pPr algn="ctr"/>
                      <a:r>
                        <a:rPr lang="en-US" sz="1500">
                          <a:effectLst/>
                        </a:rPr>
                        <a:t>Mispredicted?</a:t>
                      </a:r>
                    </a:p>
                  </a:txBody>
                  <a:tcPr marL="77410" marR="77410" marT="38705" marB="38705" anchor="ctr">
                    <a:lnL>
                      <a:noFill/>
                    </a:lnL>
                    <a:lnR>
                      <a:noFill/>
                    </a:lnR>
                    <a:lnT>
                      <a:noFill/>
                    </a:lnT>
                    <a:lnB>
                      <a:noFill/>
                    </a:lnB>
                  </a:tcPr>
                </a:tc>
                <a:tc>
                  <a:txBody>
                    <a:bodyPr/>
                    <a:lstStyle/>
                    <a:p>
                      <a:pPr algn="ctr"/>
                      <a:r>
                        <a:rPr lang="en-US" sz="1500">
                          <a:effectLst/>
                        </a:rPr>
                        <a:t>New Counter State</a:t>
                      </a:r>
                    </a:p>
                  </a:txBody>
                  <a:tcPr marL="77410" marR="77410" marT="38705" marB="38705" anchor="ctr">
                    <a:lnL>
                      <a:noFill/>
                    </a:lnL>
                    <a:lnR>
                      <a:noFill/>
                    </a:lnR>
                    <a:lnT>
                      <a:noFill/>
                    </a:lnT>
                    <a:lnB>
                      <a:noFill/>
                    </a:lnB>
                  </a:tcPr>
                </a:tc>
                <a:extLst>
                  <a:ext uri="{0D108BD9-81ED-4DB2-BD59-A6C34878D82A}">
                    <a16:rowId xmlns:a16="http://schemas.microsoft.com/office/drawing/2014/main" val="1190551146"/>
                  </a:ext>
                </a:extLst>
              </a:tr>
              <a:tr h="314049">
                <a:tc>
                  <a:txBody>
                    <a:bodyPr/>
                    <a:lstStyle/>
                    <a:p>
                      <a:pPr algn="ctr"/>
                      <a:r>
                        <a:rPr lang="en-US" sz="1500" dirty="0">
                          <a:effectLst/>
                        </a:rPr>
                        <a:t>00</a:t>
                      </a:r>
                    </a:p>
                  </a:txBody>
                  <a:tcPr marL="77410" marR="77410" marT="38705" marB="38705" anchor="ctr">
                    <a:lnL>
                      <a:noFill/>
                    </a:lnL>
                    <a:lnR>
                      <a:noFill/>
                    </a:lnR>
                    <a:lnT>
                      <a:noFill/>
                    </a:lnT>
                    <a:lnB>
                      <a:noFill/>
                    </a:lnB>
                  </a:tcPr>
                </a:tc>
                <a:tc>
                  <a:txBody>
                    <a:bodyPr/>
                    <a:lstStyle/>
                    <a:p>
                      <a:pPr algn="ctr"/>
                      <a:r>
                        <a:rPr lang="en-US" sz="1500">
                          <a:effectLst/>
                        </a:rPr>
                        <a:t>N</a:t>
                      </a:r>
                    </a:p>
                  </a:txBody>
                  <a:tcPr marL="77410" marR="77410" marT="38705" marB="38705" anchor="ctr">
                    <a:lnL>
                      <a:noFill/>
                    </a:lnL>
                    <a:lnR>
                      <a:noFill/>
                    </a:lnR>
                    <a:lnT>
                      <a:noFill/>
                    </a:lnT>
                    <a:lnB>
                      <a:noFill/>
                    </a:lnB>
                  </a:tcPr>
                </a:tc>
                <a:tc>
                  <a:txBody>
                    <a:bodyPr/>
                    <a:lstStyle/>
                    <a:p>
                      <a:pPr algn="ctr"/>
                      <a:r>
                        <a:rPr lang="en-US" sz="1500" dirty="0">
                          <a:effectLst/>
                        </a:rPr>
                        <a:t>T</a:t>
                      </a:r>
                    </a:p>
                  </a:txBody>
                  <a:tcPr marL="77410" marR="77410" marT="38705" marB="38705" anchor="ctr">
                    <a:lnL>
                      <a:noFill/>
                    </a:lnL>
                    <a:lnR>
                      <a:noFill/>
                    </a:lnR>
                    <a:lnT>
                      <a:noFill/>
                    </a:lnT>
                    <a:lnB>
                      <a:noFill/>
                    </a:lnB>
                  </a:tcPr>
                </a:tc>
                <a:tc>
                  <a:txBody>
                    <a:bodyPr/>
                    <a:lstStyle/>
                    <a:p>
                      <a:pPr algn="ctr"/>
                      <a:r>
                        <a:rPr lang="en-US" sz="1500">
                          <a:effectLst/>
                        </a:rPr>
                        <a:t>y</a:t>
                      </a:r>
                    </a:p>
                  </a:txBody>
                  <a:tcPr marL="77410" marR="77410" marT="38705" marB="38705" anchor="ctr">
                    <a:lnL>
                      <a:noFill/>
                    </a:lnL>
                    <a:lnR>
                      <a:noFill/>
                    </a:lnR>
                    <a:lnT>
                      <a:noFill/>
                    </a:lnT>
                    <a:lnB>
                      <a:noFill/>
                    </a:lnB>
                  </a:tcPr>
                </a:tc>
                <a:tc>
                  <a:txBody>
                    <a:bodyPr/>
                    <a:lstStyle/>
                    <a:p>
                      <a:pPr algn="ctr"/>
                      <a:r>
                        <a:rPr lang="en-US" sz="1500" dirty="0">
                          <a:effectLst/>
                        </a:rPr>
                        <a:t>01</a:t>
                      </a:r>
                    </a:p>
                  </a:txBody>
                  <a:tcPr marL="77410" marR="77410" marT="38705" marB="38705" anchor="ctr">
                    <a:lnL>
                      <a:noFill/>
                    </a:lnL>
                    <a:lnR>
                      <a:noFill/>
                    </a:lnR>
                    <a:lnT>
                      <a:noFill/>
                    </a:lnT>
                    <a:lnB>
                      <a:noFill/>
                    </a:lnB>
                  </a:tcPr>
                </a:tc>
                <a:extLst>
                  <a:ext uri="{0D108BD9-81ED-4DB2-BD59-A6C34878D82A}">
                    <a16:rowId xmlns:a16="http://schemas.microsoft.com/office/drawing/2014/main" val="1593074587"/>
                  </a:ext>
                </a:extLst>
              </a:tr>
              <a:tr h="314049">
                <a:tc>
                  <a:txBody>
                    <a:bodyPr/>
                    <a:lstStyle/>
                    <a:p>
                      <a:pPr algn="ctr"/>
                      <a:r>
                        <a:rPr lang="en-US" sz="1500">
                          <a:effectLst/>
                        </a:rPr>
                        <a:t>[A1]</a:t>
                      </a:r>
                    </a:p>
                  </a:txBody>
                  <a:tcPr marL="77410" marR="77410" marT="38705" marB="38705" anchor="ctr">
                    <a:lnL>
                      <a:noFill/>
                    </a:lnL>
                    <a:lnR>
                      <a:noFill/>
                    </a:lnR>
                    <a:lnT>
                      <a:noFill/>
                    </a:lnT>
                    <a:lnB>
                      <a:noFill/>
                    </a:lnB>
                  </a:tcPr>
                </a:tc>
                <a:tc>
                  <a:txBody>
                    <a:bodyPr/>
                    <a:lstStyle/>
                    <a:p>
                      <a:pPr algn="ctr"/>
                      <a:r>
                        <a:rPr lang="en-US" sz="1500">
                          <a:effectLst/>
                        </a:rPr>
                        <a:t>[B1]</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dirty="0">
                          <a:effectLst/>
                        </a:rPr>
                        <a:t>[C1]</a:t>
                      </a:r>
                    </a:p>
                  </a:txBody>
                  <a:tcPr marL="77410" marR="77410" marT="38705" marB="38705" anchor="ctr">
                    <a:lnL>
                      <a:noFill/>
                    </a:lnL>
                    <a:lnR>
                      <a:noFill/>
                    </a:lnR>
                    <a:lnT>
                      <a:noFill/>
                    </a:lnT>
                    <a:lnB>
                      <a:noFill/>
                    </a:lnB>
                  </a:tcPr>
                </a:tc>
                <a:tc>
                  <a:txBody>
                    <a:bodyPr/>
                    <a:lstStyle/>
                    <a:p>
                      <a:pPr algn="ctr"/>
                      <a:r>
                        <a:rPr lang="en-US" sz="1500">
                          <a:effectLst/>
                        </a:rPr>
                        <a:t>[D1]</a:t>
                      </a:r>
                    </a:p>
                  </a:txBody>
                  <a:tcPr marL="77410" marR="77410" marT="38705" marB="38705" anchor="ctr">
                    <a:lnL>
                      <a:noFill/>
                    </a:lnL>
                    <a:lnR>
                      <a:noFill/>
                    </a:lnR>
                    <a:lnT>
                      <a:noFill/>
                    </a:lnT>
                    <a:lnB>
                      <a:noFill/>
                    </a:lnB>
                  </a:tcPr>
                </a:tc>
                <a:extLst>
                  <a:ext uri="{0D108BD9-81ED-4DB2-BD59-A6C34878D82A}">
                    <a16:rowId xmlns:a16="http://schemas.microsoft.com/office/drawing/2014/main" val="2191993383"/>
                  </a:ext>
                </a:extLst>
              </a:tr>
              <a:tr h="314049">
                <a:tc>
                  <a:txBody>
                    <a:bodyPr/>
                    <a:lstStyle/>
                    <a:p>
                      <a:pPr algn="ctr"/>
                      <a:r>
                        <a:rPr lang="en-US" sz="1500" dirty="0">
                          <a:effectLst/>
                        </a:rPr>
                        <a:t>[A2]</a:t>
                      </a:r>
                    </a:p>
                  </a:txBody>
                  <a:tcPr marL="77410" marR="77410" marT="38705" marB="38705" anchor="ctr">
                    <a:lnL>
                      <a:noFill/>
                    </a:lnL>
                    <a:lnR>
                      <a:noFill/>
                    </a:lnR>
                    <a:lnT>
                      <a:noFill/>
                    </a:lnT>
                    <a:lnB>
                      <a:noFill/>
                    </a:lnB>
                  </a:tcPr>
                </a:tc>
                <a:tc>
                  <a:txBody>
                    <a:bodyPr/>
                    <a:lstStyle/>
                    <a:p>
                      <a:pPr algn="ctr"/>
                      <a:r>
                        <a:rPr lang="en-US" sz="1500">
                          <a:effectLst/>
                        </a:rPr>
                        <a:t>[B2]</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dirty="0">
                          <a:effectLst/>
                        </a:rPr>
                        <a:t>[C2]</a:t>
                      </a:r>
                    </a:p>
                  </a:txBody>
                  <a:tcPr marL="77410" marR="77410" marT="38705" marB="38705" anchor="ctr">
                    <a:lnL>
                      <a:noFill/>
                    </a:lnL>
                    <a:lnR>
                      <a:noFill/>
                    </a:lnR>
                    <a:lnT>
                      <a:noFill/>
                    </a:lnT>
                    <a:lnB>
                      <a:noFill/>
                    </a:lnB>
                  </a:tcPr>
                </a:tc>
                <a:tc>
                  <a:txBody>
                    <a:bodyPr/>
                    <a:lstStyle/>
                    <a:p>
                      <a:pPr algn="ctr"/>
                      <a:r>
                        <a:rPr lang="en-US" sz="1500">
                          <a:effectLst/>
                        </a:rPr>
                        <a:t>[D2]</a:t>
                      </a:r>
                    </a:p>
                  </a:txBody>
                  <a:tcPr marL="77410" marR="77410" marT="38705" marB="38705" anchor="ctr">
                    <a:lnL>
                      <a:noFill/>
                    </a:lnL>
                    <a:lnR>
                      <a:noFill/>
                    </a:lnR>
                    <a:lnT>
                      <a:noFill/>
                    </a:lnT>
                    <a:lnB>
                      <a:noFill/>
                    </a:lnB>
                  </a:tcPr>
                </a:tc>
                <a:extLst>
                  <a:ext uri="{0D108BD9-81ED-4DB2-BD59-A6C34878D82A}">
                    <a16:rowId xmlns:a16="http://schemas.microsoft.com/office/drawing/2014/main" val="929033850"/>
                  </a:ext>
                </a:extLst>
              </a:tr>
              <a:tr h="314049">
                <a:tc>
                  <a:txBody>
                    <a:bodyPr/>
                    <a:lstStyle/>
                    <a:p>
                      <a:pPr algn="ctr"/>
                      <a:r>
                        <a:rPr lang="en-US" sz="1500" dirty="0">
                          <a:effectLst/>
                        </a:rPr>
                        <a:t>[A3]</a:t>
                      </a:r>
                    </a:p>
                  </a:txBody>
                  <a:tcPr marL="77410" marR="77410" marT="38705" marB="38705" anchor="ctr">
                    <a:lnL>
                      <a:noFill/>
                    </a:lnL>
                    <a:lnR>
                      <a:noFill/>
                    </a:lnR>
                    <a:lnT>
                      <a:noFill/>
                    </a:lnT>
                    <a:lnB>
                      <a:noFill/>
                    </a:lnB>
                  </a:tcPr>
                </a:tc>
                <a:tc>
                  <a:txBody>
                    <a:bodyPr/>
                    <a:lstStyle/>
                    <a:p>
                      <a:pPr algn="ctr"/>
                      <a:r>
                        <a:rPr lang="en-US" sz="1500" dirty="0">
                          <a:effectLst/>
                        </a:rPr>
                        <a:t>[B3]</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a:effectLst/>
                        </a:rPr>
                        <a:t>[C3]</a:t>
                      </a:r>
                    </a:p>
                  </a:txBody>
                  <a:tcPr marL="77410" marR="77410" marT="38705" marB="38705" anchor="ctr">
                    <a:lnL>
                      <a:noFill/>
                    </a:lnL>
                    <a:lnR>
                      <a:noFill/>
                    </a:lnR>
                    <a:lnT>
                      <a:noFill/>
                    </a:lnT>
                    <a:lnB>
                      <a:noFill/>
                    </a:lnB>
                  </a:tcPr>
                </a:tc>
                <a:tc>
                  <a:txBody>
                    <a:bodyPr/>
                    <a:lstStyle/>
                    <a:p>
                      <a:pPr algn="ctr"/>
                      <a:r>
                        <a:rPr lang="en-US" sz="1500">
                          <a:effectLst/>
                        </a:rPr>
                        <a:t>[D3]</a:t>
                      </a:r>
                    </a:p>
                  </a:txBody>
                  <a:tcPr marL="77410" marR="77410" marT="38705" marB="38705" anchor="ctr">
                    <a:lnL>
                      <a:noFill/>
                    </a:lnL>
                    <a:lnR>
                      <a:noFill/>
                    </a:lnR>
                    <a:lnT>
                      <a:noFill/>
                    </a:lnT>
                    <a:lnB>
                      <a:noFill/>
                    </a:lnB>
                  </a:tcPr>
                </a:tc>
                <a:extLst>
                  <a:ext uri="{0D108BD9-81ED-4DB2-BD59-A6C34878D82A}">
                    <a16:rowId xmlns:a16="http://schemas.microsoft.com/office/drawing/2014/main" val="2331001667"/>
                  </a:ext>
                </a:extLst>
              </a:tr>
              <a:tr h="314049">
                <a:tc>
                  <a:txBody>
                    <a:bodyPr/>
                    <a:lstStyle/>
                    <a:p>
                      <a:pPr algn="ctr"/>
                      <a:r>
                        <a:rPr lang="en-US" sz="1500">
                          <a:effectLst/>
                        </a:rPr>
                        <a:t>[A4]</a:t>
                      </a:r>
                    </a:p>
                  </a:txBody>
                  <a:tcPr marL="77410" marR="77410" marT="38705" marB="38705" anchor="ctr">
                    <a:lnL>
                      <a:noFill/>
                    </a:lnL>
                    <a:lnR>
                      <a:noFill/>
                    </a:lnR>
                    <a:lnT>
                      <a:noFill/>
                    </a:lnT>
                    <a:lnB>
                      <a:noFill/>
                    </a:lnB>
                  </a:tcPr>
                </a:tc>
                <a:tc>
                  <a:txBody>
                    <a:bodyPr/>
                    <a:lstStyle/>
                    <a:p>
                      <a:pPr algn="ctr"/>
                      <a:r>
                        <a:rPr lang="en-US" sz="1500">
                          <a:effectLst/>
                        </a:rPr>
                        <a:t>[B4]</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dirty="0">
                          <a:effectLst/>
                        </a:rPr>
                        <a:t>[C4]</a:t>
                      </a:r>
                    </a:p>
                  </a:txBody>
                  <a:tcPr marL="77410" marR="77410" marT="38705" marB="38705" anchor="ctr">
                    <a:lnL>
                      <a:noFill/>
                    </a:lnL>
                    <a:lnR>
                      <a:noFill/>
                    </a:lnR>
                    <a:lnT>
                      <a:noFill/>
                    </a:lnT>
                    <a:lnB>
                      <a:noFill/>
                    </a:lnB>
                  </a:tcPr>
                </a:tc>
                <a:tc>
                  <a:txBody>
                    <a:bodyPr/>
                    <a:lstStyle/>
                    <a:p>
                      <a:pPr algn="ctr"/>
                      <a:r>
                        <a:rPr lang="en-US" sz="1500" dirty="0">
                          <a:effectLst/>
                        </a:rPr>
                        <a:t>[D4]</a:t>
                      </a:r>
                    </a:p>
                  </a:txBody>
                  <a:tcPr marL="77410" marR="77410" marT="38705" marB="38705" anchor="ctr">
                    <a:lnL>
                      <a:noFill/>
                    </a:lnL>
                    <a:lnR>
                      <a:noFill/>
                    </a:lnR>
                    <a:lnT>
                      <a:noFill/>
                    </a:lnT>
                    <a:lnB>
                      <a:noFill/>
                    </a:lnB>
                  </a:tcPr>
                </a:tc>
                <a:extLst>
                  <a:ext uri="{0D108BD9-81ED-4DB2-BD59-A6C34878D82A}">
                    <a16:rowId xmlns:a16="http://schemas.microsoft.com/office/drawing/2014/main" val="3467031755"/>
                  </a:ext>
                </a:extLst>
              </a:tr>
              <a:tr h="314049">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126050738"/>
                  </a:ext>
                </a:extLst>
              </a:tr>
              <a:tr h="314049">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996043640"/>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8104551"/>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87137773"/>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183627181"/>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4118793835"/>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780905798"/>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3737730677"/>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209460765"/>
                  </a:ext>
                </a:extLst>
              </a:tr>
            </a:tbl>
          </a:graphicData>
        </a:graphic>
      </p:graphicFrame>
      <p:sp>
        <p:nvSpPr>
          <p:cNvPr id="4" name="Rectangle 1">
            <a:extLst>
              <a:ext uri="{FF2B5EF4-FFF2-40B4-BE49-F238E27FC236}">
                <a16:creationId xmlns:a16="http://schemas.microsoft.com/office/drawing/2014/main" id="{20619CBF-F619-E67F-5F8E-334D6F6E0E42}"/>
              </a:ext>
            </a:extLst>
          </p:cNvPr>
          <p:cNvSpPr>
            <a:spLocks noChangeArrowheads="1"/>
          </p:cNvSpPr>
          <p:nvPr/>
        </p:nvSpPr>
        <p:spPr bwMode="auto">
          <a:xfrm>
            <a:off x="228600" y="852101"/>
            <a:ext cx="8686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Suppose we have a conditional branch that has an outcome shown in the table. What are the instances of the branch that will be correctly predicted using </a:t>
            </a:r>
            <a:r>
              <a:rPr kumimoji="0" lang="en-US" altLang="en-US" sz="1800" b="1" i="0" u="none" strike="noStrike" cap="none" normalizeH="0" baseline="0" dirty="0">
                <a:ln>
                  <a:noFill/>
                </a:ln>
                <a:solidFill>
                  <a:schemeClr val="tx1"/>
                </a:solidFill>
                <a:effectLst/>
                <a:latin typeface="Arial" panose="020B0604020202020204" pitchFamily="34" charset="0"/>
              </a:rPr>
              <a:t>2-bit prediction counter</a:t>
            </a:r>
            <a:r>
              <a:rPr kumimoji="0" lang="en-US" altLang="en-US" sz="1800" b="0" i="0" u="none" strike="noStrike" cap="none" normalizeH="0" baseline="0" dirty="0">
                <a:ln>
                  <a:noFill/>
                </a:ln>
                <a:solidFill>
                  <a:schemeClr val="tx1"/>
                </a:solidFill>
                <a:effectLst/>
                <a:latin typeface="Arial" panose="020B0604020202020204" pitchFamily="34" charset="0"/>
              </a:rPr>
              <a:t>? Show the old counter state, prediction generated by the predictor, whether the prediction is correct, and the new state of the counter (after updated by the outcome of the current branch).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Show the prediction outcome for </a:t>
            </a:r>
            <a:r>
              <a:rPr kumimoji="0" lang="en-US" altLang="en-US" sz="1800" b="1" i="0" u="none" strike="noStrike" cap="none" normalizeH="0" baseline="0" dirty="0">
                <a:ln>
                  <a:noFill/>
                </a:ln>
                <a:solidFill>
                  <a:schemeClr val="tx1"/>
                </a:solidFill>
                <a:effectLst/>
                <a:latin typeface="Arial" panose="020B0604020202020204" pitchFamily="34" charset="0"/>
              </a:rPr>
              <a:t>2-bit counter</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Show the prediction outcome for </a:t>
            </a:r>
            <a:r>
              <a:rPr lang="en-US" b="1" dirty="0"/>
              <a:t>2-bit counter</a:t>
            </a:r>
            <a:r>
              <a:rPr lang="en-US" dirty="0"/>
              <a:t>. Use T/N for 'Prediction Direction' and y/n for '</a:t>
            </a:r>
            <a:r>
              <a:rPr lang="en-US" dirty="0" err="1"/>
              <a:t>Mispredicted</a:t>
            </a:r>
            <a:r>
              <a:rPr lang="en-US" dirty="0"/>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2087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9E875-172B-1014-9BEA-4A67358729B0}"/>
              </a:ext>
            </a:extLst>
          </p:cNvPr>
          <p:cNvSpPr>
            <a:spLocks noGrp="1"/>
          </p:cNvSpPr>
          <p:nvPr>
            <p:ph type="title"/>
          </p:nvPr>
        </p:nvSpPr>
        <p:spPr/>
        <p:txBody>
          <a:bodyPr/>
          <a:lstStyle/>
          <a:p>
            <a:r>
              <a:rPr lang="en-US" dirty="0"/>
              <a:t>Example</a:t>
            </a:r>
          </a:p>
        </p:txBody>
      </p:sp>
      <p:graphicFrame>
        <p:nvGraphicFramePr>
          <p:cNvPr id="3" name="Table 2">
            <a:extLst>
              <a:ext uri="{FF2B5EF4-FFF2-40B4-BE49-F238E27FC236}">
                <a16:creationId xmlns:a16="http://schemas.microsoft.com/office/drawing/2014/main" id="{5FCA506F-FA8E-A393-B577-C7D47A9A2161}"/>
              </a:ext>
            </a:extLst>
          </p:cNvPr>
          <p:cNvGraphicFramePr>
            <a:graphicFrameLocks noGrp="1"/>
          </p:cNvGraphicFramePr>
          <p:nvPr/>
        </p:nvGraphicFramePr>
        <p:xfrm>
          <a:off x="838200" y="956329"/>
          <a:ext cx="6954955" cy="4945341"/>
        </p:xfrm>
        <a:graphic>
          <a:graphicData uri="http://schemas.openxmlformats.org/drawingml/2006/table">
            <a:tbl>
              <a:tblPr/>
              <a:tblGrid>
                <a:gridCol w="1390991">
                  <a:extLst>
                    <a:ext uri="{9D8B030D-6E8A-4147-A177-3AD203B41FA5}">
                      <a16:colId xmlns:a16="http://schemas.microsoft.com/office/drawing/2014/main" val="3594260443"/>
                    </a:ext>
                  </a:extLst>
                </a:gridCol>
                <a:gridCol w="1390991">
                  <a:extLst>
                    <a:ext uri="{9D8B030D-6E8A-4147-A177-3AD203B41FA5}">
                      <a16:colId xmlns:a16="http://schemas.microsoft.com/office/drawing/2014/main" val="772549271"/>
                    </a:ext>
                  </a:extLst>
                </a:gridCol>
                <a:gridCol w="1390991">
                  <a:extLst>
                    <a:ext uri="{9D8B030D-6E8A-4147-A177-3AD203B41FA5}">
                      <a16:colId xmlns:a16="http://schemas.microsoft.com/office/drawing/2014/main" val="4248456811"/>
                    </a:ext>
                  </a:extLst>
                </a:gridCol>
                <a:gridCol w="1390991">
                  <a:extLst>
                    <a:ext uri="{9D8B030D-6E8A-4147-A177-3AD203B41FA5}">
                      <a16:colId xmlns:a16="http://schemas.microsoft.com/office/drawing/2014/main" val="1754327128"/>
                    </a:ext>
                  </a:extLst>
                </a:gridCol>
                <a:gridCol w="1390991">
                  <a:extLst>
                    <a:ext uri="{9D8B030D-6E8A-4147-A177-3AD203B41FA5}">
                      <a16:colId xmlns:a16="http://schemas.microsoft.com/office/drawing/2014/main" val="3285760680"/>
                    </a:ext>
                  </a:extLst>
                </a:gridCol>
              </a:tblGrid>
              <a:tr h="548655">
                <a:tc>
                  <a:txBody>
                    <a:bodyPr/>
                    <a:lstStyle/>
                    <a:p>
                      <a:pPr algn="ctr"/>
                      <a:r>
                        <a:rPr lang="en-US" sz="1500">
                          <a:effectLst/>
                        </a:rPr>
                        <a:t>Old Counter State</a:t>
                      </a:r>
                    </a:p>
                  </a:txBody>
                  <a:tcPr marL="77410" marR="77410" marT="38705" marB="38705" anchor="ctr">
                    <a:lnL>
                      <a:noFill/>
                    </a:lnL>
                    <a:lnR>
                      <a:noFill/>
                    </a:lnR>
                    <a:lnT>
                      <a:noFill/>
                    </a:lnT>
                    <a:lnB>
                      <a:noFill/>
                    </a:lnB>
                  </a:tcPr>
                </a:tc>
                <a:tc>
                  <a:txBody>
                    <a:bodyPr/>
                    <a:lstStyle/>
                    <a:p>
                      <a:pPr algn="ctr"/>
                      <a:r>
                        <a:rPr lang="en-US" sz="1500">
                          <a:effectLst/>
                        </a:rPr>
                        <a:t>Prediction Direction</a:t>
                      </a:r>
                    </a:p>
                  </a:txBody>
                  <a:tcPr marL="77410" marR="77410" marT="38705" marB="38705" anchor="ctr">
                    <a:lnL>
                      <a:noFill/>
                    </a:lnL>
                    <a:lnR>
                      <a:noFill/>
                    </a:lnR>
                    <a:lnT>
                      <a:noFill/>
                    </a:lnT>
                    <a:lnB>
                      <a:noFill/>
                    </a:lnB>
                  </a:tcPr>
                </a:tc>
                <a:tc>
                  <a:txBody>
                    <a:bodyPr/>
                    <a:lstStyle/>
                    <a:p>
                      <a:pPr algn="ctr"/>
                      <a:r>
                        <a:rPr lang="en-US" sz="1500">
                          <a:effectLst/>
                        </a:rPr>
                        <a:t>Actual Outcome</a:t>
                      </a:r>
                    </a:p>
                  </a:txBody>
                  <a:tcPr marL="77410" marR="77410" marT="38705" marB="38705" anchor="ctr">
                    <a:lnL>
                      <a:noFill/>
                    </a:lnL>
                    <a:lnR>
                      <a:noFill/>
                    </a:lnR>
                    <a:lnT>
                      <a:noFill/>
                    </a:lnT>
                    <a:lnB>
                      <a:noFill/>
                    </a:lnB>
                  </a:tcPr>
                </a:tc>
                <a:tc>
                  <a:txBody>
                    <a:bodyPr/>
                    <a:lstStyle/>
                    <a:p>
                      <a:pPr algn="ctr"/>
                      <a:r>
                        <a:rPr lang="en-US" sz="1500">
                          <a:effectLst/>
                        </a:rPr>
                        <a:t>Mispredicted?</a:t>
                      </a:r>
                    </a:p>
                  </a:txBody>
                  <a:tcPr marL="77410" marR="77410" marT="38705" marB="38705" anchor="ctr">
                    <a:lnL>
                      <a:noFill/>
                    </a:lnL>
                    <a:lnR>
                      <a:noFill/>
                    </a:lnR>
                    <a:lnT>
                      <a:noFill/>
                    </a:lnT>
                    <a:lnB>
                      <a:noFill/>
                    </a:lnB>
                  </a:tcPr>
                </a:tc>
                <a:tc>
                  <a:txBody>
                    <a:bodyPr/>
                    <a:lstStyle/>
                    <a:p>
                      <a:pPr algn="ctr"/>
                      <a:r>
                        <a:rPr lang="en-US" sz="1500">
                          <a:effectLst/>
                        </a:rPr>
                        <a:t>New Counter State</a:t>
                      </a:r>
                    </a:p>
                  </a:txBody>
                  <a:tcPr marL="77410" marR="77410" marT="38705" marB="38705" anchor="ctr">
                    <a:lnL>
                      <a:noFill/>
                    </a:lnL>
                    <a:lnR>
                      <a:noFill/>
                    </a:lnR>
                    <a:lnT>
                      <a:noFill/>
                    </a:lnT>
                    <a:lnB>
                      <a:noFill/>
                    </a:lnB>
                  </a:tcPr>
                </a:tc>
                <a:extLst>
                  <a:ext uri="{0D108BD9-81ED-4DB2-BD59-A6C34878D82A}">
                    <a16:rowId xmlns:a16="http://schemas.microsoft.com/office/drawing/2014/main" val="1190551146"/>
                  </a:ext>
                </a:extLst>
              </a:tr>
              <a:tr h="314049">
                <a:tc>
                  <a:txBody>
                    <a:bodyPr/>
                    <a:lstStyle/>
                    <a:p>
                      <a:pPr algn="ctr"/>
                      <a:r>
                        <a:rPr lang="en-US" sz="1500" dirty="0">
                          <a:effectLst/>
                        </a:rPr>
                        <a:t>00</a:t>
                      </a:r>
                    </a:p>
                  </a:txBody>
                  <a:tcPr marL="77410" marR="77410" marT="38705" marB="38705" anchor="ctr">
                    <a:lnL>
                      <a:noFill/>
                    </a:lnL>
                    <a:lnR>
                      <a:noFill/>
                    </a:lnR>
                    <a:lnT>
                      <a:noFill/>
                    </a:lnT>
                    <a:lnB>
                      <a:noFill/>
                    </a:lnB>
                  </a:tcPr>
                </a:tc>
                <a:tc>
                  <a:txBody>
                    <a:bodyPr/>
                    <a:lstStyle/>
                    <a:p>
                      <a:pPr algn="ctr"/>
                      <a:r>
                        <a:rPr lang="en-US" sz="1500">
                          <a:effectLst/>
                        </a:rPr>
                        <a:t>N</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a:effectLst/>
                        </a:rPr>
                        <a:t>y</a:t>
                      </a:r>
                    </a:p>
                  </a:txBody>
                  <a:tcPr marL="77410" marR="77410" marT="38705" marB="38705" anchor="ctr">
                    <a:lnL>
                      <a:noFill/>
                    </a:lnL>
                    <a:lnR>
                      <a:noFill/>
                    </a:lnR>
                    <a:lnT>
                      <a:noFill/>
                    </a:lnT>
                    <a:lnB>
                      <a:noFill/>
                    </a:lnB>
                  </a:tcPr>
                </a:tc>
                <a:tc>
                  <a:txBody>
                    <a:bodyPr/>
                    <a:lstStyle/>
                    <a:p>
                      <a:pPr algn="ctr"/>
                      <a:r>
                        <a:rPr lang="en-US" sz="1500" dirty="0">
                          <a:effectLst/>
                        </a:rPr>
                        <a:t>01</a:t>
                      </a:r>
                    </a:p>
                  </a:txBody>
                  <a:tcPr marL="77410" marR="77410" marT="38705" marB="38705" anchor="ctr">
                    <a:lnL>
                      <a:noFill/>
                    </a:lnL>
                    <a:lnR>
                      <a:noFill/>
                    </a:lnR>
                    <a:lnT>
                      <a:noFill/>
                    </a:lnT>
                    <a:lnB>
                      <a:noFill/>
                    </a:lnB>
                  </a:tcPr>
                </a:tc>
                <a:extLst>
                  <a:ext uri="{0D108BD9-81ED-4DB2-BD59-A6C34878D82A}">
                    <a16:rowId xmlns:a16="http://schemas.microsoft.com/office/drawing/2014/main" val="1593074587"/>
                  </a:ext>
                </a:extLst>
              </a:tr>
              <a:tr h="314049">
                <a:tc>
                  <a:txBody>
                    <a:bodyPr/>
                    <a:lstStyle/>
                    <a:p>
                      <a:pPr algn="ctr"/>
                      <a:r>
                        <a:rPr lang="en-US" sz="1500" dirty="0">
                          <a:effectLst/>
                        </a:rPr>
                        <a:t>[01]</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dirty="0">
                          <a:effectLst/>
                        </a:rPr>
                        <a:t>[y]</a:t>
                      </a:r>
                    </a:p>
                  </a:txBody>
                  <a:tcPr marL="77410" marR="77410" marT="38705" marB="38705" anchor="ctr">
                    <a:lnL>
                      <a:noFill/>
                    </a:lnL>
                    <a:lnR>
                      <a:noFill/>
                    </a:lnR>
                    <a:lnT>
                      <a:noFill/>
                    </a:lnT>
                    <a:lnB>
                      <a:noFill/>
                    </a:lnB>
                  </a:tcPr>
                </a:tc>
                <a:tc>
                  <a:txBody>
                    <a:bodyPr/>
                    <a:lstStyle/>
                    <a:p>
                      <a:pPr algn="ctr"/>
                      <a:r>
                        <a:rPr lang="en-US" sz="1500" dirty="0">
                          <a:effectLst/>
                        </a:rPr>
                        <a:t>[10]</a:t>
                      </a:r>
                    </a:p>
                  </a:txBody>
                  <a:tcPr marL="77410" marR="77410" marT="38705" marB="38705" anchor="ctr">
                    <a:lnL>
                      <a:noFill/>
                    </a:lnL>
                    <a:lnR>
                      <a:noFill/>
                    </a:lnR>
                    <a:lnT>
                      <a:noFill/>
                    </a:lnT>
                    <a:lnB>
                      <a:noFill/>
                    </a:lnB>
                  </a:tcPr>
                </a:tc>
                <a:extLst>
                  <a:ext uri="{0D108BD9-81ED-4DB2-BD59-A6C34878D82A}">
                    <a16:rowId xmlns:a16="http://schemas.microsoft.com/office/drawing/2014/main" val="2191993383"/>
                  </a:ext>
                </a:extLst>
              </a:tr>
              <a:tr h="314049">
                <a:tc>
                  <a:txBody>
                    <a:bodyPr/>
                    <a:lstStyle/>
                    <a:p>
                      <a:pPr algn="ctr"/>
                      <a:r>
                        <a:rPr lang="en-US" sz="1500" dirty="0">
                          <a:effectLst/>
                        </a:rPr>
                        <a:t>[A2]</a:t>
                      </a:r>
                    </a:p>
                  </a:txBody>
                  <a:tcPr marL="77410" marR="77410" marT="38705" marB="38705" anchor="ctr">
                    <a:lnL>
                      <a:noFill/>
                    </a:lnL>
                    <a:lnR>
                      <a:noFill/>
                    </a:lnR>
                    <a:lnT>
                      <a:noFill/>
                    </a:lnT>
                    <a:lnB>
                      <a:noFill/>
                    </a:lnB>
                  </a:tcPr>
                </a:tc>
                <a:tc>
                  <a:txBody>
                    <a:bodyPr/>
                    <a:lstStyle/>
                    <a:p>
                      <a:pPr algn="ctr"/>
                      <a:r>
                        <a:rPr lang="en-US" sz="1500">
                          <a:effectLst/>
                        </a:rPr>
                        <a:t>[B2]</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dirty="0">
                          <a:effectLst/>
                        </a:rPr>
                        <a:t>[C2]</a:t>
                      </a:r>
                    </a:p>
                  </a:txBody>
                  <a:tcPr marL="77410" marR="77410" marT="38705" marB="38705" anchor="ctr">
                    <a:lnL>
                      <a:noFill/>
                    </a:lnL>
                    <a:lnR>
                      <a:noFill/>
                    </a:lnR>
                    <a:lnT>
                      <a:noFill/>
                    </a:lnT>
                    <a:lnB>
                      <a:noFill/>
                    </a:lnB>
                  </a:tcPr>
                </a:tc>
                <a:tc>
                  <a:txBody>
                    <a:bodyPr/>
                    <a:lstStyle/>
                    <a:p>
                      <a:pPr algn="ctr"/>
                      <a:r>
                        <a:rPr lang="en-US" sz="1500">
                          <a:effectLst/>
                        </a:rPr>
                        <a:t>[D2]</a:t>
                      </a:r>
                    </a:p>
                  </a:txBody>
                  <a:tcPr marL="77410" marR="77410" marT="38705" marB="38705" anchor="ctr">
                    <a:lnL>
                      <a:noFill/>
                    </a:lnL>
                    <a:lnR>
                      <a:noFill/>
                    </a:lnR>
                    <a:lnT>
                      <a:noFill/>
                    </a:lnT>
                    <a:lnB>
                      <a:noFill/>
                    </a:lnB>
                  </a:tcPr>
                </a:tc>
                <a:extLst>
                  <a:ext uri="{0D108BD9-81ED-4DB2-BD59-A6C34878D82A}">
                    <a16:rowId xmlns:a16="http://schemas.microsoft.com/office/drawing/2014/main" val="929033850"/>
                  </a:ext>
                </a:extLst>
              </a:tr>
              <a:tr h="314049">
                <a:tc>
                  <a:txBody>
                    <a:bodyPr/>
                    <a:lstStyle/>
                    <a:p>
                      <a:pPr algn="ctr"/>
                      <a:r>
                        <a:rPr lang="en-US" sz="1500" dirty="0">
                          <a:effectLst/>
                        </a:rPr>
                        <a:t>[A3]</a:t>
                      </a:r>
                    </a:p>
                  </a:txBody>
                  <a:tcPr marL="77410" marR="77410" marT="38705" marB="38705" anchor="ctr">
                    <a:lnL>
                      <a:noFill/>
                    </a:lnL>
                    <a:lnR>
                      <a:noFill/>
                    </a:lnR>
                    <a:lnT>
                      <a:noFill/>
                    </a:lnT>
                    <a:lnB>
                      <a:noFill/>
                    </a:lnB>
                  </a:tcPr>
                </a:tc>
                <a:tc>
                  <a:txBody>
                    <a:bodyPr/>
                    <a:lstStyle/>
                    <a:p>
                      <a:pPr algn="ctr"/>
                      <a:r>
                        <a:rPr lang="en-US" sz="1500" dirty="0">
                          <a:effectLst/>
                        </a:rPr>
                        <a:t>[B3]</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a:effectLst/>
                        </a:rPr>
                        <a:t>[C3]</a:t>
                      </a:r>
                    </a:p>
                  </a:txBody>
                  <a:tcPr marL="77410" marR="77410" marT="38705" marB="38705" anchor="ctr">
                    <a:lnL>
                      <a:noFill/>
                    </a:lnL>
                    <a:lnR>
                      <a:noFill/>
                    </a:lnR>
                    <a:lnT>
                      <a:noFill/>
                    </a:lnT>
                    <a:lnB>
                      <a:noFill/>
                    </a:lnB>
                  </a:tcPr>
                </a:tc>
                <a:tc>
                  <a:txBody>
                    <a:bodyPr/>
                    <a:lstStyle/>
                    <a:p>
                      <a:pPr algn="ctr"/>
                      <a:r>
                        <a:rPr lang="en-US" sz="1500">
                          <a:effectLst/>
                        </a:rPr>
                        <a:t>[D3]</a:t>
                      </a:r>
                    </a:p>
                  </a:txBody>
                  <a:tcPr marL="77410" marR="77410" marT="38705" marB="38705" anchor="ctr">
                    <a:lnL>
                      <a:noFill/>
                    </a:lnL>
                    <a:lnR>
                      <a:noFill/>
                    </a:lnR>
                    <a:lnT>
                      <a:noFill/>
                    </a:lnT>
                    <a:lnB>
                      <a:noFill/>
                    </a:lnB>
                  </a:tcPr>
                </a:tc>
                <a:extLst>
                  <a:ext uri="{0D108BD9-81ED-4DB2-BD59-A6C34878D82A}">
                    <a16:rowId xmlns:a16="http://schemas.microsoft.com/office/drawing/2014/main" val="2331001667"/>
                  </a:ext>
                </a:extLst>
              </a:tr>
              <a:tr h="314049">
                <a:tc>
                  <a:txBody>
                    <a:bodyPr/>
                    <a:lstStyle/>
                    <a:p>
                      <a:pPr algn="ctr"/>
                      <a:r>
                        <a:rPr lang="en-US" sz="1500">
                          <a:effectLst/>
                        </a:rPr>
                        <a:t>[A4]</a:t>
                      </a:r>
                    </a:p>
                  </a:txBody>
                  <a:tcPr marL="77410" marR="77410" marT="38705" marB="38705" anchor="ctr">
                    <a:lnL>
                      <a:noFill/>
                    </a:lnL>
                    <a:lnR>
                      <a:noFill/>
                    </a:lnR>
                    <a:lnT>
                      <a:noFill/>
                    </a:lnT>
                    <a:lnB>
                      <a:noFill/>
                    </a:lnB>
                  </a:tcPr>
                </a:tc>
                <a:tc>
                  <a:txBody>
                    <a:bodyPr/>
                    <a:lstStyle/>
                    <a:p>
                      <a:pPr algn="ctr"/>
                      <a:r>
                        <a:rPr lang="en-US" sz="1500">
                          <a:effectLst/>
                        </a:rPr>
                        <a:t>[B4]</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dirty="0">
                          <a:effectLst/>
                        </a:rPr>
                        <a:t>[C4]</a:t>
                      </a:r>
                    </a:p>
                  </a:txBody>
                  <a:tcPr marL="77410" marR="77410" marT="38705" marB="38705" anchor="ctr">
                    <a:lnL>
                      <a:noFill/>
                    </a:lnL>
                    <a:lnR>
                      <a:noFill/>
                    </a:lnR>
                    <a:lnT>
                      <a:noFill/>
                    </a:lnT>
                    <a:lnB>
                      <a:noFill/>
                    </a:lnB>
                  </a:tcPr>
                </a:tc>
                <a:tc>
                  <a:txBody>
                    <a:bodyPr/>
                    <a:lstStyle/>
                    <a:p>
                      <a:pPr algn="ctr"/>
                      <a:r>
                        <a:rPr lang="en-US" sz="1500" dirty="0">
                          <a:effectLst/>
                        </a:rPr>
                        <a:t>[D4]</a:t>
                      </a:r>
                    </a:p>
                  </a:txBody>
                  <a:tcPr marL="77410" marR="77410" marT="38705" marB="38705" anchor="ctr">
                    <a:lnL>
                      <a:noFill/>
                    </a:lnL>
                    <a:lnR>
                      <a:noFill/>
                    </a:lnR>
                    <a:lnT>
                      <a:noFill/>
                    </a:lnT>
                    <a:lnB>
                      <a:noFill/>
                    </a:lnB>
                  </a:tcPr>
                </a:tc>
                <a:extLst>
                  <a:ext uri="{0D108BD9-81ED-4DB2-BD59-A6C34878D82A}">
                    <a16:rowId xmlns:a16="http://schemas.microsoft.com/office/drawing/2014/main" val="3467031755"/>
                  </a:ext>
                </a:extLst>
              </a:tr>
              <a:tr h="314049">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126050738"/>
                  </a:ext>
                </a:extLst>
              </a:tr>
              <a:tr h="314049">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996043640"/>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8104551"/>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87137773"/>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183627181"/>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4118793835"/>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780905798"/>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3737730677"/>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209460765"/>
                  </a:ext>
                </a:extLst>
              </a:tr>
            </a:tbl>
          </a:graphicData>
        </a:graphic>
      </p:graphicFrame>
      <p:graphicFrame>
        <p:nvGraphicFramePr>
          <p:cNvPr id="5" name="Table 4">
            <a:extLst>
              <a:ext uri="{FF2B5EF4-FFF2-40B4-BE49-F238E27FC236}">
                <a16:creationId xmlns:a16="http://schemas.microsoft.com/office/drawing/2014/main" id="{75C16864-32FC-1365-A08F-4FCACB57E701}"/>
              </a:ext>
            </a:extLst>
          </p:cNvPr>
          <p:cNvGraphicFramePr>
            <a:graphicFrameLocks noGrp="1"/>
          </p:cNvGraphicFramePr>
          <p:nvPr/>
        </p:nvGraphicFramePr>
        <p:xfrm>
          <a:off x="838200" y="3612928"/>
          <a:ext cx="6954955" cy="4945341"/>
        </p:xfrm>
        <a:graphic>
          <a:graphicData uri="http://schemas.openxmlformats.org/drawingml/2006/table">
            <a:tbl>
              <a:tblPr/>
              <a:tblGrid>
                <a:gridCol w="1390991">
                  <a:extLst>
                    <a:ext uri="{9D8B030D-6E8A-4147-A177-3AD203B41FA5}">
                      <a16:colId xmlns:a16="http://schemas.microsoft.com/office/drawing/2014/main" val="3594260443"/>
                    </a:ext>
                  </a:extLst>
                </a:gridCol>
                <a:gridCol w="1390991">
                  <a:extLst>
                    <a:ext uri="{9D8B030D-6E8A-4147-A177-3AD203B41FA5}">
                      <a16:colId xmlns:a16="http://schemas.microsoft.com/office/drawing/2014/main" val="772549271"/>
                    </a:ext>
                  </a:extLst>
                </a:gridCol>
                <a:gridCol w="1390991">
                  <a:extLst>
                    <a:ext uri="{9D8B030D-6E8A-4147-A177-3AD203B41FA5}">
                      <a16:colId xmlns:a16="http://schemas.microsoft.com/office/drawing/2014/main" val="4248456811"/>
                    </a:ext>
                  </a:extLst>
                </a:gridCol>
                <a:gridCol w="1390991">
                  <a:extLst>
                    <a:ext uri="{9D8B030D-6E8A-4147-A177-3AD203B41FA5}">
                      <a16:colId xmlns:a16="http://schemas.microsoft.com/office/drawing/2014/main" val="1754327128"/>
                    </a:ext>
                  </a:extLst>
                </a:gridCol>
                <a:gridCol w="1390991">
                  <a:extLst>
                    <a:ext uri="{9D8B030D-6E8A-4147-A177-3AD203B41FA5}">
                      <a16:colId xmlns:a16="http://schemas.microsoft.com/office/drawing/2014/main" val="3285760680"/>
                    </a:ext>
                  </a:extLst>
                </a:gridCol>
              </a:tblGrid>
              <a:tr h="548655">
                <a:tc>
                  <a:txBody>
                    <a:bodyPr/>
                    <a:lstStyle/>
                    <a:p>
                      <a:pPr algn="ctr"/>
                      <a:r>
                        <a:rPr lang="en-US" sz="1500">
                          <a:effectLst/>
                        </a:rPr>
                        <a:t>Old Counter State</a:t>
                      </a:r>
                    </a:p>
                  </a:txBody>
                  <a:tcPr marL="77410" marR="77410" marT="38705" marB="38705" anchor="ctr">
                    <a:lnL>
                      <a:noFill/>
                    </a:lnL>
                    <a:lnR>
                      <a:noFill/>
                    </a:lnR>
                    <a:lnT>
                      <a:noFill/>
                    </a:lnT>
                    <a:lnB>
                      <a:noFill/>
                    </a:lnB>
                  </a:tcPr>
                </a:tc>
                <a:tc>
                  <a:txBody>
                    <a:bodyPr/>
                    <a:lstStyle/>
                    <a:p>
                      <a:pPr algn="ctr"/>
                      <a:r>
                        <a:rPr lang="en-US" sz="1500">
                          <a:effectLst/>
                        </a:rPr>
                        <a:t>Prediction Direction</a:t>
                      </a:r>
                    </a:p>
                  </a:txBody>
                  <a:tcPr marL="77410" marR="77410" marT="38705" marB="38705" anchor="ctr">
                    <a:lnL>
                      <a:noFill/>
                    </a:lnL>
                    <a:lnR>
                      <a:noFill/>
                    </a:lnR>
                    <a:lnT>
                      <a:noFill/>
                    </a:lnT>
                    <a:lnB>
                      <a:noFill/>
                    </a:lnB>
                  </a:tcPr>
                </a:tc>
                <a:tc>
                  <a:txBody>
                    <a:bodyPr/>
                    <a:lstStyle/>
                    <a:p>
                      <a:pPr algn="ctr"/>
                      <a:r>
                        <a:rPr lang="en-US" sz="1500">
                          <a:effectLst/>
                        </a:rPr>
                        <a:t>Actual Outcome</a:t>
                      </a:r>
                    </a:p>
                  </a:txBody>
                  <a:tcPr marL="77410" marR="77410" marT="38705" marB="38705" anchor="ctr">
                    <a:lnL>
                      <a:noFill/>
                    </a:lnL>
                    <a:lnR>
                      <a:noFill/>
                    </a:lnR>
                    <a:lnT>
                      <a:noFill/>
                    </a:lnT>
                    <a:lnB>
                      <a:noFill/>
                    </a:lnB>
                  </a:tcPr>
                </a:tc>
                <a:tc>
                  <a:txBody>
                    <a:bodyPr/>
                    <a:lstStyle/>
                    <a:p>
                      <a:pPr algn="ctr"/>
                      <a:r>
                        <a:rPr lang="en-US" sz="1500">
                          <a:effectLst/>
                        </a:rPr>
                        <a:t>Mispredicted?</a:t>
                      </a:r>
                    </a:p>
                  </a:txBody>
                  <a:tcPr marL="77410" marR="77410" marT="38705" marB="38705" anchor="ctr">
                    <a:lnL>
                      <a:noFill/>
                    </a:lnL>
                    <a:lnR>
                      <a:noFill/>
                    </a:lnR>
                    <a:lnT>
                      <a:noFill/>
                    </a:lnT>
                    <a:lnB>
                      <a:noFill/>
                    </a:lnB>
                  </a:tcPr>
                </a:tc>
                <a:tc>
                  <a:txBody>
                    <a:bodyPr/>
                    <a:lstStyle/>
                    <a:p>
                      <a:pPr algn="ctr"/>
                      <a:r>
                        <a:rPr lang="en-US" sz="1500">
                          <a:effectLst/>
                        </a:rPr>
                        <a:t>New Counter State</a:t>
                      </a:r>
                    </a:p>
                  </a:txBody>
                  <a:tcPr marL="77410" marR="77410" marT="38705" marB="38705" anchor="ctr">
                    <a:lnL>
                      <a:noFill/>
                    </a:lnL>
                    <a:lnR>
                      <a:noFill/>
                    </a:lnR>
                    <a:lnT>
                      <a:noFill/>
                    </a:lnT>
                    <a:lnB>
                      <a:noFill/>
                    </a:lnB>
                  </a:tcPr>
                </a:tc>
                <a:extLst>
                  <a:ext uri="{0D108BD9-81ED-4DB2-BD59-A6C34878D82A}">
                    <a16:rowId xmlns:a16="http://schemas.microsoft.com/office/drawing/2014/main" val="1190551146"/>
                  </a:ext>
                </a:extLst>
              </a:tr>
              <a:tr h="314049">
                <a:tc>
                  <a:txBody>
                    <a:bodyPr/>
                    <a:lstStyle/>
                    <a:p>
                      <a:pPr algn="ctr"/>
                      <a:r>
                        <a:rPr lang="en-US" sz="1500" dirty="0">
                          <a:effectLst/>
                        </a:rPr>
                        <a:t>00</a:t>
                      </a:r>
                    </a:p>
                  </a:txBody>
                  <a:tcPr marL="77410" marR="77410" marT="38705" marB="38705" anchor="ctr">
                    <a:lnL>
                      <a:noFill/>
                    </a:lnL>
                    <a:lnR>
                      <a:noFill/>
                    </a:lnR>
                    <a:lnT>
                      <a:noFill/>
                    </a:lnT>
                    <a:lnB>
                      <a:noFill/>
                    </a:lnB>
                  </a:tcPr>
                </a:tc>
                <a:tc>
                  <a:txBody>
                    <a:bodyPr/>
                    <a:lstStyle/>
                    <a:p>
                      <a:pPr algn="ctr"/>
                      <a:r>
                        <a:rPr lang="en-US" sz="1500">
                          <a:effectLst/>
                        </a:rPr>
                        <a:t>N</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a:effectLst/>
                        </a:rPr>
                        <a:t>y</a:t>
                      </a:r>
                    </a:p>
                  </a:txBody>
                  <a:tcPr marL="77410" marR="77410" marT="38705" marB="38705" anchor="ctr">
                    <a:lnL>
                      <a:noFill/>
                    </a:lnL>
                    <a:lnR>
                      <a:noFill/>
                    </a:lnR>
                    <a:lnT>
                      <a:noFill/>
                    </a:lnT>
                    <a:lnB>
                      <a:noFill/>
                    </a:lnB>
                  </a:tcPr>
                </a:tc>
                <a:tc>
                  <a:txBody>
                    <a:bodyPr/>
                    <a:lstStyle/>
                    <a:p>
                      <a:pPr algn="ctr"/>
                      <a:r>
                        <a:rPr lang="en-US" sz="1500" dirty="0">
                          <a:effectLst/>
                        </a:rPr>
                        <a:t>01</a:t>
                      </a:r>
                    </a:p>
                  </a:txBody>
                  <a:tcPr marL="77410" marR="77410" marT="38705" marB="38705" anchor="ctr">
                    <a:lnL>
                      <a:noFill/>
                    </a:lnL>
                    <a:lnR>
                      <a:noFill/>
                    </a:lnR>
                    <a:lnT>
                      <a:noFill/>
                    </a:lnT>
                    <a:lnB>
                      <a:noFill/>
                    </a:lnB>
                  </a:tcPr>
                </a:tc>
                <a:extLst>
                  <a:ext uri="{0D108BD9-81ED-4DB2-BD59-A6C34878D82A}">
                    <a16:rowId xmlns:a16="http://schemas.microsoft.com/office/drawing/2014/main" val="1593074587"/>
                  </a:ext>
                </a:extLst>
              </a:tr>
              <a:tr h="314049">
                <a:tc>
                  <a:txBody>
                    <a:bodyPr/>
                    <a:lstStyle/>
                    <a:p>
                      <a:pPr algn="ctr"/>
                      <a:r>
                        <a:rPr lang="en-US" sz="1500" dirty="0">
                          <a:effectLst/>
                        </a:rPr>
                        <a:t>[01]</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dirty="0">
                          <a:effectLst/>
                        </a:rPr>
                        <a:t>[y]</a:t>
                      </a:r>
                    </a:p>
                  </a:txBody>
                  <a:tcPr marL="77410" marR="77410" marT="38705" marB="38705" anchor="ctr">
                    <a:lnL>
                      <a:noFill/>
                    </a:lnL>
                    <a:lnR>
                      <a:noFill/>
                    </a:lnR>
                    <a:lnT>
                      <a:noFill/>
                    </a:lnT>
                    <a:lnB>
                      <a:noFill/>
                    </a:lnB>
                  </a:tcPr>
                </a:tc>
                <a:tc>
                  <a:txBody>
                    <a:bodyPr/>
                    <a:lstStyle/>
                    <a:p>
                      <a:pPr algn="ctr"/>
                      <a:r>
                        <a:rPr lang="en-US" sz="1500" dirty="0">
                          <a:effectLst/>
                        </a:rPr>
                        <a:t>[10]</a:t>
                      </a:r>
                    </a:p>
                  </a:txBody>
                  <a:tcPr marL="77410" marR="77410" marT="38705" marB="38705" anchor="ctr">
                    <a:lnL>
                      <a:noFill/>
                    </a:lnL>
                    <a:lnR>
                      <a:noFill/>
                    </a:lnR>
                    <a:lnT>
                      <a:noFill/>
                    </a:lnT>
                    <a:lnB>
                      <a:noFill/>
                    </a:lnB>
                  </a:tcPr>
                </a:tc>
                <a:extLst>
                  <a:ext uri="{0D108BD9-81ED-4DB2-BD59-A6C34878D82A}">
                    <a16:rowId xmlns:a16="http://schemas.microsoft.com/office/drawing/2014/main" val="2191993383"/>
                  </a:ext>
                </a:extLst>
              </a:tr>
              <a:tr h="314049">
                <a:tc>
                  <a:txBody>
                    <a:bodyPr/>
                    <a:lstStyle/>
                    <a:p>
                      <a:pPr algn="ctr"/>
                      <a:r>
                        <a:rPr lang="en-US" sz="1500" dirty="0">
                          <a:effectLst/>
                        </a:rPr>
                        <a:t>[10]</a:t>
                      </a:r>
                    </a:p>
                  </a:txBody>
                  <a:tcPr marL="77410" marR="77410" marT="38705" marB="38705" anchor="ctr">
                    <a:lnL>
                      <a:noFill/>
                    </a:lnL>
                    <a:lnR>
                      <a:noFill/>
                    </a:lnR>
                    <a:lnT>
                      <a:noFill/>
                    </a:lnT>
                    <a:lnB>
                      <a:noFill/>
                    </a:lnB>
                  </a:tcPr>
                </a:tc>
                <a:tc>
                  <a:txBody>
                    <a:bodyPr/>
                    <a:lstStyle/>
                    <a:p>
                      <a:pPr algn="ctr"/>
                      <a:r>
                        <a:rPr lang="en-US" sz="1500" dirty="0">
                          <a:effectLst/>
                        </a:rPr>
                        <a:t>[T]</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dirty="0">
                          <a:effectLst/>
                        </a:rPr>
                        <a:t>[11]</a:t>
                      </a:r>
                    </a:p>
                  </a:txBody>
                  <a:tcPr marL="77410" marR="77410" marT="38705" marB="38705" anchor="ctr">
                    <a:lnL>
                      <a:noFill/>
                    </a:lnL>
                    <a:lnR>
                      <a:noFill/>
                    </a:lnR>
                    <a:lnT>
                      <a:noFill/>
                    </a:lnT>
                    <a:lnB>
                      <a:noFill/>
                    </a:lnB>
                  </a:tcPr>
                </a:tc>
                <a:extLst>
                  <a:ext uri="{0D108BD9-81ED-4DB2-BD59-A6C34878D82A}">
                    <a16:rowId xmlns:a16="http://schemas.microsoft.com/office/drawing/2014/main" val="929033850"/>
                  </a:ext>
                </a:extLst>
              </a:tr>
              <a:tr h="314049">
                <a:tc>
                  <a:txBody>
                    <a:bodyPr/>
                    <a:lstStyle/>
                    <a:p>
                      <a:pPr algn="ctr"/>
                      <a:r>
                        <a:rPr lang="en-US" sz="1500" dirty="0">
                          <a:effectLst/>
                        </a:rPr>
                        <a:t>[A3]</a:t>
                      </a:r>
                    </a:p>
                  </a:txBody>
                  <a:tcPr marL="77410" marR="77410" marT="38705" marB="38705" anchor="ctr">
                    <a:lnL>
                      <a:noFill/>
                    </a:lnL>
                    <a:lnR>
                      <a:noFill/>
                    </a:lnR>
                    <a:lnT>
                      <a:noFill/>
                    </a:lnT>
                    <a:lnB>
                      <a:noFill/>
                    </a:lnB>
                  </a:tcPr>
                </a:tc>
                <a:tc>
                  <a:txBody>
                    <a:bodyPr/>
                    <a:lstStyle/>
                    <a:p>
                      <a:pPr algn="ctr"/>
                      <a:r>
                        <a:rPr lang="en-US" sz="1500" dirty="0">
                          <a:effectLst/>
                        </a:rPr>
                        <a:t>[B3]</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a:effectLst/>
                        </a:rPr>
                        <a:t>[C3]</a:t>
                      </a:r>
                    </a:p>
                  </a:txBody>
                  <a:tcPr marL="77410" marR="77410" marT="38705" marB="38705" anchor="ctr">
                    <a:lnL>
                      <a:noFill/>
                    </a:lnL>
                    <a:lnR>
                      <a:noFill/>
                    </a:lnR>
                    <a:lnT>
                      <a:noFill/>
                    </a:lnT>
                    <a:lnB>
                      <a:noFill/>
                    </a:lnB>
                  </a:tcPr>
                </a:tc>
                <a:tc>
                  <a:txBody>
                    <a:bodyPr/>
                    <a:lstStyle/>
                    <a:p>
                      <a:pPr algn="ctr"/>
                      <a:r>
                        <a:rPr lang="en-US" sz="1500">
                          <a:effectLst/>
                        </a:rPr>
                        <a:t>[D3]</a:t>
                      </a:r>
                    </a:p>
                  </a:txBody>
                  <a:tcPr marL="77410" marR="77410" marT="38705" marB="38705" anchor="ctr">
                    <a:lnL>
                      <a:noFill/>
                    </a:lnL>
                    <a:lnR>
                      <a:noFill/>
                    </a:lnR>
                    <a:lnT>
                      <a:noFill/>
                    </a:lnT>
                    <a:lnB>
                      <a:noFill/>
                    </a:lnB>
                  </a:tcPr>
                </a:tc>
                <a:extLst>
                  <a:ext uri="{0D108BD9-81ED-4DB2-BD59-A6C34878D82A}">
                    <a16:rowId xmlns:a16="http://schemas.microsoft.com/office/drawing/2014/main" val="2331001667"/>
                  </a:ext>
                </a:extLst>
              </a:tr>
              <a:tr h="314049">
                <a:tc>
                  <a:txBody>
                    <a:bodyPr/>
                    <a:lstStyle/>
                    <a:p>
                      <a:pPr algn="ctr"/>
                      <a:r>
                        <a:rPr lang="en-US" sz="1500" dirty="0">
                          <a:effectLst/>
                        </a:rPr>
                        <a:t>[A4]</a:t>
                      </a:r>
                    </a:p>
                  </a:txBody>
                  <a:tcPr marL="77410" marR="77410" marT="38705" marB="38705" anchor="ctr">
                    <a:lnL>
                      <a:noFill/>
                    </a:lnL>
                    <a:lnR>
                      <a:noFill/>
                    </a:lnR>
                    <a:lnT>
                      <a:noFill/>
                    </a:lnT>
                    <a:lnB>
                      <a:noFill/>
                    </a:lnB>
                  </a:tcPr>
                </a:tc>
                <a:tc>
                  <a:txBody>
                    <a:bodyPr/>
                    <a:lstStyle/>
                    <a:p>
                      <a:pPr algn="ctr"/>
                      <a:r>
                        <a:rPr lang="en-US" sz="1500" dirty="0">
                          <a:effectLst/>
                        </a:rPr>
                        <a:t>[B4]</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dirty="0">
                          <a:effectLst/>
                        </a:rPr>
                        <a:t>[C4]</a:t>
                      </a:r>
                    </a:p>
                  </a:txBody>
                  <a:tcPr marL="77410" marR="77410" marT="38705" marB="38705" anchor="ctr">
                    <a:lnL>
                      <a:noFill/>
                    </a:lnL>
                    <a:lnR>
                      <a:noFill/>
                    </a:lnR>
                    <a:lnT>
                      <a:noFill/>
                    </a:lnT>
                    <a:lnB>
                      <a:noFill/>
                    </a:lnB>
                  </a:tcPr>
                </a:tc>
                <a:tc>
                  <a:txBody>
                    <a:bodyPr/>
                    <a:lstStyle/>
                    <a:p>
                      <a:pPr algn="ctr"/>
                      <a:r>
                        <a:rPr lang="en-US" sz="1500" dirty="0">
                          <a:effectLst/>
                        </a:rPr>
                        <a:t>[D4]</a:t>
                      </a:r>
                    </a:p>
                  </a:txBody>
                  <a:tcPr marL="77410" marR="77410" marT="38705" marB="38705" anchor="ctr">
                    <a:lnL>
                      <a:noFill/>
                    </a:lnL>
                    <a:lnR>
                      <a:noFill/>
                    </a:lnR>
                    <a:lnT>
                      <a:noFill/>
                    </a:lnT>
                    <a:lnB>
                      <a:noFill/>
                    </a:lnB>
                  </a:tcPr>
                </a:tc>
                <a:extLst>
                  <a:ext uri="{0D108BD9-81ED-4DB2-BD59-A6C34878D82A}">
                    <a16:rowId xmlns:a16="http://schemas.microsoft.com/office/drawing/2014/main" val="3467031755"/>
                  </a:ext>
                </a:extLst>
              </a:tr>
              <a:tr h="314049">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126050738"/>
                  </a:ext>
                </a:extLst>
              </a:tr>
              <a:tr h="314049">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996043640"/>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8104551"/>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87137773"/>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183627181"/>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4118793835"/>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780905798"/>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3737730677"/>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209460765"/>
                  </a:ext>
                </a:extLst>
              </a:tr>
            </a:tbl>
          </a:graphicData>
        </a:graphic>
      </p:graphicFrame>
    </p:spTree>
    <p:extLst>
      <p:ext uri="{BB962C8B-B14F-4D97-AF65-F5344CB8AC3E}">
        <p14:creationId xmlns:p14="http://schemas.microsoft.com/office/powerpoint/2010/main" val="1436895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9E875-172B-1014-9BEA-4A67358729B0}"/>
              </a:ext>
            </a:extLst>
          </p:cNvPr>
          <p:cNvSpPr>
            <a:spLocks noGrp="1"/>
          </p:cNvSpPr>
          <p:nvPr>
            <p:ph type="title"/>
          </p:nvPr>
        </p:nvSpPr>
        <p:spPr/>
        <p:txBody>
          <a:bodyPr/>
          <a:lstStyle/>
          <a:p>
            <a:r>
              <a:rPr lang="en-US" dirty="0"/>
              <a:t>Example</a:t>
            </a:r>
          </a:p>
        </p:txBody>
      </p:sp>
      <p:graphicFrame>
        <p:nvGraphicFramePr>
          <p:cNvPr id="3" name="Table 2">
            <a:extLst>
              <a:ext uri="{FF2B5EF4-FFF2-40B4-BE49-F238E27FC236}">
                <a16:creationId xmlns:a16="http://schemas.microsoft.com/office/drawing/2014/main" id="{5FCA506F-FA8E-A393-B577-C7D47A9A2161}"/>
              </a:ext>
            </a:extLst>
          </p:cNvPr>
          <p:cNvGraphicFramePr>
            <a:graphicFrameLocks noGrp="1"/>
          </p:cNvGraphicFramePr>
          <p:nvPr/>
        </p:nvGraphicFramePr>
        <p:xfrm>
          <a:off x="838200" y="956329"/>
          <a:ext cx="6954955" cy="4945341"/>
        </p:xfrm>
        <a:graphic>
          <a:graphicData uri="http://schemas.openxmlformats.org/drawingml/2006/table">
            <a:tbl>
              <a:tblPr/>
              <a:tblGrid>
                <a:gridCol w="1390991">
                  <a:extLst>
                    <a:ext uri="{9D8B030D-6E8A-4147-A177-3AD203B41FA5}">
                      <a16:colId xmlns:a16="http://schemas.microsoft.com/office/drawing/2014/main" val="3594260443"/>
                    </a:ext>
                  </a:extLst>
                </a:gridCol>
                <a:gridCol w="1390991">
                  <a:extLst>
                    <a:ext uri="{9D8B030D-6E8A-4147-A177-3AD203B41FA5}">
                      <a16:colId xmlns:a16="http://schemas.microsoft.com/office/drawing/2014/main" val="772549271"/>
                    </a:ext>
                  </a:extLst>
                </a:gridCol>
                <a:gridCol w="1390991">
                  <a:extLst>
                    <a:ext uri="{9D8B030D-6E8A-4147-A177-3AD203B41FA5}">
                      <a16:colId xmlns:a16="http://schemas.microsoft.com/office/drawing/2014/main" val="4248456811"/>
                    </a:ext>
                  </a:extLst>
                </a:gridCol>
                <a:gridCol w="1390991">
                  <a:extLst>
                    <a:ext uri="{9D8B030D-6E8A-4147-A177-3AD203B41FA5}">
                      <a16:colId xmlns:a16="http://schemas.microsoft.com/office/drawing/2014/main" val="1754327128"/>
                    </a:ext>
                  </a:extLst>
                </a:gridCol>
                <a:gridCol w="1390991">
                  <a:extLst>
                    <a:ext uri="{9D8B030D-6E8A-4147-A177-3AD203B41FA5}">
                      <a16:colId xmlns:a16="http://schemas.microsoft.com/office/drawing/2014/main" val="3285760680"/>
                    </a:ext>
                  </a:extLst>
                </a:gridCol>
              </a:tblGrid>
              <a:tr h="548655">
                <a:tc>
                  <a:txBody>
                    <a:bodyPr/>
                    <a:lstStyle/>
                    <a:p>
                      <a:pPr algn="ctr"/>
                      <a:r>
                        <a:rPr lang="en-US" sz="1500">
                          <a:effectLst/>
                        </a:rPr>
                        <a:t>Old Counter State</a:t>
                      </a:r>
                    </a:p>
                  </a:txBody>
                  <a:tcPr marL="77410" marR="77410" marT="38705" marB="38705" anchor="ctr">
                    <a:lnL>
                      <a:noFill/>
                    </a:lnL>
                    <a:lnR>
                      <a:noFill/>
                    </a:lnR>
                    <a:lnT>
                      <a:noFill/>
                    </a:lnT>
                    <a:lnB>
                      <a:noFill/>
                    </a:lnB>
                  </a:tcPr>
                </a:tc>
                <a:tc>
                  <a:txBody>
                    <a:bodyPr/>
                    <a:lstStyle/>
                    <a:p>
                      <a:pPr algn="ctr"/>
                      <a:r>
                        <a:rPr lang="en-US" sz="1500">
                          <a:effectLst/>
                        </a:rPr>
                        <a:t>Prediction Direction</a:t>
                      </a:r>
                    </a:p>
                  </a:txBody>
                  <a:tcPr marL="77410" marR="77410" marT="38705" marB="38705" anchor="ctr">
                    <a:lnL>
                      <a:noFill/>
                    </a:lnL>
                    <a:lnR>
                      <a:noFill/>
                    </a:lnR>
                    <a:lnT>
                      <a:noFill/>
                    </a:lnT>
                    <a:lnB>
                      <a:noFill/>
                    </a:lnB>
                  </a:tcPr>
                </a:tc>
                <a:tc>
                  <a:txBody>
                    <a:bodyPr/>
                    <a:lstStyle/>
                    <a:p>
                      <a:pPr algn="ctr"/>
                      <a:r>
                        <a:rPr lang="en-US" sz="1500">
                          <a:effectLst/>
                        </a:rPr>
                        <a:t>Actual Outcome</a:t>
                      </a:r>
                    </a:p>
                  </a:txBody>
                  <a:tcPr marL="77410" marR="77410" marT="38705" marB="38705" anchor="ctr">
                    <a:lnL>
                      <a:noFill/>
                    </a:lnL>
                    <a:lnR>
                      <a:noFill/>
                    </a:lnR>
                    <a:lnT>
                      <a:noFill/>
                    </a:lnT>
                    <a:lnB>
                      <a:noFill/>
                    </a:lnB>
                  </a:tcPr>
                </a:tc>
                <a:tc>
                  <a:txBody>
                    <a:bodyPr/>
                    <a:lstStyle/>
                    <a:p>
                      <a:pPr algn="ctr"/>
                      <a:r>
                        <a:rPr lang="en-US" sz="1500">
                          <a:effectLst/>
                        </a:rPr>
                        <a:t>Mispredicted?</a:t>
                      </a:r>
                    </a:p>
                  </a:txBody>
                  <a:tcPr marL="77410" marR="77410" marT="38705" marB="38705" anchor="ctr">
                    <a:lnL>
                      <a:noFill/>
                    </a:lnL>
                    <a:lnR>
                      <a:noFill/>
                    </a:lnR>
                    <a:lnT>
                      <a:noFill/>
                    </a:lnT>
                    <a:lnB>
                      <a:noFill/>
                    </a:lnB>
                  </a:tcPr>
                </a:tc>
                <a:tc>
                  <a:txBody>
                    <a:bodyPr/>
                    <a:lstStyle/>
                    <a:p>
                      <a:pPr algn="ctr"/>
                      <a:r>
                        <a:rPr lang="en-US" sz="1500">
                          <a:effectLst/>
                        </a:rPr>
                        <a:t>New Counter State</a:t>
                      </a:r>
                    </a:p>
                  </a:txBody>
                  <a:tcPr marL="77410" marR="77410" marT="38705" marB="38705" anchor="ctr">
                    <a:lnL>
                      <a:noFill/>
                    </a:lnL>
                    <a:lnR>
                      <a:noFill/>
                    </a:lnR>
                    <a:lnT>
                      <a:noFill/>
                    </a:lnT>
                    <a:lnB>
                      <a:noFill/>
                    </a:lnB>
                  </a:tcPr>
                </a:tc>
                <a:extLst>
                  <a:ext uri="{0D108BD9-81ED-4DB2-BD59-A6C34878D82A}">
                    <a16:rowId xmlns:a16="http://schemas.microsoft.com/office/drawing/2014/main" val="1190551146"/>
                  </a:ext>
                </a:extLst>
              </a:tr>
              <a:tr h="314049">
                <a:tc>
                  <a:txBody>
                    <a:bodyPr/>
                    <a:lstStyle/>
                    <a:p>
                      <a:pPr algn="ctr"/>
                      <a:r>
                        <a:rPr lang="en-US" sz="1500" dirty="0">
                          <a:effectLst/>
                        </a:rPr>
                        <a:t>00</a:t>
                      </a:r>
                    </a:p>
                  </a:txBody>
                  <a:tcPr marL="77410" marR="77410" marT="38705" marB="38705" anchor="ctr">
                    <a:lnL>
                      <a:noFill/>
                    </a:lnL>
                    <a:lnR>
                      <a:noFill/>
                    </a:lnR>
                    <a:lnT>
                      <a:noFill/>
                    </a:lnT>
                    <a:lnB>
                      <a:noFill/>
                    </a:lnB>
                  </a:tcPr>
                </a:tc>
                <a:tc>
                  <a:txBody>
                    <a:bodyPr/>
                    <a:lstStyle/>
                    <a:p>
                      <a:pPr algn="ctr"/>
                      <a:r>
                        <a:rPr lang="en-US" sz="1500">
                          <a:effectLst/>
                        </a:rPr>
                        <a:t>N</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a:effectLst/>
                        </a:rPr>
                        <a:t>y</a:t>
                      </a:r>
                    </a:p>
                  </a:txBody>
                  <a:tcPr marL="77410" marR="77410" marT="38705" marB="38705" anchor="ctr">
                    <a:lnL>
                      <a:noFill/>
                    </a:lnL>
                    <a:lnR>
                      <a:noFill/>
                    </a:lnR>
                    <a:lnT>
                      <a:noFill/>
                    </a:lnT>
                    <a:lnB>
                      <a:noFill/>
                    </a:lnB>
                  </a:tcPr>
                </a:tc>
                <a:tc>
                  <a:txBody>
                    <a:bodyPr/>
                    <a:lstStyle/>
                    <a:p>
                      <a:pPr algn="ctr"/>
                      <a:r>
                        <a:rPr lang="en-US" sz="1500" dirty="0">
                          <a:effectLst/>
                        </a:rPr>
                        <a:t>01</a:t>
                      </a:r>
                    </a:p>
                  </a:txBody>
                  <a:tcPr marL="77410" marR="77410" marT="38705" marB="38705" anchor="ctr">
                    <a:lnL>
                      <a:noFill/>
                    </a:lnL>
                    <a:lnR>
                      <a:noFill/>
                    </a:lnR>
                    <a:lnT>
                      <a:noFill/>
                    </a:lnT>
                    <a:lnB>
                      <a:noFill/>
                    </a:lnB>
                  </a:tcPr>
                </a:tc>
                <a:extLst>
                  <a:ext uri="{0D108BD9-81ED-4DB2-BD59-A6C34878D82A}">
                    <a16:rowId xmlns:a16="http://schemas.microsoft.com/office/drawing/2014/main" val="1593074587"/>
                  </a:ext>
                </a:extLst>
              </a:tr>
              <a:tr h="314049">
                <a:tc>
                  <a:txBody>
                    <a:bodyPr/>
                    <a:lstStyle/>
                    <a:p>
                      <a:pPr algn="ctr"/>
                      <a:r>
                        <a:rPr lang="en-US" sz="1500" dirty="0">
                          <a:effectLst/>
                        </a:rPr>
                        <a:t>[01]</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dirty="0">
                          <a:effectLst/>
                        </a:rPr>
                        <a:t>[y]</a:t>
                      </a:r>
                    </a:p>
                  </a:txBody>
                  <a:tcPr marL="77410" marR="77410" marT="38705" marB="38705" anchor="ctr">
                    <a:lnL>
                      <a:noFill/>
                    </a:lnL>
                    <a:lnR>
                      <a:noFill/>
                    </a:lnR>
                    <a:lnT>
                      <a:noFill/>
                    </a:lnT>
                    <a:lnB>
                      <a:noFill/>
                    </a:lnB>
                  </a:tcPr>
                </a:tc>
                <a:tc>
                  <a:txBody>
                    <a:bodyPr/>
                    <a:lstStyle/>
                    <a:p>
                      <a:pPr algn="ctr"/>
                      <a:r>
                        <a:rPr lang="en-US" sz="1500" dirty="0">
                          <a:effectLst/>
                        </a:rPr>
                        <a:t>[10]</a:t>
                      </a:r>
                    </a:p>
                  </a:txBody>
                  <a:tcPr marL="77410" marR="77410" marT="38705" marB="38705" anchor="ctr">
                    <a:lnL>
                      <a:noFill/>
                    </a:lnL>
                    <a:lnR>
                      <a:noFill/>
                    </a:lnR>
                    <a:lnT>
                      <a:noFill/>
                    </a:lnT>
                    <a:lnB>
                      <a:noFill/>
                    </a:lnB>
                  </a:tcPr>
                </a:tc>
                <a:extLst>
                  <a:ext uri="{0D108BD9-81ED-4DB2-BD59-A6C34878D82A}">
                    <a16:rowId xmlns:a16="http://schemas.microsoft.com/office/drawing/2014/main" val="2191993383"/>
                  </a:ext>
                </a:extLst>
              </a:tr>
              <a:tr h="314049">
                <a:tc>
                  <a:txBody>
                    <a:bodyPr/>
                    <a:lstStyle/>
                    <a:p>
                      <a:pPr algn="ctr"/>
                      <a:r>
                        <a:rPr lang="en-US" sz="1500" dirty="0">
                          <a:effectLst/>
                        </a:rPr>
                        <a:t>[10]</a:t>
                      </a:r>
                    </a:p>
                  </a:txBody>
                  <a:tcPr marL="77410" marR="77410" marT="38705" marB="38705" anchor="ctr">
                    <a:lnL>
                      <a:noFill/>
                    </a:lnL>
                    <a:lnR>
                      <a:noFill/>
                    </a:lnR>
                    <a:lnT>
                      <a:noFill/>
                    </a:lnT>
                    <a:lnB>
                      <a:noFill/>
                    </a:lnB>
                  </a:tcPr>
                </a:tc>
                <a:tc>
                  <a:txBody>
                    <a:bodyPr/>
                    <a:lstStyle/>
                    <a:p>
                      <a:pPr algn="ctr"/>
                      <a:r>
                        <a:rPr lang="en-US" sz="1500" dirty="0">
                          <a:effectLst/>
                        </a:rPr>
                        <a:t>[T]</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dirty="0">
                          <a:effectLst/>
                        </a:rPr>
                        <a:t>[11]</a:t>
                      </a:r>
                    </a:p>
                  </a:txBody>
                  <a:tcPr marL="77410" marR="77410" marT="38705" marB="38705" anchor="ctr">
                    <a:lnL>
                      <a:noFill/>
                    </a:lnL>
                    <a:lnR>
                      <a:noFill/>
                    </a:lnR>
                    <a:lnT>
                      <a:noFill/>
                    </a:lnT>
                    <a:lnB>
                      <a:noFill/>
                    </a:lnB>
                  </a:tcPr>
                </a:tc>
                <a:extLst>
                  <a:ext uri="{0D108BD9-81ED-4DB2-BD59-A6C34878D82A}">
                    <a16:rowId xmlns:a16="http://schemas.microsoft.com/office/drawing/2014/main" val="929033850"/>
                  </a:ext>
                </a:extLst>
              </a:tr>
              <a:tr h="314049">
                <a:tc>
                  <a:txBody>
                    <a:bodyPr/>
                    <a:lstStyle/>
                    <a:p>
                      <a:pPr algn="ctr"/>
                      <a:r>
                        <a:rPr lang="en-US" sz="1500" dirty="0">
                          <a:effectLst/>
                        </a:rPr>
                        <a:t>[11]</a:t>
                      </a:r>
                    </a:p>
                  </a:txBody>
                  <a:tcPr marL="77410" marR="77410" marT="38705" marB="38705" anchor="ctr">
                    <a:lnL>
                      <a:noFill/>
                    </a:lnL>
                    <a:lnR>
                      <a:noFill/>
                    </a:lnR>
                    <a:lnT>
                      <a:noFill/>
                    </a:lnT>
                    <a:lnB>
                      <a:noFill/>
                    </a:lnB>
                  </a:tcPr>
                </a:tc>
                <a:tc>
                  <a:txBody>
                    <a:bodyPr/>
                    <a:lstStyle/>
                    <a:p>
                      <a:pPr algn="ctr"/>
                      <a:r>
                        <a:rPr lang="en-US" sz="1500" dirty="0">
                          <a:effectLst/>
                        </a:rPr>
                        <a:t>[T]</a:t>
                      </a:r>
                    </a:p>
                  </a:txBody>
                  <a:tcPr marL="77410" marR="77410" marT="38705" marB="38705" anchor="ctr">
                    <a:lnL>
                      <a:noFill/>
                    </a:lnL>
                    <a:lnR>
                      <a:noFill/>
                    </a:lnR>
                    <a:lnT>
                      <a:noFill/>
                    </a:lnT>
                    <a:lnB>
                      <a:noFill/>
                    </a:lnB>
                  </a:tcPr>
                </a:tc>
                <a:tc>
                  <a:txBody>
                    <a:bodyPr/>
                    <a:lstStyle/>
                    <a:p>
                      <a:pPr algn="ctr"/>
                      <a:r>
                        <a:rPr lang="en-US" sz="1500">
                          <a:effectLst/>
                        </a:rPr>
                        <a:t>N</a:t>
                      </a:r>
                    </a:p>
                  </a:txBody>
                  <a:tcPr marL="77410" marR="77410" marT="38705" marB="38705" anchor="ctr">
                    <a:lnL>
                      <a:noFill/>
                    </a:lnL>
                    <a:lnR>
                      <a:noFill/>
                    </a:lnR>
                    <a:lnT>
                      <a:noFill/>
                    </a:lnT>
                    <a:lnB>
                      <a:noFill/>
                    </a:lnB>
                  </a:tcPr>
                </a:tc>
                <a:tc>
                  <a:txBody>
                    <a:bodyPr/>
                    <a:lstStyle/>
                    <a:p>
                      <a:pPr algn="ctr"/>
                      <a:r>
                        <a:rPr lang="en-US" sz="1500" dirty="0">
                          <a:effectLst/>
                        </a:rPr>
                        <a:t>[y]</a:t>
                      </a:r>
                    </a:p>
                  </a:txBody>
                  <a:tcPr marL="77410" marR="77410" marT="38705" marB="38705" anchor="ctr">
                    <a:lnL>
                      <a:noFill/>
                    </a:lnL>
                    <a:lnR>
                      <a:noFill/>
                    </a:lnR>
                    <a:lnT>
                      <a:noFill/>
                    </a:lnT>
                    <a:lnB>
                      <a:noFill/>
                    </a:lnB>
                  </a:tcPr>
                </a:tc>
                <a:tc>
                  <a:txBody>
                    <a:bodyPr/>
                    <a:lstStyle/>
                    <a:p>
                      <a:pPr algn="ctr"/>
                      <a:r>
                        <a:rPr lang="en-US" sz="1500" dirty="0">
                          <a:effectLst/>
                        </a:rPr>
                        <a:t>[10]</a:t>
                      </a:r>
                    </a:p>
                  </a:txBody>
                  <a:tcPr marL="77410" marR="77410" marT="38705" marB="38705" anchor="ctr">
                    <a:lnL>
                      <a:noFill/>
                    </a:lnL>
                    <a:lnR>
                      <a:noFill/>
                    </a:lnR>
                    <a:lnT>
                      <a:noFill/>
                    </a:lnT>
                    <a:lnB>
                      <a:noFill/>
                    </a:lnB>
                  </a:tcPr>
                </a:tc>
                <a:extLst>
                  <a:ext uri="{0D108BD9-81ED-4DB2-BD59-A6C34878D82A}">
                    <a16:rowId xmlns:a16="http://schemas.microsoft.com/office/drawing/2014/main" val="2331001667"/>
                  </a:ext>
                </a:extLst>
              </a:tr>
              <a:tr h="314049">
                <a:tc>
                  <a:txBody>
                    <a:bodyPr/>
                    <a:lstStyle/>
                    <a:p>
                      <a:pPr algn="ctr"/>
                      <a:r>
                        <a:rPr lang="en-US" sz="1500" dirty="0">
                          <a:effectLst/>
                        </a:rPr>
                        <a:t>[A4]</a:t>
                      </a:r>
                    </a:p>
                  </a:txBody>
                  <a:tcPr marL="77410" marR="77410" marT="38705" marB="38705" anchor="ctr">
                    <a:lnL>
                      <a:noFill/>
                    </a:lnL>
                    <a:lnR>
                      <a:noFill/>
                    </a:lnR>
                    <a:lnT>
                      <a:noFill/>
                    </a:lnT>
                    <a:lnB>
                      <a:noFill/>
                    </a:lnB>
                  </a:tcPr>
                </a:tc>
                <a:tc>
                  <a:txBody>
                    <a:bodyPr/>
                    <a:lstStyle/>
                    <a:p>
                      <a:pPr algn="ctr"/>
                      <a:r>
                        <a:rPr lang="en-US" sz="1500" dirty="0">
                          <a:effectLst/>
                        </a:rPr>
                        <a:t>[B4]</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dirty="0">
                          <a:effectLst/>
                        </a:rPr>
                        <a:t>[C4]</a:t>
                      </a:r>
                    </a:p>
                  </a:txBody>
                  <a:tcPr marL="77410" marR="77410" marT="38705" marB="38705" anchor="ctr">
                    <a:lnL>
                      <a:noFill/>
                    </a:lnL>
                    <a:lnR>
                      <a:noFill/>
                    </a:lnR>
                    <a:lnT>
                      <a:noFill/>
                    </a:lnT>
                    <a:lnB>
                      <a:noFill/>
                    </a:lnB>
                  </a:tcPr>
                </a:tc>
                <a:tc>
                  <a:txBody>
                    <a:bodyPr/>
                    <a:lstStyle/>
                    <a:p>
                      <a:pPr algn="ctr"/>
                      <a:r>
                        <a:rPr lang="en-US" sz="1500" dirty="0">
                          <a:effectLst/>
                        </a:rPr>
                        <a:t>[D4]</a:t>
                      </a:r>
                    </a:p>
                  </a:txBody>
                  <a:tcPr marL="77410" marR="77410" marT="38705" marB="38705" anchor="ctr">
                    <a:lnL>
                      <a:noFill/>
                    </a:lnL>
                    <a:lnR>
                      <a:noFill/>
                    </a:lnR>
                    <a:lnT>
                      <a:noFill/>
                    </a:lnT>
                    <a:lnB>
                      <a:noFill/>
                    </a:lnB>
                  </a:tcPr>
                </a:tc>
                <a:extLst>
                  <a:ext uri="{0D108BD9-81ED-4DB2-BD59-A6C34878D82A}">
                    <a16:rowId xmlns:a16="http://schemas.microsoft.com/office/drawing/2014/main" val="3467031755"/>
                  </a:ext>
                </a:extLst>
              </a:tr>
              <a:tr h="314049">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126050738"/>
                  </a:ext>
                </a:extLst>
              </a:tr>
              <a:tr h="314049">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996043640"/>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8104551"/>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87137773"/>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183627181"/>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4118793835"/>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780905798"/>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3737730677"/>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209460765"/>
                  </a:ext>
                </a:extLst>
              </a:tr>
            </a:tbl>
          </a:graphicData>
        </a:graphic>
      </p:graphicFrame>
      <p:graphicFrame>
        <p:nvGraphicFramePr>
          <p:cNvPr id="5" name="Table 4">
            <a:extLst>
              <a:ext uri="{FF2B5EF4-FFF2-40B4-BE49-F238E27FC236}">
                <a16:creationId xmlns:a16="http://schemas.microsoft.com/office/drawing/2014/main" id="{75C16864-32FC-1365-A08F-4FCACB57E701}"/>
              </a:ext>
            </a:extLst>
          </p:cNvPr>
          <p:cNvGraphicFramePr>
            <a:graphicFrameLocks noGrp="1"/>
          </p:cNvGraphicFramePr>
          <p:nvPr/>
        </p:nvGraphicFramePr>
        <p:xfrm>
          <a:off x="838200" y="3612928"/>
          <a:ext cx="6954955" cy="4945341"/>
        </p:xfrm>
        <a:graphic>
          <a:graphicData uri="http://schemas.openxmlformats.org/drawingml/2006/table">
            <a:tbl>
              <a:tblPr/>
              <a:tblGrid>
                <a:gridCol w="1390991">
                  <a:extLst>
                    <a:ext uri="{9D8B030D-6E8A-4147-A177-3AD203B41FA5}">
                      <a16:colId xmlns:a16="http://schemas.microsoft.com/office/drawing/2014/main" val="3594260443"/>
                    </a:ext>
                  </a:extLst>
                </a:gridCol>
                <a:gridCol w="1390991">
                  <a:extLst>
                    <a:ext uri="{9D8B030D-6E8A-4147-A177-3AD203B41FA5}">
                      <a16:colId xmlns:a16="http://schemas.microsoft.com/office/drawing/2014/main" val="772549271"/>
                    </a:ext>
                  </a:extLst>
                </a:gridCol>
                <a:gridCol w="1390991">
                  <a:extLst>
                    <a:ext uri="{9D8B030D-6E8A-4147-A177-3AD203B41FA5}">
                      <a16:colId xmlns:a16="http://schemas.microsoft.com/office/drawing/2014/main" val="4248456811"/>
                    </a:ext>
                  </a:extLst>
                </a:gridCol>
                <a:gridCol w="1390991">
                  <a:extLst>
                    <a:ext uri="{9D8B030D-6E8A-4147-A177-3AD203B41FA5}">
                      <a16:colId xmlns:a16="http://schemas.microsoft.com/office/drawing/2014/main" val="1754327128"/>
                    </a:ext>
                  </a:extLst>
                </a:gridCol>
                <a:gridCol w="1390991">
                  <a:extLst>
                    <a:ext uri="{9D8B030D-6E8A-4147-A177-3AD203B41FA5}">
                      <a16:colId xmlns:a16="http://schemas.microsoft.com/office/drawing/2014/main" val="3285760680"/>
                    </a:ext>
                  </a:extLst>
                </a:gridCol>
              </a:tblGrid>
              <a:tr h="548655">
                <a:tc>
                  <a:txBody>
                    <a:bodyPr/>
                    <a:lstStyle/>
                    <a:p>
                      <a:pPr algn="ctr"/>
                      <a:r>
                        <a:rPr lang="en-US" sz="1500">
                          <a:effectLst/>
                        </a:rPr>
                        <a:t>Old Counter State</a:t>
                      </a:r>
                    </a:p>
                  </a:txBody>
                  <a:tcPr marL="77410" marR="77410" marT="38705" marB="38705" anchor="ctr">
                    <a:lnL>
                      <a:noFill/>
                    </a:lnL>
                    <a:lnR>
                      <a:noFill/>
                    </a:lnR>
                    <a:lnT>
                      <a:noFill/>
                    </a:lnT>
                    <a:lnB>
                      <a:noFill/>
                    </a:lnB>
                  </a:tcPr>
                </a:tc>
                <a:tc>
                  <a:txBody>
                    <a:bodyPr/>
                    <a:lstStyle/>
                    <a:p>
                      <a:pPr algn="ctr"/>
                      <a:r>
                        <a:rPr lang="en-US" sz="1500">
                          <a:effectLst/>
                        </a:rPr>
                        <a:t>Prediction Direction</a:t>
                      </a:r>
                    </a:p>
                  </a:txBody>
                  <a:tcPr marL="77410" marR="77410" marT="38705" marB="38705" anchor="ctr">
                    <a:lnL>
                      <a:noFill/>
                    </a:lnL>
                    <a:lnR>
                      <a:noFill/>
                    </a:lnR>
                    <a:lnT>
                      <a:noFill/>
                    </a:lnT>
                    <a:lnB>
                      <a:noFill/>
                    </a:lnB>
                  </a:tcPr>
                </a:tc>
                <a:tc>
                  <a:txBody>
                    <a:bodyPr/>
                    <a:lstStyle/>
                    <a:p>
                      <a:pPr algn="ctr"/>
                      <a:r>
                        <a:rPr lang="en-US" sz="1500">
                          <a:effectLst/>
                        </a:rPr>
                        <a:t>Actual Outcome</a:t>
                      </a:r>
                    </a:p>
                  </a:txBody>
                  <a:tcPr marL="77410" marR="77410" marT="38705" marB="38705" anchor="ctr">
                    <a:lnL>
                      <a:noFill/>
                    </a:lnL>
                    <a:lnR>
                      <a:noFill/>
                    </a:lnR>
                    <a:lnT>
                      <a:noFill/>
                    </a:lnT>
                    <a:lnB>
                      <a:noFill/>
                    </a:lnB>
                  </a:tcPr>
                </a:tc>
                <a:tc>
                  <a:txBody>
                    <a:bodyPr/>
                    <a:lstStyle/>
                    <a:p>
                      <a:pPr algn="ctr"/>
                      <a:r>
                        <a:rPr lang="en-US" sz="1500">
                          <a:effectLst/>
                        </a:rPr>
                        <a:t>Mispredicted?</a:t>
                      </a:r>
                    </a:p>
                  </a:txBody>
                  <a:tcPr marL="77410" marR="77410" marT="38705" marB="38705" anchor="ctr">
                    <a:lnL>
                      <a:noFill/>
                    </a:lnL>
                    <a:lnR>
                      <a:noFill/>
                    </a:lnR>
                    <a:lnT>
                      <a:noFill/>
                    </a:lnT>
                    <a:lnB>
                      <a:noFill/>
                    </a:lnB>
                  </a:tcPr>
                </a:tc>
                <a:tc>
                  <a:txBody>
                    <a:bodyPr/>
                    <a:lstStyle/>
                    <a:p>
                      <a:pPr algn="ctr"/>
                      <a:r>
                        <a:rPr lang="en-US" sz="1500">
                          <a:effectLst/>
                        </a:rPr>
                        <a:t>New Counter State</a:t>
                      </a:r>
                    </a:p>
                  </a:txBody>
                  <a:tcPr marL="77410" marR="77410" marT="38705" marB="38705" anchor="ctr">
                    <a:lnL>
                      <a:noFill/>
                    </a:lnL>
                    <a:lnR>
                      <a:noFill/>
                    </a:lnR>
                    <a:lnT>
                      <a:noFill/>
                    </a:lnT>
                    <a:lnB>
                      <a:noFill/>
                    </a:lnB>
                  </a:tcPr>
                </a:tc>
                <a:extLst>
                  <a:ext uri="{0D108BD9-81ED-4DB2-BD59-A6C34878D82A}">
                    <a16:rowId xmlns:a16="http://schemas.microsoft.com/office/drawing/2014/main" val="1190551146"/>
                  </a:ext>
                </a:extLst>
              </a:tr>
              <a:tr h="314049">
                <a:tc>
                  <a:txBody>
                    <a:bodyPr/>
                    <a:lstStyle/>
                    <a:p>
                      <a:pPr algn="ctr"/>
                      <a:r>
                        <a:rPr lang="en-US" sz="1500" dirty="0">
                          <a:effectLst/>
                        </a:rPr>
                        <a:t>00</a:t>
                      </a:r>
                    </a:p>
                  </a:txBody>
                  <a:tcPr marL="77410" marR="77410" marT="38705" marB="38705" anchor="ctr">
                    <a:lnL>
                      <a:noFill/>
                    </a:lnL>
                    <a:lnR>
                      <a:noFill/>
                    </a:lnR>
                    <a:lnT>
                      <a:noFill/>
                    </a:lnT>
                    <a:lnB>
                      <a:noFill/>
                    </a:lnB>
                  </a:tcPr>
                </a:tc>
                <a:tc>
                  <a:txBody>
                    <a:bodyPr/>
                    <a:lstStyle/>
                    <a:p>
                      <a:pPr algn="ctr"/>
                      <a:r>
                        <a:rPr lang="en-US" sz="1500">
                          <a:effectLst/>
                        </a:rPr>
                        <a:t>N</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a:effectLst/>
                        </a:rPr>
                        <a:t>y</a:t>
                      </a:r>
                    </a:p>
                  </a:txBody>
                  <a:tcPr marL="77410" marR="77410" marT="38705" marB="38705" anchor="ctr">
                    <a:lnL>
                      <a:noFill/>
                    </a:lnL>
                    <a:lnR>
                      <a:noFill/>
                    </a:lnR>
                    <a:lnT>
                      <a:noFill/>
                    </a:lnT>
                    <a:lnB>
                      <a:noFill/>
                    </a:lnB>
                  </a:tcPr>
                </a:tc>
                <a:tc>
                  <a:txBody>
                    <a:bodyPr/>
                    <a:lstStyle/>
                    <a:p>
                      <a:pPr algn="ctr"/>
                      <a:r>
                        <a:rPr lang="en-US" sz="1500" dirty="0">
                          <a:effectLst/>
                        </a:rPr>
                        <a:t>01</a:t>
                      </a:r>
                    </a:p>
                  </a:txBody>
                  <a:tcPr marL="77410" marR="77410" marT="38705" marB="38705" anchor="ctr">
                    <a:lnL>
                      <a:noFill/>
                    </a:lnL>
                    <a:lnR>
                      <a:noFill/>
                    </a:lnR>
                    <a:lnT>
                      <a:noFill/>
                    </a:lnT>
                    <a:lnB>
                      <a:noFill/>
                    </a:lnB>
                  </a:tcPr>
                </a:tc>
                <a:extLst>
                  <a:ext uri="{0D108BD9-81ED-4DB2-BD59-A6C34878D82A}">
                    <a16:rowId xmlns:a16="http://schemas.microsoft.com/office/drawing/2014/main" val="1593074587"/>
                  </a:ext>
                </a:extLst>
              </a:tr>
              <a:tr h="314049">
                <a:tc>
                  <a:txBody>
                    <a:bodyPr/>
                    <a:lstStyle/>
                    <a:p>
                      <a:pPr algn="ctr"/>
                      <a:r>
                        <a:rPr lang="en-US" sz="1500" dirty="0">
                          <a:effectLst/>
                        </a:rPr>
                        <a:t>[01]</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dirty="0">
                          <a:effectLst/>
                        </a:rPr>
                        <a:t>[y]</a:t>
                      </a:r>
                    </a:p>
                  </a:txBody>
                  <a:tcPr marL="77410" marR="77410" marT="38705" marB="38705" anchor="ctr">
                    <a:lnL>
                      <a:noFill/>
                    </a:lnL>
                    <a:lnR>
                      <a:noFill/>
                    </a:lnR>
                    <a:lnT>
                      <a:noFill/>
                    </a:lnT>
                    <a:lnB>
                      <a:noFill/>
                    </a:lnB>
                  </a:tcPr>
                </a:tc>
                <a:tc>
                  <a:txBody>
                    <a:bodyPr/>
                    <a:lstStyle/>
                    <a:p>
                      <a:pPr algn="ctr"/>
                      <a:r>
                        <a:rPr lang="en-US" sz="1500" dirty="0">
                          <a:effectLst/>
                        </a:rPr>
                        <a:t>[10]</a:t>
                      </a:r>
                    </a:p>
                  </a:txBody>
                  <a:tcPr marL="77410" marR="77410" marT="38705" marB="38705" anchor="ctr">
                    <a:lnL>
                      <a:noFill/>
                    </a:lnL>
                    <a:lnR>
                      <a:noFill/>
                    </a:lnR>
                    <a:lnT>
                      <a:noFill/>
                    </a:lnT>
                    <a:lnB>
                      <a:noFill/>
                    </a:lnB>
                  </a:tcPr>
                </a:tc>
                <a:extLst>
                  <a:ext uri="{0D108BD9-81ED-4DB2-BD59-A6C34878D82A}">
                    <a16:rowId xmlns:a16="http://schemas.microsoft.com/office/drawing/2014/main" val="2191993383"/>
                  </a:ext>
                </a:extLst>
              </a:tr>
              <a:tr h="314049">
                <a:tc>
                  <a:txBody>
                    <a:bodyPr/>
                    <a:lstStyle/>
                    <a:p>
                      <a:pPr algn="ctr"/>
                      <a:r>
                        <a:rPr lang="en-US" sz="1500" dirty="0">
                          <a:effectLst/>
                        </a:rPr>
                        <a:t>[10]</a:t>
                      </a:r>
                    </a:p>
                  </a:txBody>
                  <a:tcPr marL="77410" marR="77410" marT="38705" marB="38705" anchor="ctr">
                    <a:lnL>
                      <a:noFill/>
                    </a:lnL>
                    <a:lnR>
                      <a:noFill/>
                    </a:lnR>
                    <a:lnT>
                      <a:noFill/>
                    </a:lnT>
                    <a:lnB>
                      <a:noFill/>
                    </a:lnB>
                  </a:tcPr>
                </a:tc>
                <a:tc>
                  <a:txBody>
                    <a:bodyPr/>
                    <a:lstStyle/>
                    <a:p>
                      <a:pPr algn="ctr"/>
                      <a:r>
                        <a:rPr lang="en-US" sz="1500" dirty="0">
                          <a:effectLst/>
                        </a:rPr>
                        <a:t>[T]</a:t>
                      </a:r>
                    </a:p>
                  </a:txBody>
                  <a:tcPr marL="77410" marR="77410" marT="38705" marB="38705" anchor="ctr">
                    <a:lnL>
                      <a:noFill/>
                    </a:lnL>
                    <a:lnR>
                      <a:noFill/>
                    </a:lnR>
                    <a:lnT>
                      <a:noFill/>
                    </a:lnT>
                    <a:lnB>
                      <a:noFill/>
                    </a:lnB>
                  </a:tcPr>
                </a:tc>
                <a:tc>
                  <a:txBody>
                    <a:bodyPr/>
                    <a:lstStyle/>
                    <a:p>
                      <a:pPr algn="ctr"/>
                      <a:r>
                        <a:rPr lang="en-US" sz="1500">
                          <a:effectLst/>
                        </a:rPr>
                        <a:t>T</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dirty="0">
                          <a:effectLst/>
                        </a:rPr>
                        <a:t>[11]</a:t>
                      </a:r>
                    </a:p>
                  </a:txBody>
                  <a:tcPr marL="77410" marR="77410" marT="38705" marB="38705" anchor="ctr">
                    <a:lnL>
                      <a:noFill/>
                    </a:lnL>
                    <a:lnR>
                      <a:noFill/>
                    </a:lnR>
                    <a:lnT>
                      <a:noFill/>
                    </a:lnT>
                    <a:lnB>
                      <a:noFill/>
                    </a:lnB>
                  </a:tcPr>
                </a:tc>
                <a:extLst>
                  <a:ext uri="{0D108BD9-81ED-4DB2-BD59-A6C34878D82A}">
                    <a16:rowId xmlns:a16="http://schemas.microsoft.com/office/drawing/2014/main" val="929033850"/>
                  </a:ext>
                </a:extLst>
              </a:tr>
              <a:tr h="314049">
                <a:tc>
                  <a:txBody>
                    <a:bodyPr/>
                    <a:lstStyle/>
                    <a:p>
                      <a:pPr algn="ctr"/>
                      <a:r>
                        <a:rPr lang="en-US" sz="1500" dirty="0">
                          <a:effectLst/>
                        </a:rPr>
                        <a:t>[11]</a:t>
                      </a:r>
                    </a:p>
                  </a:txBody>
                  <a:tcPr marL="77410" marR="77410" marT="38705" marB="38705" anchor="ctr">
                    <a:lnL>
                      <a:noFill/>
                    </a:lnL>
                    <a:lnR>
                      <a:noFill/>
                    </a:lnR>
                    <a:lnT>
                      <a:noFill/>
                    </a:lnT>
                    <a:lnB>
                      <a:noFill/>
                    </a:lnB>
                  </a:tcPr>
                </a:tc>
                <a:tc>
                  <a:txBody>
                    <a:bodyPr/>
                    <a:lstStyle/>
                    <a:p>
                      <a:pPr algn="ctr"/>
                      <a:r>
                        <a:rPr lang="en-US" sz="1500" dirty="0">
                          <a:effectLst/>
                        </a:rPr>
                        <a:t>[T]</a:t>
                      </a:r>
                    </a:p>
                  </a:txBody>
                  <a:tcPr marL="77410" marR="77410" marT="38705" marB="38705" anchor="ctr">
                    <a:lnL>
                      <a:noFill/>
                    </a:lnL>
                    <a:lnR>
                      <a:noFill/>
                    </a:lnR>
                    <a:lnT>
                      <a:noFill/>
                    </a:lnT>
                    <a:lnB>
                      <a:noFill/>
                    </a:lnB>
                  </a:tcPr>
                </a:tc>
                <a:tc>
                  <a:txBody>
                    <a:bodyPr/>
                    <a:lstStyle/>
                    <a:p>
                      <a:pPr algn="ctr"/>
                      <a:r>
                        <a:rPr lang="en-US" sz="1500">
                          <a:effectLst/>
                        </a:rPr>
                        <a:t>N</a:t>
                      </a:r>
                    </a:p>
                  </a:txBody>
                  <a:tcPr marL="77410" marR="77410" marT="38705" marB="38705" anchor="ctr">
                    <a:lnL>
                      <a:noFill/>
                    </a:lnL>
                    <a:lnR>
                      <a:noFill/>
                    </a:lnR>
                    <a:lnT>
                      <a:noFill/>
                    </a:lnT>
                    <a:lnB>
                      <a:noFill/>
                    </a:lnB>
                  </a:tcPr>
                </a:tc>
                <a:tc>
                  <a:txBody>
                    <a:bodyPr/>
                    <a:lstStyle/>
                    <a:p>
                      <a:pPr algn="ctr"/>
                      <a:r>
                        <a:rPr lang="en-US" sz="1500" dirty="0">
                          <a:effectLst/>
                        </a:rPr>
                        <a:t>[y]</a:t>
                      </a:r>
                    </a:p>
                  </a:txBody>
                  <a:tcPr marL="77410" marR="77410" marT="38705" marB="38705" anchor="ctr">
                    <a:lnL>
                      <a:noFill/>
                    </a:lnL>
                    <a:lnR>
                      <a:noFill/>
                    </a:lnR>
                    <a:lnT>
                      <a:noFill/>
                    </a:lnT>
                    <a:lnB>
                      <a:noFill/>
                    </a:lnB>
                  </a:tcPr>
                </a:tc>
                <a:tc>
                  <a:txBody>
                    <a:bodyPr/>
                    <a:lstStyle/>
                    <a:p>
                      <a:pPr algn="ctr"/>
                      <a:r>
                        <a:rPr lang="en-US" sz="1500" dirty="0">
                          <a:effectLst/>
                        </a:rPr>
                        <a:t>[10]</a:t>
                      </a:r>
                    </a:p>
                  </a:txBody>
                  <a:tcPr marL="77410" marR="77410" marT="38705" marB="38705" anchor="ctr">
                    <a:lnL>
                      <a:noFill/>
                    </a:lnL>
                    <a:lnR>
                      <a:noFill/>
                    </a:lnR>
                    <a:lnT>
                      <a:noFill/>
                    </a:lnT>
                    <a:lnB>
                      <a:noFill/>
                    </a:lnB>
                  </a:tcPr>
                </a:tc>
                <a:extLst>
                  <a:ext uri="{0D108BD9-81ED-4DB2-BD59-A6C34878D82A}">
                    <a16:rowId xmlns:a16="http://schemas.microsoft.com/office/drawing/2014/main" val="2331001667"/>
                  </a:ext>
                </a:extLst>
              </a:tr>
              <a:tr h="314049">
                <a:tc>
                  <a:txBody>
                    <a:bodyPr/>
                    <a:lstStyle/>
                    <a:p>
                      <a:pPr algn="ctr"/>
                      <a:r>
                        <a:rPr lang="en-US" sz="1500" dirty="0">
                          <a:effectLst/>
                        </a:rPr>
                        <a:t>[10]</a:t>
                      </a:r>
                    </a:p>
                  </a:txBody>
                  <a:tcPr marL="77410" marR="77410" marT="38705" marB="38705" anchor="ctr">
                    <a:lnL>
                      <a:noFill/>
                    </a:lnL>
                    <a:lnR>
                      <a:noFill/>
                    </a:lnR>
                    <a:lnT>
                      <a:noFill/>
                    </a:lnT>
                    <a:lnB>
                      <a:noFill/>
                    </a:lnB>
                  </a:tcPr>
                </a:tc>
                <a:tc>
                  <a:txBody>
                    <a:bodyPr/>
                    <a:lstStyle/>
                    <a:p>
                      <a:pPr algn="ctr"/>
                      <a:r>
                        <a:rPr lang="en-US" sz="1500" dirty="0">
                          <a:effectLst/>
                        </a:rPr>
                        <a:t>[T]</a:t>
                      </a:r>
                    </a:p>
                  </a:txBody>
                  <a:tcPr marL="77410" marR="77410" marT="38705" marB="38705" anchor="ctr">
                    <a:lnL>
                      <a:noFill/>
                    </a:lnL>
                    <a:lnR>
                      <a:noFill/>
                    </a:lnR>
                    <a:lnT>
                      <a:noFill/>
                    </a:lnT>
                    <a:lnB>
                      <a:noFill/>
                    </a:lnB>
                  </a:tcPr>
                </a:tc>
                <a:tc>
                  <a:txBody>
                    <a:bodyPr/>
                    <a:lstStyle/>
                    <a:p>
                      <a:pPr algn="ctr"/>
                      <a:r>
                        <a:rPr lang="en-US" sz="1500" dirty="0">
                          <a:effectLst/>
                        </a:rPr>
                        <a:t>N</a:t>
                      </a:r>
                    </a:p>
                  </a:txBody>
                  <a:tcPr marL="77410" marR="77410" marT="38705" marB="38705" anchor="ctr">
                    <a:lnL>
                      <a:noFill/>
                    </a:lnL>
                    <a:lnR>
                      <a:noFill/>
                    </a:lnR>
                    <a:lnT>
                      <a:noFill/>
                    </a:lnT>
                    <a:lnB>
                      <a:noFill/>
                    </a:lnB>
                  </a:tcPr>
                </a:tc>
                <a:tc>
                  <a:txBody>
                    <a:bodyPr/>
                    <a:lstStyle/>
                    <a:p>
                      <a:pPr algn="ctr"/>
                      <a:r>
                        <a:rPr lang="en-US" sz="1500" dirty="0">
                          <a:effectLst/>
                        </a:rPr>
                        <a:t>[y]</a:t>
                      </a:r>
                    </a:p>
                  </a:txBody>
                  <a:tcPr marL="77410" marR="77410" marT="38705" marB="38705" anchor="ctr">
                    <a:lnL>
                      <a:noFill/>
                    </a:lnL>
                    <a:lnR>
                      <a:noFill/>
                    </a:lnR>
                    <a:lnT>
                      <a:noFill/>
                    </a:lnT>
                    <a:lnB>
                      <a:noFill/>
                    </a:lnB>
                  </a:tcPr>
                </a:tc>
                <a:tc>
                  <a:txBody>
                    <a:bodyPr/>
                    <a:lstStyle/>
                    <a:p>
                      <a:pPr algn="ctr"/>
                      <a:r>
                        <a:rPr lang="en-US" sz="1500" dirty="0">
                          <a:effectLst/>
                        </a:rPr>
                        <a:t>[01]</a:t>
                      </a:r>
                    </a:p>
                  </a:txBody>
                  <a:tcPr marL="77410" marR="77410" marT="38705" marB="38705" anchor="ctr">
                    <a:lnL>
                      <a:noFill/>
                    </a:lnL>
                    <a:lnR>
                      <a:noFill/>
                    </a:lnR>
                    <a:lnT>
                      <a:noFill/>
                    </a:lnT>
                    <a:lnB>
                      <a:noFill/>
                    </a:lnB>
                  </a:tcPr>
                </a:tc>
                <a:extLst>
                  <a:ext uri="{0D108BD9-81ED-4DB2-BD59-A6C34878D82A}">
                    <a16:rowId xmlns:a16="http://schemas.microsoft.com/office/drawing/2014/main" val="3467031755"/>
                  </a:ext>
                </a:extLst>
              </a:tr>
              <a:tr h="314049">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126050738"/>
                  </a:ext>
                </a:extLst>
              </a:tr>
              <a:tr h="314049">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996043640"/>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8104551"/>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87137773"/>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1183627181"/>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4118793835"/>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780905798"/>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3737730677"/>
                  </a:ext>
                </a:extLst>
              </a:tr>
              <a:tr h="314049">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a:effectLst/>
                      </a:endParaRPr>
                    </a:p>
                  </a:txBody>
                  <a:tcPr marL="77410" marR="77410" marT="38705" marB="38705" anchor="ctr">
                    <a:lnL>
                      <a:noFill/>
                    </a:lnL>
                    <a:lnR>
                      <a:noFill/>
                    </a:lnR>
                    <a:lnT>
                      <a:noFill/>
                    </a:lnT>
                    <a:lnB>
                      <a:noFill/>
                    </a:lnB>
                  </a:tcPr>
                </a:tc>
                <a:tc>
                  <a:txBody>
                    <a:bodyPr/>
                    <a:lstStyle/>
                    <a:p>
                      <a:pPr algn="ctr"/>
                      <a:endParaRPr lang="en-US" sz="1500" dirty="0">
                        <a:effectLst/>
                      </a:endParaRPr>
                    </a:p>
                  </a:txBody>
                  <a:tcPr marL="77410" marR="77410" marT="38705" marB="38705" anchor="ctr">
                    <a:lnL>
                      <a:noFill/>
                    </a:lnL>
                    <a:lnR>
                      <a:noFill/>
                    </a:lnR>
                    <a:lnT>
                      <a:noFill/>
                    </a:lnT>
                    <a:lnB>
                      <a:noFill/>
                    </a:lnB>
                  </a:tcPr>
                </a:tc>
                <a:extLst>
                  <a:ext uri="{0D108BD9-81ED-4DB2-BD59-A6C34878D82A}">
                    <a16:rowId xmlns:a16="http://schemas.microsoft.com/office/drawing/2014/main" val="2209460765"/>
                  </a:ext>
                </a:extLst>
              </a:tr>
            </a:tbl>
          </a:graphicData>
        </a:graphic>
      </p:graphicFrame>
    </p:spTree>
    <p:extLst>
      <p:ext uri="{BB962C8B-B14F-4D97-AF65-F5344CB8AC3E}">
        <p14:creationId xmlns:p14="http://schemas.microsoft.com/office/powerpoint/2010/main" val="866313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F630B186-13EB-0E4D-8D2E-42ACC1F47455}"/>
              </a:ext>
            </a:extLst>
          </p:cNvPr>
          <p:cNvSpPr>
            <a:spLocks noGrp="1" noChangeArrowheads="1"/>
          </p:cNvSpPr>
          <p:nvPr>
            <p:ph type="title"/>
          </p:nvPr>
        </p:nvSpPr>
        <p:spPr/>
        <p:txBody>
          <a:bodyPr/>
          <a:lstStyle/>
          <a:p>
            <a:r>
              <a:rPr lang="en-US" altLang="en-US"/>
              <a:t>Improving the Smith Counter</a:t>
            </a:r>
          </a:p>
        </p:txBody>
      </p:sp>
      <p:sp>
        <p:nvSpPr>
          <p:cNvPr id="60419" name="Content Placeholder 2">
            <a:extLst>
              <a:ext uri="{FF2B5EF4-FFF2-40B4-BE49-F238E27FC236}">
                <a16:creationId xmlns:a16="http://schemas.microsoft.com/office/drawing/2014/main" id="{B199FA4A-74AE-A641-B4B5-2963DC0E42D6}"/>
              </a:ext>
            </a:extLst>
          </p:cNvPr>
          <p:cNvSpPr>
            <a:spLocks noGrp="1" noChangeArrowheads="1"/>
          </p:cNvSpPr>
          <p:nvPr>
            <p:ph idx="1"/>
          </p:nvPr>
        </p:nvSpPr>
        <p:spPr/>
        <p:txBody>
          <a:bodyPr/>
          <a:lstStyle/>
          <a:p>
            <a:r>
              <a:rPr lang="en-US" altLang="en-US"/>
              <a:t>Often branches exhibit correlated behavior</a:t>
            </a:r>
          </a:p>
          <a:p>
            <a:r>
              <a:rPr lang="en-US" altLang="en-US"/>
              <a:t>Example:</a:t>
            </a:r>
          </a:p>
          <a:p>
            <a:endParaRPr lang="en-US" altLang="en-US"/>
          </a:p>
          <a:p>
            <a:endParaRPr lang="en-US" altLang="en-US"/>
          </a:p>
          <a:p>
            <a:endParaRPr lang="en-US" altLang="en-US"/>
          </a:p>
          <a:p>
            <a:endParaRPr lang="en-US" altLang="en-US"/>
          </a:p>
          <a:p>
            <a:endParaRPr lang="en-US" altLang="en-US"/>
          </a:p>
          <a:p>
            <a:r>
              <a:rPr lang="en-US" altLang="en-US"/>
              <a:t>In the example, if the neither b1 or b2 are taken, then b3 will be taken. In other words, branch b3 behavior depends on other branches</a:t>
            </a:r>
          </a:p>
          <a:p>
            <a:endParaRPr lang="en-US" altLang="en-US"/>
          </a:p>
        </p:txBody>
      </p:sp>
      <p:sp>
        <p:nvSpPr>
          <p:cNvPr id="60420" name="TextBox 3">
            <a:extLst>
              <a:ext uri="{FF2B5EF4-FFF2-40B4-BE49-F238E27FC236}">
                <a16:creationId xmlns:a16="http://schemas.microsoft.com/office/drawing/2014/main" id="{1105289C-C67C-D14C-9ECC-4FB1CB8C3BBF}"/>
              </a:ext>
            </a:extLst>
          </p:cNvPr>
          <p:cNvSpPr txBox="1">
            <a:spLocks noChangeArrowheads="1"/>
          </p:cNvSpPr>
          <p:nvPr/>
        </p:nvSpPr>
        <p:spPr bwMode="auto">
          <a:xfrm>
            <a:off x="1066800" y="2590800"/>
            <a:ext cx="2036763"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Courier New" panose="02070309020205020404" pitchFamily="49" charset="0"/>
                <a:cs typeface="Courier New" panose="02070309020205020404" pitchFamily="49" charset="0"/>
              </a:rPr>
              <a:t>If (aa ==2)</a:t>
            </a:r>
          </a:p>
          <a:p>
            <a:pPr>
              <a:spcBef>
                <a:spcPct val="0"/>
              </a:spcBef>
              <a:buClrTx/>
              <a:buSzTx/>
              <a:buFontTx/>
              <a:buNone/>
            </a:pPr>
            <a:r>
              <a:rPr lang="en-US" altLang="en-US" sz="1600">
                <a:latin typeface="Courier New" panose="02070309020205020404" pitchFamily="49" charset="0"/>
                <a:cs typeface="Courier New" panose="02070309020205020404" pitchFamily="49" charset="0"/>
              </a:rPr>
              <a:t>  aa = 0;</a:t>
            </a:r>
          </a:p>
          <a:p>
            <a:pPr>
              <a:spcBef>
                <a:spcPct val="0"/>
              </a:spcBef>
              <a:buClrTx/>
              <a:buSzTx/>
              <a:buFontTx/>
              <a:buNone/>
            </a:pPr>
            <a:r>
              <a:rPr lang="en-US" altLang="en-US" sz="1600">
                <a:latin typeface="Courier New" panose="02070309020205020404" pitchFamily="49" charset="0"/>
                <a:cs typeface="Courier New" panose="02070309020205020404" pitchFamily="49" charset="0"/>
              </a:rPr>
              <a:t>if (bb == 2)</a:t>
            </a:r>
          </a:p>
          <a:p>
            <a:pPr>
              <a:spcBef>
                <a:spcPct val="0"/>
              </a:spcBef>
              <a:buClrTx/>
              <a:buSzTx/>
              <a:buFontTx/>
              <a:buNone/>
            </a:pPr>
            <a:r>
              <a:rPr lang="en-US" altLang="en-US" sz="1600">
                <a:latin typeface="Courier New" panose="02070309020205020404" pitchFamily="49" charset="0"/>
                <a:cs typeface="Courier New" panose="02070309020205020404" pitchFamily="49" charset="0"/>
              </a:rPr>
              <a:t>  bb = 0;</a:t>
            </a:r>
          </a:p>
          <a:p>
            <a:pPr>
              <a:spcBef>
                <a:spcPct val="0"/>
              </a:spcBef>
              <a:buClrTx/>
              <a:buSzTx/>
              <a:buFontTx/>
              <a:buNone/>
            </a:pPr>
            <a:r>
              <a:rPr lang="en-US" altLang="en-US" sz="1600">
                <a:latin typeface="Courier New" panose="02070309020205020404" pitchFamily="49" charset="0"/>
                <a:cs typeface="Courier New" panose="02070309020205020404" pitchFamily="49" charset="0"/>
              </a:rPr>
              <a:t>If (aa != bb) {</a:t>
            </a:r>
          </a:p>
        </p:txBody>
      </p:sp>
      <p:sp>
        <p:nvSpPr>
          <p:cNvPr id="60421" name="TextBox 4">
            <a:extLst>
              <a:ext uri="{FF2B5EF4-FFF2-40B4-BE49-F238E27FC236}">
                <a16:creationId xmlns:a16="http://schemas.microsoft.com/office/drawing/2014/main" id="{38C3C1B1-500D-514E-B084-9F3762A6E011}"/>
              </a:ext>
            </a:extLst>
          </p:cNvPr>
          <p:cNvSpPr txBox="1">
            <a:spLocks noChangeArrowheads="1"/>
          </p:cNvSpPr>
          <p:nvPr/>
        </p:nvSpPr>
        <p:spPr bwMode="auto">
          <a:xfrm>
            <a:off x="4038600" y="2438400"/>
            <a:ext cx="4627563"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Courier New" panose="02070309020205020404" pitchFamily="49" charset="0"/>
                <a:cs typeface="Courier New" panose="02070309020205020404" pitchFamily="49" charset="0"/>
              </a:rPr>
              <a:t>    addi x3, x1, -2</a:t>
            </a:r>
          </a:p>
          <a:p>
            <a:pPr>
              <a:spcBef>
                <a:spcPct val="0"/>
              </a:spcBef>
              <a:buClrTx/>
              <a:buSzTx/>
              <a:buFontTx/>
              <a:buNone/>
            </a:pPr>
            <a:r>
              <a:rPr lang="en-US" altLang="en-US" sz="1600">
                <a:latin typeface="Courier New" panose="02070309020205020404" pitchFamily="49" charset="0"/>
                <a:cs typeface="Courier New" panose="02070309020205020404" pitchFamily="49" charset="0"/>
              </a:rPr>
              <a:t>    bnez x3, L1      // b1 (aa!=2)</a:t>
            </a:r>
          </a:p>
          <a:p>
            <a:pPr>
              <a:spcBef>
                <a:spcPct val="0"/>
              </a:spcBef>
              <a:buClrTx/>
              <a:buSzTx/>
              <a:buFontTx/>
              <a:buNone/>
            </a:pPr>
            <a:r>
              <a:rPr lang="en-US" altLang="en-US" sz="1600">
                <a:latin typeface="Courier New" panose="02070309020205020404" pitchFamily="49" charset="0"/>
                <a:cs typeface="Courier New" panose="02070309020205020404" pitchFamily="49" charset="0"/>
              </a:rPr>
              <a:t>    add  x1, x0, x0</a:t>
            </a:r>
          </a:p>
          <a:p>
            <a:pPr>
              <a:spcBef>
                <a:spcPct val="0"/>
              </a:spcBef>
              <a:buClrTx/>
              <a:buSzTx/>
              <a:buFontTx/>
              <a:buNone/>
            </a:pPr>
            <a:r>
              <a:rPr lang="en-US" altLang="en-US" sz="1600">
                <a:latin typeface="Courier New" panose="02070309020205020404" pitchFamily="49" charset="0"/>
                <a:cs typeface="Courier New" panose="02070309020205020404" pitchFamily="49" charset="0"/>
              </a:rPr>
              <a:t>L1: addi x3, x1, -2</a:t>
            </a:r>
          </a:p>
          <a:p>
            <a:pPr>
              <a:spcBef>
                <a:spcPct val="0"/>
              </a:spcBef>
              <a:buClrTx/>
              <a:buSzTx/>
              <a:buFontTx/>
              <a:buNone/>
            </a:pPr>
            <a:r>
              <a:rPr lang="en-US" altLang="en-US" sz="1600">
                <a:latin typeface="Courier New" panose="02070309020205020404" pitchFamily="49" charset="0"/>
                <a:cs typeface="Courier New" panose="02070309020205020404" pitchFamily="49" charset="0"/>
              </a:rPr>
              <a:t>    bnez x3, L2      // b2 (bb!=2)</a:t>
            </a:r>
          </a:p>
          <a:p>
            <a:pPr>
              <a:spcBef>
                <a:spcPct val="0"/>
              </a:spcBef>
              <a:buClrTx/>
              <a:buSzTx/>
              <a:buFontTx/>
              <a:buNone/>
            </a:pPr>
            <a:r>
              <a:rPr lang="en-US" altLang="en-US" sz="1600">
                <a:latin typeface="Courier New" panose="02070309020205020404" pitchFamily="49" charset="0"/>
                <a:cs typeface="Courier New" panose="02070309020205020404" pitchFamily="49" charset="0"/>
              </a:rPr>
              <a:t>    add  x2, x0, x0</a:t>
            </a:r>
          </a:p>
          <a:p>
            <a:pPr>
              <a:spcBef>
                <a:spcPct val="0"/>
              </a:spcBef>
              <a:buClrTx/>
              <a:buSzTx/>
              <a:buFontTx/>
              <a:buNone/>
            </a:pPr>
            <a:r>
              <a:rPr lang="en-US" altLang="en-US" sz="1600">
                <a:latin typeface="Courier New" panose="02070309020205020404" pitchFamily="49" charset="0"/>
                <a:cs typeface="Courier New" panose="02070309020205020404" pitchFamily="49" charset="0"/>
              </a:rPr>
              <a:t>L2: sub  x3, x1, x2</a:t>
            </a:r>
          </a:p>
          <a:p>
            <a:pPr>
              <a:spcBef>
                <a:spcPct val="0"/>
              </a:spcBef>
              <a:buClrTx/>
              <a:buSzTx/>
              <a:buFontTx/>
              <a:buNone/>
            </a:pPr>
            <a:r>
              <a:rPr lang="en-US" altLang="en-US" sz="1600">
                <a:latin typeface="Courier New" panose="02070309020205020404" pitchFamily="49" charset="0"/>
                <a:cs typeface="Courier New" panose="02070309020205020404" pitchFamily="49" charset="0"/>
              </a:rPr>
              <a:t>    beqz x3, L3.     // b3 (aa!=bb) </a:t>
            </a:r>
          </a:p>
        </p:txBody>
      </p:sp>
      <p:cxnSp>
        <p:nvCxnSpPr>
          <p:cNvPr id="60422" name="Straight Arrow Connector 6">
            <a:extLst>
              <a:ext uri="{FF2B5EF4-FFF2-40B4-BE49-F238E27FC236}">
                <a16:creationId xmlns:a16="http://schemas.microsoft.com/office/drawing/2014/main" id="{17287D14-29B2-0540-80C4-3A5A98ACA009}"/>
              </a:ext>
            </a:extLst>
          </p:cNvPr>
          <p:cNvCxnSpPr>
            <a:cxnSpLocks/>
          </p:cNvCxnSpPr>
          <p:nvPr/>
        </p:nvCxnSpPr>
        <p:spPr bwMode="auto">
          <a:xfrm>
            <a:off x="3200400" y="3124200"/>
            <a:ext cx="609600"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755B4817-E569-3247-8E8C-5C31F64E9EAA}"/>
              </a:ext>
            </a:extLst>
          </p:cNvPr>
          <p:cNvSpPr>
            <a:spLocks noGrp="1" noChangeArrowheads="1"/>
          </p:cNvSpPr>
          <p:nvPr>
            <p:ph type="title"/>
          </p:nvPr>
        </p:nvSpPr>
        <p:spPr/>
        <p:txBody>
          <a:bodyPr>
            <a:normAutofit fontScale="90000"/>
          </a:bodyPr>
          <a:lstStyle/>
          <a:p>
            <a:pPr>
              <a:defRPr/>
            </a:pPr>
            <a:r>
              <a:rPr lang="en-US" altLang="en-US" dirty="0" err="1">
                <a:effectLst>
                  <a:outerShdw blurRad="38100" dist="38100" dir="2700000" algn="tl">
                    <a:srgbClr val="C0C0C0"/>
                  </a:outerShdw>
                </a:effectLst>
                <a:ea typeface="ＭＳ Ｐゴシック" charset="0"/>
              </a:rPr>
              <a:t>McFarling’s</a:t>
            </a:r>
            <a:r>
              <a:rPr lang="en-US" altLang="en-US" dirty="0">
                <a:effectLst>
                  <a:outerShdw blurRad="38100" dist="38100" dir="2700000" algn="tl">
                    <a:srgbClr val="C0C0C0"/>
                  </a:outerShdw>
                </a:effectLst>
                <a:ea typeface="ＭＳ Ｐゴシック" charset="0"/>
              </a:rPr>
              <a:t> </a:t>
            </a:r>
            <a:r>
              <a:rPr lang="en-US" altLang="en-US" dirty="0" err="1">
                <a:effectLst>
                  <a:outerShdw blurRad="38100" dist="38100" dir="2700000" algn="tl">
                    <a:srgbClr val="C0C0C0"/>
                  </a:outerShdw>
                </a:effectLst>
                <a:ea typeface="ＭＳ Ｐゴシック" charset="0"/>
              </a:rPr>
              <a:t>Gshare</a:t>
            </a:r>
            <a:r>
              <a:rPr lang="en-US" altLang="en-US" dirty="0">
                <a:effectLst>
                  <a:outerShdw blurRad="38100" dist="38100" dir="2700000" algn="tl">
                    <a:srgbClr val="C0C0C0"/>
                  </a:outerShdw>
                </a:effectLst>
                <a:ea typeface="ＭＳ Ｐゴシック" charset="0"/>
              </a:rPr>
              <a:t> Correlating Predictor</a:t>
            </a:r>
          </a:p>
        </p:txBody>
      </p:sp>
      <p:sp>
        <p:nvSpPr>
          <p:cNvPr id="61443" name="Rectangle 3">
            <a:extLst>
              <a:ext uri="{FF2B5EF4-FFF2-40B4-BE49-F238E27FC236}">
                <a16:creationId xmlns:a16="http://schemas.microsoft.com/office/drawing/2014/main" id="{A9DDB025-FCE9-1043-88FD-C84EB01A4FFE}"/>
              </a:ext>
            </a:extLst>
          </p:cNvPr>
          <p:cNvSpPr>
            <a:spLocks noGrp="1" noChangeArrowheads="1"/>
          </p:cNvSpPr>
          <p:nvPr>
            <p:ph idx="1"/>
          </p:nvPr>
        </p:nvSpPr>
        <p:spPr>
          <a:xfrm>
            <a:off x="457200" y="1524000"/>
            <a:ext cx="8229600" cy="4876800"/>
          </a:xfrm>
        </p:spPr>
        <p:txBody>
          <a:bodyPr/>
          <a:lstStyle/>
          <a:p>
            <a:r>
              <a:rPr lang="en-US" altLang="en-US" dirty="0"/>
              <a:t>Idea:</a:t>
            </a:r>
          </a:p>
          <a:p>
            <a:pPr lvl="1"/>
            <a:r>
              <a:rPr lang="en-US" altLang="en-US" dirty="0"/>
              <a:t>Capture correlations between branches (</a:t>
            </a:r>
            <a:r>
              <a:rPr lang="ja-JP" altLang="en-US"/>
              <a:t>“</a:t>
            </a:r>
            <a:r>
              <a:rPr lang="en-US" altLang="ja-JP" dirty="0" err="1"/>
              <a:t>gshare</a:t>
            </a:r>
            <a:r>
              <a:rPr lang="ja-JP" altLang="en-US"/>
              <a:t>”</a:t>
            </a:r>
            <a:r>
              <a:rPr lang="en-US" altLang="ja-JP" dirty="0"/>
              <a:t>)</a:t>
            </a:r>
          </a:p>
          <a:p>
            <a:pPr lvl="1"/>
            <a:r>
              <a:rPr lang="en-US" altLang="en-US" dirty="0"/>
              <a:t>Associate predictions with branch histories, not branch addresses (use different indexing scheme)</a:t>
            </a:r>
          </a:p>
          <a:p>
            <a:r>
              <a:rPr lang="en-US" altLang="en-US" dirty="0" err="1"/>
              <a:t>Gshare</a:t>
            </a:r>
            <a:r>
              <a:rPr lang="en-US" altLang="en-US" dirty="0"/>
              <a:t>:</a:t>
            </a:r>
          </a:p>
        </p:txBody>
      </p:sp>
      <p:sp>
        <p:nvSpPr>
          <p:cNvPr id="61444" name="Rectangle 4">
            <a:extLst>
              <a:ext uri="{FF2B5EF4-FFF2-40B4-BE49-F238E27FC236}">
                <a16:creationId xmlns:a16="http://schemas.microsoft.com/office/drawing/2014/main" id="{D10AC0AC-B0A7-D540-A52B-5092B0914119}"/>
              </a:ext>
            </a:extLst>
          </p:cNvPr>
          <p:cNvSpPr>
            <a:spLocks noChangeArrowheads="1"/>
          </p:cNvSpPr>
          <p:nvPr/>
        </p:nvSpPr>
        <p:spPr bwMode="auto">
          <a:xfrm>
            <a:off x="2855913" y="3289300"/>
            <a:ext cx="2286000" cy="3683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i="1">
                <a:latin typeface="Arial" panose="020B0604020202020204" pitchFamily="34" charset="0"/>
              </a:rPr>
              <a:t>global branch history register</a:t>
            </a:r>
          </a:p>
        </p:txBody>
      </p:sp>
      <p:sp>
        <p:nvSpPr>
          <p:cNvPr id="61445" name="Rectangle 5">
            <a:extLst>
              <a:ext uri="{FF2B5EF4-FFF2-40B4-BE49-F238E27FC236}">
                <a16:creationId xmlns:a16="http://schemas.microsoft.com/office/drawing/2014/main" id="{6D25A1CA-C216-B94C-9445-9CB94856D7A8}"/>
              </a:ext>
            </a:extLst>
          </p:cNvPr>
          <p:cNvSpPr>
            <a:spLocks noChangeArrowheads="1"/>
          </p:cNvSpPr>
          <p:nvPr/>
        </p:nvSpPr>
        <p:spPr bwMode="auto">
          <a:xfrm>
            <a:off x="2779713" y="3054350"/>
            <a:ext cx="412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n</a:t>
            </a:r>
            <a:r>
              <a:rPr lang="en-US" altLang="en-US" sz="1200">
                <a:latin typeface="Arial" panose="020B0604020202020204" pitchFamily="34" charset="0"/>
              </a:rPr>
              <a:t>-1</a:t>
            </a:r>
          </a:p>
        </p:txBody>
      </p:sp>
      <p:sp>
        <p:nvSpPr>
          <p:cNvPr id="61446" name="Rectangle 6">
            <a:extLst>
              <a:ext uri="{FF2B5EF4-FFF2-40B4-BE49-F238E27FC236}">
                <a16:creationId xmlns:a16="http://schemas.microsoft.com/office/drawing/2014/main" id="{F3A6B974-FCAC-9E43-8B81-908595EE2326}"/>
              </a:ext>
            </a:extLst>
          </p:cNvPr>
          <p:cNvSpPr>
            <a:spLocks noChangeArrowheads="1"/>
          </p:cNvSpPr>
          <p:nvPr/>
        </p:nvSpPr>
        <p:spPr bwMode="auto">
          <a:xfrm>
            <a:off x="4913313" y="3054350"/>
            <a:ext cx="2682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a:latin typeface="Arial" panose="020B0604020202020204" pitchFamily="34" charset="0"/>
              </a:rPr>
              <a:t>0</a:t>
            </a:r>
          </a:p>
        </p:txBody>
      </p:sp>
      <p:sp>
        <p:nvSpPr>
          <p:cNvPr id="61447" name="Rectangle 7">
            <a:extLst>
              <a:ext uri="{FF2B5EF4-FFF2-40B4-BE49-F238E27FC236}">
                <a16:creationId xmlns:a16="http://schemas.microsoft.com/office/drawing/2014/main" id="{13638A69-713E-FD4A-B2D3-2CFCACBCB390}"/>
              </a:ext>
            </a:extLst>
          </p:cNvPr>
          <p:cNvSpPr>
            <a:spLocks noChangeArrowheads="1"/>
          </p:cNvSpPr>
          <p:nvPr/>
        </p:nvSpPr>
        <p:spPr bwMode="auto">
          <a:xfrm>
            <a:off x="5583238" y="3305175"/>
            <a:ext cx="289401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behavior of last branch</a:t>
            </a:r>
          </a:p>
          <a:p>
            <a:pPr>
              <a:spcBef>
                <a:spcPct val="0"/>
              </a:spcBef>
              <a:buClrTx/>
              <a:buSzTx/>
              <a:buFontTx/>
              <a:buNone/>
            </a:pPr>
            <a:r>
              <a:rPr lang="en-US" altLang="en-US" sz="1600">
                <a:latin typeface="Arial" panose="020B0604020202020204" pitchFamily="34" charset="0"/>
              </a:rPr>
              <a:t>(shift in most recent outcome)</a:t>
            </a:r>
          </a:p>
        </p:txBody>
      </p:sp>
      <p:sp>
        <p:nvSpPr>
          <p:cNvPr id="61448" name="Line 8">
            <a:extLst>
              <a:ext uri="{FF2B5EF4-FFF2-40B4-BE49-F238E27FC236}">
                <a16:creationId xmlns:a16="http://schemas.microsoft.com/office/drawing/2014/main" id="{30DBA228-9086-4B49-9C37-F78DB9E58004}"/>
              </a:ext>
            </a:extLst>
          </p:cNvPr>
          <p:cNvSpPr>
            <a:spLocks noChangeShapeType="1"/>
          </p:cNvSpPr>
          <p:nvPr/>
        </p:nvSpPr>
        <p:spPr bwMode="auto">
          <a:xfrm>
            <a:off x="5141913" y="3435350"/>
            <a:ext cx="457200" cy="0"/>
          </a:xfrm>
          <a:prstGeom prst="line">
            <a:avLst/>
          </a:prstGeom>
          <a:noFill/>
          <a:ln w="12700">
            <a:solidFill>
              <a:schemeClr val="tx1"/>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449" name="Rectangle 9">
            <a:extLst>
              <a:ext uri="{FF2B5EF4-FFF2-40B4-BE49-F238E27FC236}">
                <a16:creationId xmlns:a16="http://schemas.microsoft.com/office/drawing/2014/main" id="{2A9C48C8-7068-434A-BFB5-0BD332A1EC1D}"/>
              </a:ext>
            </a:extLst>
          </p:cNvPr>
          <p:cNvSpPr>
            <a:spLocks noChangeArrowheads="1"/>
          </p:cNvSpPr>
          <p:nvPr/>
        </p:nvSpPr>
        <p:spPr bwMode="auto">
          <a:xfrm rot="5400000">
            <a:off x="1795463" y="5041900"/>
            <a:ext cx="1892300" cy="368300"/>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Arial" panose="020B0604020202020204" pitchFamily="34" charset="0"/>
            </a:endParaRPr>
          </a:p>
        </p:txBody>
      </p:sp>
      <p:sp>
        <p:nvSpPr>
          <p:cNvPr id="61450" name="Rectangle 10">
            <a:extLst>
              <a:ext uri="{FF2B5EF4-FFF2-40B4-BE49-F238E27FC236}">
                <a16:creationId xmlns:a16="http://schemas.microsoft.com/office/drawing/2014/main" id="{AE07E433-45D3-3C41-8FC7-2181DCF8A39F}"/>
              </a:ext>
            </a:extLst>
          </p:cNvPr>
          <p:cNvSpPr>
            <a:spLocks noChangeArrowheads="1"/>
          </p:cNvSpPr>
          <p:nvPr/>
        </p:nvSpPr>
        <p:spPr bwMode="auto">
          <a:xfrm>
            <a:off x="325438" y="5005388"/>
            <a:ext cx="1370012"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index</a:t>
            </a:r>
          </a:p>
          <a:p>
            <a:pPr>
              <a:spcBef>
                <a:spcPct val="0"/>
              </a:spcBef>
              <a:buClrTx/>
              <a:buSzTx/>
              <a:buFontTx/>
              <a:buNone/>
            </a:pPr>
            <a:r>
              <a:rPr lang="en-US" altLang="en-US" sz="1200" i="1">
                <a:latin typeface="Arial" panose="020B0604020202020204" pitchFamily="34" charset="0"/>
              </a:rPr>
              <a:t>(using low order</a:t>
            </a:r>
          </a:p>
          <a:p>
            <a:pPr>
              <a:spcBef>
                <a:spcPct val="0"/>
              </a:spcBef>
              <a:buClrTx/>
              <a:buSzTx/>
              <a:buFontTx/>
              <a:buNone/>
            </a:pPr>
            <a:r>
              <a:rPr lang="en-US" altLang="en-US" sz="1200" i="1">
                <a:latin typeface="Arial" panose="020B0604020202020204" pitchFamily="34" charset="0"/>
              </a:rPr>
              <a:t>bits of address)</a:t>
            </a:r>
          </a:p>
        </p:txBody>
      </p:sp>
      <p:sp>
        <p:nvSpPr>
          <p:cNvPr id="61451" name="AutoShape 11">
            <a:extLst>
              <a:ext uri="{FF2B5EF4-FFF2-40B4-BE49-F238E27FC236}">
                <a16:creationId xmlns:a16="http://schemas.microsoft.com/office/drawing/2014/main" id="{6F4D9572-973E-184F-9BD8-C883695A80D9}"/>
              </a:ext>
            </a:extLst>
          </p:cNvPr>
          <p:cNvSpPr>
            <a:spLocks noChangeArrowheads="1"/>
          </p:cNvSpPr>
          <p:nvPr/>
        </p:nvSpPr>
        <p:spPr bwMode="auto">
          <a:xfrm rot="-5400000" flipH="1" flipV="1">
            <a:off x="1300163" y="5080000"/>
            <a:ext cx="1892300" cy="292100"/>
          </a:xfrm>
          <a:custGeom>
            <a:avLst/>
            <a:gdLst>
              <a:gd name="T0" fmla="*/ 2147483646 w 21600"/>
              <a:gd name="T1" fmla="*/ 361189426 h 21600"/>
              <a:gd name="T2" fmla="*/ 2147483646 w 21600"/>
              <a:gd name="T3" fmla="*/ 722378852 h 21600"/>
              <a:gd name="T4" fmla="*/ 2147483646 w 21600"/>
              <a:gd name="T5" fmla="*/ 361189426 h 21600"/>
              <a:gd name="T6" fmla="*/ 2147483646 w 21600"/>
              <a:gd name="T7" fmla="*/ 0 h 21600"/>
              <a:gd name="T8" fmla="*/ 0 60000 65536"/>
              <a:gd name="T9" fmla="*/ 0 60000 65536"/>
              <a:gd name="T10" fmla="*/ 0 60000 65536"/>
              <a:gd name="T11" fmla="*/ 0 60000 65536"/>
              <a:gd name="T12" fmla="*/ 3290 w 21600"/>
              <a:gd name="T13" fmla="*/ 3290 h 21600"/>
              <a:gd name="T14" fmla="*/ 18310 w 21600"/>
              <a:gd name="T15" fmla="*/ 18310 h 21600"/>
            </a:gdLst>
            <a:ahLst/>
            <a:cxnLst>
              <a:cxn ang="T8">
                <a:pos x="T0" y="T1"/>
              </a:cxn>
              <a:cxn ang="T9">
                <a:pos x="T2" y="T3"/>
              </a:cxn>
              <a:cxn ang="T10">
                <a:pos x="T4" y="T5"/>
              </a:cxn>
              <a:cxn ang="T11">
                <a:pos x="T6" y="T7"/>
              </a:cxn>
            </a:cxnLst>
            <a:rect l="T12" t="T13" r="T14" b="T15"/>
            <a:pathLst>
              <a:path w="21600" h="21600">
                <a:moveTo>
                  <a:pt x="0" y="0"/>
                </a:moveTo>
                <a:lnTo>
                  <a:pt x="2979" y="21600"/>
                </a:lnTo>
                <a:lnTo>
                  <a:pt x="18621" y="21600"/>
                </a:lnTo>
                <a:lnTo>
                  <a:pt x="21600" y="0"/>
                </a:lnTo>
                <a:lnTo>
                  <a:pt x="0" y="0"/>
                </a:lnTo>
                <a:close/>
              </a:path>
            </a:pathLst>
          </a:custGeom>
          <a:solidFill>
            <a:schemeClr val="bg1"/>
          </a:solidFill>
          <a:ln w="12700">
            <a:solidFill>
              <a:schemeClr val="tx1"/>
            </a:solidFill>
            <a:miter lim="800000"/>
            <a:headEnd/>
            <a:tailEnd/>
          </a:ln>
        </p:spPr>
        <p:txBody>
          <a:bodyPr wrap="none" anchor="ctr"/>
          <a:lstStyle/>
          <a:p>
            <a:endParaRPr lang="en-US"/>
          </a:p>
        </p:txBody>
      </p:sp>
      <p:sp>
        <p:nvSpPr>
          <p:cNvPr id="61452" name="AutoShape 12">
            <a:extLst>
              <a:ext uri="{FF2B5EF4-FFF2-40B4-BE49-F238E27FC236}">
                <a16:creationId xmlns:a16="http://schemas.microsoft.com/office/drawing/2014/main" id="{BC6A381D-8238-2840-A519-3E594F8C5BB3}"/>
              </a:ext>
            </a:extLst>
          </p:cNvPr>
          <p:cNvSpPr>
            <a:spLocks noChangeArrowheads="1"/>
          </p:cNvSpPr>
          <p:nvPr/>
        </p:nvSpPr>
        <p:spPr bwMode="auto">
          <a:xfrm flipV="1">
            <a:off x="2633663" y="3898900"/>
            <a:ext cx="2616200" cy="254000"/>
          </a:xfrm>
          <a:custGeom>
            <a:avLst/>
            <a:gdLst>
              <a:gd name="T0" fmla="*/ 2147483646 w 21600"/>
              <a:gd name="T1" fmla="*/ 206511219 h 21600"/>
              <a:gd name="T2" fmla="*/ 2147483646 w 21600"/>
              <a:gd name="T3" fmla="*/ 413022427 h 21600"/>
              <a:gd name="T4" fmla="*/ 2147483646 w 21600"/>
              <a:gd name="T5" fmla="*/ 206511219 h 21600"/>
              <a:gd name="T6" fmla="*/ 2147483646 w 21600"/>
              <a:gd name="T7" fmla="*/ 0 h 21600"/>
              <a:gd name="T8" fmla="*/ 0 60000 65536"/>
              <a:gd name="T9" fmla="*/ 0 60000 65536"/>
              <a:gd name="T10" fmla="*/ 0 60000 65536"/>
              <a:gd name="T11" fmla="*/ 0 60000 65536"/>
              <a:gd name="T12" fmla="*/ 3290 w 21600"/>
              <a:gd name="T13" fmla="*/ 3290 h 21600"/>
              <a:gd name="T14" fmla="*/ 18310 w 21600"/>
              <a:gd name="T15" fmla="*/ 18310 h 21600"/>
            </a:gdLst>
            <a:ahLst/>
            <a:cxnLst>
              <a:cxn ang="T8">
                <a:pos x="T0" y="T1"/>
              </a:cxn>
              <a:cxn ang="T9">
                <a:pos x="T2" y="T3"/>
              </a:cxn>
              <a:cxn ang="T10">
                <a:pos x="T4" y="T5"/>
              </a:cxn>
              <a:cxn ang="T11">
                <a:pos x="T6" y="T7"/>
              </a:cxn>
            </a:cxnLst>
            <a:rect l="T12" t="T13" r="T14" b="T15"/>
            <a:pathLst>
              <a:path w="21600" h="21600">
                <a:moveTo>
                  <a:pt x="0" y="0"/>
                </a:moveTo>
                <a:lnTo>
                  <a:pt x="2979" y="21600"/>
                </a:lnTo>
                <a:lnTo>
                  <a:pt x="18621" y="21600"/>
                </a:lnTo>
                <a:lnTo>
                  <a:pt x="21600" y="0"/>
                </a:lnTo>
                <a:lnTo>
                  <a:pt x="0" y="0"/>
                </a:lnTo>
                <a:close/>
              </a:path>
            </a:pathLst>
          </a:custGeom>
          <a:solidFill>
            <a:schemeClr val="bg1"/>
          </a:solidFill>
          <a:ln w="12700">
            <a:solidFill>
              <a:schemeClr val="tx1"/>
            </a:solidFill>
            <a:miter lim="800000"/>
            <a:headEnd/>
            <a:tailEnd/>
          </a:ln>
        </p:spPr>
        <p:txBody>
          <a:bodyPr wrap="none" anchor="ctr"/>
          <a:lstStyle/>
          <a:p>
            <a:endParaRPr lang="en-US"/>
          </a:p>
        </p:txBody>
      </p:sp>
      <p:sp>
        <p:nvSpPr>
          <p:cNvPr id="61453" name="Rectangle 13">
            <a:extLst>
              <a:ext uri="{FF2B5EF4-FFF2-40B4-BE49-F238E27FC236}">
                <a16:creationId xmlns:a16="http://schemas.microsoft.com/office/drawing/2014/main" id="{1640D702-8720-9C43-BEE7-559C4DB91EA1}"/>
              </a:ext>
            </a:extLst>
          </p:cNvPr>
          <p:cNvSpPr>
            <a:spLocks noChangeArrowheads="1"/>
          </p:cNvSpPr>
          <p:nvPr/>
        </p:nvSpPr>
        <p:spPr bwMode="auto">
          <a:xfrm rot="5400000">
            <a:off x="2405063" y="5041900"/>
            <a:ext cx="1892300" cy="368300"/>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Arial" panose="020B0604020202020204" pitchFamily="34" charset="0"/>
            </a:endParaRPr>
          </a:p>
        </p:txBody>
      </p:sp>
      <p:sp>
        <p:nvSpPr>
          <p:cNvPr id="61454" name="Rectangle 14">
            <a:extLst>
              <a:ext uri="{FF2B5EF4-FFF2-40B4-BE49-F238E27FC236}">
                <a16:creationId xmlns:a16="http://schemas.microsoft.com/office/drawing/2014/main" id="{88F4D1F3-1BBF-6547-88C2-41334A12CE6C}"/>
              </a:ext>
            </a:extLst>
          </p:cNvPr>
          <p:cNvSpPr>
            <a:spLocks noChangeArrowheads="1"/>
          </p:cNvSpPr>
          <p:nvPr/>
        </p:nvSpPr>
        <p:spPr bwMode="auto">
          <a:xfrm rot="5400000">
            <a:off x="4005263" y="5041900"/>
            <a:ext cx="1892300" cy="368300"/>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Arial" panose="020B0604020202020204" pitchFamily="34" charset="0"/>
            </a:endParaRPr>
          </a:p>
        </p:txBody>
      </p:sp>
      <p:sp>
        <p:nvSpPr>
          <p:cNvPr id="61455" name="Line 15">
            <a:extLst>
              <a:ext uri="{FF2B5EF4-FFF2-40B4-BE49-F238E27FC236}">
                <a16:creationId xmlns:a16="http://schemas.microsoft.com/office/drawing/2014/main" id="{9A16CD73-70AB-A64D-B08A-B18B88F14104}"/>
              </a:ext>
            </a:extLst>
          </p:cNvPr>
          <p:cNvSpPr>
            <a:spLocks noChangeShapeType="1"/>
          </p:cNvSpPr>
          <p:nvPr/>
        </p:nvSpPr>
        <p:spPr bwMode="auto">
          <a:xfrm>
            <a:off x="1712913" y="5264150"/>
            <a:ext cx="381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456" name="Line 16">
            <a:extLst>
              <a:ext uri="{FF2B5EF4-FFF2-40B4-BE49-F238E27FC236}">
                <a16:creationId xmlns:a16="http://schemas.microsoft.com/office/drawing/2014/main" id="{629CF93D-3D4E-B249-A8EA-806B962B833C}"/>
              </a:ext>
            </a:extLst>
          </p:cNvPr>
          <p:cNvSpPr>
            <a:spLocks noChangeShapeType="1"/>
          </p:cNvSpPr>
          <p:nvPr/>
        </p:nvSpPr>
        <p:spPr bwMode="auto">
          <a:xfrm>
            <a:off x="3922713" y="3663950"/>
            <a:ext cx="0" cy="228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457" name="Rectangle 17">
            <a:extLst>
              <a:ext uri="{FF2B5EF4-FFF2-40B4-BE49-F238E27FC236}">
                <a16:creationId xmlns:a16="http://schemas.microsoft.com/office/drawing/2014/main" id="{E89B3544-F4B7-6146-80A3-2E2E2E56C6C6}"/>
              </a:ext>
            </a:extLst>
          </p:cNvPr>
          <p:cNvSpPr>
            <a:spLocks noChangeArrowheads="1"/>
          </p:cNvSpPr>
          <p:nvPr/>
        </p:nvSpPr>
        <p:spPr bwMode="auto">
          <a:xfrm>
            <a:off x="4135438" y="4981575"/>
            <a:ext cx="3317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2400">
                <a:latin typeface="Arial" panose="020B0604020202020204" pitchFamily="34" charset="0"/>
              </a:rPr>
              <a:t>...</a:t>
            </a:r>
          </a:p>
        </p:txBody>
      </p:sp>
      <p:sp>
        <p:nvSpPr>
          <p:cNvPr id="61458" name="Rectangle 18">
            <a:extLst>
              <a:ext uri="{FF2B5EF4-FFF2-40B4-BE49-F238E27FC236}">
                <a16:creationId xmlns:a16="http://schemas.microsoft.com/office/drawing/2014/main" id="{BC4AF79A-6AD1-0D41-8203-6E5F8D25D118}"/>
              </a:ext>
            </a:extLst>
          </p:cNvPr>
          <p:cNvSpPr>
            <a:spLocks noChangeArrowheads="1"/>
          </p:cNvSpPr>
          <p:nvPr/>
        </p:nvSpPr>
        <p:spPr bwMode="auto">
          <a:xfrm>
            <a:off x="5583238" y="4929188"/>
            <a:ext cx="2386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i="1">
                <a:latin typeface="Arial" panose="020B0604020202020204" pitchFamily="34" charset="0"/>
              </a:rPr>
              <a:t>each entry is a two-bit counter</a:t>
            </a:r>
          </a:p>
          <a:p>
            <a:pPr>
              <a:spcBef>
                <a:spcPct val="0"/>
              </a:spcBef>
              <a:buClrTx/>
              <a:buSzTx/>
              <a:buFontTx/>
              <a:buNone/>
            </a:pPr>
            <a:r>
              <a:rPr lang="en-US" altLang="en-US" sz="1200" i="1">
                <a:latin typeface="Arial" panose="020B0604020202020204" pitchFamily="34" charset="0"/>
              </a:rPr>
              <a:t>(or perhaps simpler)</a:t>
            </a:r>
          </a:p>
        </p:txBody>
      </p:sp>
      <p:sp>
        <p:nvSpPr>
          <p:cNvPr id="61459" name="Text Box 19">
            <a:extLst>
              <a:ext uri="{FF2B5EF4-FFF2-40B4-BE49-F238E27FC236}">
                <a16:creationId xmlns:a16="http://schemas.microsoft.com/office/drawing/2014/main" id="{33DDE015-6D44-2A4C-A433-BC9C7FD2BA07}"/>
              </a:ext>
            </a:extLst>
          </p:cNvPr>
          <p:cNvSpPr txBox="1">
            <a:spLocks noChangeArrowheads="1"/>
          </p:cNvSpPr>
          <p:nvPr/>
        </p:nvSpPr>
        <p:spPr bwMode="auto">
          <a:xfrm>
            <a:off x="3617913" y="3014662"/>
            <a:ext cx="6159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dirty="0">
                <a:latin typeface="Arial" panose="020B0604020202020204" pitchFamily="34" charset="0"/>
              </a:rPr>
              <a:t>BHR</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3497ECF6-1AD1-734C-A629-22876EA9366C}"/>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Gshare example</a:t>
            </a:r>
          </a:p>
        </p:txBody>
      </p:sp>
      <p:grpSp>
        <p:nvGrpSpPr>
          <p:cNvPr id="63491" name="Group 3">
            <a:extLst>
              <a:ext uri="{FF2B5EF4-FFF2-40B4-BE49-F238E27FC236}">
                <a16:creationId xmlns:a16="http://schemas.microsoft.com/office/drawing/2014/main" id="{CC6C7E64-1CC0-6042-81C4-A2A0FB531FAF}"/>
              </a:ext>
            </a:extLst>
          </p:cNvPr>
          <p:cNvGrpSpPr>
            <a:grpSpLocks/>
          </p:cNvGrpSpPr>
          <p:nvPr/>
        </p:nvGrpSpPr>
        <p:grpSpPr bwMode="auto">
          <a:xfrm>
            <a:off x="4425950" y="427038"/>
            <a:ext cx="3241675" cy="2417762"/>
            <a:chOff x="2788" y="269"/>
            <a:chExt cx="2042" cy="1523"/>
          </a:xfrm>
        </p:grpSpPr>
        <p:sp>
          <p:nvSpPr>
            <p:cNvPr id="63643" name="Rectangle 4">
              <a:extLst>
                <a:ext uri="{FF2B5EF4-FFF2-40B4-BE49-F238E27FC236}">
                  <a16:creationId xmlns:a16="http://schemas.microsoft.com/office/drawing/2014/main" id="{0FE18833-1B82-E048-91C8-FD963146ADB1}"/>
                </a:ext>
              </a:extLst>
            </p:cNvPr>
            <p:cNvSpPr>
              <a:spLocks noChangeArrowheads="1"/>
            </p:cNvSpPr>
            <p:nvPr/>
          </p:nvSpPr>
          <p:spPr bwMode="auto">
            <a:xfrm>
              <a:off x="3460" y="436"/>
              <a:ext cx="232" cy="232"/>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63644" name="Rectangle 5">
              <a:extLst>
                <a:ext uri="{FF2B5EF4-FFF2-40B4-BE49-F238E27FC236}">
                  <a16:creationId xmlns:a16="http://schemas.microsoft.com/office/drawing/2014/main" id="{F6354D3D-EF0A-5549-82B1-972EC9D3C142}"/>
                </a:ext>
              </a:extLst>
            </p:cNvPr>
            <p:cNvSpPr>
              <a:spLocks noChangeArrowheads="1"/>
            </p:cNvSpPr>
            <p:nvPr/>
          </p:nvSpPr>
          <p:spPr bwMode="auto">
            <a:xfrm>
              <a:off x="3398" y="269"/>
              <a:ext cx="158"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900">
                  <a:latin typeface="Arial" panose="020B0604020202020204" pitchFamily="34" charset="0"/>
                </a:rPr>
                <a:t>1</a:t>
              </a:r>
            </a:p>
          </p:txBody>
        </p:sp>
        <p:sp>
          <p:nvSpPr>
            <p:cNvPr id="63645" name="Rectangle 6">
              <a:extLst>
                <a:ext uri="{FF2B5EF4-FFF2-40B4-BE49-F238E27FC236}">
                  <a16:creationId xmlns:a16="http://schemas.microsoft.com/office/drawing/2014/main" id="{D51BA227-0A78-EE44-8DAF-CD8536764C76}"/>
                </a:ext>
              </a:extLst>
            </p:cNvPr>
            <p:cNvSpPr>
              <a:spLocks noChangeArrowheads="1"/>
            </p:cNvSpPr>
            <p:nvPr/>
          </p:nvSpPr>
          <p:spPr bwMode="auto">
            <a:xfrm>
              <a:off x="3830" y="269"/>
              <a:ext cx="158"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900">
                  <a:latin typeface="Arial" panose="020B0604020202020204" pitchFamily="34" charset="0"/>
                </a:rPr>
                <a:t>0</a:t>
              </a:r>
            </a:p>
          </p:txBody>
        </p:sp>
        <p:sp>
          <p:nvSpPr>
            <p:cNvPr id="63646" name="AutoShape 7">
              <a:extLst>
                <a:ext uri="{FF2B5EF4-FFF2-40B4-BE49-F238E27FC236}">
                  <a16:creationId xmlns:a16="http://schemas.microsoft.com/office/drawing/2014/main" id="{8EEAEC5C-6964-5B46-ACAD-467994ED6958}"/>
                </a:ext>
              </a:extLst>
            </p:cNvPr>
            <p:cNvSpPr>
              <a:spLocks noChangeArrowheads="1"/>
            </p:cNvSpPr>
            <p:nvPr/>
          </p:nvSpPr>
          <p:spPr bwMode="auto">
            <a:xfrm rot="-5400000" flipH="1" flipV="1">
              <a:off x="2596" y="1252"/>
              <a:ext cx="568" cy="18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308 w 21600"/>
                <a:gd name="T13" fmla="*/ 3287 h 21600"/>
                <a:gd name="T14" fmla="*/ 18292 w 21600"/>
                <a:gd name="T15" fmla="*/ 18313 h 21600"/>
              </a:gdLst>
              <a:ahLst/>
              <a:cxnLst>
                <a:cxn ang="T8">
                  <a:pos x="T0" y="T1"/>
                </a:cxn>
                <a:cxn ang="T9">
                  <a:pos x="T2" y="T3"/>
                </a:cxn>
                <a:cxn ang="T10">
                  <a:pos x="T4" y="T5"/>
                </a:cxn>
                <a:cxn ang="T11">
                  <a:pos x="T6" y="T7"/>
                </a:cxn>
              </a:cxnLst>
              <a:rect l="T12" t="T13" r="T14" b="T15"/>
              <a:pathLst>
                <a:path w="21600" h="21600">
                  <a:moveTo>
                    <a:pt x="0" y="0"/>
                  </a:moveTo>
                  <a:lnTo>
                    <a:pt x="2979" y="21600"/>
                  </a:lnTo>
                  <a:lnTo>
                    <a:pt x="18621" y="21600"/>
                  </a:lnTo>
                  <a:lnTo>
                    <a:pt x="21600" y="0"/>
                  </a:lnTo>
                  <a:lnTo>
                    <a:pt x="0" y="0"/>
                  </a:lnTo>
                  <a:close/>
                </a:path>
              </a:pathLst>
            </a:custGeom>
            <a:solidFill>
              <a:schemeClr val="bg1"/>
            </a:solidFill>
            <a:ln w="12700">
              <a:solidFill>
                <a:schemeClr val="tx1"/>
              </a:solidFill>
              <a:miter lim="800000"/>
              <a:headEnd/>
              <a:tailEnd/>
            </a:ln>
          </p:spPr>
          <p:txBody>
            <a:bodyPr wrap="none" anchor="ctr"/>
            <a:lstStyle/>
            <a:p>
              <a:endParaRPr lang="en-US"/>
            </a:p>
          </p:txBody>
        </p:sp>
        <p:sp>
          <p:nvSpPr>
            <p:cNvPr id="63647" name="AutoShape 8">
              <a:extLst>
                <a:ext uri="{FF2B5EF4-FFF2-40B4-BE49-F238E27FC236}">
                  <a16:creationId xmlns:a16="http://schemas.microsoft.com/office/drawing/2014/main" id="{6A9E87DA-E796-A643-987F-000A66CB8E8D}"/>
                </a:ext>
              </a:extLst>
            </p:cNvPr>
            <p:cNvSpPr>
              <a:spLocks noChangeArrowheads="1"/>
            </p:cNvSpPr>
            <p:nvPr/>
          </p:nvSpPr>
          <p:spPr bwMode="auto">
            <a:xfrm flipV="1">
              <a:off x="2884" y="820"/>
              <a:ext cx="1648" cy="160"/>
            </a:xfrm>
            <a:custGeom>
              <a:avLst/>
              <a:gdLst>
                <a:gd name="T0" fmla="*/ 1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290 w 21600"/>
                <a:gd name="T13" fmla="*/ 3240 h 21600"/>
                <a:gd name="T14" fmla="*/ 18310 w 21600"/>
                <a:gd name="T15" fmla="*/ 18360 h 21600"/>
              </a:gdLst>
              <a:ahLst/>
              <a:cxnLst>
                <a:cxn ang="T8">
                  <a:pos x="T0" y="T1"/>
                </a:cxn>
                <a:cxn ang="T9">
                  <a:pos x="T2" y="T3"/>
                </a:cxn>
                <a:cxn ang="T10">
                  <a:pos x="T4" y="T5"/>
                </a:cxn>
                <a:cxn ang="T11">
                  <a:pos x="T6" y="T7"/>
                </a:cxn>
              </a:cxnLst>
              <a:rect l="T12" t="T13" r="T14" b="T15"/>
              <a:pathLst>
                <a:path w="21600" h="21600">
                  <a:moveTo>
                    <a:pt x="0" y="0"/>
                  </a:moveTo>
                  <a:lnTo>
                    <a:pt x="2979" y="21600"/>
                  </a:lnTo>
                  <a:lnTo>
                    <a:pt x="18621" y="21600"/>
                  </a:lnTo>
                  <a:lnTo>
                    <a:pt x="21600" y="0"/>
                  </a:lnTo>
                  <a:lnTo>
                    <a:pt x="0" y="0"/>
                  </a:lnTo>
                  <a:close/>
                </a:path>
              </a:pathLst>
            </a:custGeom>
            <a:solidFill>
              <a:schemeClr val="bg1"/>
            </a:solidFill>
            <a:ln w="12700">
              <a:solidFill>
                <a:schemeClr val="tx1"/>
              </a:solidFill>
              <a:miter lim="800000"/>
              <a:headEnd/>
              <a:tailEnd/>
            </a:ln>
          </p:spPr>
          <p:txBody>
            <a:bodyPr wrap="none" anchor="ctr"/>
            <a:lstStyle/>
            <a:p>
              <a:endParaRPr lang="en-US"/>
            </a:p>
          </p:txBody>
        </p:sp>
        <p:sp>
          <p:nvSpPr>
            <p:cNvPr id="63648" name="Line 9">
              <a:extLst>
                <a:ext uri="{FF2B5EF4-FFF2-40B4-BE49-F238E27FC236}">
                  <a16:creationId xmlns:a16="http://schemas.microsoft.com/office/drawing/2014/main" id="{2CBF1EDF-96D1-2A45-B475-CC151D37B373}"/>
                </a:ext>
              </a:extLst>
            </p:cNvPr>
            <p:cNvSpPr>
              <a:spLocks noChangeShapeType="1"/>
            </p:cNvSpPr>
            <p:nvPr/>
          </p:nvSpPr>
          <p:spPr bwMode="auto">
            <a:xfrm>
              <a:off x="3696" y="672"/>
              <a:ext cx="0" cy="144"/>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649" name="Rectangle 10">
              <a:extLst>
                <a:ext uri="{FF2B5EF4-FFF2-40B4-BE49-F238E27FC236}">
                  <a16:creationId xmlns:a16="http://schemas.microsoft.com/office/drawing/2014/main" id="{9A6812F7-87D2-AD42-AB7F-9CBB90F8581A}"/>
                </a:ext>
              </a:extLst>
            </p:cNvPr>
            <p:cNvSpPr>
              <a:spLocks noChangeArrowheads="1"/>
            </p:cNvSpPr>
            <p:nvPr/>
          </p:nvSpPr>
          <p:spPr bwMode="auto">
            <a:xfrm>
              <a:off x="3700" y="436"/>
              <a:ext cx="232" cy="232"/>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63650" name="Rectangle 11">
              <a:extLst>
                <a:ext uri="{FF2B5EF4-FFF2-40B4-BE49-F238E27FC236}">
                  <a16:creationId xmlns:a16="http://schemas.microsoft.com/office/drawing/2014/main" id="{25AED48B-50CA-BE42-8529-12A54079BDED}"/>
                </a:ext>
              </a:extLst>
            </p:cNvPr>
            <p:cNvSpPr>
              <a:spLocks noChangeArrowheads="1"/>
            </p:cNvSpPr>
            <p:nvPr/>
          </p:nvSpPr>
          <p:spPr bwMode="auto">
            <a:xfrm rot="5400000">
              <a:off x="3052" y="1084"/>
              <a:ext cx="280" cy="232"/>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63651" name="Rectangle 12">
              <a:extLst>
                <a:ext uri="{FF2B5EF4-FFF2-40B4-BE49-F238E27FC236}">
                  <a16:creationId xmlns:a16="http://schemas.microsoft.com/office/drawing/2014/main" id="{7BDB4470-B4AC-0744-BAAA-386A7AE4EFF5}"/>
                </a:ext>
              </a:extLst>
            </p:cNvPr>
            <p:cNvSpPr>
              <a:spLocks noChangeArrowheads="1"/>
            </p:cNvSpPr>
            <p:nvPr/>
          </p:nvSpPr>
          <p:spPr bwMode="auto">
            <a:xfrm rot="5400000">
              <a:off x="3052" y="1372"/>
              <a:ext cx="280" cy="232"/>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grpSp>
          <p:nvGrpSpPr>
            <p:cNvPr id="63652" name="Group 13">
              <a:extLst>
                <a:ext uri="{FF2B5EF4-FFF2-40B4-BE49-F238E27FC236}">
                  <a16:creationId xmlns:a16="http://schemas.microsoft.com/office/drawing/2014/main" id="{59FF877E-EF8A-7641-8D2E-7AE55524C7BF}"/>
                </a:ext>
              </a:extLst>
            </p:cNvPr>
            <p:cNvGrpSpPr>
              <a:grpSpLocks/>
            </p:cNvGrpSpPr>
            <p:nvPr/>
          </p:nvGrpSpPr>
          <p:grpSpPr bwMode="auto">
            <a:xfrm>
              <a:off x="3412" y="1060"/>
              <a:ext cx="232" cy="568"/>
              <a:chOff x="3412" y="1060"/>
              <a:chExt cx="232" cy="568"/>
            </a:xfrm>
          </p:grpSpPr>
          <p:sp>
            <p:nvSpPr>
              <p:cNvPr id="63663" name="Rectangle 14">
                <a:extLst>
                  <a:ext uri="{FF2B5EF4-FFF2-40B4-BE49-F238E27FC236}">
                    <a16:creationId xmlns:a16="http://schemas.microsoft.com/office/drawing/2014/main" id="{5AFBF431-2834-1F4C-B560-3C7E429A4245}"/>
                  </a:ext>
                </a:extLst>
              </p:cNvPr>
              <p:cNvSpPr>
                <a:spLocks noChangeArrowheads="1"/>
              </p:cNvSpPr>
              <p:nvPr/>
            </p:nvSpPr>
            <p:spPr bwMode="auto">
              <a:xfrm rot="5400000">
                <a:off x="3388" y="1084"/>
                <a:ext cx="280" cy="232"/>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63664" name="Rectangle 15">
                <a:extLst>
                  <a:ext uri="{FF2B5EF4-FFF2-40B4-BE49-F238E27FC236}">
                    <a16:creationId xmlns:a16="http://schemas.microsoft.com/office/drawing/2014/main" id="{879E429A-1FAB-4B40-802F-9FE0E4FE90F0}"/>
                  </a:ext>
                </a:extLst>
              </p:cNvPr>
              <p:cNvSpPr>
                <a:spLocks noChangeArrowheads="1"/>
              </p:cNvSpPr>
              <p:nvPr/>
            </p:nvSpPr>
            <p:spPr bwMode="auto">
              <a:xfrm rot="5400000">
                <a:off x="3388" y="1372"/>
                <a:ext cx="280" cy="232"/>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grpSp>
        <p:sp>
          <p:nvSpPr>
            <p:cNvPr id="63653" name="Rectangle 16">
              <a:extLst>
                <a:ext uri="{FF2B5EF4-FFF2-40B4-BE49-F238E27FC236}">
                  <a16:creationId xmlns:a16="http://schemas.microsoft.com/office/drawing/2014/main" id="{D2B96D66-BB0F-EE40-BB9D-B9A19BFD273A}"/>
                </a:ext>
              </a:extLst>
            </p:cNvPr>
            <p:cNvSpPr>
              <a:spLocks noChangeArrowheads="1"/>
            </p:cNvSpPr>
            <p:nvPr/>
          </p:nvSpPr>
          <p:spPr bwMode="auto">
            <a:xfrm rot="5400000">
              <a:off x="3724" y="1084"/>
              <a:ext cx="280" cy="232"/>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63654" name="Rectangle 17">
              <a:extLst>
                <a:ext uri="{FF2B5EF4-FFF2-40B4-BE49-F238E27FC236}">
                  <a16:creationId xmlns:a16="http://schemas.microsoft.com/office/drawing/2014/main" id="{A4EE4FAD-C8CD-444B-9490-2143F8CCCF21}"/>
                </a:ext>
              </a:extLst>
            </p:cNvPr>
            <p:cNvSpPr>
              <a:spLocks noChangeArrowheads="1"/>
            </p:cNvSpPr>
            <p:nvPr/>
          </p:nvSpPr>
          <p:spPr bwMode="auto">
            <a:xfrm rot="5400000">
              <a:off x="3724" y="1372"/>
              <a:ext cx="280" cy="232"/>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63655" name="Rectangle 18">
              <a:extLst>
                <a:ext uri="{FF2B5EF4-FFF2-40B4-BE49-F238E27FC236}">
                  <a16:creationId xmlns:a16="http://schemas.microsoft.com/office/drawing/2014/main" id="{D0854705-0068-A848-AD77-903FE1C503AB}"/>
                </a:ext>
              </a:extLst>
            </p:cNvPr>
            <p:cNvSpPr>
              <a:spLocks noChangeArrowheads="1"/>
            </p:cNvSpPr>
            <p:nvPr/>
          </p:nvSpPr>
          <p:spPr bwMode="auto">
            <a:xfrm rot="5400000">
              <a:off x="4060" y="1084"/>
              <a:ext cx="280" cy="232"/>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63656" name="Rectangle 19">
              <a:extLst>
                <a:ext uri="{FF2B5EF4-FFF2-40B4-BE49-F238E27FC236}">
                  <a16:creationId xmlns:a16="http://schemas.microsoft.com/office/drawing/2014/main" id="{E84FDEE6-6464-1843-99B9-2468D7D563B9}"/>
                </a:ext>
              </a:extLst>
            </p:cNvPr>
            <p:cNvSpPr>
              <a:spLocks noChangeArrowheads="1"/>
            </p:cNvSpPr>
            <p:nvPr/>
          </p:nvSpPr>
          <p:spPr bwMode="auto">
            <a:xfrm rot="5400000">
              <a:off x="4060" y="1372"/>
              <a:ext cx="280" cy="232"/>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63657" name="Rectangle 20">
              <a:extLst>
                <a:ext uri="{FF2B5EF4-FFF2-40B4-BE49-F238E27FC236}">
                  <a16:creationId xmlns:a16="http://schemas.microsoft.com/office/drawing/2014/main" id="{D4CEDE27-81D6-3142-BAA9-A5BAD98CABF8}"/>
                </a:ext>
              </a:extLst>
            </p:cNvPr>
            <p:cNvSpPr>
              <a:spLocks noChangeArrowheads="1"/>
            </p:cNvSpPr>
            <p:nvPr/>
          </p:nvSpPr>
          <p:spPr bwMode="auto">
            <a:xfrm>
              <a:off x="3984" y="432"/>
              <a:ext cx="35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BHR</a:t>
              </a:r>
            </a:p>
          </p:txBody>
        </p:sp>
        <p:sp>
          <p:nvSpPr>
            <p:cNvPr id="63658" name="Rectangle 21">
              <a:extLst>
                <a:ext uri="{FF2B5EF4-FFF2-40B4-BE49-F238E27FC236}">
                  <a16:creationId xmlns:a16="http://schemas.microsoft.com/office/drawing/2014/main" id="{A60BDBAB-7384-7E43-9020-72A8F756DEE1}"/>
                </a:ext>
              </a:extLst>
            </p:cNvPr>
            <p:cNvSpPr>
              <a:spLocks noChangeArrowheads="1"/>
            </p:cNvSpPr>
            <p:nvPr/>
          </p:nvSpPr>
          <p:spPr bwMode="auto">
            <a:xfrm>
              <a:off x="4406" y="1166"/>
              <a:ext cx="4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matrix</a:t>
              </a:r>
            </a:p>
          </p:txBody>
        </p:sp>
        <p:sp>
          <p:nvSpPr>
            <p:cNvPr id="63659" name="Rectangle 22">
              <a:extLst>
                <a:ext uri="{FF2B5EF4-FFF2-40B4-BE49-F238E27FC236}">
                  <a16:creationId xmlns:a16="http://schemas.microsoft.com/office/drawing/2014/main" id="{21DE1CA5-6E98-D647-935A-655C81C9F815}"/>
                </a:ext>
              </a:extLst>
            </p:cNvPr>
            <p:cNvSpPr>
              <a:spLocks noChangeArrowheads="1"/>
            </p:cNvSpPr>
            <p:nvPr/>
          </p:nvSpPr>
          <p:spPr bwMode="auto">
            <a:xfrm>
              <a:off x="3062" y="1598"/>
              <a:ext cx="24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00</a:t>
              </a:r>
            </a:p>
          </p:txBody>
        </p:sp>
        <p:sp>
          <p:nvSpPr>
            <p:cNvPr id="63660" name="Rectangle 23">
              <a:extLst>
                <a:ext uri="{FF2B5EF4-FFF2-40B4-BE49-F238E27FC236}">
                  <a16:creationId xmlns:a16="http://schemas.microsoft.com/office/drawing/2014/main" id="{A8EB6D31-3B7C-C349-A79B-C7C9E03986D4}"/>
                </a:ext>
              </a:extLst>
            </p:cNvPr>
            <p:cNvSpPr>
              <a:spLocks noChangeArrowheads="1"/>
            </p:cNvSpPr>
            <p:nvPr/>
          </p:nvSpPr>
          <p:spPr bwMode="auto">
            <a:xfrm>
              <a:off x="3398" y="1598"/>
              <a:ext cx="24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01</a:t>
              </a:r>
            </a:p>
          </p:txBody>
        </p:sp>
        <p:sp>
          <p:nvSpPr>
            <p:cNvPr id="63661" name="Rectangle 24">
              <a:extLst>
                <a:ext uri="{FF2B5EF4-FFF2-40B4-BE49-F238E27FC236}">
                  <a16:creationId xmlns:a16="http://schemas.microsoft.com/office/drawing/2014/main" id="{ECDF392C-C12D-1A42-9B7F-27DE0112B035}"/>
                </a:ext>
              </a:extLst>
            </p:cNvPr>
            <p:cNvSpPr>
              <a:spLocks noChangeArrowheads="1"/>
            </p:cNvSpPr>
            <p:nvPr/>
          </p:nvSpPr>
          <p:spPr bwMode="auto">
            <a:xfrm>
              <a:off x="3734" y="1598"/>
              <a:ext cx="24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10</a:t>
              </a:r>
            </a:p>
          </p:txBody>
        </p:sp>
        <p:sp>
          <p:nvSpPr>
            <p:cNvPr id="63662" name="Rectangle 25">
              <a:extLst>
                <a:ext uri="{FF2B5EF4-FFF2-40B4-BE49-F238E27FC236}">
                  <a16:creationId xmlns:a16="http://schemas.microsoft.com/office/drawing/2014/main" id="{211FCB40-6511-834E-903A-1A0E1EAB9063}"/>
                </a:ext>
              </a:extLst>
            </p:cNvPr>
            <p:cNvSpPr>
              <a:spLocks noChangeArrowheads="1"/>
            </p:cNvSpPr>
            <p:nvPr/>
          </p:nvSpPr>
          <p:spPr bwMode="auto">
            <a:xfrm>
              <a:off x="4070" y="1598"/>
              <a:ext cx="23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11</a:t>
              </a:r>
            </a:p>
          </p:txBody>
        </p:sp>
      </p:grpSp>
      <p:grpSp>
        <p:nvGrpSpPr>
          <p:cNvPr id="63492" name="Group 26">
            <a:extLst>
              <a:ext uri="{FF2B5EF4-FFF2-40B4-BE49-F238E27FC236}">
                <a16:creationId xmlns:a16="http://schemas.microsoft.com/office/drawing/2014/main" id="{20F2B201-9181-524F-BB2D-BF39781F7ACF}"/>
              </a:ext>
            </a:extLst>
          </p:cNvPr>
          <p:cNvGrpSpPr>
            <a:grpSpLocks/>
          </p:cNvGrpSpPr>
          <p:nvPr/>
        </p:nvGrpSpPr>
        <p:grpSpPr bwMode="auto">
          <a:xfrm>
            <a:off x="2727325" y="1211263"/>
            <a:ext cx="1222375" cy="1481137"/>
            <a:chOff x="1718" y="763"/>
            <a:chExt cx="770" cy="933"/>
          </a:xfrm>
        </p:grpSpPr>
        <p:sp>
          <p:nvSpPr>
            <p:cNvPr id="63636" name="Rectangle 27">
              <a:extLst>
                <a:ext uri="{FF2B5EF4-FFF2-40B4-BE49-F238E27FC236}">
                  <a16:creationId xmlns:a16="http://schemas.microsoft.com/office/drawing/2014/main" id="{652BE196-F104-B645-9B82-55029F6F7B2C}"/>
                </a:ext>
              </a:extLst>
            </p:cNvPr>
            <p:cNvSpPr>
              <a:spLocks noChangeArrowheads="1"/>
            </p:cNvSpPr>
            <p:nvPr/>
          </p:nvSpPr>
          <p:spPr bwMode="auto">
            <a:xfrm>
              <a:off x="1718" y="907"/>
              <a:ext cx="71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100" i="1">
                  <a:latin typeface="Arial" panose="020B0604020202020204" pitchFamily="34" charset="0"/>
                </a:rPr>
                <a:t>A: BEQZ R1, D</a:t>
              </a:r>
            </a:p>
          </p:txBody>
        </p:sp>
        <p:sp>
          <p:nvSpPr>
            <p:cNvPr id="63637" name="Rectangle 28">
              <a:extLst>
                <a:ext uri="{FF2B5EF4-FFF2-40B4-BE49-F238E27FC236}">
                  <a16:creationId xmlns:a16="http://schemas.microsoft.com/office/drawing/2014/main" id="{E07CD80B-467D-F041-B1B7-D68333526A67}"/>
                </a:ext>
              </a:extLst>
            </p:cNvPr>
            <p:cNvSpPr>
              <a:spLocks noChangeArrowheads="1"/>
            </p:cNvSpPr>
            <p:nvPr/>
          </p:nvSpPr>
          <p:spPr bwMode="auto">
            <a:xfrm>
              <a:off x="1718" y="1147"/>
              <a:ext cx="71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100" i="1">
                  <a:latin typeface="Arial" panose="020B0604020202020204" pitchFamily="34" charset="0"/>
                </a:rPr>
                <a:t>D: BEQZ R1, F</a:t>
              </a:r>
            </a:p>
          </p:txBody>
        </p:sp>
        <p:sp>
          <p:nvSpPr>
            <p:cNvPr id="63638" name="Rectangle 29">
              <a:extLst>
                <a:ext uri="{FF2B5EF4-FFF2-40B4-BE49-F238E27FC236}">
                  <a16:creationId xmlns:a16="http://schemas.microsoft.com/office/drawing/2014/main" id="{D3427CAF-EFFC-FA4D-9F12-6330209EE340}"/>
                </a:ext>
              </a:extLst>
            </p:cNvPr>
            <p:cNvSpPr>
              <a:spLocks noChangeArrowheads="1"/>
            </p:cNvSpPr>
            <p:nvPr/>
          </p:nvSpPr>
          <p:spPr bwMode="auto">
            <a:xfrm>
              <a:off x="1718" y="1387"/>
              <a:ext cx="68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100" i="1">
                  <a:latin typeface="Arial" panose="020B0604020202020204" pitchFamily="34" charset="0"/>
                </a:rPr>
                <a:t>F: NOT R1,R1</a:t>
              </a:r>
            </a:p>
          </p:txBody>
        </p:sp>
        <p:sp>
          <p:nvSpPr>
            <p:cNvPr id="63639" name="Rectangle 30">
              <a:extLst>
                <a:ext uri="{FF2B5EF4-FFF2-40B4-BE49-F238E27FC236}">
                  <a16:creationId xmlns:a16="http://schemas.microsoft.com/office/drawing/2014/main" id="{02712C06-612E-5D4A-90D4-C1AAF75B11A0}"/>
                </a:ext>
              </a:extLst>
            </p:cNvPr>
            <p:cNvSpPr>
              <a:spLocks noChangeArrowheads="1"/>
            </p:cNvSpPr>
            <p:nvPr/>
          </p:nvSpPr>
          <p:spPr bwMode="auto">
            <a:xfrm>
              <a:off x="1718" y="1531"/>
              <a:ext cx="56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100" i="1">
                  <a:latin typeface="Arial" panose="020B0604020202020204" pitchFamily="34" charset="0"/>
                </a:rPr>
                <a:t>G: JUMP A</a:t>
              </a:r>
            </a:p>
          </p:txBody>
        </p:sp>
        <p:sp>
          <p:nvSpPr>
            <p:cNvPr id="63640" name="Rectangle 31">
              <a:extLst>
                <a:ext uri="{FF2B5EF4-FFF2-40B4-BE49-F238E27FC236}">
                  <a16:creationId xmlns:a16="http://schemas.microsoft.com/office/drawing/2014/main" id="{E3E9C0D1-2BA0-2E43-A7C2-378387A4F587}"/>
                </a:ext>
              </a:extLst>
            </p:cNvPr>
            <p:cNvSpPr>
              <a:spLocks noChangeArrowheads="1"/>
            </p:cNvSpPr>
            <p:nvPr/>
          </p:nvSpPr>
          <p:spPr bwMode="auto">
            <a:xfrm>
              <a:off x="1814" y="763"/>
              <a:ext cx="6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100" i="1">
                  <a:latin typeface="Arial" panose="020B0604020202020204" pitchFamily="34" charset="0"/>
                </a:rPr>
                <a:t>initially R1 = 0</a:t>
              </a:r>
            </a:p>
          </p:txBody>
        </p:sp>
        <p:sp>
          <p:nvSpPr>
            <p:cNvPr id="63641" name="Rectangle 32">
              <a:extLst>
                <a:ext uri="{FF2B5EF4-FFF2-40B4-BE49-F238E27FC236}">
                  <a16:creationId xmlns:a16="http://schemas.microsoft.com/office/drawing/2014/main" id="{76ECAE56-6580-0848-9CED-39630A815B40}"/>
                </a:ext>
              </a:extLst>
            </p:cNvPr>
            <p:cNvSpPr>
              <a:spLocks noChangeArrowheads="1"/>
            </p:cNvSpPr>
            <p:nvPr/>
          </p:nvSpPr>
          <p:spPr bwMode="auto">
            <a:xfrm>
              <a:off x="2054" y="1003"/>
              <a:ext cx="1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100" i="1">
                  <a:latin typeface="Arial" panose="020B0604020202020204" pitchFamily="34" charset="0"/>
                </a:rPr>
                <a:t>...</a:t>
              </a:r>
            </a:p>
          </p:txBody>
        </p:sp>
        <p:sp>
          <p:nvSpPr>
            <p:cNvPr id="63642" name="Rectangle 33">
              <a:extLst>
                <a:ext uri="{FF2B5EF4-FFF2-40B4-BE49-F238E27FC236}">
                  <a16:creationId xmlns:a16="http://schemas.microsoft.com/office/drawing/2014/main" id="{E526D9C0-ACD5-8547-B496-6EC13B225249}"/>
                </a:ext>
              </a:extLst>
            </p:cNvPr>
            <p:cNvSpPr>
              <a:spLocks noChangeArrowheads="1"/>
            </p:cNvSpPr>
            <p:nvPr/>
          </p:nvSpPr>
          <p:spPr bwMode="auto">
            <a:xfrm>
              <a:off x="2054" y="1243"/>
              <a:ext cx="1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100" i="1">
                  <a:latin typeface="Arial" panose="020B0604020202020204" pitchFamily="34" charset="0"/>
                </a:rPr>
                <a:t>...</a:t>
              </a:r>
            </a:p>
          </p:txBody>
        </p:sp>
      </p:grpSp>
      <p:sp>
        <p:nvSpPr>
          <p:cNvPr id="63493" name="Rectangle 34">
            <a:extLst>
              <a:ext uri="{FF2B5EF4-FFF2-40B4-BE49-F238E27FC236}">
                <a16:creationId xmlns:a16="http://schemas.microsoft.com/office/drawing/2014/main" id="{D9FC3B61-D824-314E-A138-511B4DE5BD74}"/>
              </a:ext>
            </a:extLst>
          </p:cNvPr>
          <p:cNvSpPr>
            <a:spLocks noChangeArrowheads="1"/>
          </p:cNvSpPr>
          <p:nvPr/>
        </p:nvSpPr>
        <p:spPr bwMode="auto">
          <a:xfrm>
            <a:off x="1660525" y="4060825"/>
            <a:ext cx="13763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A: T, pred N</a:t>
            </a:r>
          </a:p>
          <a:p>
            <a:pPr>
              <a:spcBef>
                <a:spcPct val="0"/>
              </a:spcBef>
              <a:buClrTx/>
              <a:buSzTx/>
              <a:buFontTx/>
              <a:buNone/>
            </a:pPr>
            <a:r>
              <a:rPr lang="en-US" altLang="en-US" sz="1400">
                <a:latin typeface="Arial" panose="020B0604020202020204" pitchFamily="34" charset="0"/>
                <a:cs typeface="Arial" panose="020B0604020202020204" pitchFamily="34" charset="0"/>
              </a:rPr>
              <a:t>New BHR = 01</a:t>
            </a:r>
          </a:p>
        </p:txBody>
      </p:sp>
      <p:sp>
        <p:nvSpPr>
          <p:cNvPr id="63494" name="Rectangle 35">
            <a:extLst>
              <a:ext uri="{FF2B5EF4-FFF2-40B4-BE49-F238E27FC236}">
                <a16:creationId xmlns:a16="http://schemas.microsoft.com/office/drawing/2014/main" id="{30D4C1E5-B3B5-244F-9988-D6160FCB36B5}"/>
              </a:ext>
            </a:extLst>
          </p:cNvPr>
          <p:cNvSpPr>
            <a:spLocks noChangeArrowheads="1"/>
          </p:cNvSpPr>
          <p:nvPr/>
        </p:nvSpPr>
        <p:spPr bwMode="auto">
          <a:xfrm>
            <a:off x="3641725" y="4060825"/>
            <a:ext cx="13636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D: T, pred N</a:t>
            </a:r>
          </a:p>
          <a:p>
            <a:pPr>
              <a:spcBef>
                <a:spcPct val="0"/>
              </a:spcBef>
              <a:buClrTx/>
              <a:buSzTx/>
              <a:buFontTx/>
              <a:buNone/>
            </a:pPr>
            <a:r>
              <a:rPr lang="en-US" altLang="en-US" sz="1400">
                <a:latin typeface="Arial" panose="020B0604020202020204" pitchFamily="34" charset="0"/>
                <a:cs typeface="Arial" panose="020B0604020202020204" pitchFamily="34" charset="0"/>
              </a:rPr>
              <a:t>New BHR = 11</a:t>
            </a:r>
          </a:p>
        </p:txBody>
      </p:sp>
      <p:grpSp>
        <p:nvGrpSpPr>
          <p:cNvPr id="63495" name="Group 36">
            <a:extLst>
              <a:ext uri="{FF2B5EF4-FFF2-40B4-BE49-F238E27FC236}">
                <a16:creationId xmlns:a16="http://schemas.microsoft.com/office/drawing/2014/main" id="{21119CB6-34E8-374B-A13D-41987E7443AC}"/>
              </a:ext>
            </a:extLst>
          </p:cNvPr>
          <p:cNvGrpSpPr>
            <a:grpSpLocks/>
          </p:cNvGrpSpPr>
          <p:nvPr/>
        </p:nvGrpSpPr>
        <p:grpSpPr bwMode="auto">
          <a:xfrm>
            <a:off x="212725" y="3070225"/>
            <a:ext cx="1914525" cy="1055688"/>
            <a:chOff x="134" y="1934"/>
            <a:chExt cx="1206" cy="665"/>
          </a:xfrm>
        </p:grpSpPr>
        <p:sp>
          <p:nvSpPr>
            <p:cNvPr id="63621" name="Rectangle 37">
              <a:extLst>
                <a:ext uri="{FF2B5EF4-FFF2-40B4-BE49-F238E27FC236}">
                  <a16:creationId xmlns:a16="http://schemas.microsoft.com/office/drawing/2014/main" id="{373E402B-22C2-0248-927F-281EB5A88900}"/>
                </a:ext>
              </a:extLst>
            </p:cNvPr>
            <p:cNvSpPr>
              <a:spLocks noChangeArrowheads="1"/>
            </p:cNvSpPr>
            <p:nvPr/>
          </p:nvSpPr>
          <p:spPr bwMode="auto">
            <a:xfrm>
              <a:off x="388"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22" name="Rectangle 38">
              <a:extLst>
                <a:ext uri="{FF2B5EF4-FFF2-40B4-BE49-F238E27FC236}">
                  <a16:creationId xmlns:a16="http://schemas.microsoft.com/office/drawing/2014/main" id="{A0B81520-A4E7-9B44-87F3-0E581793AE2C}"/>
                </a:ext>
              </a:extLst>
            </p:cNvPr>
            <p:cNvSpPr>
              <a:spLocks noChangeArrowheads="1"/>
            </p:cNvSpPr>
            <p:nvPr/>
          </p:nvSpPr>
          <p:spPr bwMode="auto">
            <a:xfrm>
              <a:off x="628"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23" name="Rectangle 39">
              <a:extLst>
                <a:ext uri="{FF2B5EF4-FFF2-40B4-BE49-F238E27FC236}">
                  <a16:creationId xmlns:a16="http://schemas.microsoft.com/office/drawing/2014/main" id="{1724B671-22D3-E443-9876-E6A6F39E9AEB}"/>
                </a:ext>
              </a:extLst>
            </p:cNvPr>
            <p:cNvSpPr>
              <a:spLocks noChangeArrowheads="1"/>
            </p:cNvSpPr>
            <p:nvPr/>
          </p:nvSpPr>
          <p:spPr bwMode="auto">
            <a:xfrm>
              <a:off x="388"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24" name="Rectangle 40">
              <a:extLst>
                <a:ext uri="{FF2B5EF4-FFF2-40B4-BE49-F238E27FC236}">
                  <a16:creationId xmlns:a16="http://schemas.microsoft.com/office/drawing/2014/main" id="{9A457D67-C49A-6242-837C-2D94CCA5D30D}"/>
                </a:ext>
              </a:extLst>
            </p:cNvPr>
            <p:cNvSpPr>
              <a:spLocks noChangeArrowheads="1"/>
            </p:cNvSpPr>
            <p:nvPr/>
          </p:nvSpPr>
          <p:spPr bwMode="auto">
            <a:xfrm>
              <a:off x="628"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25" name="Rectangle 41">
              <a:extLst>
                <a:ext uri="{FF2B5EF4-FFF2-40B4-BE49-F238E27FC236}">
                  <a16:creationId xmlns:a16="http://schemas.microsoft.com/office/drawing/2014/main" id="{9001372F-9C27-F145-B20E-4B977C475E3A}"/>
                </a:ext>
              </a:extLst>
            </p:cNvPr>
            <p:cNvSpPr>
              <a:spLocks noChangeArrowheads="1"/>
            </p:cNvSpPr>
            <p:nvPr/>
          </p:nvSpPr>
          <p:spPr bwMode="auto">
            <a:xfrm>
              <a:off x="134" y="2126"/>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dirty="0">
                  <a:latin typeface="Arial" panose="020B0604020202020204" pitchFamily="34" charset="0"/>
                  <a:cs typeface="Arial" panose="020B0604020202020204" pitchFamily="34" charset="0"/>
                </a:rPr>
                <a:t>A:</a:t>
              </a:r>
            </a:p>
          </p:txBody>
        </p:sp>
        <p:sp>
          <p:nvSpPr>
            <p:cNvPr id="63626" name="Rectangle 42">
              <a:extLst>
                <a:ext uri="{FF2B5EF4-FFF2-40B4-BE49-F238E27FC236}">
                  <a16:creationId xmlns:a16="http://schemas.microsoft.com/office/drawing/2014/main" id="{911FA294-4923-354E-88F8-F0FC0B8F87B9}"/>
                </a:ext>
              </a:extLst>
            </p:cNvPr>
            <p:cNvSpPr>
              <a:spLocks noChangeArrowheads="1"/>
            </p:cNvSpPr>
            <p:nvPr/>
          </p:nvSpPr>
          <p:spPr bwMode="auto">
            <a:xfrm>
              <a:off x="134" y="2270"/>
              <a:ext cx="2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D:</a:t>
              </a:r>
            </a:p>
          </p:txBody>
        </p:sp>
        <p:sp>
          <p:nvSpPr>
            <p:cNvPr id="63627" name="Rectangle 43">
              <a:extLst>
                <a:ext uri="{FF2B5EF4-FFF2-40B4-BE49-F238E27FC236}">
                  <a16:creationId xmlns:a16="http://schemas.microsoft.com/office/drawing/2014/main" id="{54D0293D-95C9-2548-AC21-0E3AEB7E6AF3}"/>
                </a:ext>
              </a:extLst>
            </p:cNvPr>
            <p:cNvSpPr>
              <a:spLocks noChangeArrowheads="1"/>
            </p:cNvSpPr>
            <p:nvPr/>
          </p:nvSpPr>
          <p:spPr bwMode="auto">
            <a:xfrm>
              <a:off x="278" y="1934"/>
              <a:ext cx="61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BHR = 00</a:t>
              </a:r>
            </a:p>
          </p:txBody>
        </p:sp>
        <p:sp>
          <p:nvSpPr>
            <p:cNvPr id="63628" name="Rectangle 44">
              <a:extLst>
                <a:ext uri="{FF2B5EF4-FFF2-40B4-BE49-F238E27FC236}">
                  <a16:creationId xmlns:a16="http://schemas.microsoft.com/office/drawing/2014/main" id="{15ED6792-EFF2-B840-AE61-C043291A8F28}"/>
                </a:ext>
              </a:extLst>
            </p:cNvPr>
            <p:cNvSpPr>
              <a:spLocks noChangeArrowheads="1"/>
            </p:cNvSpPr>
            <p:nvPr/>
          </p:nvSpPr>
          <p:spPr bwMode="auto">
            <a:xfrm>
              <a:off x="868"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29" name="Rectangle 45">
              <a:extLst>
                <a:ext uri="{FF2B5EF4-FFF2-40B4-BE49-F238E27FC236}">
                  <a16:creationId xmlns:a16="http://schemas.microsoft.com/office/drawing/2014/main" id="{EEF1C3DF-3B3B-C848-9749-0724CCEFF355}"/>
                </a:ext>
              </a:extLst>
            </p:cNvPr>
            <p:cNvSpPr>
              <a:spLocks noChangeArrowheads="1"/>
            </p:cNvSpPr>
            <p:nvPr/>
          </p:nvSpPr>
          <p:spPr bwMode="auto">
            <a:xfrm>
              <a:off x="1108"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30" name="Rectangle 46">
              <a:extLst>
                <a:ext uri="{FF2B5EF4-FFF2-40B4-BE49-F238E27FC236}">
                  <a16:creationId xmlns:a16="http://schemas.microsoft.com/office/drawing/2014/main" id="{ECAD281A-1E07-C747-898E-4E017A5FBD94}"/>
                </a:ext>
              </a:extLst>
            </p:cNvPr>
            <p:cNvSpPr>
              <a:spLocks noChangeArrowheads="1"/>
            </p:cNvSpPr>
            <p:nvPr/>
          </p:nvSpPr>
          <p:spPr bwMode="auto">
            <a:xfrm>
              <a:off x="868"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31" name="Rectangle 47">
              <a:extLst>
                <a:ext uri="{FF2B5EF4-FFF2-40B4-BE49-F238E27FC236}">
                  <a16:creationId xmlns:a16="http://schemas.microsoft.com/office/drawing/2014/main" id="{4E699357-F2E4-EB43-8B94-EE547696AB1E}"/>
                </a:ext>
              </a:extLst>
            </p:cNvPr>
            <p:cNvSpPr>
              <a:spLocks noChangeArrowheads="1"/>
            </p:cNvSpPr>
            <p:nvPr/>
          </p:nvSpPr>
          <p:spPr bwMode="auto">
            <a:xfrm>
              <a:off x="1108"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32" name="Rectangle 48">
              <a:extLst>
                <a:ext uri="{FF2B5EF4-FFF2-40B4-BE49-F238E27FC236}">
                  <a16:creationId xmlns:a16="http://schemas.microsoft.com/office/drawing/2014/main" id="{FD340D2F-68BD-8941-90DD-72D4E0297EBE}"/>
                </a:ext>
              </a:extLst>
            </p:cNvPr>
            <p:cNvSpPr>
              <a:spLocks noChangeArrowheads="1"/>
            </p:cNvSpPr>
            <p:nvPr/>
          </p:nvSpPr>
          <p:spPr bwMode="auto">
            <a:xfrm>
              <a:off x="374"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00</a:t>
              </a:r>
            </a:p>
          </p:txBody>
        </p:sp>
        <p:sp>
          <p:nvSpPr>
            <p:cNvPr id="63633" name="Rectangle 49">
              <a:extLst>
                <a:ext uri="{FF2B5EF4-FFF2-40B4-BE49-F238E27FC236}">
                  <a16:creationId xmlns:a16="http://schemas.microsoft.com/office/drawing/2014/main" id="{1A043F4D-2540-AF42-8842-EF48E171FC97}"/>
                </a:ext>
              </a:extLst>
            </p:cNvPr>
            <p:cNvSpPr>
              <a:spLocks noChangeArrowheads="1"/>
            </p:cNvSpPr>
            <p:nvPr/>
          </p:nvSpPr>
          <p:spPr bwMode="auto">
            <a:xfrm>
              <a:off x="614"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01</a:t>
              </a:r>
            </a:p>
          </p:txBody>
        </p:sp>
        <p:sp>
          <p:nvSpPr>
            <p:cNvPr id="63634" name="Rectangle 50">
              <a:extLst>
                <a:ext uri="{FF2B5EF4-FFF2-40B4-BE49-F238E27FC236}">
                  <a16:creationId xmlns:a16="http://schemas.microsoft.com/office/drawing/2014/main" id="{AE0C3149-E6F2-6F43-BE22-68BBFC6F19E1}"/>
                </a:ext>
              </a:extLst>
            </p:cNvPr>
            <p:cNvSpPr>
              <a:spLocks noChangeArrowheads="1"/>
            </p:cNvSpPr>
            <p:nvPr/>
          </p:nvSpPr>
          <p:spPr bwMode="auto">
            <a:xfrm>
              <a:off x="854"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10</a:t>
              </a:r>
            </a:p>
          </p:txBody>
        </p:sp>
        <p:sp>
          <p:nvSpPr>
            <p:cNvPr id="63635" name="Rectangle 51">
              <a:extLst>
                <a:ext uri="{FF2B5EF4-FFF2-40B4-BE49-F238E27FC236}">
                  <a16:creationId xmlns:a16="http://schemas.microsoft.com/office/drawing/2014/main" id="{002934DB-7433-0441-A662-168D315F73A1}"/>
                </a:ext>
              </a:extLst>
            </p:cNvPr>
            <p:cNvSpPr>
              <a:spLocks noChangeArrowheads="1"/>
            </p:cNvSpPr>
            <p:nvPr/>
          </p:nvSpPr>
          <p:spPr bwMode="auto">
            <a:xfrm>
              <a:off x="1094"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11</a:t>
              </a:r>
            </a:p>
          </p:txBody>
        </p:sp>
      </p:grpSp>
      <p:grpSp>
        <p:nvGrpSpPr>
          <p:cNvPr id="63496" name="Group 52">
            <a:extLst>
              <a:ext uri="{FF2B5EF4-FFF2-40B4-BE49-F238E27FC236}">
                <a16:creationId xmlns:a16="http://schemas.microsoft.com/office/drawing/2014/main" id="{FC471DFF-BA82-1D46-A290-46C09E1B8B59}"/>
              </a:ext>
            </a:extLst>
          </p:cNvPr>
          <p:cNvGrpSpPr>
            <a:grpSpLocks/>
          </p:cNvGrpSpPr>
          <p:nvPr/>
        </p:nvGrpSpPr>
        <p:grpSpPr bwMode="auto">
          <a:xfrm>
            <a:off x="2270125" y="3070225"/>
            <a:ext cx="1914525" cy="1055688"/>
            <a:chOff x="1430" y="1934"/>
            <a:chExt cx="1206" cy="665"/>
          </a:xfrm>
        </p:grpSpPr>
        <p:sp>
          <p:nvSpPr>
            <p:cNvPr id="63606" name="Rectangle 53">
              <a:extLst>
                <a:ext uri="{FF2B5EF4-FFF2-40B4-BE49-F238E27FC236}">
                  <a16:creationId xmlns:a16="http://schemas.microsoft.com/office/drawing/2014/main" id="{1B37D29B-6B14-0947-B004-BAA53B6762A7}"/>
                </a:ext>
              </a:extLst>
            </p:cNvPr>
            <p:cNvSpPr>
              <a:spLocks noChangeArrowheads="1"/>
            </p:cNvSpPr>
            <p:nvPr/>
          </p:nvSpPr>
          <p:spPr bwMode="auto">
            <a:xfrm>
              <a:off x="1684"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cs typeface="Arial" panose="020B0604020202020204" pitchFamily="34" charset="0"/>
                </a:rPr>
                <a:t>10</a:t>
              </a:r>
            </a:p>
          </p:txBody>
        </p:sp>
        <p:sp>
          <p:nvSpPr>
            <p:cNvPr id="63607" name="Rectangle 54">
              <a:extLst>
                <a:ext uri="{FF2B5EF4-FFF2-40B4-BE49-F238E27FC236}">
                  <a16:creationId xmlns:a16="http://schemas.microsoft.com/office/drawing/2014/main" id="{0716E23A-2A17-F744-8261-93F4EE98F10D}"/>
                </a:ext>
              </a:extLst>
            </p:cNvPr>
            <p:cNvSpPr>
              <a:spLocks noChangeArrowheads="1"/>
            </p:cNvSpPr>
            <p:nvPr/>
          </p:nvSpPr>
          <p:spPr bwMode="auto">
            <a:xfrm>
              <a:off x="1924"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08" name="Rectangle 55">
              <a:extLst>
                <a:ext uri="{FF2B5EF4-FFF2-40B4-BE49-F238E27FC236}">
                  <a16:creationId xmlns:a16="http://schemas.microsoft.com/office/drawing/2014/main" id="{3B48C5AE-91B4-1843-96BA-3735AEA4D621}"/>
                </a:ext>
              </a:extLst>
            </p:cNvPr>
            <p:cNvSpPr>
              <a:spLocks noChangeArrowheads="1"/>
            </p:cNvSpPr>
            <p:nvPr/>
          </p:nvSpPr>
          <p:spPr bwMode="auto">
            <a:xfrm>
              <a:off x="1684"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09" name="Rectangle 56">
              <a:extLst>
                <a:ext uri="{FF2B5EF4-FFF2-40B4-BE49-F238E27FC236}">
                  <a16:creationId xmlns:a16="http://schemas.microsoft.com/office/drawing/2014/main" id="{24F5B811-61C0-274B-BA80-9DE44B218FA7}"/>
                </a:ext>
              </a:extLst>
            </p:cNvPr>
            <p:cNvSpPr>
              <a:spLocks noChangeArrowheads="1"/>
            </p:cNvSpPr>
            <p:nvPr/>
          </p:nvSpPr>
          <p:spPr bwMode="auto">
            <a:xfrm>
              <a:off x="1924"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10" name="Rectangle 57">
              <a:extLst>
                <a:ext uri="{FF2B5EF4-FFF2-40B4-BE49-F238E27FC236}">
                  <a16:creationId xmlns:a16="http://schemas.microsoft.com/office/drawing/2014/main" id="{77CDFC9B-70E4-1D4B-AB85-1803F4CA5AF2}"/>
                </a:ext>
              </a:extLst>
            </p:cNvPr>
            <p:cNvSpPr>
              <a:spLocks noChangeArrowheads="1"/>
            </p:cNvSpPr>
            <p:nvPr/>
          </p:nvSpPr>
          <p:spPr bwMode="auto">
            <a:xfrm>
              <a:off x="1430" y="2126"/>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A:</a:t>
              </a:r>
            </a:p>
          </p:txBody>
        </p:sp>
        <p:sp>
          <p:nvSpPr>
            <p:cNvPr id="63611" name="Rectangle 58">
              <a:extLst>
                <a:ext uri="{FF2B5EF4-FFF2-40B4-BE49-F238E27FC236}">
                  <a16:creationId xmlns:a16="http://schemas.microsoft.com/office/drawing/2014/main" id="{422A7A5D-134F-A947-ADDC-0514A519B86A}"/>
                </a:ext>
              </a:extLst>
            </p:cNvPr>
            <p:cNvSpPr>
              <a:spLocks noChangeArrowheads="1"/>
            </p:cNvSpPr>
            <p:nvPr/>
          </p:nvSpPr>
          <p:spPr bwMode="auto">
            <a:xfrm>
              <a:off x="1430" y="2270"/>
              <a:ext cx="2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D:</a:t>
              </a:r>
            </a:p>
          </p:txBody>
        </p:sp>
        <p:sp>
          <p:nvSpPr>
            <p:cNvPr id="63612" name="Rectangle 59">
              <a:extLst>
                <a:ext uri="{FF2B5EF4-FFF2-40B4-BE49-F238E27FC236}">
                  <a16:creationId xmlns:a16="http://schemas.microsoft.com/office/drawing/2014/main" id="{217BF6CC-F5AA-744C-B3A3-AB17771C9821}"/>
                </a:ext>
              </a:extLst>
            </p:cNvPr>
            <p:cNvSpPr>
              <a:spLocks noChangeArrowheads="1"/>
            </p:cNvSpPr>
            <p:nvPr/>
          </p:nvSpPr>
          <p:spPr bwMode="auto">
            <a:xfrm>
              <a:off x="1574" y="1934"/>
              <a:ext cx="61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BHR = 01</a:t>
              </a:r>
            </a:p>
          </p:txBody>
        </p:sp>
        <p:sp>
          <p:nvSpPr>
            <p:cNvPr id="63613" name="Rectangle 60">
              <a:extLst>
                <a:ext uri="{FF2B5EF4-FFF2-40B4-BE49-F238E27FC236}">
                  <a16:creationId xmlns:a16="http://schemas.microsoft.com/office/drawing/2014/main" id="{96775318-ECCA-7E43-BF95-70B2162D5243}"/>
                </a:ext>
              </a:extLst>
            </p:cNvPr>
            <p:cNvSpPr>
              <a:spLocks noChangeArrowheads="1"/>
            </p:cNvSpPr>
            <p:nvPr/>
          </p:nvSpPr>
          <p:spPr bwMode="auto">
            <a:xfrm>
              <a:off x="2164"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14" name="Rectangle 61">
              <a:extLst>
                <a:ext uri="{FF2B5EF4-FFF2-40B4-BE49-F238E27FC236}">
                  <a16:creationId xmlns:a16="http://schemas.microsoft.com/office/drawing/2014/main" id="{1060D68A-ABD6-DC4A-A30C-F3B64D5A348C}"/>
                </a:ext>
              </a:extLst>
            </p:cNvPr>
            <p:cNvSpPr>
              <a:spLocks noChangeArrowheads="1"/>
            </p:cNvSpPr>
            <p:nvPr/>
          </p:nvSpPr>
          <p:spPr bwMode="auto">
            <a:xfrm>
              <a:off x="2404"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15" name="Rectangle 62">
              <a:extLst>
                <a:ext uri="{FF2B5EF4-FFF2-40B4-BE49-F238E27FC236}">
                  <a16:creationId xmlns:a16="http://schemas.microsoft.com/office/drawing/2014/main" id="{BDD30582-C8A3-C54B-A77C-034A0C85C562}"/>
                </a:ext>
              </a:extLst>
            </p:cNvPr>
            <p:cNvSpPr>
              <a:spLocks noChangeArrowheads="1"/>
            </p:cNvSpPr>
            <p:nvPr/>
          </p:nvSpPr>
          <p:spPr bwMode="auto">
            <a:xfrm>
              <a:off x="2164"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16" name="Rectangle 63">
              <a:extLst>
                <a:ext uri="{FF2B5EF4-FFF2-40B4-BE49-F238E27FC236}">
                  <a16:creationId xmlns:a16="http://schemas.microsoft.com/office/drawing/2014/main" id="{B559381B-ADC1-0A4D-BE4F-C925AD228E0D}"/>
                </a:ext>
              </a:extLst>
            </p:cNvPr>
            <p:cNvSpPr>
              <a:spLocks noChangeArrowheads="1"/>
            </p:cNvSpPr>
            <p:nvPr/>
          </p:nvSpPr>
          <p:spPr bwMode="auto">
            <a:xfrm>
              <a:off x="2404"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17" name="Rectangle 64">
              <a:extLst>
                <a:ext uri="{FF2B5EF4-FFF2-40B4-BE49-F238E27FC236}">
                  <a16:creationId xmlns:a16="http://schemas.microsoft.com/office/drawing/2014/main" id="{F85EC8CC-3C85-2044-B20A-C0755E0D00A8}"/>
                </a:ext>
              </a:extLst>
            </p:cNvPr>
            <p:cNvSpPr>
              <a:spLocks noChangeArrowheads="1"/>
            </p:cNvSpPr>
            <p:nvPr/>
          </p:nvSpPr>
          <p:spPr bwMode="auto">
            <a:xfrm>
              <a:off x="1670"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00</a:t>
              </a:r>
            </a:p>
          </p:txBody>
        </p:sp>
        <p:sp>
          <p:nvSpPr>
            <p:cNvPr id="63618" name="Rectangle 65">
              <a:extLst>
                <a:ext uri="{FF2B5EF4-FFF2-40B4-BE49-F238E27FC236}">
                  <a16:creationId xmlns:a16="http://schemas.microsoft.com/office/drawing/2014/main" id="{4636C601-15FF-8049-A1AC-BFB63EE9B7D9}"/>
                </a:ext>
              </a:extLst>
            </p:cNvPr>
            <p:cNvSpPr>
              <a:spLocks noChangeArrowheads="1"/>
            </p:cNvSpPr>
            <p:nvPr/>
          </p:nvSpPr>
          <p:spPr bwMode="auto">
            <a:xfrm>
              <a:off x="1910"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01</a:t>
              </a:r>
            </a:p>
          </p:txBody>
        </p:sp>
        <p:sp>
          <p:nvSpPr>
            <p:cNvPr id="63619" name="Rectangle 66">
              <a:extLst>
                <a:ext uri="{FF2B5EF4-FFF2-40B4-BE49-F238E27FC236}">
                  <a16:creationId xmlns:a16="http://schemas.microsoft.com/office/drawing/2014/main" id="{696CAA18-AE94-B742-B57D-9341A380A197}"/>
                </a:ext>
              </a:extLst>
            </p:cNvPr>
            <p:cNvSpPr>
              <a:spLocks noChangeArrowheads="1"/>
            </p:cNvSpPr>
            <p:nvPr/>
          </p:nvSpPr>
          <p:spPr bwMode="auto">
            <a:xfrm>
              <a:off x="2150"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10</a:t>
              </a:r>
            </a:p>
          </p:txBody>
        </p:sp>
        <p:sp>
          <p:nvSpPr>
            <p:cNvPr id="63620" name="Rectangle 67">
              <a:extLst>
                <a:ext uri="{FF2B5EF4-FFF2-40B4-BE49-F238E27FC236}">
                  <a16:creationId xmlns:a16="http://schemas.microsoft.com/office/drawing/2014/main" id="{941225B4-38EB-E44A-8C76-ACFEC820FC29}"/>
                </a:ext>
              </a:extLst>
            </p:cNvPr>
            <p:cNvSpPr>
              <a:spLocks noChangeArrowheads="1"/>
            </p:cNvSpPr>
            <p:nvPr/>
          </p:nvSpPr>
          <p:spPr bwMode="auto">
            <a:xfrm>
              <a:off x="2390"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11</a:t>
              </a:r>
            </a:p>
          </p:txBody>
        </p:sp>
      </p:grpSp>
      <p:grpSp>
        <p:nvGrpSpPr>
          <p:cNvPr id="63497" name="Group 68">
            <a:extLst>
              <a:ext uri="{FF2B5EF4-FFF2-40B4-BE49-F238E27FC236}">
                <a16:creationId xmlns:a16="http://schemas.microsoft.com/office/drawing/2014/main" id="{233D61D1-8FEF-7E46-B09D-BDA7B0EE94D6}"/>
              </a:ext>
            </a:extLst>
          </p:cNvPr>
          <p:cNvGrpSpPr>
            <a:grpSpLocks/>
          </p:cNvGrpSpPr>
          <p:nvPr/>
        </p:nvGrpSpPr>
        <p:grpSpPr bwMode="auto">
          <a:xfrm>
            <a:off x="4251325" y="3070225"/>
            <a:ext cx="1914525" cy="1055688"/>
            <a:chOff x="2678" y="1934"/>
            <a:chExt cx="1206" cy="665"/>
          </a:xfrm>
        </p:grpSpPr>
        <p:sp>
          <p:nvSpPr>
            <p:cNvPr id="63591" name="Rectangle 69">
              <a:extLst>
                <a:ext uri="{FF2B5EF4-FFF2-40B4-BE49-F238E27FC236}">
                  <a16:creationId xmlns:a16="http://schemas.microsoft.com/office/drawing/2014/main" id="{BE08927D-5895-6845-B276-BF18F5D94810}"/>
                </a:ext>
              </a:extLst>
            </p:cNvPr>
            <p:cNvSpPr>
              <a:spLocks noChangeArrowheads="1"/>
            </p:cNvSpPr>
            <p:nvPr/>
          </p:nvSpPr>
          <p:spPr bwMode="auto">
            <a:xfrm>
              <a:off x="2932"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10</a:t>
              </a:r>
            </a:p>
          </p:txBody>
        </p:sp>
        <p:sp>
          <p:nvSpPr>
            <p:cNvPr id="63592" name="Rectangle 70">
              <a:extLst>
                <a:ext uri="{FF2B5EF4-FFF2-40B4-BE49-F238E27FC236}">
                  <a16:creationId xmlns:a16="http://schemas.microsoft.com/office/drawing/2014/main" id="{EFE9F469-84BA-864C-AF9A-C012D6DE62EB}"/>
                </a:ext>
              </a:extLst>
            </p:cNvPr>
            <p:cNvSpPr>
              <a:spLocks noChangeArrowheads="1"/>
            </p:cNvSpPr>
            <p:nvPr/>
          </p:nvSpPr>
          <p:spPr bwMode="auto">
            <a:xfrm>
              <a:off x="3172"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93" name="Rectangle 71">
              <a:extLst>
                <a:ext uri="{FF2B5EF4-FFF2-40B4-BE49-F238E27FC236}">
                  <a16:creationId xmlns:a16="http://schemas.microsoft.com/office/drawing/2014/main" id="{A0FB96B8-C805-424D-BAD2-4866E59D9E5D}"/>
                </a:ext>
              </a:extLst>
            </p:cNvPr>
            <p:cNvSpPr>
              <a:spLocks noChangeArrowheads="1"/>
            </p:cNvSpPr>
            <p:nvPr/>
          </p:nvSpPr>
          <p:spPr bwMode="auto">
            <a:xfrm>
              <a:off x="2932"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94" name="Rectangle 72">
              <a:extLst>
                <a:ext uri="{FF2B5EF4-FFF2-40B4-BE49-F238E27FC236}">
                  <a16:creationId xmlns:a16="http://schemas.microsoft.com/office/drawing/2014/main" id="{E5331253-6597-A64D-A6F3-8F1113986DC5}"/>
                </a:ext>
              </a:extLst>
            </p:cNvPr>
            <p:cNvSpPr>
              <a:spLocks noChangeArrowheads="1"/>
            </p:cNvSpPr>
            <p:nvPr/>
          </p:nvSpPr>
          <p:spPr bwMode="auto">
            <a:xfrm>
              <a:off x="3172"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cs typeface="Arial" panose="020B0604020202020204" pitchFamily="34" charset="0"/>
                </a:rPr>
                <a:t>10</a:t>
              </a:r>
            </a:p>
          </p:txBody>
        </p:sp>
        <p:sp>
          <p:nvSpPr>
            <p:cNvPr id="63595" name="Rectangle 73">
              <a:extLst>
                <a:ext uri="{FF2B5EF4-FFF2-40B4-BE49-F238E27FC236}">
                  <a16:creationId xmlns:a16="http://schemas.microsoft.com/office/drawing/2014/main" id="{7A5B92C6-EE60-7347-81B3-ED16C1CF9704}"/>
                </a:ext>
              </a:extLst>
            </p:cNvPr>
            <p:cNvSpPr>
              <a:spLocks noChangeArrowheads="1"/>
            </p:cNvSpPr>
            <p:nvPr/>
          </p:nvSpPr>
          <p:spPr bwMode="auto">
            <a:xfrm>
              <a:off x="2678" y="2126"/>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A:</a:t>
              </a:r>
            </a:p>
          </p:txBody>
        </p:sp>
        <p:sp>
          <p:nvSpPr>
            <p:cNvPr id="63596" name="Rectangle 74">
              <a:extLst>
                <a:ext uri="{FF2B5EF4-FFF2-40B4-BE49-F238E27FC236}">
                  <a16:creationId xmlns:a16="http://schemas.microsoft.com/office/drawing/2014/main" id="{209132BE-268D-BD42-9027-452F8CA3354A}"/>
                </a:ext>
              </a:extLst>
            </p:cNvPr>
            <p:cNvSpPr>
              <a:spLocks noChangeArrowheads="1"/>
            </p:cNvSpPr>
            <p:nvPr/>
          </p:nvSpPr>
          <p:spPr bwMode="auto">
            <a:xfrm>
              <a:off x="2678" y="2270"/>
              <a:ext cx="2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D:</a:t>
              </a:r>
            </a:p>
          </p:txBody>
        </p:sp>
        <p:sp>
          <p:nvSpPr>
            <p:cNvPr id="63597" name="Rectangle 75">
              <a:extLst>
                <a:ext uri="{FF2B5EF4-FFF2-40B4-BE49-F238E27FC236}">
                  <a16:creationId xmlns:a16="http://schemas.microsoft.com/office/drawing/2014/main" id="{5BAC3A08-4CE3-844D-8317-5CA071BE7ABA}"/>
                </a:ext>
              </a:extLst>
            </p:cNvPr>
            <p:cNvSpPr>
              <a:spLocks noChangeArrowheads="1"/>
            </p:cNvSpPr>
            <p:nvPr/>
          </p:nvSpPr>
          <p:spPr bwMode="auto">
            <a:xfrm>
              <a:off x="2822" y="1934"/>
              <a:ext cx="60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BHR = 11</a:t>
              </a:r>
            </a:p>
          </p:txBody>
        </p:sp>
        <p:sp>
          <p:nvSpPr>
            <p:cNvPr id="63598" name="Rectangle 76">
              <a:extLst>
                <a:ext uri="{FF2B5EF4-FFF2-40B4-BE49-F238E27FC236}">
                  <a16:creationId xmlns:a16="http://schemas.microsoft.com/office/drawing/2014/main" id="{D887750A-924B-344C-831E-1ABB31A64310}"/>
                </a:ext>
              </a:extLst>
            </p:cNvPr>
            <p:cNvSpPr>
              <a:spLocks noChangeArrowheads="1"/>
            </p:cNvSpPr>
            <p:nvPr/>
          </p:nvSpPr>
          <p:spPr bwMode="auto">
            <a:xfrm>
              <a:off x="3412"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99" name="Rectangle 77">
              <a:extLst>
                <a:ext uri="{FF2B5EF4-FFF2-40B4-BE49-F238E27FC236}">
                  <a16:creationId xmlns:a16="http://schemas.microsoft.com/office/drawing/2014/main" id="{5F912011-4F04-BC41-B5A3-7976805C9F0C}"/>
                </a:ext>
              </a:extLst>
            </p:cNvPr>
            <p:cNvSpPr>
              <a:spLocks noChangeArrowheads="1"/>
            </p:cNvSpPr>
            <p:nvPr/>
          </p:nvSpPr>
          <p:spPr bwMode="auto">
            <a:xfrm>
              <a:off x="3652"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00" name="Rectangle 78">
              <a:extLst>
                <a:ext uri="{FF2B5EF4-FFF2-40B4-BE49-F238E27FC236}">
                  <a16:creationId xmlns:a16="http://schemas.microsoft.com/office/drawing/2014/main" id="{E7E7F8D6-3991-714C-AD13-65522051ED4A}"/>
                </a:ext>
              </a:extLst>
            </p:cNvPr>
            <p:cNvSpPr>
              <a:spLocks noChangeArrowheads="1"/>
            </p:cNvSpPr>
            <p:nvPr/>
          </p:nvSpPr>
          <p:spPr bwMode="auto">
            <a:xfrm>
              <a:off x="3412"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01" name="Rectangle 79">
              <a:extLst>
                <a:ext uri="{FF2B5EF4-FFF2-40B4-BE49-F238E27FC236}">
                  <a16:creationId xmlns:a16="http://schemas.microsoft.com/office/drawing/2014/main" id="{D34F3539-C086-8A4D-830E-D81C9329CB01}"/>
                </a:ext>
              </a:extLst>
            </p:cNvPr>
            <p:cNvSpPr>
              <a:spLocks noChangeArrowheads="1"/>
            </p:cNvSpPr>
            <p:nvPr/>
          </p:nvSpPr>
          <p:spPr bwMode="auto">
            <a:xfrm>
              <a:off x="3652"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602" name="Rectangle 80">
              <a:extLst>
                <a:ext uri="{FF2B5EF4-FFF2-40B4-BE49-F238E27FC236}">
                  <a16:creationId xmlns:a16="http://schemas.microsoft.com/office/drawing/2014/main" id="{415B78F4-A423-004D-85E5-FAC807853790}"/>
                </a:ext>
              </a:extLst>
            </p:cNvPr>
            <p:cNvSpPr>
              <a:spLocks noChangeArrowheads="1"/>
            </p:cNvSpPr>
            <p:nvPr/>
          </p:nvSpPr>
          <p:spPr bwMode="auto">
            <a:xfrm>
              <a:off x="2918"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00</a:t>
              </a:r>
            </a:p>
          </p:txBody>
        </p:sp>
        <p:sp>
          <p:nvSpPr>
            <p:cNvPr id="63603" name="Rectangle 81">
              <a:extLst>
                <a:ext uri="{FF2B5EF4-FFF2-40B4-BE49-F238E27FC236}">
                  <a16:creationId xmlns:a16="http://schemas.microsoft.com/office/drawing/2014/main" id="{FD8FF5C0-213A-944E-968D-1709F4BF815A}"/>
                </a:ext>
              </a:extLst>
            </p:cNvPr>
            <p:cNvSpPr>
              <a:spLocks noChangeArrowheads="1"/>
            </p:cNvSpPr>
            <p:nvPr/>
          </p:nvSpPr>
          <p:spPr bwMode="auto">
            <a:xfrm>
              <a:off x="3158"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01</a:t>
              </a:r>
            </a:p>
          </p:txBody>
        </p:sp>
        <p:sp>
          <p:nvSpPr>
            <p:cNvPr id="63604" name="Rectangle 82">
              <a:extLst>
                <a:ext uri="{FF2B5EF4-FFF2-40B4-BE49-F238E27FC236}">
                  <a16:creationId xmlns:a16="http://schemas.microsoft.com/office/drawing/2014/main" id="{3777854E-F108-AB4E-9966-D1663B4D8D40}"/>
                </a:ext>
              </a:extLst>
            </p:cNvPr>
            <p:cNvSpPr>
              <a:spLocks noChangeArrowheads="1"/>
            </p:cNvSpPr>
            <p:nvPr/>
          </p:nvSpPr>
          <p:spPr bwMode="auto">
            <a:xfrm>
              <a:off x="3398"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10</a:t>
              </a:r>
            </a:p>
          </p:txBody>
        </p:sp>
        <p:sp>
          <p:nvSpPr>
            <p:cNvPr id="63605" name="Rectangle 83">
              <a:extLst>
                <a:ext uri="{FF2B5EF4-FFF2-40B4-BE49-F238E27FC236}">
                  <a16:creationId xmlns:a16="http://schemas.microsoft.com/office/drawing/2014/main" id="{00786526-626D-294C-B3AD-39FB5C5290D5}"/>
                </a:ext>
              </a:extLst>
            </p:cNvPr>
            <p:cNvSpPr>
              <a:spLocks noChangeArrowheads="1"/>
            </p:cNvSpPr>
            <p:nvPr/>
          </p:nvSpPr>
          <p:spPr bwMode="auto">
            <a:xfrm>
              <a:off x="3638"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11</a:t>
              </a:r>
            </a:p>
          </p:txBody>
        </p:sp>
      </p:grpSp>
      <p:sp>
        <p:nvSpPr>
          <p:cNvPr id="63498" name="Rectangle 84">
            <a:extLst>
              <a:ext uri="{FF2B5EF4-FFF2-40B4-BE49-F238E27FC236}">
                <a16:creationId xmlns:a16="http://schemas.microsoft.com/office/drawing/2014/main" id="{DFBDB10B-E8E2-E74E-9253-459C3F342228}"/>
              </a:ext>
            </a:extLst>
          </p:cNvPr>
          <p:cNvSpPr>
            <a:spLocks noChangeArrowheads="1"/>
          </p:cNvSpPr>
          <p:nvPr/>
        </p:nvSpPr>
        <p:spPr bwMode="auto">
          <a:xfrm>
            <a:off x="5699125" y="4060825"/>
            <a:ext cx="13763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A: N, pred N</a:t>
            </a:r>
          </a:p>
          <a:p>
            <a:pPr>
              <a:spcBef>
                <a:spcPct val="0"/>
              </a:spcBef>
              <a:buClrTx/>
              <a:buSzTx/>
              <a:buFontTx/>
              <a:buNone/>
            </a:pPr>
            <a:r>
              <a:rPr lang="en-US" altLang="en-US" sz="1400">
                <a:latin typeface="Arial" panose="020B0604020202020204" pitchFamily="34" charset="0"/>
                <a:cs typeface="Arial" panose="020B0604020202020204" pitchFamily="34" charset="0"/>
              </a:rPr>
              <a:t>New BHR = 10</a:t>
            </a:r>
          </a:p>
        </p:txBody>
      </p:sp>
      <p:sp>
        <p:nvSpPr>
          <p:cNvPr id="63499" name="Rectangle 85">
            <a:extLst>
              <a:ext uri="{FF2B5EF4-FFF2-40B4-BE49-F238E27FC236}">
                <a16:creationId xmlns:a16="http://schemas.microsoft.com/office/drawing/2014/main" id="{2948E6C8-ADC9-2A4B-A391-427560EF61BA}"/>
              </a:ext>
            </a:extLst>
          </p:cNvPr>
          <p:cNvSpPr>
            <a:spLocks noChangeArrowheads="1"/>
          </p:cNvSpPr>
          <p:nvPr/>
        </p:nvSpPr>
        <p:spPr bwMode="auto">
          <a:xfrm>
            <a:off x="7667625" y="3984625"/>
            <a:ext cx="13763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D: N, pred N</a:t>
            </a:r>
          </a:p>
          <a:p>
            <a:pPr>
              <a:spcBef>
                <a:spcPct val="0"/>
              </a:spcBef>
              <a:buClrTx/>
              <a:buSzTx/>
              <a:buFontTx/>
              <a:buNone/>
            </a:pPr>
            <a:r>
              <a:rPr lang="en-US" altLang="en-US" sz="1400">
                <a:latin typeface="Arial" panose="020B0604020202020204" pitchFamily="34" charset="0"/>
                <a:cs typeface="Arial" panose="020B0604020202020204" pitchFamily="34" charset="0"/>
              </a:rPr>
              <a:t>New BHR = 00</a:t>
            </a:r>
          </a:p>
        </p:txBody>
      </p:sp>
      <p:sp>
        <p:nvSpPr>
          <p:cNvPr id="63500" name="Rectangle 86">
            <a:extLst>
              <a:ext uri="{FF2B5EF4-FFF2-40B4-BE49-F238E27FC236}">
                <a16:creationId xmlns:a16="http://schemas.microsoft.com/office/drawing/2014/main" id="{C5C8CC49-F5D8-C943-9765-A643B1F9A91B}"/>
              </a:ext>
            </a:extLst>
          </p:cNvPr>
          <p:cNvSpPr>
            <a:spLocks noChangeArrowheads="1"/>
          </p:cNvSpPr>
          <p:nvPr/>
        </p:nvSpPr>
        <p:spPr bwMode="auto">
          <a:xfrm>
            <a:off x="1736725" y="5584825"/>
            <a:ext cx="13763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A: T, pred T</a:t>
            </a:r>
          </a:p>
          <a:p>
            <a:pPr>
              <a:spcBef>
                <a:spcPct val="0"/>
              </a:spcBef>
              <a:buClrTx/>
              <a:buSzTx/>
              <a:buFontTx/>
              <a:buNone/>
            </a:pPr>
            <a:r>
              <a:rPr lang="en-US" altLang="en-US" sz="1400">
                <a:latin typeface="Arial" panose="020B0604020202020204" pitchFamily="34" charset="0"/>
                <a:cs typeface="Arial" panose="020B0604020202020204" pitchFamily="34" charset="0"/>
              </a:rPr>
              <a:t>New BHR = 01</a:t>
            </a:r>
          </a:p>
        </p:txBody>
      </p:sp>
      <p:grpSp>
        <p:nvGrpSpPr>
          <p:cNvPr id="63501" name="Group 87">
            <a:extLst>
              <a:ext uri="{FF2B5EF4-FFF2-40B4-BE49-F238E27FC236}">
                <a16:creationId xmlns:a16="http://schemas.microsoft.com/office/drawing/2014/main" id="{72C7BAE6-3288-A74D-80BA-B034532914E7}"/>
              </a:ext>
            </a:extLst>
          </p:cNvPr>
          <p:cNvGrpSpPr>
            <a:grpSpLocks/>
          </p:cNvGrpSpPr>
          <p:nvPr/>
        </p:nvGrpSpPr>
        <p:grpSpPr bwMode="auto">
          <a:xfrm>
            <a:off x="6384925" y="3070225"/>
            <a:ext cx="1914525" cy="1055688"/>
            <a:chOff x="4022" y="1934"/>
            <a:chExt cx="1206" cy="665"/>
          </a:xfrm>
        </p:grpSpPr>
        <p:sp>
          <p:nvSpPr>
            <p:cNvPr id="63576" name="Rectangle 88">
              <a:extLst>
                <a:ext uri="{FF2B5EF4-FFF2-40B4-BE49-F238E27FC236}">
                  <a16:creationId xmlns:a16="http://schemas.microsoft.com/office/drawing/2014/main" id="{126DBF8F-2C86-0841-818C-13343427A308}"/>
                </a:ext>
              </a:extLst>
            </p:cNvPr>
            <p:cNvSpPr>
              <a:spLocks noChangeArrowheads="1"/>
            </p:cNvSpPr>
            <p:nvPr/>
          </p:nvSpPr>
          <p:spPr bwMode="auto">
            <a:xfrm>
              <a:off x="4276"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10</a:t>
              </a:r>
            </a:p>
          </p:txBody>
        </p:sp>
        <p:sp>
          <p:nvSpPr>
            <p:cNvPr id="63577" name="Rectangle 89">
              <a:extLst>
                <a:ext uri="{FF2B5EF4-FFF2-40B4-BE49-F238E27FC236}">
                  <a16:creationId xmlns:a16="http://schemas.microsoft.com/office/drawing/2014/main" id="{E72C341F-EE94-AA48-9180-41E9F980B993}"/>
                </a:ext>
              </a:extLst>
            </p:cNvPr>
            <p:cNvSpPr>
              <a:spLocks noChangeArrowheads="1"/>
            </p:cNvSpPr>
            <p:nvPr/>
          </p:nvSpPr>
          <p:spPr bwMode="auto">
            <a:xfrm>
              <a:off x="4516"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78" name="Rectangle 90">
              <a:extLst>
                <a:ext uri="{FF2B5EF4-FFF2-40B4-BE49-F238E27FC236}">
                  <a16:creationId xmlns:a16="http://schemas.microsoft.com/office/drawing/2014/main" id="{D2ED6768-7A26-3F40-9A14-7B7F7406F915}"/>
                </a:ext>
              </a:extLst>
            </p:cNvPr>
            <p:cNvSpPr>
              <a:spLocks noChangeArrowheads="1"/>
            </p:cNvSpPr>
            <p:nvPr/>
          </p:nvSpPr>
          <p:spPr bwMode="auto">
            <a:xfrm>
              <a:off x="4276"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79" name="Rectangle 91">
              <a:extLst>
                <a:ext uri="{FF2B5EF4-FFF2-40B4-BE49-F238E27FC236}">
                  <a16:creationId xmlns:a16="http://schemas.microsoft.com/office/drawing/2014/main" id="{4CC4CCDD-29B1-BB49-B0D0-4321E225A46D}"/>
                </a:ext>
              </a:extLst>
            </p:cNvPr>
            <p:cNvSpPr>
              <a:spLocks noChangeArrowheads="1"/>
            </p:cNvSpPr>
            <p:nvPr/>
          </p:nvSpPr>
          <p:spPr bwMode="auto">
            <a:xfrm>
              <a:off x="4516"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10</a:t>
              </a:r>
            </a:p>
          </p:txBody>
        </p:sp>
        <p:sp>
          <p:nvSpPr>
            <p:cNvPr id="63580" name="Rectangle 92">
              <a:extLst>
                <a:ext uri="{FF2B5EF4-FFF2-40B4-BE49-F238E27FC236}">
                  <a16:creationId xmlns:a16="http://schemas.microsoft.com/office/drawing/2014/main" id="{7D4E84EE-3FD3-7C4F-AE20-B5FED48A7075}"/>
                </a:ext>
              </a:extLst>
            </p:cNvPr>
            <p:cNvSpPr>
              <a:spLocks noChangeArrowheads="1"/>
            </p:cNvSpPr>
            <p:nvPr/>
          </p:nvSpPr>
          <p:spPr bwMode="auto">
            <a:xfrm>
              <a:off x="4022" y="2126"/>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A:</a:t>
              </a:r>
            </a:p>
          </p:txBody>
        </p:sp>
        <p:sp>
          <p:nvSpPr>
            <p:cNvPr id="63581" name="Rectangle 93">
              <a:extLst>
                <a:ext uri="{FF2B5EF4-FFF2-40B4-BE49-F238E27FC236}">
                  <a16:creationId xmlns:a16="http://schemas.microsoft.com/office/drawing/2014/main" id="{16826E2C-DEAC-6F45-90CB-24ECEEB2678C}"/>
                </a:ext>
              </a:extLst>
            </p:cNvPr>
            <p:cNvSpPr>
              <a:spLocks noChangeArrowheads="1"/>
            </p:cNvSpPr>
            <p:nvPr/>
          </p:nvSpPr>
          <p:spPr bwMode="auto">
            <a:xfrm>
              <a:off x="4022" y="2270"/>
              <a:ext cx="2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D:</a:t>
              </a:r>
            </a:p>
          </p:txBody>
        </p:sp>
        <p:sp>
          <p:nvSpPr>
            <p:cNvPr id="63582" name="Rectangle 94">
              <a:extLst>
                <a:ext uri="{FF2B5EF4-FFF2-40B4-BE49-F238E27FC236}">
                  <a16:creationId xmlns:a16="http://schemas.microsoft.com/office/drawing/2014/main" id="{3E2F2818-BF0A-2545-A812-BD9D7007355B}"/>
                </a:ext>
              </a:extLst>
            </p:cNvPr>
            <p:cNvSpPr>
              <a:spLocks noChangeArrowheads="1"/>
            </p:cNvSpPr>
            <p:nvPr/>
          </p:nvSpPr>
          <p:spPr bwMode="auto">
            <a:xfrm>
              <a:off x="4166" y="1934"/>
              <a:ext cx="61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BHR = 10</a:t>
              </a:r>
            </a:p>
          </p:txBody>
        </p:sp>
        <p:sp>
          <p:nvSpPr>
            <p:cNvPr id="63583" name="Rectangle 95">
              <a:extLst>
                <a:ext uri="{FF2B5EF4-FFF2-40B4-BE49-F238E27FC236}">
                  <a16:creationId xmlns:a16="http://schemas.microsoft.com/office/drawing/2014/main" id="{79208B91-75F0-3841-A789-4E141D80877C}"/>
                </a:ext>
              </a:extLst>
            </p:cNvPr>
            <p:cNvSpPr>
              <a:spLocks noChangeArrowheads="1"/>
            </p:cNvSpPr>
            <p:nvPr/>
          </p:nvSpPr>
          <p:spPr bwMode="auto">
            <a:xfrm>
              <a:off x="4756"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84" name="Rectangle 96">
              <a:extLst>
                <a:ext uri="{FF2B5EF4-FFF2-40B4-BE49-F238E27FC236}">
                  <a16:creationId xmlns:a16="http://schemas.microsoft.com/office/drawing/2014/main" id="{F8A9CC59-5B5A-5E4E-BE3F-39AA369DD494}"/>
                </a:ext>
              </a:extLst>
            </p:cNvPr>
            <p:cNvSpPr>
              <a:spLocks noChangeArrowheads="1"/>
            </p:cNvSpPr>
            <p:nvPr/>
          </p:nvSpPr>
          <p:spPr bwMode="auto">
            <a:xfrm>
              <a:off x="4996" y="230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85" name="Rectangle 97">
              <a:extLst>
                <a:ext uri="{FF2B5EF4-FFF2-40B4-BE49-F238E27FC236}">
                  <a16:creationId xmlns:a16="http://schemas.microsoft.com/office/drawing/2014/main" id="{7E801FE4-746E-F548-BF48-D607ACBF452D}"/>
                </a:ext>
              </a:extLst>
            </p:cNvPr>
            <p:cNvSpPr>
              <a:spLocks noChangeArrowheads="1"/>
            </p:cNvSpPr>
            <p:nvPr/>
          </p:nvSpPr>
          <p:spPr bwMode="auto">
            <a:xfrm>
              <a:off x="4756"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86" name="Rectangle 98">
              <a:extLst>
                <a:ext uri="{FF2B5EF4-FFF2-40B4-BE49-F238E27FC236}">
                  <a16:creationId xmlns:a16="http://schemas.microsoft.com/office/drawing/2014/main" id="{36ACC0E3-437F-7A45-8A39-9E1140652453}"/>
                </a:ext>
              </a:extLst>
            </p:cNvPr>
            <p:cNvSpPr>
              <a:spLocks noChangeArrowheads="1"/>
            </p:cNvSpPr>
            <p:nvPr/>
          </p:nvSpPr>
          <p:spPr bwMode="auto">
            <a:xfrm>
              <a:off x="4996" y="216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cs typeface="Arial" panose="020B0604020202020204" pitchFamily="34" charset="0"/>
                </a:rPr>
                <a:t>00</a:t>
              </a:r>
            </a:p>
          </p:txBody>
        </p:sp>
        <p:sp>
          <p:nvSpPr>
            <p:cNvPr id="63587" name="Rectangle 99">
              <a:extLst>
                <a:ext uri="{FF2B5EF4-FFF2-40B4-BE49-F238E27FC236}">
                  <a16:creationId xmlns:a16="http://schemas.microsoft.com/office/drawing/2014/main" id="{0714AEDF-7BE1-9945-811A-7F42B9D64BD8}"/>
                </a:ext>
              </a:extLst>
            </p:cNvPr>
            <p:cNvSpPr>
              <a:spLocks noChangeArrowheads="1"/>
            </p:cNvSpPr>
            <p:nvPr/>
          </p:nvSpPr>
          <p:spPr bwMode="auto">
            <a:xfrm>
              <a:off x="4262"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00</a:t>
              </a:r>
            </a:p>
          </p:txBody>
        </p:sp>
        <p:sp>
          <p:nvSpPr>
            <p:cNvPr id="63588" name="Rectangle 100">
              <a:extLst>
                <a:ext uri="{FF2B5EF4-FFF2-40B4-BE49-F238E27FC236}">
                  <a16:creationId xmlns:a16="http://schemas.microsoft.com/office/drawing/2014/main" id="{625697E6-8415-D347-A102-BE9D8BBF5CCB}"/>
                </a:ext>
              </a:extLst>
            </p:cNvPr>
            <p:cNvSpPr>
              <a:spLocks noChangeArrowheads="1"/>
            </p:cNvSpPr>
            <p:nvPr/>
          </p:nvSpPr>
          <p:spPr bwMode="auto">
            <a:xfrm>
              <a:off x="4502"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01</a:t>
              </a:r>
            </a:p>
          </p:txBody>
        </p:sp>
        <p:sp>
          <p:nvSpPr>
            <p:cNvPr id="63589" name="Rectangle 101">
              <a:extLst>
                <a:ext uri="{FF2B5EF4-FFF2-40B4-BE49-F238E27FC236}">
                  <a16:creationId xmlns:a16="http://schemas.microsoft.com/office/drawing/2014/main" id="{5A2FE0A0-7139-014F-9DA4-96DE7B391F6C}"/>
                </a:ext>
              </a:extLst>
            </p:cNvPr>
            <p:cNvSpPr>
              <a:spLocks noChangeArrowheads="1"/>
            </p:cNvSpPr>
            <p:nvPr/>
          </p:nvSpPr>
          <p:spPr bwMode="auto">
            <a:xfrm>
              <a:off x="4742"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10</a:t>
              </a:r>
            </a:p>
          </p:txBody>
        </p:sp>
        <p:sp>
          <p:nvSpPr>
            <p:cNvPr id="63590" name="Rectangle 102">
              <a:extLst>
                <a:ext uri="{FF2B5EF4-FFF2-40B4-BE49-F238E27FC236}">
                  <a16:creationId xmlns:a16="http://schemas.microsoft.com/office/drawing/2014/main" id="{3880A989-C70D-9B48-A568-301BB46BF2D1}"/>
                </a:ext>
              </a:extLst>
            </p:cNvPr>
            <p:cNvSpPr>
              <a:spLocks noChangeArrowheads="1"/>
            </p:cNvSpPr>
            <p:nvPr/>
          </p:nvSpPr>
          <p:spPr bwMode="auto">
            <a:xfrm>
              <a:off x="4982" y="244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11</a:t>
              </a:r>
            </a:p>
          </p:txBody>
        </p:sp>
      </p:grpSp>
      <p:grpSp>
        <p:nvGrpSpPr>
          <p:cNvPr id="63502" name="Group 103">
            <a:extLst>
              <a:ext uri="{FF2B5EF4-FFF2-40B4-BE49-F238E27FC236}">
                <a16:creationId xmlns:a16="http://schemas.microsoft.com/office/drawing/2014/main" id="{45425E18-B0B9-2F47-9305-6050D79D8C29}"/>
              </a:ext>
            </a:extLst>
          </p:cNvPr>
          <p:cNvGrpSpPr>
            <a:grpSpLocks/>
          </p:cNvGrpSpPr>
          <p:nvPr/>
        </p:nvGrpSpPr>
        <p:grpSpPr bwMode="auto">
          <a:xfrm>
            <a:off x="212725" y="4594225"/>
            <a:ext cx="1914525" cy="1055688"/>
            <a:chOff x="134" y="2894"/>
            <a:chExt cx="1206" cy="665"/>
          </a:xfrm>
        </p:grpSpPr>
        <p:sp>
          <p:nvSpPr>
            <p:cNvPr id="63561" name="Rectangle 104">
              <a:extLst>
                <a:ext uri="{FF2B5EF4-FFF2-40B4-BE49-F238E27FC236}">
                  <a16:creationId xmlns:a16="http://schemas.microsoft.com/office/drawing/2014/main" id="{093D5D40-01B3-EE47-8900-BD78921FFE6C}"/>
                </a:ext>
              </a:extLst>
            </p:cNvPr>
            <p:cNvSpPr>
              <a:spLocks noChangeArrowheads="1"/>
            </p:cNvSpPr>
            <p:nvPr/>
          </p:nvSpPr>
          <p:spPr bwMode="auto">
            <a:xfrm>
              <a:off x="388"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10</a:t>
              </a:r>
            </a:p>
          </p:txBody>
        </p:sp>
        <p:sp>
          <p:nvSpPr>
            <p:cNvPr id="63562" name="Rectangle 105">
              <a:extLst>
                <a:ext uri="{FF2B5EF4-FFF2-40B4-BE49-F238E27FC236}">
                  <a16:creationId xmlns:a16="http://schemas.microsoft.com/office/drawing/2014/main" id="{E4678FDA-36D4-9B42-9890-2962F1820095}"/>
                </a:ext>
              </a:extLst>
            </p:cNvPr>
            <p:cNvSpPr>
              <a:spLocks noChangeArrowheads="1"/>
            </p:cNvSpPr>
            <p:nvPr/>
          </p:nvSpPr>
          <p:spPr bwMode="auto">
            <a:xfrm>
              <a:off x="628"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63" name="Rectangle 106">
              <a:extLst>
                <a:ext uri="{FF2B5EF4-FFF2-40B4-BE49-F238E27FC236}">
                  <a16:creationId xmlns:a16="http://schemas.microsoft.com/office/drawing/2014/main" id="{B527EAB1-3570-804A-8C17-3FE294BB1C53}"/>
                </a:ext>
              </a:extLst>
            </p:cNvPr>
            <p:cNvSpPr>
              <a:spLocks noChangeArrowheads="1"/>
            </p:cNvSpPr>
            <p:nvPr/>
          </p:nvSpPr>
          <p:spPr bwMode="auto">
            <a:xfrm>
              <a:off x="388"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64" name="Rectangle 107">
              <a:extLst>
                <a:ext uri="{FF2B5EF4-FFF2-40B4-BE49-F238E27FC236}">
                  <a16:creationId xmlns:a16="http://schemas.microsoft.com/office/drawing/2014/main" id="{80122F08-47B9-214B-B097-459BC667AAFB}"/>
                </a:ext>
              </a:extLst>
            </p:cNvPr>
            <p:cNvSpPr>
              <a:spLocks noChangeArrowheads="1"/>
            </p:cNvSpPr>
            <p:nvPr/>
          </p:nvSpPr>
          <p:spPr bwMode="auto">
            <a:xfrm>
              <a:off x="628"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10</a:t>
              </a:r>
            </a:p>
          </p:txBody>
        </p:sp>
        <p:sp>
          <p:nvSpPr>
            <p:cNvPr id="63565" name="Rectangle 108">
              <a:extLst>
                <a:ext uri="{FF2B5EF4-FFF2-40B4-BE49-F238E27FC236}">
                  <a16:creationId xmlns:a16="http://schemas.microsoft.com/office/drawing/2014/main" id="{CAD16399-9CA1-4E46-A409-2610CE91D7B3}"/>
                </a:ext>
              </a:extLst>
            </p:cNvPr>
            <p:cNvSpPr>
              <a:spLocks noChangeArrowheads="1"/>
            </p:cNvSpPr>
            <p:nvPr/>
          </p:nvSpPr>
          <p:spPr bwMode="auto">
            <a:xfrm>
              <a:off x="134" y="3086"/>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A:</a:t>
              </a:r>
            </a:p>
          </p:txBody>
        </p:sp>
        <p:sp>
          <p:nvSpPr>
            <p:cNvPr id="63566" name="Rectangle 109">
              <a:extLst>
                <a:ext uri="{FF2B5EF4-FFF2-40B4-BE49-F238E27FC236}">
                  <a16:creationId xmlns:a16="http://schemas.microsoft.com/office/drawing/2014/main" id="{8E4FAE30-F727-B541-A495-10436A71B62D}"/>
                </a:ext>
              </a:extLst>
            </p:cNvPr>
            <p:cNvSpPr>
              <a:spLocks noChangeArrowheads="1"/>
            </p:cNvSpPr>
            <p:nvPr/>
          </p:nvSpPr>
          <p:spPr bwMode="auto">
            <a:xfrm>
              <a:off x="134" y="3230"/>
              <a:ext cx="2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D:</a:t>
              </a:r>
            </a:p>
          </p:txBody>
        </p:sp>
        <p:sp>
          <p:nvSpPr>
            <p:cNvPr id="63567" name="Rectangle 110">
              <a:extLst>
                <a:ext uri="{FF2B5EF4-FFF2-40B4-BE49-F238E27FC236}">
                  <a16:creationId xmlns:a16="http://schemas.microsoft.com/office/drawing/2014/main" id="{CEB895F5-38CA-104B-87A2-EFE32F9A4CCC}"/>
                </a:ext>
              </a:extLst>
            </p:cNvPr>
            <p:cNvSpPr>
              <a:spLocks noChangeArrowheads="1"/>
            </p:cNvSpPr>
            <p:nvPr/>
          </p:nvSpPr>
          <p:spPr bwMode="auto">
            <a:xfrm>
              <a:off x="278" y="2894"/>
              <a:ext cx="61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BHR = 00</a:t>
              </a:r>
            </a:p>
          </p:txBody>
        </p:sp>
        <p:sp>
          <p:nvSpPr>
            <p:cNvPr id="63568" name="Rectangle 111">
              <a:extLst>
                <a:ext uri="{FF2B5EF4-FFF2-40B4-BE49-F238E27FC236}">
                  <a16:creationId xmlns:a16="http://schemas.microsoft.com/office/drawing/2014/main" id="{09F5CAAC-0DCB-9F42-89C2-5E8695910A5F}"/>
                </a:ext>
              </a:extLst>
            </p:cNvPr>
            <p:cNvSpPr>
              <a:spLocks noChangeArrowheads="1"/>
            </p:cNvSpPr>
            <p:nvPr/>
          </p:nvSpPr>
          <p:spPr bwMode="auto">
            <a:xfrm>
              <a:off x="868"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cs typeface="Arial" panose="020B0604020202020204" pitchFamily="34" charset="0"/>
                </a:rPr>
                <a:t>00</a:t>
              </a:r>
            </a:p>
          </p:txBody>
        </p:sp>
        <p:sp>
          <p:nvSpPr>
            <p:cNvPr id="63569" name="Rectangle 112">
              <a:extLst>
                <a:ext uri="{FF2B5EF4-FFF2-40B4-BE49-F238E27FC236}">
                  <a16:creationId xmlns:a16="http://schemas.microsoft.com/office/drawing/2014/main" id="{892C595F-7866-B74B-80D6-40DF638A5FB6}"/>
                </a:ext>
              </a:extLst>
            </p:cNvPr>
            <p:cNvSpPr>
              <a:spLocks noChangeArrowheads="1"/>
            </p:cNvSpPr>
            <p:nvPr/>
          </p:nvSpPr>
          <p:spPr bwMode="auto">
            <a:xfrm>
              <a:off x="1108"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70" name="Rectangle 113">
              <a:extLst>
                <a:ext uri="{FF2B5EF4-FFF2-40B4-BE49-F238E27FC236}">
                  <a16:creationId xmlns:a16="http://schemas.microsoft.com/office/drawing/2014/main" id="{0133E8AB-213D-FE4A-8DAD-937723BE0444}"/>
                </a:ext>
              </a:extLst>
            </p:cNvPr>
            <p:cNvSpPr>
              <a:spLocks noChangeArrowheads="1"/>
            </p:cNvSpPr>
            <p:nvPr/>
          </p:nvSpPr>
          <p:spPr bwMode="auto">
            <a:xfrm>
              <a:off x="868"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71" name="Rectangle 114">
              <a:extLst>
                <a:ext uri="{FF2B5EF4-FFF2-40B4-BE49-F238E27FC236}">
                  <a16:creationId xmlns:a16="http://schemas.microsoft.com/office/drawing/2014/main" id="{5ACB4A7A-015B-DF4D-A178-9510A7D311B9}"/>
                </a:ext>
              </a:extLst>
            </p:cNvPr>
            <p:cNvSpPr>
              <a:spLocks noChangeArrowheads="1"/>
            </p:cNvSpPr>
            <p:nvPr/>
          </p:nvSpPr>
          <p:spPr bwMode="auto">
            <a:xfrm>
              <a:off x="1108"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00</a:t>
              </a:r>
            </a:p>
          </p:txBody>
        </p:sp>
        <p:sp>
          <p:nvSpPr>
            <p:cNvPr id="63572" name="Rectangle 115">
              <a:extLst>
                <a:ext uri="{FF2B5EF4-FFF2-40B4-BE49-F238E27FC236}">
                  <a16:creationId xmlns:a16="http://schemas.microsoft.com/office/drawing/2014/main" id="{1A02F7BF-0099-D948-8F62-54B13405C3F7}"/>
                </a:ext>
              </a:extLst>
            </p:cNvPr>
            <p:cNvSpPr>
              <a:spLocks noChangeArrowheads="1"/>
            </p:cNvSpPr>
            <p:nvPr/>
          </p:nvSpPr>
          <p:spPr bwMode="auto">
            <a:xfrm>
              <a:off x="374"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00</a:t>
              </a:r>
            </a:p>
          </p:txBody>
        </p:sp>
        <p:sp>
          <p:nvSpPr>
            <p:cNvPr id="63573" name="Rectangle 116">
              <a:extLst>
                <a:ext uri="{FF2B5EF4-FFF2-40B4-BE49-F238E27FC236}">
                  <a16:creationId xmlns:a16="http://schemas.microsoft.com/office/drawing/2014/main" id="{C7AEB0B0-919B-BC45-9200-E4A901CDA312}"/>
                </a:ext>
              </a:extLst>
            </p:cNvPr>
            <p:cNvSpPr>
              <a:spLocks noChangeArrowheads="1"/>
            </p:cNvSpPr>
            <p:nvPr/>
          </p:nvSpPr>
          <p:spPr bwMode="auto">
            <a:xfrm>
              <a:off x="614"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01</a:t>
              </a:r>
            </a:p>
          </p:txBody>
        </p:sp>
        <p:sp>
          <p:nvSpPr>
            <p:cNvPr id="63574" name="Rectangle 117">
              <a:extLst>
                <a:ext uri="{FF2B5EF4-FFF2-40B4-BE49-F238E27FC236}">
                  <a16:creationId xmlns:a16="http://schemas.microsoft.com/office/drawing/2014/main" id="{D3F30576-F184-2849-BEEC-ECF4368FA138}"/>
                </a:ext>
              </a:extLst>
            </p:cNvPr>
            <p:cNvSpPr>
              <a:spLocks noChangeArrowheads="1"/>
            </p:cNvSpPr>
            <p:nvPr/>
          </p:nvSpPr>
          <p:spPr bwMode="auto">
            <a:xfrm>
              <a:off x="854"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10</a:t>
              </a:r>
            </a:p>
          </p:txBody>
        </p:sp>
        <p:sp>
          <p:nvSpPr>
            <p:cNvPr id="63575" name="Rectangle 118">
              <a:extLst>
                <a:ext uri="{FF2B5EF4-FFF2-40B4-BE49-F238E27FC236}">
                  <a16:creationId xmlns:a16="http://schemas.microsoft.com/office/drawing/2014/main" id="{414E58B2-0407-0545-9E0B-12E490CD374B}"/>
                </a:ext>
              </a:extLst>
            </p:cNvPr>
            <p:cNvSpPr>
              <a:spLocks noChangeArrowheads="1"/>
            </p:cNvSpPr>
            <p:nvPr/>
          </p:nvSpPr>
          <p:spPr bwMode="auto">
            <a:xfrm>
              <a:off x="1094"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11</a:t>
              </a:r>
            </a:p>
          </p:txBody>
        </p:sp>
      </p:grpSp>
      <p:grpSp>
        <p:nvGrpSpPr>
          <p:cNvPr id="63503" name="Group 119">
            <a:extLst>
              <a:ext uri="{FF2B5EF4-FFF2-40B4-BE49-F238E27FC236}">
                <a16:creationId xmlns:a16="http://schemas.microsoft.com/office/drawing/2014/main" id="{0F421D16-0C49-C042-A581-EDA96D3DDF6F}"/>
              </a:ext>
            </a:extLst>
          </p:cNvPr>
          <p:cNvGrpSpPr>
            <a:grpSpLocks/>
          </p:cNvGrpSpPr>
          <p:nvPr/>
        </p:nvGrpSpPr>
        <p:grpSpPr bwMode="auto">
          <a:xfrm>
            <a:off x="2206625" y="4508500"/>
            <a:ext cx="1914525" cy="1055688"/>
            <a:chOff x="1430" y="2894"/>
            <a:chExt cx="1206" cy="665"/>
          </a:xfrm>
        </p:grpSpPr>
        <p:sp>
          <p:nvSpPr>
            <p:cNvPr id="63546" name="Rectangle 120">
              <a:extLst>
                <a:ext uri="{FF2B5EF4-FFF2-40B4-BE49-F238E27FC236}">
                  <a16:creationId xmlns:a16="http://schemas.microsoft.com/office/drawing/2014/main" id="{E8C213C6-48B8-7A48-8FE1-D10CBA11231B}"/>
                </a:ext>
              </a:extLst>
            </p:cNvPr>
            <p:cNvSpPr>
              <a:spLocks noChangeArrowheads="1"/>
            </p:cNvSpPr>
            <p:nvPr/>
          </p:nvSpPr>
          <p:spPr bwMode="auto">
            <a:xfrm>
              <a:off x="1684"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cs typeface="Arial" panose="020B0604020202020204" pitchFamily="34" charset="0"/>
                </a:rPr>
                <a:t>11</a:t>
              </a:r>
            </a:p>
          </p:txBody>
        </p:sp>
        <p:sp>
          <p:nvSpPr>
            <p:cNvPr id="63547" name="Rectangle 121">
              <a:extLst>
                <a:ext uri="{FF2B5EF4-FFF2-40B4-BE49-F238E27FC236}">
                  <a16:creationId xmlns:a16="http://schemas.microsoft.com/office/drawing/2014/main" id="{B476364D-4B2B-1649-9BC0-FBDD4B7A71EC}"/>
                </a:ext>
              </a:extLst>
            </p:cNvPr>
            <p:cNvSpPr>
              <a:spLocks noChangeArrowheads="1"/>
            </p:cNvSpPr>
            <p:nvPr/>
          </p:nvSpPr>
          <p:spPr bwMode="auto">
            <a:xfrm>
              <a:off x="1924"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48" name="Rectangle 122">
              <a:extLst>
                <a:ext uri="{FF2B5EF4-FFF2-40B4-BE49-F238E27FC236}">
                  <a16:creationId xmlns:a16="http://schemas.microsoft.com/office/drawing/2014/main" id="{3B8CA1DE-43C8-354E-99B2-73FFB854B52C}"/>
                </a:ext>
              </a:extLst>
            </p:cNvPr>
            <p:cNvSpPr>
              <a:spLocks noChangeArrowheads="1"/>
            </p:cNvSpPr>
            <p:nvPr/>
          </p:nvSpPr>
          <p:spPr bwMode="auto">
            <a:xfrm>
              <a:off x="1684"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49" name="Rectangle 123">
              <a:extLst>
                <a:ext uri="{FF2B5EF4-FFF2-40B4-BE49-F238E27FC236}">
                  <a16:creationId xmlns:a16="http://schemas.microsoft.com/office/drawing/2014/main" id="{B126EC5F-80BE-BB42-8226-0F1EDA36BC9E}"/>
                </a:ext>
              </a:extLst>
            </p:cNvPr>
            <p:cNvSpPr>
              <a:spLocks noChangeArrowheads="1"/>
            </p:cNvSpPr>
            <p:nvPr/>
          </p:nvSpPr>
          <p:spPr bwMode="auto">
            <a:xfrm>
              <a:off x="1924"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10</a:t>
              </a:r>
            </a:p>
          </p:txBody>
        </p:sp>
        <p:sp>
          <p:nvSpPr>
            <p:cNvPr id="63550" name="Rectangle 124">
              <a:extLst>
                <a:ext uri="{FF2B5EF4-FFF2-40B4-BE49-F238E27FC236}">
                  <a16:creationId xmlns:a16="http://schemas.microsoft.com/office/drawing/2014/main" id="{4B336346-ACD5-CE4A-A96A-84A8CEEA954A}"/>
                </a:ext>
              </a:extLst>
            </p:cNvPr>
            <p:cNvSpPr>
              <a:spLocks noChangeArrowheads="1"/>
            </p:cNvSpPr>
            <p:nvPr/>
          </p:nvSpPr>
          <p:spPr bwMode="auto">
            <a:xfrm>
              <a:off x="1430" y="3086"/>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A:</a:t>
              </a:r>
            </a:p>
          </p:txBody>
        </p:sp>
        <p:sp>
          <p:nvSpPr>
            <p:cNvPr id="63551" name="Rectangle 125">
              <a:extLst>
                <a:ext uri="{FF2B5EF4-FFF2-40B4-BE49-F238E27FC236}">
                  <a16:creationId xmlns:a16="http://schemas.microsoft.com/office/drawing/2014/main" id="{33347CA6-5F94-4E47-AD0F-53C87E35FB1A}"/>
                </a:ext>
              </a:extLst>
            </p:cNvPr>
            <p:cNvSpPr>
              <a:spLocks noChangeArrowheads="1"/>
            </p:cNvSpPr>
            <p:nvPr/>
          </p:nvSpPr>
          <p:spPr bwMode="auto">
            <a:xfrm>
              <a:off x="1430" y="3230"/>
              <a:ext cx="2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D:</a:t>
              </a:r>
            </a:p>
          </p:txBody>
        </p:sp>
        <p:sp>
          <p:nvSpPr>
            <p:cNvPr id="63552" name="Rectangle 126">
              <a:extLst>
                <a:ext uri="{FF2B5EF4-FFF2-40B4-BE49-F238E27FC236}">
                  <a16:creationId xmlns:a16="http://schemas.microsoft.com/office/drawing/2014/main" id="{CF1A35B8-ACB7-CE4A-98EB-3CF334447D4A}"/>
                </a:ext>
              </a:extLst>
            </p:cNvPr>
            <p:cNvSpPr>
              <a:spLocks noChangeArrowheads="1"/>
            </p:cNvSpPr>
            <p:nvPr/>
          </p:nvSpPr>
          <p:spPr bwMode="auto">
            <a:xfrm>
              <a:off x="1574" y="2894"/>
              <a:ext cx="61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BHR = 01</a:t>
              </a:r>
            </a:p>
          </p:txBody>
        </p:sp>
        <p:sp>
          <p:nvSpPr>
            <p:cNvPr id="63553" name="Rectangle 127">
              <a:extLst>
                <a:ext uri="{FF2B5EF4-FFF2-40B4-BE49-F238E27FC236}">
                  <a16:creationId xmlns:a16="http://schemas.microsoft.com/office/drawing/2014/main" id="{A38FE006-0FD0-4345-B890-C4A3DB911F46}"/>
                </a:ext>
              </a:extLst>
            </p:cNvPr>
            <p:cNvSpPr>
              <a:spLocks noChangeArrowheads="1"/>
            </p:cNvSpPr>
            <p:nvPr/>
          </p:nvSpPr>
          <p:spPr bwMode="auto">
            <a:xfrm>
              <a:off x="2164"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00</a:t>
              </a:r>
            </a:p>
          </p:txBody>
        </p:sp>
        <p:sp>
          <p:nvSpPr>
            <p:cNvPr id="63554" name="Rectangle 128">
              <a:extLst>
                <a:ext uri="{FF2B5EF4-FFF2-40B4-BE49-F238E27FC236}">
                  <a16:creationId xmlns:a16="http://schemas.microsoft.com/office/drawing/2014/main" id="{18AC6614-ACB3-2140-8524-1A224F035493}"/>
                </a:ext>
              </a:extLst>
            </p:cNvPr>
            <p:cNvSpPr>
              <a:spLocks noChangeArrowheads="1"/>
            </p:cNvSpPr>
            <p:nvPr/>
          </p:nvSpPr>
          <p:spPr bwMode="auto">
            <a:xfrm>
              <a:off x="2404"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55" name="Rectangle 129">
              <a:extLst>
                <a:ext uri="{FF2B5EF4-FFF2-40B4-BE49-F238E27FC236}">
                  <a16:creationId xmlns:a16="http://schemas.microsoft.com/office/drawing/2014/main" id="{BBE442B7-4026-554E-BE0F-88950FBF396F}"/>
                </a:ext>
              </a:extLst>
            </p:cNvPr>
            <p:cNvSpPr>
              <a:spLocks noChangeArrowheads="1"/>
            </p:cNvSpPr>
            <p:nvPr/>
          </p:nvSpPr>
          <p:spPr bwMode="auto">
            <a:xfrm>
              <a:off x="2164"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56" name="Rectangle 130">
              <a:extLst>
                <a:ext uri="{FF2B5EF4-FFF2-40B4-BE49-F238E27FC236}">
                  <a16:creationId xmlns:a16="http://schemas.microsoft.com/office/drawing/2014/main" id="{E2C41380-1883-D141-88E6-D5E19CF822C4}"/>
                </a:ext>
              </a:extLst>
            </p:cNvPr>
            <p:cNvSpPr>
              <a:spLocks noChangeArrowheads="1"/>
            </p:cNvSpPr>
            <p:nvPr/>
          </p:nvSpPr>
          <p:spPr bwMode="auto">
            <a:xfrm>
              <a:off x="2404"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00</a:t>
              </a:r>
            </a:p>
          </p:txBody>
        </p:sp>
        <p:sp>
          <p:nvSpPr>
            <p:cNvPr id="63557" name="Rectangle 131">
              <a:extLst>
                <a:ext uri="{FF2B5EF4-FFF2-40B4-BE49-F238E27FC236}">
                  <a16:creationId xmlns:a16="http://schemas.microsoft.com/office/drawing/2014/main" id="{E4D2613E-3AF9-AE4E-83A4-1248C9164254}"/>
                </a:ext>
              </a:extLst>
            </p:cNvPr>
            <p:cNvSpPr>
              <a:spLocks noChangeArrowheads="1"/>
            </p:cNvSpPr>
            <p:nvPr/>
          </p:nvSpPr>
          <p:spPr bwMode="auto">
            <a:xfrm>
              <a:off x="1670"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00</a:t>
              </a:r>
            </a:p>
          </p:txBody>
        </p:sp>
        <p:sp>
          <p:nvSpPr>
            <p:cNvPr id="63558" name="Rectangle 132">
              <a:extLst>
                <a:ext uri="{FF2B5EF4-FFF2-40B4-BE49-F238E27FC236}">
                  <a16:creationId xmlns:a16="http://schemas.microsoft.com/office/drawing/2014/main" id="{FD632E44-00B8-2C43-8736-63FC2991F90F}"/>
                </a:ext>
              </a:extLst>
            </p:cNvPr>
            <p:cNvSpPr>
              <a:spLocks noChangeArrowheads="1"/>
            </p:cNvSpPr>
            <p:nvPr/>
          </p:nvSpPr>
          <p:spPr bwMode="auto">
            <a:xfrm>
              <a:off x="1910"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01</a:t>
              </a:r>
            </a:p>
          </p:txBody>
        </p:sp>
        <p:sp>
          <p:nvSpPr>
            <p:cNvPr id="63559" name="Rectangle 133">
              <a:extLst>
                <a:ext uri="{FF2B5EF4-FFF2-40B4-BE49-F238E27FC236}">
                  <a16:creationId xmlns:a16="http://schemas.microsoft.com/office/drawing/2014/main" id="{DE15AB0B-29FD-8741-A16C-839AA216CD96}"/>
                </a:ext>
              </a:extLst>
            </p:cNvPr>
            <p:cNvSpPr>
              <a:spLocks noChangeArrowheads="1"/>
            </p:cNvSpPr>
            <p:nvPr/>
          </p:nvSpPr>
          <p:spPr bwMode="auto">
            <a:xfrm>
              <a:off x="2150"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10</a:t>
              </a:r>
            </a:p>
          </p:txBody>
        </p:sp>
        <p:sp>
          <p:nvSpPr>
            <p:cNvPr id="63560" name="Rectangle 134">
              <a:extLst>
                <a:ext uri="{FF2B5EF4-FFF2-40B4-BE49-F238E27FC236}">
                  <a16:creationId xmlns:a16="http://schemas.microsoft.com/office/drawing/2014/main" id="{456C2299-0002-9847-9CDD-2B01970845A1}"/>
                </a:ext>
              </a:extLst>
            </p:cNvPr>
            <p:cNvSpPr>
              <a:spLocks noChangeArrowheads="1"/>
            </p:cNvSpPr>
            <p:nvPr/>
          </p:nvSpPr>
          <p:spPr bwMode="auto">
            <a:xfrm>
              <a:off x="2390"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11</a:t>
              </a:r>
            </a:p>
          </p:txBody>
        </p:sp>
      </p:grpSp>
      <p:sp>
        <p:nvSpPr>
          <p:cNvPr id="63504" name="Rectangle 135">
            <a:extLst>
              <a:ext uri="{FF2B5EF4-FFF2-40B4-BE49-F238E27FC236}">
                <a16:creationId xmlns:a16="http://schemas.microsoft.com/office/drawing/2014/main" id="{7E798162-C3B3-A147-A228-D835007EF1ED}"/>
              </a:ext>
            </a:extLst>
          </p:cNvPr>
          <p:cNvSpPr>
            <a:spLocks noChangeArrowheads="1"/>
          </p:cNvSpPr>
          <p:nvPr/>
        </p:nvSpPr>
        <p:spPr bwMode="auto">
          <a:xfrm>
            <a:off x="3794125" y="5661025"/>
            <a:ext cx="13636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D: T, pred T</a:t>
            </a:r>
          </a:p>
          <a:p>
            <a:pPr>
              <a:spcBef>
                <a:spcPct val="0"/>
              </a:spcBef>
              <a:buClrTx/>
              <a:buSzTx/>
              <a:buFontTx/>
              <a:buNone/>
            </a:pPr>
            <a:r>
              <a:rPr lang="en-US" altLang="en-US" sz="1400">
                <a:latin typeface="Arial" panose="020B0604020202020204" pitchFamily="34" charset="0"/>
                <a:cs typeface="Arial" panose="020B0604020202020204" pitchFamily="34" charset="0"/>
              </a:rPr>
              <a:t>New BHR = 11</a:t>
            </a:r>
          </a:p>
        </p:txBody>
      </p:sp>
      <p:grpSp>
        <p:nvGrpSpPr>
          <p:cNvPr id="63505" name="Group 136">
            <a:extLst>
              <a:ext uri="{FF2B5EF4-FFF2-40B4-BE49-F238E27FC236}">
                <a16:creationId xmlns:a16="http://schemas.microsoft.com/office/drawing/2014/main" id="{57D57AE2-A4CC-CB48-B98C-7EB5F39EA0BA}"/>
              </a:ext>
            </a:extLst>
          </p:cNvPr>
          <p:cNvGrpSpPr>
            <a:grpSpLocks/>
          </p:cNvGrpSpPr>
          <p:nvPr/>
        </p:nvGrpSpPr>
        <p:grpSpPr bwMode="auto">
          <a:xfrm>
            <a:off x="4251325" y="4594225"/>
            <a:ext cx="1914525" cy="1055688"/>
            <a:chOff x="2678" y="2894"/>
            <a:chExt cx="1206" cy="665"/>
          </a:xfrm>
        </p:grpSpPr>
        <p:sp>
          <p:nvSpPr>
            <p:cNvPr id="63531" name="Rectangle 137">
              <a:extLst>
                <a:ext uri="{FF2B5EF4-FFF2-40B4-BE49-F238E27FC236}">
                  <a16:creationId xmlns:a16="http://schemas.microsoft.com/office/drawing/2014/main" id="{1967401A-1296-BC4B-9715-43819E7AEAB8}"/>
                </a:ext>
              </a:extLst>
            </p:cNvPr>
            <p:cNvSpPr>
              <a:spLocks noChangeArrowheads="1"/>
            </p:cNvSpPr>
            <p:nvPr/>
          </p:nvSpPr>
          <p:spPr bwMode="auto">
            <a:xfrm>
              <a:off x="2932"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11</a:t>
              </a:r>
            </a:p>
          </p:txBody>
        </p:sp>
        <p:sp>
          <p:nvSpPr>
            <p:cNvPr id="63532" name="Rectangle 138">
              <a:extLst>
                <a:ext uri="{FF2B5EF4-FFF2-40B4-BE49-F238E27FC236}">
                  <a16:creationId xmlns:a16="http://schemas.microsoft.com/office/drawing/2014/main" id="{CEF8E678-470D-5445-A452-071FFAB18C24}"/>
                </a:ext>
              </a:extLst>
            </p:cNvPr>
            <p:cNvSpPr>
              <a:spLocks noChangeArrowheads="1"/>
            </p:cNvSpPr>
            <p:nvPr/>
          </p:nvSpPr>
          <p:spPr bwMode="auto">
            <a:xfrm>
              <a:off x="3172"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33" name="Rectangle 139">
              <a:extLst>
                <a:ext uri="{FF2B5EF4-FFF2-40B4-BE49-F238E27FC236}">
                  <a16:creationId xmlns:a16="http://schemas.microsoft.com/office/drawing/2014/main" id="{E2C33124-76F4-8847-9DA1-E6CD86079B7D}"/>
                </a:ext>
              </a:extLst>
            </p:cNvPr>
            <p:cNvSpPr>
              <a:spLocks noChangeArrowheads="1"/>
            </p:cNvSpPr>
            <p:nvPr/>
          </p:nvSpPr>
          <p:spPr bwMode="auto">
            <a:xfrm>
              <a:off x="2932"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34" name="Rectangle 140">
              <a:extLst>
                <a:ext uri="{FF2B5EF4-FFF2-40B4-BE49-F238E27FC236}">
                  <a16:creationId xmlns:a16="http://schemas.microsoft.com/office/drawing/2014/main" id="{8FCEFC2E-D966-2349-B8CB-DDF400CC8A8D}"/>
                </a:ext>
              </a:extLst>
            </p:cNvPr>
            <p:cNvSpPr>
              <a:spLocks noChangeArrowheads="1"/>
            </p:cNvSpPr>
            <p:nvPr/>
          </p:nvSpPr>
          <p:spPr bwMode="auto">
            <a:xfrm>
              <a:off x="3172"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cs typeface="Arial" panose="020B0604020202020204" pitchFamily="34" charset="0"/>
                </a:rPr>
                <a:t>11</a:t>
              </a:r>
            </a:p>
          </p:txBody>
        </p:sp>
        <p:sp>
          <p:nvSpPr>
            <p:cNvPr id="63535" name="Rectangle 141">
              <a:extLst>
                <a:ext uri="{FF2B5EF4-FFF2-40B4-BE49-F238E27FC236}">
                  <a16:creationId xmlns:a16="http://schemas.microsoft.com/office/drawing/2014/main" id="{23FBF5E2-8CD6-634C-8761-83F79E031EFC}"/>
                </a:ext>
              </a:extLst>
            </p:cNvPr>
            <p:cNvSpPr>
              <a:spLocks noChangeArrowheads="1"/>
            </p:cNvSpPr>
            <p:nvPr/>
          </p:nvSpPr>
          <p:spPr bwMode="auto">
            <a:xfrm>
              <a:off x="2678" y="3086"/>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A:</a:t>
              </a:r>
            </a:p>
          </p:txBody>
        </p:sp>
        <p:sp>
          <p:nvSpPr>
            <p:cNvPr id="63536" name="Rectangle 142">
              <a:extLst>
                <a:ext uri="{FF2B5EF4-FFF2-40B4-BE49-F238E27FC236}">
                  <a16:creationId xmlns:a16="http://schemas.microsoft.com/office/drawing/2014/main" id="{02B241E0-FFC8-CD44-A837-186EF5B08861}"/>
                </a:ext>
              </a:extLst>
            </p:cNvPr>
            <p:cNvSpPr>
              <a:spLocks noChangeArrowheads="1"/>
            </p:cNvSpPr>
            <p:nvPr/>
          </p:nvSpPr>
          <p:spPr bwMode="auto">
            <a:xfrm>
              <a:off x="2678" y="3230"/>
              <a:ext cx="2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D:</a:t>
              </a:r>
            </a:p>
          </p:txBody>
        </p:sp>
        <p:sp>
          <p:nvSpPr>
            <p:cNvPr id="63537" name="Rectangle 143">
              <a:extLst>
                <a:ext uri="{FF2B5EF4-FFF2-40B4-BE49-F238E27FC236}">
                  <a16:creationId xmlns:a16="http://schemas.microsoft.com/office/drawing/2014/main" id="{AD989F05-496D-5C45-9C51-D2E16B059183}"/>
                </a:ext>
              </a:extLst>
            </p:cNvPr>
            <p:cNvSpPr>
              <a:spLocks noChangeArrowheads="1"/>
            </p:cNvSpPr>
            <p:nvPr/>
          </p:nvSpPr>
          <p:spPr bwMode="auto">
            <a:xfrm>
              <a:off x="2822" y="2894"/>
              <a:ext cx="60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BHR = 11</a:t>
              </a:r>
            </a:p>
          </p:txBody>
        </p:sp>
        <p:sp>
          <p:nvSpPr>
            <p:cNvPr id="63538" name="Rectangle 144">
              <a:extLst>
                <a:ext uri="{FF2B5EF4-FFF2-40B4-BE49-F238E27FC236}">
                  <a16:creationId xmlns:a16="http://schemas.microsoft.com/office/drawing/2014/main" id="{62EC62B7-2A09-5848-B52F-BBD68D6F5761}"/>
                </a:ext>
              </a:extLst>
            </p:cNvPr>
            <p:cNvSpPr>
              <a:spLocks noChangeArrowheads="1"/>
            </p:cNvSpPr>
            <p:nvPr/>
          </p:nvSpPr>
          <p:spPr bwMode="auto">
            <a:xfrm>
              <a:off x="3412"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00</a:t>
              </a:r>
            </a:p>
          </p:txBody>
        </p:sp>
        <p:sp>
          <p:nvSpPr>
            <p:cNvPr id="63539" name="Rectangle 145">
              <a:extLst>
                <a:ext uri="{FF2B5EF4-FFF2-40B4-BE49-F238E27FC236}">
                  <a16:creationId xmlns:a16="http://schemas.microsoft.com/office/drawing/2014/main" id="{FB6D7200-FB3D-834D-B9C7-7BACC498E106}"/>
                </a:ext>
              </a:extLst>
            </p:cNvPr>
            <p:cNvSpPr>
              <a:spLocks noChangeArrowheads="1"/>
            </p:cNvSpPr>
            <p:nvPr/>
          </p:nvSpPr>
          <p:spPr bwMode="auto">
            <a:xfrm>
              <a:off x="3652"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40" name="Rectangle 146">
              <a:extLst>
                <a:ext uri="{FF2B5EF4-FFF2-40B4-BE49-F238E27FC236}">
                  <a16:creationId xmlns:a16="http://schemas.microsoft.com/office/drawing/2014/main" id="{26A7C762-9994-AB4E-89CA-A6AD037D64B4}"/>
                </a:ext>
              </a:extLst>
            </p:cNvPr>
            <p:cNvSpPr>
              <a:spLocks noChangeArrowheads="1"/>
            </p:cNvSpPr>
            <p:nvPr/>
          </p:nvSpPr>
          <p:spPr bwMode="auto">
            <a:xfrm>
              <a:off x="3412"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41" name="Rectangle 147">
              <a:extLst>
                <a:ext uri="{FF2B5EF4-FFF2-40B4-BE49-F238E27FC236}">
                  <a16:creationId xmlns:a16="http://schemas.microsoft.com/office/drawing/2014/main" id="{1A6BBD44-5229-BF4D-BD92-7F1CD7B39169}"/>
                </a:ext>
              </a:extLst>
            </p:cNvPr>
            <p:cNvSpPr>
              <a:spLocks noChangeArrowheads="1"/>
            </p:cNvSpPr>
            <p:nvPr/>
          </p:nvSpPr>
          <p:spPr bwMode="auto">
            <a:xfrm>
              <a:off x="3652"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00</a:t>
              </a:r>
            </a:p>
          </p:txBody>
        </p:sp>
        <p:sp>
          <p:nvSpPr>
            <p:cNvPr id="63542" name="Rectangle 148">
              <a:extLst>
                <a:ext uri="{FF2B5EF4-FFF2-40B4-BE49-F238E27FC236}">
                  <a16:creationId xmlns:a16="http://schemas.microsoft.com/office/drawing/2014/main" id="{29F01099-5FEF-6A4E-BDC9-59D602017D43}"/>
                </a:ext>
              </a:extLst>
            </p:cNvPr>
            <p:cNvSpPr>
              <a:spLocks noChangeArrowheads="1"/>
            </p:cNvSpPr>
            <p:nvPr/>
          </p:nvSpPr>
          <p:spPr bwMode="auto">
            <a:xfrm>
              <a:off x="2918"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00</a:t>
              </a:r>
            </a:p>
          </p:txBody>
        </p:sp>
        <p:sp>
          <p:nvSpPr>
            <p:cNvPr id="63543" name="Rectangle 149">
              <a:extLst>
                <a:ext uri="{FF2B5EF4-FFF2-40B4-BE49-F238E27FC236}">
                  <a16:creationId xmlns:a16="http://schemas.microsoft.com/office/drawing/2014/main" id="{27D6B78F-2BD7-AF42-BC4D-E181A274276C}"/>
                </a:ext>
              </a:extLst>
            </p:cNvPr>
            <p:cNvSpPr>
              <a:spLocks noChangeArrowheads="1"/>
            </p:cNvSpPr>
            <p:nvPr/>
          </p:nvSpPr>
          <p:spPr bwMode="auto">
            <a:xfrm>
              <a:off x="3158"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01</a:t>
              </a:r>
            </a:p>
          </p:txBody>
        </p:sp>
        <p:sp>
          <p:nvSpPr>
            <p:cNvPr id="63544" name="Rectangle 150">
              <a:extLst>
                <a:ext uri="{FF2B5EF4-FFF2-40B4-BE49-F238E27FC236}">
                  <a16:creationId xmlns:a16="http://schemas.microsoft.com/office/drawing/2014/main" id="{F5C522A4-2A58-5548-9803-418CB7DE2B44}"/>
                </a:ext>
              </a:extLst>
            </p:cNvPr>
            <p:cNvSpPr>
              <a:spLocks noChangeArrowheads="1"/>
            </p:cNvSpPr>
            <p:nvPr/>
          </p:nvSpPr>
          <p:spPr bwMode="auto">
            <a:xfrm>
              <a:off x="3398"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10</a:t>
              </a:r>
            </a:p>
          </p:txBody>
        </p:sp>
        <p:sp>
          <p:nvSpPr>
            <p:cNvPr id="63545" name="Rectangle 151">
              <a:extLst>
                <a:ext uri="{FF2B5EF4-FFF2-40B4-BE49-F238E27FC236}">
                  <a16:creationId xmlns:a16="http://schemas.microsoft.com/office/drawing/2014/main" id="{4DA22D41-E0A6-104F-892A-C915CD797A2A}"/>
                </a:ext>
              </a:extLst>
            </p:cNvPr>
            <p:cNvSpPr>
              <a:spLocks noChangeArrowheads="1"/>
            </p:cNvSpPr>
            <p:nvPr/>
          </p:nvSpPr>
          <p:spPr bwMode="auto">
            <a:xfrm>
              <a:off x="3638"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11</a:t>
              </a:r>
            </a:p>
          </p:txBody>
        </p:sp>
      </p:grpSp>
      <p:grpSp>
        <p:nvGrpSpPr>
          <p:cNvPr id="63506" name="Group 152">
            <a:extLst>
              <a:ext uri="{FF2B5EF4-FFF2-40B4-BE49-F238E27FC236}">
                <a16:creationId xmlns:a16="http://schemas.microsoft.com/office/drawing/2014/main" id="{1342CF0D-BF74-C54D-9046-52990A42D9AE}"/>
              </a:ext>
            </a:extLst>
          </p:cNvPr>
          <p:cNvGrpSpPr>
            <a:grpSpLocks/>
          </p:cNvGrpSpPr>
          <p:nvPr/>
        </p:nvGrpSpPr>
        <p:grpSpPr bwMode="auto">
          <a:xfrm>
            <a:off x="6384925" y="4594225"/>
            <a:ext cx="1914525" cy="1055688"/>
            <a:chOff x="4022" y="2894"/>
            <a:chExt cx="1206" cy="665"/>
          </a:xfrm>
        </p:grpSpPr>
        <p:sp>
          <p:nvSpPr>
            <p:cNvPr id="63516" name="Rectangle 153">
              <a:extLst>
                <a:ext uri="{FF2B5EF4-FFF2-40B4-BE49-F238E27FC236}">
                  <a16:creationId xmlns:a16="http://schemas.microsoft.com/office/drawing/2014/main" id="{06A21888-2B83-3F4A-ABFA-3FBCD340DF05}"/>
                </a:ext>
              </a:extLst>
            </p:cNvPr>
            <p:cNvSpPr>
              <a:spLocks noChangeArrowheads="1"/>
            </p:cNvSpPr>
            <p:nvPr/>
          </p:nvSpPr>
          <p:spPr bwMode="auto">
            <a:xfrm>
              <a:off x="4276"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11</a:t>
              </a:r>
            </a:p>
          </p:txBody>
        </p:sp>
        <p:sp>
          <p:nvSpPr>
            <p:cNvPr id="63517" name="Rectangle 154">
              <a:extLst>
                <a:ext uri="{FF2B5EF4-FFF2-40B4-BE49-F238E27FC236}">
                  <a16:creationId xmlns:a16="http://schemas.microsoft.com/office/drawing/2014/main" id="{FB565C75-9565-2E45-B61C-F1CBB7EB66F0}"/>
                </a:ext>
              </a:extLst>
            </p:cNvPr>
            <p:cNvSpPr>
              <a:spLocks noChangeArrowheads="1"/>
            </p:cNvSpPr>
            <p:nvPr/>
          </p:nvSpPr>
          <p:spPr bwMode="auto">
            <a:xfrm>
              <a:off x="4516"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18" name="Rectangle 155">
              <a:extLst>
                <a:ext uri="{FF2B5EF4-FFF2-40B4-BE49-F238E27FC236}">
                  <a16:creationId xmlns:a16="http://schemas.microsoft.com/office/drawing/2014/main" id="{5840B402-A12F-094E-966B-D04968E0945A}"/>
                </a:ext>
              </a:extLst>
            </p:cNvPr>
            <p:cNvSpPr>
              <a:spLocks noChangeArrowheads="1"/>
            </p:cNvSpPr>
            <p:nvPr/>
          </p:nvSpPr>
          <p:spPr bwMode="auto">
            <a:xfrm>
              <a:off x="4276"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19" name="Rectangle 156">
              <a:extLst>
                <a:ext uri="{FF2B5EF4-FFF2-40B4-BE49-F238E27FC236}">
                  <a16:creationId xmlns:a16="http://schemas.microsoft.com/office/drawing/2014/main" id="{D52A5156-D180-474B-BB38-455ED4B783AE}"/>
                </a:ext>
              </a:extLst>
            </p:cNvPr>
            <p:cNvSpPr>
              <a:spLocks noChangeArrowheads="1"/>
            </p:cNvSpPr>
            <p:nvPr/>
          </p:nvSpPr>
          <p:spPr bwMode="auto">
            <a:xfrm>
              <a:off x="4516"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11</a:t>
              </a:r>
            </a:p>
          </p:txBody>
        </p:sp>
        <p:sp>
          <p:nvSpPr>
            <p:cNvPr id="63520" name="Rectangle 157">
              <a:extLst>
                <a:ext uri="{FF2B5EF4-FFF2-40B4-BE49-F238E27FC236}">
                  <a16:creationId xmlns:a16="http://schemas.microsoft.com/office/drawing/2014/main" id="{CB05FB7D-317F-4E48-8E6C-EB5B9EB61323}"/>
                </a:ext>
              </a:extLst>
            </p:cNvPr>
            <p:cNvSpPr>
              <a:spLocks noChangeArrowheads="1"/>
            </p:cNvSpPr>
            <p:nvPr/>
          </p:nvSpPr>
          <p:spPr bwMode="auto">
            <a:xfrm>
              <a:off x="4022" y="3086"/>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A:</a:t>
              </a:r>
            </a:p>
          </p:txBody>
        </p:sp>
        <p:sp>
          <p:nvSpPr>
            <p:cNvPr id="63521" name="Rectangle 158">
              <a:extLst>
                <a:ext uri="{FF2B5EF4-FFF2-40B4-BE49-F238E27FC236}">
                  <a16:creationId xmlns:a16="http://schemas.microsoft.com/office/drawing/2014/main" id="{F2CEA51B-A47F-5249-9C4C-77E5A229D9AB}"/>
                </a:ext>
              </a:extLst>
            </p:cNvPr>
            <p:cNvSpPr>
              <a:spLocks noChangeArrowheads="1"/>
            </p:cNvSpPr>
            <p:nvPr/>
          </p:nvSpPr>
          <p:spPr bwMode="auto">
            <a:xfrm>
              <a:off x="4022" y="3230"/>
              <a:ext cx="2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D:</a:t>
              </a:r>
            </a:p>
          </p:txBody>
        </p:sp>
        <p:sp>
          <p:nvSpPr>
            <p:cNvPr id="63522" name="Rectangle 159">
              <a:extLst>
                <a:ext uri="{FF2B5EF4-FFF2-40B4-BE49-F238E27FC236}">
                  <a16:creationId xmlns:a16="http://schemas.microsoft.com/office/drawing/2014/main" id="{CBC5D303-0D23-544E-84A4-19897258FD08}"/>
                </a:ext>
              </a:extLst>
            </p:cNvPr>
            <p:cNvSpPr>
              <a:spLocks noChangeArrowheads="1"/>
            </p:cNvSpPr>
            <p:nvPr/>
          </p:nvSpPr>
          <p:spPr bwMode="auto">
            <a:xfrm>
              <a:off x="4166" y="2894"/>
              <a:ext cx="61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BHR = 10</a:t>
              </a:r>
            </a:p>
          </p:txBody>
        </p:sp>
        <p:sp>
          <p:nvSpPr>
            <p:cNvPr id="63523" name="Rectangle 160">
              <a:extLst>
                <a:ext uri="{FF2B5EF4-FFF2-40B4-BE49-F238E27FC236}">
                  <a16:creationId xmlns:a16="http://schemas.microsoft.com/office/drawing/2014/main" id="{6AFB1769-3F50-A644-9F69-B5E7D55495CC}"/>
                </a:ext>
              </a:extLst>
            </p:cNvPr>
            <p:cNvSpPr>
              <a:spLocks noChangeArrowheads="1"/>
            </p:cNvSpPr>
            <p:nvPr/>
          </p:nvSpPr>
          <p:spPr bwMode="auto">
            <a:xfrm>
              <a:off x="4756"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00</a:t>
              </a:r>
            </a:p>
          </p:txBody>
        </p:sp>
        <p:sp>
          <p:nvSpPr>
            <p:cNvPr id="63524" name="Rectangle 161">
              <a:extLst>
                <a:ext uri="{FF2B5EF4-FFF2-40B4-BE49-F238E27FC236}">
                  <a16:creationId xmlns:a16="http://schemas.microsoft.com/office/drawing/2014/main" id="{56CAB80A-DA8F-4749-84F9-E87E1A0136C6}"/>
                </a:ext>
              </a:extLst>
            </p:cNvPr>
            <p:cNvSpPr>
              <a:spLocks noChangeArrowheads="1"/>
            </p:cNvSpPr>
            <p:nvPr/>
          </p:nvSpPr>
          <p:spPr bwMode="auto">
            <a:xfrm>
              <a:off x="4996" y="3268"/>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25" name="Rectangle 162">
              <a:extLst>
                <a:ext uri="{FF2B5EF4-FFF2-40B4-BE49-F238E27FC236}">
                  <a16:creationId xmlns:a16="http://schemas.microsoft.com/office/drawing/2014/main" id="{801C0D04-B2EA-064E-805A-BC562A34F3C7}"/>
                </a:ext>
              </a:extLst>
            </p:cNvPr>
            <p:cNvSpPr>
              <a:spLocks noChangeArrowheads="1"/>
            </p:cNvSpPr>
            <p:nvPr/>
          </p:nvSpPr>
          <p:spPr bwMode="auto">
            <a:xfrm>
              <a:off x="4756"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cs typeface="Arial" panose="020B0604020202020204" pitchFamily="34" charset="0"/>
                </a:rPr>
                <a:t>01</a:t>
              </a:r>
            </a:p>
          </p:txBody>
        </p:sp>
        <p:sp>
          <p:nvSpPr>
            <p:cNvPr id="63526" name="Rectangle 163">
              <a:extLst>
                <a:ext uri="{FF2B5EF4-FFF2-40B4-BE49-F238E27FC236}">
                  <a16:creationId xmlns:a16="http://schemas.microsoft.com/office/drawing/2014/main" id="{14B4FD1D-DB4D-7947-BBEB-FCB4ECA297F3}"/>
                </a:ext>
              </a:extLst>
            </p:cNvPr>
            <p:cNvSpPr>
              <a:spLocks noChangeArrowheads="1"/>
            </p:cNvSpPr>
            <p:nvPr/>
          </p:nvSpPr>
          <p:spPr bwMode="auto">
            <a:xfrm>
              <a:off x="4996" y="3124"/>
              <a:ext cx="232" cy="136"/>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cs typeface="Arial" panose="020B0604020202020204" pitchFamily="34" charset="0"/>
                </a:rPr>
                <a:t>00</a:t>
              </a:r>
            </a:p>
          </p:txBody>
        </p:sp>
        <p:sp>
          <p:nvSpPr>
            <p:cNvPr id="63527" name="Rectangle 164">
              <a:extLst>
                <a:ext uri="{FF2B5EF4-FFF2-40B4-BE49-F238E27FC236}">
                  <a16:creationId xmlns:a16="http://schemas.microsoft.com/office/drawing/2014/main" id="{5A3958B9-83FD-3F4F-8A36-A7B6B1B062A9}"/>
                </a:ext>
              </a:extLst>
            </p:cNvPr>
            <p:cNvSpPr>
              <a:spLocks noChangeArrowheads="1"/>
            </p:cNvSpPr>
            <p:nvPr/>
          </p:nvSpPr>
          <p:spPr bwMode="auto">
            <a:xfrm>
              <a:off x="4262"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00</a:t>
              </a:r>
            </a:p>
          </p:txBody>
        </p:sp>
        <p:sp>
          <p:nvSpPr>
            <p:cNvPr id="63528" name="Rectangle 165">
              <a:extLst>
                <a:ext uri="{FF2B5EF4-FFF2-40B4-BE49-F238E27FC236}">
                  <a16:creationId xmlns:a16="http://schemas.microsoft.com/office/drawing/2014/main" id="{A4DE6F9D-DA84-EF4B-AD2E-795148326C46}"/>
                </a:ext>
              </a:extLst>
            </p:cNvPr>
            <p:cNvSpPr>
              <a:spLocks noChangeArrowheads="1"/>
            </p:cNvSpPr>
            <p:nvPr/>
          </p:nvSpPr>
          <p:spPr bwMode="auto">
            <a:xfrm>
              <a:off x="4502"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01</a:t>
              </a:r>
            </a:p>
          </p:txBody>
        </p:sp>
        <p:sp>
          <p:nvSpPr>
            <p:cNvPr id="63529" name="Rectangle 166">
              <a:extLst>
                <a:ext uri="{FF2B5EF4-FFF2-40B4-BE49-F238E27FC236}">
                  <a16:creationId xmlns:a16="http://schemas.microsoft.com/office/drawing/2014/main" id="{DD993FBE-BD16-FA42-8EAE-06B5BA889BBF}"/>
                </a:ext>
              </a:extLst>
            </p:cNvPr>
            <p:cNvSpPr>
              <a:spLocks noChangeArrowheads="1"/>
            </p:cNvSpPr>
            <p:nvPr/>
          </p:nvSpPr>
          <p:spPr bwMode="auto">
            <a:xfrm>
              <a:off x="4742"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10</a:t>
              </a:r>
            </a:p>
          </p:txBody>
        </p:sp>
        <p:sp>
          <p:nvSpPr>
            <p:cNvPr id="63530" name="Rectangle 167">
              <a:extLst>
                <a:ext uri="{FF2B5EF4-FFF2-40B4-BE49-F238E27FC236}">
                  <a16:creationId xmlns:a16="http://schemas.microsoft.com/office/drawing/2014/main" id="{ADFB3BC4-074D-BB46-AF4C-88CBCB4B8BB0}"/>
                </a:ext>
              </a:extLst>
            </p:cNvPr>
            <p:cNvSpPr>
              <a:spLocks noChangeArrowheads="1"/>
            </p:cNvSpPr>
            <p:nvPr/>
          </p:nvSpPr>
          <p:spPr bwMode="auto">
            <a:xfrm>
              <a:off x="4982" y="3403"/>
              <a:ext cx="206"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a:latin typeface="Arial" panose="020B0604020202020204" pitchFamily="34" charset="0"/>
                  <a:cs typeface="Arial" panose="020B0604020202020204" pitchFamily="34" charset="0"/>
                </a:rPr>
                <a:t>11</a:t>
              </a:r>
            </a:p>
          </p:txBody>
        </p:sp>
      </p:grpSp>
      <p:sp>
        <p:nvSpPr>
          <p:cNvPr id="63507" name="Rectangle 168">
            <a:extLst>
              <a:ext uri="{FF2B5EF4-FFF2-40B4-BE49-F238E27FC236}">
                <a16:creationId xmlns:a16="http://schemas.microsoft.com/office/drawing/2014/main" id="{0EE8649A-3A9A-734D-87EC-B8746D8278B2}"/>
              </a:ext>
            </a:extLst>
          </p:cNvPr>
          <p:cNvSpPr>
            <a:spLocks noChangeArrowheads="1"/>
          </p:cNvSpPr>
          <p:nvPr/>
        </p:nvSpPr>
        <p:spPr bwMode="auto">
          <a:xfrm>
            <a:off x="5775325" y="5661025"/>
            <a:ext cx="13763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cs typeface="Arial" panose="020B0604020202020204" pitchFamily="34" charset="0"/>
              </a:rPr>
              <a:t>A: N, pred N</a:t>
            </a:r>
          </a:p>
          <a:p>
            <a:pPr>
              <a:spcBef>
                <a:spcPct val="0"/>
              </a:spcBef>
              <a:buClrTx/>
              <a:buSzTx/>
              <a:buFontTx/>
              <a:buNone/>
            </a:pPr>
            <a:r>
              <a:rPr lang="en-US" altLang="en-US" sz="1400">
                <a:latin typeface="Arial" panose="020B0604020202020204" pitchFamily="34" charset="0"/>
                <a:cs typeface="Arial" panose="020B0604020202020204" pitchFamily="34" charset="0"/>
              </a:rPr>
              <a:t>New BHR = 10</a:t>
            </a:r>
          </a:p>
        </p:txBody>
      </p:sp>
      <p:sp>
        <p:nvSpPr>
          <p:cNvPr id="63508" name="Line 169">
            <a:extLst>
              <a:ext uri="{FF2B5EF4-FFF2-40B4-BE49-F238E27FC236}">
                <a16:creationId xmlns:a16="http://schemas.microsoft.com/office/drawing/2014/main" id="{60E68BD6-11CA-0742-A98E-EFA0F83085FA}"/>
              </a:ext>
            </a:extLst>
          </p:cNvPr>
          <p:cNvSpPr>
            <a:spLocks noChangeShapeType="1"/>
          </p:cNvSpPr>
          <p:nvPr/>
        </p:nvSpPr>
        <p:spPr bwMode="auto">
          <a:xfrm>
            <a:off x="914400" y="3581400"/>
            <a:ext cx="1676400" cy="5334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509" name="Line 170">
            <a:extLst>
              <a:ext uri="{FF2B5EF4-FFF2-40B4-BE49-F238E27FC236}">
                <a16:creationId xmlns:a16="http://schemas.microsoft.com/office/drawing/2014/main" id="{3D13C23E-EA04-A54D-B3DE-2BD4E4F397BF}"/>
              </a:ext>
            </a:extLst>
          </p:cNvPr>
          <p:cNvSpPr>
            <a:spLocks noChangeShapeType="1"/>
          </p:cNvSpPr>
          <p:nvPr/>
        </p:nvSpPr>
        <p:spPr bwMode="auto">
          <a:xfrm>
            <a:off x="3276600" y="3810000"/>
            <a:ext cx="1295400" cy="3048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510" name="Line 171">
            <a:extLst>
              <a:ext uri="{FF2B5EF4-FFF2-40B4-BE49-F238E27FC236}">
                <a16:creationId xmlns:a16="http://schemas.microsoft.com/office/drawing/2014/main" id="{6AA9229E-FE77-D347-9AAB-C6D0EDC51192}"/>
              </a:ext>
            </a:extLst>
          </p:cNvPr>
          <p:cNvSpPr>
            <a:spLocks noChangeShapeType="1"/>
          </p:cNvSpPr>
          <p:nvPr/>
        </p:nvSpPr>
        <p:spPr bwMode="auto">
          <a:xfrm>
            <a:off x="6096000" y="3581400"/>
            <a:ext cx="609600" cy="5334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511" name="Line 172">
            <a:extLst>
              <a:ext uri="{FF2B5EF4-FFF2-40B4-BE49-F238E27FC236}">
                <a16:creationId xmlns:a16="http://schemas.microsoft.com/office/drawing/2014/main" id="{69A4425C-C6E3-F241-998A-D7B5C5D31E65}"/>
              </a:ext>
            </a:extLst>
          </p:cNvPr>
          <p:cNvSpPr>
            <a:spLocks noChangeShapeType="1"/>
          </p:cNvSpPr>
          <p:nvPr/>
        </p:nvSpPr>
        <p:spPr bwMode="auto">
          <a:xfrm>
            <a:off x="7848600" y="3810000"/>
            <a:ext cx="762000" cy="2286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512" name="Line 173">
            <a:extLst>
              <a:ext uri="{FF2B5EF4-FFF2-40B4-BE49-F238E27FC236}">
                <a16:creationId xmlns:a16="http://schemas.microsoft.com/office/drawing/2014/main" id="{201B52B2-299D-1441-8161-33C1567FD086}"/>
              </a:ext>
            </a:extLst>
          </p:cNvPr>
          <p:cNvSpPr>
            <a:spLocks noChangeShapeType="1"/>
          </p:cNvSpPr>
          <p:nvPr/>
        </p:nvSpPr>
        <p:spPr bwMode="auto">
          <a:xfrm>
            <a:off x="914400" y="5105400"/>
            <a:ext cx="1752600" cy="5334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513" name="Line 174">
            <a:extLst>
              <a:ext uri="{FF2B5EF4-FFF2-40B4-BE49-F238E27FC236}">
                <a16:creationId xmlns:a16="http://schemas.microsoft.com/office/drawing/2014/main" id="{CB0A0770-9579-2E4D-8A60-0503DFDD4937}"/>
              </a:ext>
            </a:extLst>
          </p:cNvPr>
          <p:cNvSpPr>
            <a:spLocks noChangeShapeType="1"/>
          </p:cNvSpPr>
          <p:nvPr/>
        </p:nvSpPr>
        <p:spPr bwMode="auto">
          <a:xfrm>
            <a:off x="3367088" y="5335588"/>
            <a:ext cx="1371600" cy="3810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514" name="Line 175">
            <a:extLst>
              <a:ext uri="{FF2B5EF4-FFF2-40B4-BE49-F238E27FC236}">
                <a16:creationId xmlns:a16="http://schemas.microsoft.com/office/drawing/2014/main" id="{2BCFF985-83F2-574D-A603-1027D357BCFE}"/>
              </a:ext>
            </a:extLst>
          </p:cNvPr>
          <p:cNvSpPr>
            <a:spLocks noChangeShapeType="1"/>
          </p:cNvSpPr>
          <p:nvPr/>
        </p:nvSpPr>
        <p:spPr bwMode="auto">
          <a:xfrm>
            <a:off x="6096000" y="5105400"/>
            <a:ext cx="685800" cy="6096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515" name="Rectangle 176">
            <a:extLst>
              <a:ext uri="{FF2B5EF4-FFF2-40B4-BE49-F238E27FC236}">
                <a16:creationId xmlns:a16="http://schemas.microsoft.com/office/drawing/2014/main" id="{00FB97A4-D18D-9849-B7D5-715CC21B5FB2}"/>
              </a:ext>
            </a:extLst>
          </p:cNvPr>
          <p:cNvSpPr>
            <a:spLocks noChangeArrowheads="1"/>
          </p:cNvSpPr>
          <p:nvPr/>
        </p:nvSpPr>
        <p:spPr bwMode="auto">
          <a:xfrm>
            <a:off x="288925" y="2528888"/>
            <a:ext cx="15287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000" i="1" u="sng">
                <a:latin typeface="Arial" panose="020B0604020202020204" pitchFamily="34" charset="0"/>
              </a:rPr>
              <a:t>underlined</a:t>
            </a:r>
            <a:r>
              <a:rPr lang="en-US" altLang="en-US" sz="1000" i="1">
                <a:latin typeface="Arial" panose="020B0604020202020204" pitchFamily="34" charset="0"/>
              </a:rPr>
              <a:t> means entry</a:t>
            </a:r>
          </a:p>
          <a:p>
            <a:pPr>
              <a:spcBef>
                <a:spcPct val="0"/>
              </a:spcBef>
              <a:buClrTx/>
              <a:buSzTx/>
              <a:buFontTx/>
              <a:buNone/>
            </a:pPr>
            <a:r>
              <a:rPr lang="en-US" altLang="en-US" sz="1000" i="1">
                <a:latin typeface="Arial" panose="020B0604020202020204" pitchFamily="34" charset="0"/>
              </a:rPr>
              <a:t>was updated due to last</a:t>
            </a:r>
          </a:p>
          <a:p>
            <a:pPr>
              <a:spcBef>
                <a:spcPct val="0"/>
              </a:spcBef>
              <a:buClrTx/>
              <a:buSzTx/>
              <a:buFontTx/>
              <a:buNone/>
            </a:pPr>
            <a:r>
              <a:rPr lang="en-US" altLang="en-US" sz="1000" i="1">
                <a:latin typeface="Arial" panose="020B0604020202020204" pitchFamily="34" charset="0"/>
              </a:rPr>
              <a:t>branch execution</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21163E74-C14A-D049-B7B1-B3BF967FA556}"/>
              </a:ext>
            </a:extLst>
          </p:cNvPr>
          <p:cNvSpPr>
            <a:spLocks noGrp="1" noChangeArrowheads="1"/>
          </p:cNvSpPr>
          <p:nvPr>
            <p:ph type="subTitle" idx="1"/>
          </p:nvPr>
        </p:nvSpPr>
        <p:spPr>
          <a:xfrm>
            <a:off x="685800" y="3505200"/>
            <a:ext cx="6400800" cy="1752600"/>
          </a:xfrm>
        </p:spPr>
        <p:txBody>
          <a:bodyPr>
            <a:normAutofit/>
          </a:bodyPr>
          <a:lstStyle/>
          <a:p>
            <a:r>
              <a:rPr lang="en-US" altLang="en-US" dirty="0"/>
              <a:t>Module </a:t>
            </a:r>
            <a:r>
              <a:rPr lang="en-US" altLang="ko-KR" dirty="0"/>
              <a:t>4</a:t>
            </a:r>
            <a:r>
              <a:rPr lang="en-US" altLang="en-US" dirty="0"/>
              <a:t>.3: Pipelining 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7DD73B3E-C29B-6946-944B-80CC6F697ABC}"/>
              </a:ext>
            </a:extLst>
          </p:cNvPr>
          <p:cNvSpPr>
            <a:spLocks noGrp="1" noChangeArrowheads="1"/>
          </p:cNvSpPr>
          <p:nvPr>
            <p:ph type="title"/>
          </p:nvPr>
        </p:nvSpPr>
        <p:spPr/>
        <p:txBody>
          <a:bodyPr/>
          <a:lstStyle/>
          <a:p>
            <a:r>
              <a:rPr lang="en-US" altLang="en-US"/>
              <a:t>Objectives and Outline</a:t>
            </a:r>
          </a:p>
        </p:txBody>
      </p:sp>
      <p:sp>
        <p:nvSpPr>
          <p:cNvPr id="67587" name="Content Placeholder 2">
            <a:extLst>
              <a:ext uri="{FF2B5EF4-FFF2-40B4-BE49-F238E27FC236}">
                <a16:creationId xmlns:a16="http://schemas.microsoft.com/office/drawing/2014/main" id="{7084F1E8-5395-C746-B05E-AC467B874840}"/>
              </a:ext>
            </a:extLst>
          </p:cNvPr>
          <p:cNvSpPr>
            <a:spLocks noGrp="1" noChangeArrowheads="1"/>
          </p:cNvSpPr>
          <p:nvPr>
            <p:ph idx="1"/>
          </p:nvPr>
        </p:nvSpPr>
        <p:spPr/>
        <p:txBody>
          <a:bodyPr/>
          <a:lstStyle/>
          <a:p>
            <a:r>
              <a:rPr lang="en-US" altLang="en-US"/>
              <a:t>Objectives:</a:t>
            </a:r>
          </a:p>
          <a:p>
            <a:pPr lvl="1"/>
            <a:r>
              <a:rPr lang="en-US" altLang="en-US">
                <a:ea typeface="MS PGothic" panose="020B0600070205080204" pitchFamily="34" charset="-128"/>
              </a:rPr>
              <a:t>Understand various dynamic branch predictors</a:t>
            </a:r>
          </a:p>
          <a:p>
            <a:r>
              <a:rPr lang="en-US" altLang="en-US"/>
              <a:t>Outline:</a:t>
            </a:r>
          </a:p>
          <a:p>
            <a:pPr lvl="1"/>
            <a:r>
              <a:rPr lang="en-US" altLang="en-US">
                <a:ea typeface="MS PGothic" panose="020B0600070205080204" pitchFamily="34" charset="-128"/>
              </a:rPr>
              <a:t>Dynamic branch predictors: Yeh/Patt predictor, Hybrid/tournament predictor, Seznec TAGE predictor</a:t>
            </a:r>
          </a:p>
          <a:p>
            <a:pPr lvl="1"/>
            <a:r>
              <a:rPr lang="en-US" altLang="en-US">
                <a:ea typeface="MS PGothic" panose="020B0600070205080204" pitchFamily="34" charset="-128"/>
              </a:rPr>
              <a:t>Static branch predictors: heuristics-based, Ball/Larus, profile-based</a:t>
            </a:r>
          </a:p>
          <a:p>
            <a:pPr lvl="1"/>
            <a:r>
              <a:rPr lang="en-US" altLang="en-US">
                <a:ea typeface="MS PGothic" panose="020B0600070205080204" pitchFamily="34" charset="-128"/>
              </a:rPr>
              <a:t>Case study of PowerPC 604 branch prediction structures</a:t>
            </a:r>
          </a:p>
          <a:p>
            <a:pPr lvl="1"/>
            <a:endParaRPr lang="en-US" altLang="en-US">
              <a:ea typeface="MS PGothic" panose="020B0600070205080204" pitchFamily="34" charset="-128"/>
            </a:endParaRPr>
          </a:p>
        </p:txBody>
      </p:sp>
    </p:spTree>
    <p:extLst>
      <p:ext uri="{BB962C8B-B14F-4D97-AF65-F5344CB8AC3E}">
        <p14:creationId xmlns:p14="http://schemas.microsoft.com/office/powerpoint/2010/main" val="21535971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21C27EC7-077B-B84D-A2EE-84A9C648384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Yeh/Patt predictor</a:t>
            </a:r>
          </a:p>
        </p:txBody>
      </p:sp>
      <p:sp>
        <p:nvSpPr>
          <p:cNvPr id="68611" name="Rectangle 3">
            <a:extLst>
              <a:ext uri="{FF2B5EF4-FFF2-40B4-BE49-F238E27FC236}">
                <a16:creationId xmlns:a16="http://schemas.microsoft.com/office/drawing/2014/main" id="{BE7D96DA-FA33-4341-A811-9EF5205A07D6}"/>
              </a:ext>
            </a:extLst>
          </p:cNvPr>
          <p:cNvSpPr>
            <a:spLocks noChangeArrowheads="1"/>
          </p:cNvSpPr>
          <p:nvPr/>
        </p:nvSpPr>
        <p:spPr bwMode="auto">
          <a:xfrm>
            <a:off x="4654550" y="1835150"/>
            <a:ext cx="444500" cy="2806700"/>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600">
              <a:latin typeface="Arial" panose="020B0604020202020204" pitchFamily="34" charset="0"/>
            </a:endParaRPr>
          </a:p>
        </p:txBody>
      </p:sp>
      <p:sp>
        <p:nvSpPr>
          <p:cNvPr id="68612" name="Rectangle 4">
            <a:extLst>
              <a:ext uri="{FF2B5EF4-FFF2-40B4-BE49-F238E27FC236}">
                <a16:creationId xmlns:a16="http://schemas.microsoft.com/office/drawing/2014/main" id="{7F88B0DC-D701-2E44-8FD8-F934C0C48F61}"/>
              </a:ext>
            </a:extLst>
          </p:cNvPr>
          <p:cNvSpPr>
            <a:spLocks noChangeArrowheads="1"/>
          </p:cNvSpPr>
          <p:nvPr/>
        </p:nvSpPr>
        <p:spPr bwMode="auto">
          <a:xfrm>
            <a:off x="4327525" y="1393825"/>
            <a:ext cx="1327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pattern table</a:t>
            </a:r>
          </a:p>
        </p:txBody>
      </p:sp>
      <p:sp>
        <p:nvSpPr>
          <p:cNvPr id="68613" name="Rectangle 5">
            <a:extLst>
              <a:ext uri="{FF2B5EF4-FFF2-40B4-BE49-F238E27FC236}">
                <a16:creationId xmlns:a16="http://schemas.microsoft.com/office/drawing/2014/main" id="{EB8C8D67-2522-174E-991A-F4757DA12A85}"/>
              </a:ext>
            </a:extLst>
          </p:cNvPr>
          <p:cNvSpPr>
            <a:spLocks noChangeArrowheads="1"/>
          </p:cNvSpPr>
          <p:nvPr/>
        </p:nvSpPr>
        <p:spPr bwMode="auto">
          <a:xfrm>
            <a:off x="5318125" y="2613025"/>
            <a:ext cx="19081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i="1">
                <a:latin typeface="Arial" panose="020B0604020202020204" pitchFamily="34" charset="0"/>
              </a:rPr>
              <a:t>2-bit counters</a:t>
            </a:r>
          </a:p>
          <a:p>
            <a:pPr>
              <a:spcBef>
                <a:spcPct val="0"/>
              </a:spcBef>
              <a:buClrTx/>
              <a:buSzTx/>
              <a:buFontTx/>
              <a:buNone/>
            </a:pPr>
            <a:r>
              <a:rPr lang="en-US" altLang="en-US" sz="1600" i="1">
                <a:latin typeface="Arial" panose="020B0604020202020204" pitchFamily="34" charset="0"/>
              </a:rPr>
              <a:t>(indexed by history</a:t>
            </a:r>
          </a:p>
          <a:p>
            <a:pPr>
              <a:spcBef>
                <a:spcPct val="0"/>
              </a:spcBef>
              <a:buClrTx/>
              <a:buSzTx/>
              <a:buFontTx/>
              <a:buNone/>
            </a:pPr>
            <a:r>
              <a:rPr lang="en-US" altLang="en-US" sz="1600" i="1">
                <a:latin typeface="Arial" panose="020B0604020202020204" pitchFamily="34" charset="0"/>
              </a:rPr>
              <a:t>pattern)</a:t>
            </a:r>
          </a:p>
        </p:txBody>
      </p:sp>
      <p:sp>
        <p:nvSpPr>
          <p:cNvPr id="68614" name="Rectangle 6">
            <a:extLst>
              <a:ext uri="{FF2B5EF4-FFF2-40B4-BE49-F238E27FC236}">
                <a16:creationId xmlns:a16="http://schemas.microsoft.com/office/drawing/2014/main" id="{37854961-9387-2747-A01C-12608070D329}"/>
              </a:ext>
            </a:extLst>
          </p:cNvPr>
          <p:cNvSpPr>
            <a:spLocks noChangeArrowheads="1"/>
          </p:cNvSpPr>
          <p:nvPr/>
        </p:nvSpPr>
        <p:spPr bwMode="auto">
          <a:xfrm>
            <a:off x="2597150" y="1835150"/>
            <a:ext cx="1054100" cy="2806700"/>
          </a:xfrm>
          <a:prstGeom prst="rect">
            <a:avLst/>
          </a:prstGeom>
          <a:solidFill>
            <a:schemeClr val="bg1"/>
          </a:solidFill>
          <a:ln w="12700">
            <a:solidFill>
              <a:schemeClr val="tx1"/>
            </a:solidFill>
            <a:miter lim="800000"/>
            <a:headEnd/>
            <a:tailEnd/>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600">
              <a:latin typeface="Arial" panose="020B0604020202020204" pitchFamily="34" charset="0"/>
            </a:endParaRPr>
          </a:p>
        </p:txBody>
      </p:sp>
      <p:sp>
        <p:nvSpPr>
          <p:cNvPr id="68615" name="Rectangle 7">
            <a:extLst>
              <a:ext uri="{FF2B5EF4-FFF2-40B4-BE49-F238E27FC236}">
                <a16:creationId xmlns:a16="http://schemas.microsoft.com/office/drawing/2014/main" id="{828245B4-E0C2-8842-B02A-944944F1BA17}"/>
              </a:ext>
            </a:extLst>
          </p:cNvPr>
          <p:cNvSpPr>
            <a:spLocks noChangeArrowheads="1"/>
          </p:cNvSpPr>
          <p:nvPr/>
        </p:nvSpPr>
        <p:spPr bwMode="auto">
          <a:xfrm>
            <a:off x="2597150" y="2597150"/>
            <a:ext cx="1054100" cy="2921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600">
                <a:latin typeface="Arial" panose="020B0604020202020204" pitchFamily="34" charset="0"/>
              </a:rPr>
              <a:t>1110111</a:t>
            </a:r>
          </a:p>
        </p:txBody>
      </p:sp>
      <p:sp>
        <p:nvSpPr>
          <p:cNvPr id="68616" name="AutoShape 8">
            <a:extLst>
              <a:ext uri="{FF2B5EF4-FFF2-40B4-BE49-F238E27FC236}">
                <a16:creationId xmlns:a16="http://schemas.microsoft.com/office/drawing/2014/main" id="{39E622FB-9006-174D-95CE-174CFD1FA4C4}"/>
              </a:ext>
            </a:extLst>
          </p:cNvPr>
          <p:cNvSpPr>
            <a:spLocks noChangeArrowheads="1"/>
          </p:cNvSpPr>
          <p:nvPr/>
        </p:nvSpPr>
        <p:spPr bwMode="auto">
          <a:xfrm rot="-5400000" flipH="1" flipV="1">
            <a:off x="939800" y="3111500"/>
            <a:ext cx="2768600" cy="292100"/>
          </a:xfrm>
          <a:custGeom>
            <a:avLst/>
            <a:gdLst>
              <a:gd name="T0" fmla="*/ 2147483646 w 21600"/>
              <a:gd name="T1" fmla="*/ 361189426 h 21600"/>
              <a:gd name="T2" fmla="*/ 2147483646 w 21600"/>
              <a:gd name="T3" fmla="*/ 722378852 h 21600"/>
              <a:gd name="T4" fmla="*/ 2147483646 w 21600"/>
              <a:gd name="T5" fmla="*/ 361189426 h 21600"/>
              <a:gd name="T6" fmla="*/ 2147483646 w 21600"/>
              <a:gd name="T7" fmla="*/ 0 h 21600"/>
              <a:gd name="T8" fmla="*/ 0 60000 65536"/>
              <a:gd name="T9" fmla="*/ 0 60000 65536"/>
              <a:gd name="T10" fmla="*/ 0 60000 65536"/>
              <a:gd name="T11" fmla="*/ 0 60000 65536"/>
              <a:gd name="T12" fmla="*/ 2766 w 21600"/>
              <a:gd name="T13" fmla="*/ 2766 h 21600"/>
              <a:gd name="T14" fmla="*/ 18834 w 21600"/>
              <a:gd name="T15" fmla="*/ 18834 h 21600"/>
            </a:gdLst>
            <a:ahLst/>
            <a:cxnLst>
              <a:cxn ang="T8">
                <a:pos x="T0" y="T1"/>
              </a:cxn>
              <a:cxn ang="T9">
                <a:pos x="T2" y="T3"/>
              </a:cxn>
              <a:cxn ang="T10">
                <a:pos x="T4" y="T5"/>
              </a:cxn>
              <a:cxn ang="T11">
                <a:pos x="T6" y="T7"/>
              </a:cxn>
            </a:cxnLst>
            <a:rect l="T12" t="T13" r="T14" b="T15"/>
            <a:pathLst>
              <a:path w="21600" h="21600">
                <a:moveTo>
                  <a:pt x="0" y="0"/>
                </a:moveTo>
                <a:lnTo>
                  <a:pt x="1932" y="21600"/>
                </a:lnTo>
                <a:lnTo>
                  <a:pt x="19668" y="21600"/>
                </a:lnTo>
                <a:lnTo>
                  <a:pt x="21600" y="0"/>
                </a:lnTo>
                <a:lnTo>
                  <a:pt x="0" y="0"/>
                </a:lnTo>
                <a:close/>
              </a:path>
            </a:pathLst>
          </a:custGeom>
          <a:solidFill>
            <a:schemeClr val="bg1"/>
          </a:solidFill>
          <a:ln w="12700">
            <a:solidFill>
              <a:schemeClr val="tx1"/>
            </a:solidFill>
            <a:miter lim="800000"/>
            <a:headEnd/>
            <a:tailEnd/>
          </a:ln>
        </p:spPr>
        <p:txBody>
          <a:bodyPr wrap="none" anchor="ctr"/>
          <a:lstStyle/>
          <a:p>
            <a:endParaRPr lang="en-US"/>
          </a:p>
        </p:txBody>
      </p:sp>
      <p:sp>
        <p:nvSpPr>
          <p:cNvPr id="68617" name="Line 9">
            <a:extLst>
              <a:ext uri="{FF2B5EF4-FFF2-40B4-BE49-F238E27FC236}">
                <a16:creationId xmlns:a16="http://schemas.microsoft.com/office/drawing/2014/main" id="{4922BDB9-4C57-CA46-964D-87C2B73F910D}"/>
              </a:ext>
            </a:extLst>
          </p:cNvPr>
          <p:cNvSpPr>
            <a:spLocks noChangeShapeType="1"/>
          </p:cNvSpPr>
          <p:nvPr/>
        </p:nvSpPr>
        <p:spPr bwMode="auto">
          <a:xfrm>
            <a:off x="3124200" y="46482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618" name="AutoShape 10">
            <a:extLst>
              <a:ext uri="{FF2B5EF4-FFF2-40B4-BE49-F238E27FC236}">
                <a16:creationId xmlns:a16="http://schemas.microsoft.com/office/drawing/2014/main" id="{AD26D9B2-C1ED-004F-8B3D-BD108A0864D1}"/>
              </a:ext>
            </a:extLst>
          </p:cNvPr>
          <p:cNvSpPr>
            <a:spLocks noChangeArrowheads="1"/>
          </p:cNvSpPr>
          <p:nvPr/>
        </p:nvSpPr>
        <p:spPr bwMode="auto">
          <a:xfrm rot="-5400000" flipH="1" flipV="1">
            <a:off x="2997200" y="3111500"/>
            <a:ext cx="2768600" cy="292100"/>
          </a:xfrm>
          <a:custGeom>
            <a:avLst/>
            <a:gdLst>
              <a:gd name="T0" fmla="*/ 2147483646 w 21600"/>
              <a:gd name="T1" fmla="*/ 361189426 h 21600"/>
              <a:gd name="T2" fmla="*/ 2147483646 w 21600"/>
              <a:gd name="T3" fmla="*/ 722378852 h 21600"/>
              <a:gd name="T4" fmla="*/ 2147483646 w 21600"/>
              <a:gd name="T5" fmla="*/ 361189426 h 21600"/>
              <a:gd name="T6" fmla="*/ 2147483646 w 21600"/>
              <a:gd name="T7" fmla="*/ 0 h 21600"/>
              <a:gd name="T8" fmla="*/ 0 60000 65536"/>
              <a:gd name="T9" fmla="*/ 0 60000 65536"/>
              <a:gd name="T10" fmla="*/ 0 60000 65536"/>
              <a:gd name="T11" fmla="*/ 0 60000 65536"/>
              <a:gd name="T12" fmla="*/ 2766 w 21600"/>
              <a:gd name="T13" fmla="*/ 2766 h 21600"/>
              <a:gd name="T14" fmla="*/ 18834 w 21600"/>
              <a:gd name="T15" fmla="*/ 18834 h 21600"/>
            </a:gdLst>
            <a:ahLst/>
            <a:cxnLst>
              <a:cxn ang="T8">
                <a:pos x="T0" y="T1"/>
              </a:cxn>
              <a:cxn ang="T9">
                <a:pos x="T2" y="T3"/>
              </a:cxn>
              <a:cxn ang="T10">
                <a:pos x="T4" y="T5"/>
              </a:cxn>
              <a:cxn ang="T11">
                <a:pos x="T6" y="T7"/>
              </a:cxn>
            </a:cxnLst>
            <a:rect l="T12" t="T13" r="T14" b="T15"/>
            <a:pathLst>
              <a:path w="21600" h="21600">
                <a:moveTo>
                  <a:pt x="0" y="0"/>
                </a:moveTo>
                <a:lnTo>
                  <a:pt x="1932" y="21600"/>
                </a:lnTo>
                <a:lnTo>
                  <a:pt x="19668" y="21600"/>
                </a:lnTo>
                <a:lnTo>
                  <a:pt x="21600" y="0"/>
                </a:lnTo>
                <a:lnTo>
                  <a:pt x="0" y="0"/>
                </a:lnTo>
                <a:close/>
              </a:path>
            </a:pathLst>
          </a:custGeom>
          <a:solidFill>
            <a:schemeClr val="bg1"/>
          </a:solidFill>
          <a:ln w="12700">
            <a:solidFill>
              <a:schemeClr val="tx1"/>
            </a:solidFill>
            <a:miter lim="800000"/>
            <a:headEnd/>
            <a:tailEnd/>
          </a:ln>
        </p:spPr>
        <p:txBody>
          <a:bodyPr wrap="none" anchor="ctr"/>
          <a:lstStyle/>
          <a:p>
            <a:endParaRPr lang="en-US"/>
          </a:p>
        </p:txBody>
      </p:sp>
      <p:sp>
        <p:nvSpPr>
          <p:cNvPr id="68619" name="Line 11">
            <a:extLst>
              <a:ext uri="{FF2B5EF4-FFF2-40B4-BE49-F238E27FC236}">
                <a16:creationId xmlns:a16="http://schemas.microsoft.com/office/drawing/2014/main" id="{D6F335A7-F12E-774A-A8E7-A38D290EC509}"/>
              </a:ext>
            </a:extLst>
          </p:cNvPr>
          <p:cNvSpPr>
            <a:spLocks noChangeShapeType="1"/>
          </p:cNvSpPr>
          <p:nvPr/>
        </p:nvSpPr>
        <p:spPr bwMode="auto">
          <a:xfrm>
            <a:off x="3124200" y="4876800"/>
            <a:ext cx="1219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620" name="Line 12">
            <a:extLst>
              <a:ext uri="{FF2B5EF4-FFF2-40B4-BE49-F238E27FC236}">
                <a16:creationId xmlns:a16="http://schemas.microsoft.com/office/drawing/2014/main" id="{648F57AE-58FD-0842-91B6-9412863CF5B7}"/>
              </a:ext>
            </a:extLst>
          </p:cNvPr>
          <p:cNvSpPr>
            <a:spLocks noChangeShapeType="1"/>
          </p:cNvSpPr>
          <p:nvPr/>
        </p:nvSpPr>
        <p:spPr bwMode="auto">
          <a:xfrm flipV="1">
            <a:off x="4343400" y="4495800"/>
            <a:ext cx="0" cy="3810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8621" name="Rectangle 13">
            <a:extLst>
              <a:ext uri="{FF2B5EF4-FFF2-40B4-BE49-F238E27FC236}">
                <a16:creationId xmlns:a16="http://schemas.microsoft.com/office/drawing/2014/main" id="{8A7F4C33-EE8B-6F45-B6F7-158B2B4D5ADC}"/>
              </a:ext>
            </a:extLst>
          </p:cNvPr>
          <p:cNvSpPr>
            <a:spLocks noChangeArrowheads="1"/>
          </p:cNvSpPr>
          <p:nvPr/>
        </p:nvSpPr>
        <p:spPr bwMode="auto">
          <a:xfrm>
            <a:off x="517525" y="1546225"/>
            <a:ext cx="14081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i="1">
                <a:latin typeface="Arial" panose="020B0604020202020204" pitchFamily="34" charset="0"/>
              </a:rPr>
              <a:t>shift registers</a:t>
            </a:r>
          </a:p>
        </p:txBody>
      </p:sp>
      <p:sp>
        <p:nvSpPr>
          <p:cNvPr id="68622" name="Rectangle 14">
            <a:extLst>
              <a:ext uri="{FF2B5EF4-FFF2-40B4-BE49-F238E27FC236}">
                <a16:creationId xmlns:a16="http://schemas.microsoft.com/office/drawing/2014/main" id="{DEC6A7A7-961D-E143-8243-05D449AB39D4}"/>
              </a:ext>
            </a:extLst>
          </p:cNvPr>
          <p:cNvSpPr>
            <a:spLocks noChangeArrowheads="1"/>
          </p:cNvSpPr>
          <p:nvPr/>
        </p:nvSpPr>
        <p:spPr bwMode="auto">
          <a:xfrm>
            <a:off x="2422525" y="1393825"/>
            <a:ext cx="12922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a:latin typeface="Arial" panose="020B0604020202020204" pitchFamily="34" charset="0"/>
              </a:rPr>
              <a:t>history table</a:t>
            </a:r>
          </a:p>
        </p:txBody>
      </p:sp>
      <p:sp>
        <p:nvSpPr>
          <p:cNvPr id="68623" name="Rectangle 15">
            <a:extLst>
              <a:ext uri="{FF2B5EF4-FFF2-40B4-BE49-F238E27FC236}">
                <a16:creationId xmlns:a16="http://schemas.microsoft.com/office/drawing/2014/main" id="{965A38F2-2828-DE47-B7C7-FDD56EC6FCD5}"/>
              </a:ext>
            </a:extLst>
          </p:cNvPr>
          <p:cNvSpPr>
            <a:spLocks noChangeArrowheads="1"/>
          </p:cNvSpPr>
          <p:nvPr/>
        </p:nvSpPr>
        <p:spPr bwMode="auto">
          <a:xfrm>
            <a:off x="4654550" y="3130550"/>
            <a:ext cx="444500" cy="292100"/>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600">
                <a:latin typeface="Arial" panose="020B0604020202020204" pitchFamily="34" charset="0"/>
              </a:rPr>
              <a:t>01</a:t>
            </a:r>
          </a:p>
        </p:txBody>
      </p:sp>
      <p:sp>
        <p:nvSpPr>
          <p:cNvPr id="68624" name="Line 16">
            <a:extLst>
              <a:ext uri="{FF2B5EF4-FFF2-40B4-BE49-F238E27FC236}">
                <a16:creationId xmlns:a16="http://schemas.microsoft.com/office/drawing/2014/main" id="{5E2B8C9D-2B80-DE41-9FC2-3E476CCB5CFF}"/>
              </a:ext>
            </a:extLst>
          </p:cNvPr>
          <p:cNvSpPr>
            <a:spLocks noChangeShapeType="1"/>
          </p:cNvSpPr>
          <p:nvPr/>
        </p:nvSpPr>
        <p:spPr bwMode="auto">
          <a:xfrm>
            <a:off x="1828800" y="1752600"/>
            <a:ext cx="114300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625" name="Line 17">
            <a:extLst>
              <a:ext uri="{FF2B5EF4-FFF2-40B4-BE49-F238E27FC236}">
                <a16:creationId xmlns:a16="http://schemas.microsoft.com/office/drawing/2014/main" id="{BE3E8C6F-D5AB-074E-8947-8F2125E5B3CB}"/>
              </a:ext>
            </a:extLst>
          </p:cNvPr>
          <p:cNvSpPr>
            <a:spLocks noChangeShapeType="1"/>
          </p:cNvSpPr>
          <p:nvPr/>
        </p:nvSpPr>
        <p:spPr bwMode="auto">
          <a:xfrm flipV="1">
            <a:off x="4876800" y="2819400"/>
            <a:ext cx="457200" cy="3048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8626" name="Rectangle 18">
            <a:extLst>
              <a:ext uri="{FF2B5EF4-FFF2-40B4-BE49-F238E27FC236}">
                <a16:creationId xmlns:a16="http://schemas.microsoft.com/office/drawing/2014/main" id="{8C1E1FCD-A5CC-1047-B6E1-0189F6412B4E}"/>
              </a:ext>
            </a:extLst>
          </p:cNvPr>
          <p:cNvSpPr>
            <a:spLocks noChangeArrowheads="1"/>
          </p:cNvSpPr>
          <p:nvPr/>
        </p:nvSpPr>
        <p:spPr bwMode="auto">
          <a:xfrm>
            <a:off x="1660525" y="4975225"/>
            <a:ext cx="11445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600" i="1">
                <a:latin typeface="Arial" panose="020B0604020202020204" pitchFamily="34" charset="0"/>
              </a:rPr>
              <a:t>address of</a:t>
            </a:r>
          </a:p>
          <a:p>
            <a:pPr>
              <a:spcBef>
                <a:spcPct val="0"/>
              </a:spcBef>
              <a:buClrTx/>
              <a:buSzTx/>
              <a:buFontTx/>
              <a:buNone/>
            </a:pPr>
            <a:r>
              <a:rPr lang="en-US" altLang="en-US" sz="1600" i="1">
                <a:latin typeface="Arial" panose="020B0604020202020204" pitchFamily="34" charset="0"/>
              </a:rPr>
              <a:t>branch</a:t>
            </a:r>
          </a:p>
        </p:txBody>
      </p:sp>
      <p:sp>
        <p:nvSpPr>
          <p:cNvPr id="68627" name="Line 19">
            <a:extLst>
              <a:ext uri="{FF2B5EF4-FFF2-40B4-BE49-F238E27FC236}">
                <a16:creationId xmlns:a16="http://schemas.microsoft.com/office/drawing/2014/main" id="{78A6083F-E7B3-8B4C-8771-E5DCE460EA8D}"/>
              </a:ext>
            </a:extLst>
          </p:cNvPr>
          <p:cNvSpPr>
            <a:spLocks noChangeShapeType="1"/>
          </p:cNvSpPr>
          <p:nvPr/>
        </p:nvSpPr>
        <p:spPr bwMode="auto">
          <a:xfrm flipV="1">
            <a:off x="2286000" y="4495800"/>
            <a:ext cx="0" cy="3810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EFB74DCC-D4C8-1C46-9FBF-B4B956FE60A1}"/>
              </a:ext>
            </a:extLst>
          </p:cNvPr>
          <p:cNvSpPr>
            <a:spLocks noGrp="1" noChangeArrowheads="1"/>
          </p:cNvSpPr>
          <p:nvPr>
            <p:ph type="title"/>
          </p:nvPr>
        </p:nvSpPr>
        <p:spPr/>
        <p:txBody>
          <a:bodyPr/>
          <a:lstStyle/>
          <a:p>
            <a:pPr>
              <a:defRPr/>
            </a:pPr>
            <a:r>
              <a:rPr lang="en-US" altLang="en-US" sz="3200">
                <a:effectLst>
                  <a:outerShdw blurRad="38100" dist="38100" dir="2700000" algn="tl">
                    <a:srgbClr val="C0C0C0"/>
                  </a:outerShdw>
                </a:effectLst>
                <a:ea typeface="ＭＳ Ｐゴシック" charset="0"/>
              </a:rPr>
              <a:t>Yeh/Patt Example: toggle branch</a:t>
            </a:r>
          </a:p>
        </p:txBody>
      </p:sp>
      <p:sp>
        <p:nvSpPr>
          <p:cNvPr id="70659" name="Rectangle 3">
            <a:extLst>
              <a:ext uri="{FF2B5EF4-FFF2-40B4-BE49-F238E27FC236}">
                <a16:creationId xmlns:a16="http://schemas.microsoft.com/office/drawing/2014/main" id="{7CCAB303-22E0-264D-956D-24D0A6DA6491}"/>
              </a:ext>
            </a:extLst>
          </p:cNvPr>
          <p:cNvSpPr>
            <a:spLocks noChangeArrowheads="1"/>
          </p:cNvSpPr>
          <p:nvPr/>
        </p:nvSpPr>
        <p:spPr bwMode="auto">
          <a:xfrm>
            <a:off x="1279525" y="1165225"/>
            <a:ext cx="2800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 TNTNTNTNTNTNTNTNTNTN</a:t>
            </a:r>
          </a:p>
          <a:p>
            <a:pPr>
              <a:spcBef>
                <a:spcPct val="0"/>
              </a:spcBef>
              <a:buClrTx/>
              <a:buSzTx/>
              <a:buFontTx/>
              <a:buNone/>
            </a:pPr>
            <a:r>
              <a:rPr lang="en-US" altLang="en-US" sz="1400">
                <a:latin typeface="Arial" panose="020B0604020202020204" pitchFamily="34" charset="0"/>
              </a:rPr>
              <a:t>B: TTTTTTTTTTTTTTTTTTTTTT</a:t>
            </a:r>
          </a:p>
        </p:txBody>
      </p:sp>
      <p:grpSp>
        <p:nvGrpSpPr>
          <p:cNvPr id="70660" name="Group 4">
            <a:extLst>
              <a:ext uri="{FF2B5EF4-FFF2-40B4-BE49-F238E27FC236}">
                <a16:creationId xmlns:a16="http://schemas.microsoft.com/office/drawing/2014/main" id="{A9B1D3AD-5DAA-E24D-8CE6-0C2079B31655}"/>
              </a:ext>
            </a:extLst>
          </p:cNvPr>
          <p:cNvGrpSpPr>
            <a:grpSpLocks/>
          </p:cNvGrpSpPr>
          <p:nvPr/>
        </p:nvGrpSpPr>
        <p:grpSpPr bwMode="auto">
          <a:xfrm>
            <a:off x="136525" y="1851025"/>
            <a:ext cx="1644650" cy="1495425"/>
            <a:chOff x="86" y="1166"/>
            <a:chExt cx="1036" cy="942"/>
          </a:xfrm>
        </p:grpSpPr>
        <p:sp>
          <p:nvSpPr>
            <p:cNvPr id="70843" name="Rectangle 5">
              <a:extLst>
                <a:ext uri="{FF2B5EF4-FFF2-40B4-BE49-F238E27FC236}">
                  <a16:creationId xmlns:a16="http://schemas.microsoft.com/office/drawing/2014/main" id="{FDB43855-A896-F04F-AF2B-4673CD632AE7}"/>
                </a:ext>
              </a:extLst>
            </p:cNvPr>
            <p:cNvSpPr>
              <a:spLocks noChangeArrowheads="1"/>
            </p:cNvSpPr>
            <p:nvPr/>
          </p:nvSpPr>
          <p:spPr bwMode="auto">
            <a:xfrm>
              <a:off x="724" y="13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844" name="Rectangle 6">
              <a:extLst>
                <a:ext uri="{FF2B5EF4-FFF2-40B4-BE49-F238E27FC236}">
                  <a16:creationId xmlns:a16="http://schemas.microsoft.com/office/drawing/2014/main" id="{ED6457BD-E1CA-4D45-832B-5DED1509571A}"/>
                </a:ext>
              </a:extLst>
            </p:cNvPr>
            <p:cNvSpPr>
              <a:spLocks noChangeArrowheads="1"/>
            </p:cNvSpPr>
            <p:nvPr/>
          </p:nvSpPr>
          <p:spPr bwMode="auto">
            <a:xfrm>
              <a:off x="724" y="15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845" name="Rectangle 7">
              <a:extLst>
                <a:ext uri="{FF2B5EF4-FFF2-40B4-BE49-F238E27FC236}">
                  <a16:creationId xmlns:a16="http://schemas.microsoft.com/office/drawing/2014/main" id="{C770C5A0-5C32-B945-8B28-A0A0861C755D}"/>
                </a:ext>
              </a:extLst>
            </p:cNvPr>
            <p:cNvSpPr>
              <a:spLocks noChangeArrowheads="1"/>
            </p:cNvSpPr>
            <p:nvPr/>
          </p:nvSpPr>
          <p:spPr bwMode="auto">
            <a:xfrm>
              <a:off x="724" y="17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846" name="Rectangle 8">
              <a:extLst>
                <a:ext uri="{FF2B5EF4-FFF2-40B4-BE49-F238E27FC236}">
                  <a16:creationId xmlns:a16="http://schemas.microsoft.com/office/drawing/2014/main" id="{0628536B-6F09-4743-8CC3-67944739A2F7}"/>
                </a:ext>
              </a:extLst>
            </p:cNvPr>
            <p:cNvSpPr>
              <a:spLocks noChangeArrowheads="1"/>
            </p:cNvSpPr>
            <p:nvPr/>
          </p:nvSpPr>
          <p:spPr bwMode="auto">
            <a:xfrm>
              <a:off x="724" y="19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847" name="Rectangle 9">
              <a:extLst>
                <a:ext uri="{FF2B5EF4-FFF2-40B4-BE49-F238E27FC236}">
                  <a16:creationId xmlns:a16="http://schemas.microsoft.com/office/drawing/2014/main" id="{343B78A3-333C-7949-8395-07FD280ECB28}"/>
                </a:ext>
              </a:extLst>
            </p:cNvPr>
            <p:cNvSpPr>
              <a:spLocks noChangeArrowheads="1"/>
            </p:cNvSpPr>
            <p:nvPr/>
          </p:nvSpPr>
          <p:spPr bwMode="auto">
            <a:xfrm>
              <a:off x="710" y="1166"/>
              <a:ext cx="2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PT</a:t>
              </a:r>
            </a:p>
          </p:txBody>
        </p:sp>
        <p:sp>
          <p:nvSpPr>
            <p:cNvPr id="70848" name="Rectangle 10">
              <a:extLst>
                <a:ext uri="{FF2B5EF4-FFF2-40B4-BE49-F238E27FC236}">
                  <a16:creationId xmlns:a16="http://schemas.microsoft.com/office/drawing/2014/main" id="{CAE3274C-4DDC-F043-9D2A-4D9E7B232D4C}"/>
                </a:ext>
              </a:extLst>
            </p:cNvPr>
            <p:cNvSpPr>
              <a:spLocks noChangeArrowheads="1"/>
            </p:cNvSpPr>
            <p:nvPr/>
          </p:nvSpPr>
          <p:spPr bwMode="auto">
            <a:xfrm>
              <a:off x="340" y="13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849" name="Rectangle 11">
              <a:extLst>
                <a:ext uri="{FF2B5EF4-FFF2-40B4-BE49-F238E27FC236}">
                  <a16:creationId xmlns:a16="http://schemas.microsoft.com/office/drawing/2014/main" id="{D0AB1172-2E81-994C-8834-4DB3229324B1}"/>
                </a:ext>
              </a:extLst>
            </p:cNvPr>
            <p:cNvSpPr>
              <a:spLocks noChangeArrowheads="1"/>
            </p:cNvSpPr>
            <p:nvPr/>
          </p:nvSpPr>
          <p:spPr bwMode="auto">
            <a:xfrm>
              <a:off x="340" y="15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850" name="Rectangle 12">
              <a:extLst>
                <a:ext uri="{FF2B5EF4-FFF2-40B4-BE49-F238E27FC236}">
                  <a16:creationId xmlns:a16="http://schemas.microsoft.com/office/drawing/2014/main" id="{87D707A6-ECB0-2140-A9A0-56776FEE00B1}"/>
                </a:ext>
              </a:extLst>
            </p:cNvPr>
            <p:cNvSpPr>
              <a:spLocks noChangeArrowheads="1"/>
            </p:cNvSpPr>
            <p:nvPr/>
          </p:nvSpPr>
          <p:spPr bwMode="auto">
            <a:xfrm>
              <a:off x="340" y="17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851" name="Rectangle 13">
              <a:extLst>
                <a:ext uri="{FF2B5EF4-FFF2-40B4-BE49-F238E27FC236}">
                  <a16:creationId xmlns:a16="http://schemas.microsoft.com/office/drawing/2014/main" id="{0301D9C9-DFD5-BB47-B6C1-DBD4E5863A2E}"/>
                </a:ext>
              </a:extLst>
            </p:cNvPr>
            <p:cNvSpPr>
              <a:spLocks noChangeArrowheads="1"/>
            </p:cNvSpPr>
            <p:nvPr/>
          </p:nvSpPr>
          <p:spPr bwMode="auto">
            <a:xfrm>
              <a:off x="340" y="19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852" name="Rectangle 14">
              <a:extLst>
                <a:ext uri="{FF2B5EF4-FFF2-40B4-BE49-F238E27FC236}">
                  <a16:creationId xmlns:a16="http://schemas.microsoft.com/office/drawing/2014/main" id="{0283946A-32D8-064D-AAD1-83E7B896393C}"/>
                </a:ext>
              </a:extLst>
            </p:cNvPr>
            <p:cNvSpPr>
              <a:spLocks noChangeArrowheads="1"/>
            </p:cNvSpPr>
            <p:nvPr/>
          </p:nvSpPr>
          <p:spPr bwMode="auto">
            <a:xfrm>
              <a:off x="326" y="1166"/>
              <a:ext cx="26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HT</a:t>
              </a:r>
            </a:p>
          </p:txBody>
        </p:sp>
        <p:sp>
          <p:nvSpPr>
            <p:cNvPr id="70853" name="Rectangle 15">
              <a:extLst>
                <a:ext uri="{FF2B5EF4-FFF2-40B4-BE49-F238E27FC236}">
                  <a16:creationId xmlns:a16="http://schemas.microsoft.com/office/drawing/2014/main" id="{08E5E520-3BAF-4A44-94EF-E3C19EE07891}"/>
                </a:ext>
              </a:extLst>
            </p:cNvPr>
            <p:cNvSpPr>
              <a:spLocks noChangeArrowheads="1"/>
            </p:cNvSpPr>
            <p:nvPr/>
          </p:nvSpPr>
          <p:spPr bwMode="auto">
            <a:xfrm>
              <a:off x="950" y="1387"/>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00</a:t>
              </a:r>
            </a:p>
          </p:txBody>
        </p:sp>
        <p:sp>
          <p:nvSpPr>
            <p:cNvPr id="70854" name="Rectangle 16">
              <a:extLst>
                <a:ext uri="{FF2B5EF4-FFF2-40B4-BE49-F238E27FC236}">
                  <a16:creationId xmlns:a16="http://schemas.microsoft.com/office/drawing/2014/main" id="{495CA93A-2877-ED43-BE3A-F06E0EA1C2C6}"/>
                </a:ext>
              </a:extLst>
            </p:cNvPr>
            <p:cNvSpPr>
              <a:spLocks noChangeArrowheads="1"/>
            </p:cNvSpPr>
            <p:nvPr/>
          </p:nvSpPr>
          <p:spPr bwMode="auto">
            <a:xfrm>
              <a:off x="950" y="1579"/>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01</a:t>
              </a:r>
            </a:p>
          </p:txBody>
        </p:sp>
        <p:sp>
          <p:nvSpPr>
            <p:cNvPr id="70855" name="Rectangle 17">
              <a:extLst>
                <a:ext uri="{FF2B5EF4-FFF2-40B4-BE49-F238E27FC236}">
                  <a16:creationId xmlns:a16="http://schemas.microsoft.com/office/drawing/2014/main" id="{E1C290F4-A23C-594E-A23A-28797415C014}"/>
                </a:ext>
              </a:extLst>
            </p:cNvPr>
            <p:cNvSpPr>
              <a:spLocks noChangeArrowheads="1"/>
            </p:cNvSpPr>
            <p:nvPr/>
          </p:nvSpPr>
          <p:spPr bwMode="auto">
            <a:xfrm>
              <a:off x="950" y="1771"/>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10</a:t>
              </a:r>
            </a:p>
          </p:txBody>
        </p:sp>
        <p:sp>
          <p:nvSpPr>
            <p:cNvPr id="70856" name="Rectangle 18">
              <a:extLst>
                <a:ext uri="{FF2B5EF4-FFF2-40B4-BE49-F238E27FC236}">
                  <a16:creationId xmlns:a16="http://schemas.microsoft.com/office/drawing/2014/main" id="{2441C9E3-C2D2-2E48-BEB7-554934BEF4E4}"/>
                </a:ext>
              </a:extLst>
            </p:cNvPr>
            <p:cNvSpPr>
              <a:spLocks noChangeArrowheads="1"/>
            </p:cNvSpPr>
            <p:nvPr/>
          </p:nvSpPr>
          <p:spPr bwMode="auto">
            <a:xfrm>
              <a:off x="950" y="1963"/>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11</a:t>
              </a:r>
            </a:p>
          </p:txBody>
        </p:sp>
        <p:sp>
          <p:nvSpPr>
            <p:cNvPr id="70857" name="Rectangle 19">
              <a:extLst>
                <a:ext uri="{FF2B5EF4-FFF2-40B4-BE49-F238E27FC236}">
                  <a16:creationId xmlns:a16="http://schemas.microsoft.com/office/drawing/2014/main" id="{BEE13B8A-B06C-1644-BB18-D347BE6322C1}"/>
                </a:ext>
              </a:extLst>
            </p:cNvPr>
            <p:cNvSpPr>
              <a:spLocks noChangeArrowheads="1"/>
            </p:cNvSpPr>
            <p:nvPr/>
          </p:nvSpPr>
          <p:spPr bwMode="auto">
            <a:xfrm>
              <a:off x="86" y="1358"/>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a:t>
              </a:r>
            </a:p>
          </p:txBody>
        </p:sp>
        <p:sp>
          <p:nvSpPr>
            <p:cNvPr id="70858" name="Rectangle 20">
              <a:extLst>
                <a:ext uri="{FF2B5EF4-FFF2-40B4-BE49-F238E27FC236}">
                  <a16:creationId xmlns:a16="http://schemas.microsoft.com/office/drawing/2014/main" id="{B9EEF12E-ED64-0348-BF2E-03368BEF207A}"/>
                </a:ext>
              </a:extLst>
            </p:cNvPr>
            <p:cNvSpPr>
              <a:spLocks noChangeArrowheads="1"/>
            </p:cNvSpPr>
            <p:nvPr/>
          </p:nvSpPr>
          <p:spPr bwMode="auto">
            <a:xfrm>
              <a:off x="86" y="1550"/>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a:t>
              </a:r>
            </a:p>
          </p:txBody>
        </p:sp>
      </p:grpSp>
      <p:sp>
        <p:nvSpPr>
          <p:cNvPr id="70661" name="Rectangle 21">
            <a:extLst>
              <a:ext uri="{FF2B5EF4-FFF2-40B4-BE49-F238E27FC236}">
                <a16:creationId xmlns:a16="http://schemas.microsoft.com/office/drawing/2014/main" id="{977D69F7-E232-2B41-8F75-8E3B815886EC}"/>
              </a:ext>
            </a:extLst>
          </p:cNvPr>
          <p:cNvSpPr>
            <a:spLocks noChangeArrowheads="1"/>
          </p:cNvSpPr>
          <p:nvPr/>
        </p:nvSpPr>
        <p:spPr bwMode="auto">
          <a:xfrm>
            <a:off x="1203325" y="3451225"/>
            <a:ext cx="11271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 T, pred N</a:t>
            </a:r>
          </a:p>
        </p:txBody>
      </p:sp>
      <p:grpSp>
        <p:nvGrpSpPr>
          <p:cNvPr id="70662" name="Group 22">
            <a:extLst>
              <a:ext uri="{FF2B5EF4-FFF2-40B4-BE49-F238E27FC236}">
                <a16:creationId xmlns:a16="http://schemas.microsoft.com/office/drawing/2014/main" id="{952476FA-9ED9-AC41-94FD-5985C5A417C5}"/>
              </a:ext>
            </a:extLst>
          </p:cNvPr>
          <p:cNvGrpSpPr>
            <a:grpSpLocks/>
          </p:cNvGrpSpPr>
          <p:nvPr/>
        </p:nvGrpSpPr>
        <p:grpSpPr bwMode="auto">
          <a:xfrm>
            <a:off x="1812925" y="1851025"/>
            <a:ext cx="1644650" cy="1495425"/>
            <a:chOff x="1142" y="1166"/>
            <a:chExt cx="1036" cy="942"/>
          </a:xfrm>
        </p:grpSpPr>
        <p:sp>
          <p:nvSpPr>
            <p:cNvPr id="70827" name="Rectangle 23">
              <a:extLst>
                <a:ext uri="{FF2B5EF4-FFF2-40B4-BE49-F238E27FC236}">
                  <a16:creationId xmlns:a16="http://schemas.microsoft.com/office/drawing/2014/main" id="{9F7E475B-EBF8-9442-B3A3-B16FCDA629A4}"/>
                </a:ext>
              </a:extLst>
            </p:cNvPr>
            <p:cNvSpPr>
              <a:spLocks noChangeArrowheads="1"/>
            </p:cNvSpPr>
            <p:nvPr/>
          </p:nvSpPr>
          <p:spPr bwMode="auto">
            <a:xfrm>
              <a:off x="1780" y="13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10</a:t>
              </a:r>
            </a:p>
          </p:txBody>
        </p:sp>
        <p:sp>
          <p:nvSpPr>
            <p:cNvPr id="70828" name="Rectangle 24">
              <a:extLst>
                <a:ext uri="{FF2B5EF4-FFF2-40B4-BE49-F238E27FC236}">
                  <a16:creationId xmlns:a16="http://schemas.microsoft.com/office/drawing/2014/main" id="{E37F8B88-BC5E-8549-90C6-46106857318D}"/>
                </a:ext>
              </a:extLst>
            </p:cNvPr>
            <p:cNvSpPr>
              <a:spLocks noChangeArrowheads="1"/>
            </p:cNvSpPr>
            <p:nvPr/>
          </p:nvSpPr>
          <p:spPr bwMode="auto">
            <a:xfrm>
              <a:off x="1780" y="15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829" name="Rectangle 25">
              <a:extLst>
                <a:ext uri="{FF2B5EF4-FFF2-40B4-BE49-F238E27FC236}">
                  <a16:creationId xmlns:a16="http://schemas.microsoft.com/office/drawing/2014/main" id="{57613F39-8FD9-C341-A7D1-C7771CA00EB8}"/>
                </a:ext>
              </a:extLst>
            </p:cNvPr>
            <p:cNvSpPr>
              <a:spLocks noChangeArrowheads="1"/>
            </p:cNvSpPr>
            <p:nvPr/>
          </p:nvSpPr>
          <p:spPr bwMode="auto">
            <a:xfrm>
              <a:off x="1780" y="17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830" name="Rectangle 26">
              <a:extLst>
                <a:ext uri="{FF2B5EF4-FFF2-40B4-BE49-F238E27FC236}">
                  <a16:creationId xmlns:a16="http://schemas.microsoft.com/office/drawing/2014/main" id="{E1012A5D-F2AA-364D-B2E6-D2B5F2DDA92E}"/>
                </a:ext>
              </a:extLst>
            </p:cNvPr>
            <p:cNvSpPr>
              <a:spLocks noChangeArrowheads="1"/>
            </p:cNvSpPr>
            <p:nvPr/>
          </p:nvSpPr>
          <p:spPr bwMode="auto">
            <a:xfrm>
              <a:off x="1780" y="19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831" name="Rectangle 27">
              <a:extLst>
                <a:ext uri="{FF2B5EF4-FFF2-40B4-BE49-F238E27FC236}">
                  <a16:creationId xmlns:a16="http://schemas.microsoft.com/office/drawing/2014/main" id="{53FDC803-7B35-1A45-903E-B4A5E484BB39}"/>
                </a:ext>
              </a:extLst>
            </p:cNvPr>
            <p:cNvSpPr>
              <a:spLocks noChangeArrowheads="1"/>
            </p:cNvSpPr>
            <p:nvPr/>
          </p:nvSpPr>
          <p:spPr bwMode="auto">
            <a:xfrm>
              <a:off x="1766" y="1166"/>
              <a:ext cx="2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PT</a:t>
              </a:r>
            </a:p>
          </p:txBody>
        </p:sp>
        <p:sp>
          <p:nvSpPr>
            <p:cNvPr id="70832" name="Rectangle 28">
              <a:extLst>
                <a:ext uri="{FF2B5EF4-FFF2-40B4-BE49-F238E27FC236}">
                  <a16:creationId xmlns:a16="http://schemas.microsoft.com/office/drawing/2014/main" id="{A41F86A3-146C-634C-83FF-08F51E86A101}"/>
                </a:ext>
              </a:extLst>
            </p:cNvPr>
            <p:cNvSpPr>
              <a:spLocks noChangeArrowheads="1"/>
            </p:cNvSpPr>
            <p:nvPr/>
          </p:nvSpPr>
          <p:spPr bwMode="auto">
            <a:xfrm>
              <a:off x="1396" y="13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01</a:t>
              </a:r>
            </a:p>
          </p:txBody>
        </p:sp>
        <p:sp>
          <p:nvSpPr>
            <p:cNvPr id="70833" name="Rectangle 29">
              <a:extLst>
                <a:ext uri="{FF2B5EF4-FFF2-40B4-BE49-F238E27FC236}">
                  <a16:creationId xmlns:a16="http://schemas.microsoft.com/office/drawing/2014/main" id="{A23FB0F8-5A84-3641-A29B-12A7C59EB9BF}"/>
                </a:ext>
              </a:extLst>
            </p:cNvPr>
            <p:cNvSpPr>
              <a:spLocks noChangeArrowheads="1"/>
            </p:cNvSpPr>
            <p:nvPr/>
          </p:nvSpPr>
          <p:spPr bwMode="auto">
            <a:xfrm>
              <a:off x="1396" y="15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834" name="Rectangle 30">
              <a:extLst>
                <a:ext uri="{FF2B5EF4-FFF2-40B4-BE49-F238E27FC236}">
                  <a16:creationId xmlns:a16="http://schemas.microsoft.com/office/drawing/2014/main" id="{914DB944-0BCE-EA45-B95A-A9ED091AB8E0}"/>
                </a:ext>
              </a:extLst>
            </p:cNvPr>
            <p:cNvSpPr>
              <a:spLocks noChangeArrowheads="1"/>
            </p:cNvSpPr>
            <p:nvPr/>
          </p:nvSpPr>
          <p:spPr bwMode="auto">
            <a:xfrm>
              <a:off x="1396" y="17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835" name="Rectangle 31">
              <a:extLst>
                <a:ext uri="{FF2B5EF4-FFF2-40B4-BE49-F238E27FC236}">
                  <a16:creationId xmlns:a16="http://schemas.microsoft.com/office/drawing/2014/main" id="{E6509DB4-3A65-434C-BD9E-9AE1CEA6EAD2}"/>
                </a:ext>
              </a:extLst>
            </p:cNvPr>
            <p:cNvSpPr>
              <a:spLocks noChangeArrowheads="1"/>
            </p:cNvSpPr>
            <p:nvPr/>
          </p:nvSpPr>
          <p:spPr bwMode="auto">
            <a:xfrm>
              <a:off x="1396" y="19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836" name="Rectangle 32">
              <a:extLst>
                <a:ext uri="{FF2B5EF4-FFF2-40B4-BE49-F238E27FC236}">
                  <a16:creationId xmlns:a16="http://schemas.microsoft.com/office/drawing/2014/main" id="{D6D3ADE9-364F-CD44-9EFD-A963AE5B9ED6}"/>
                </a:ext>
              </a:extLst>
            </p:cNvPr>
            <p:cNvSpPr>
              <a:spLocks noChangeArrowheads="1"/>
            </p:cNvSpPr>
            <p:nvPr/>
          </p:nvSpPr>
          <p:spPr bwMode="auto">
            <a:xfrm>
              <a:off x="1382" y="1166"/>
              <a:ext cx="26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HT</a:t>
              </a:r>
            </a:p>
          </p:txBody>
        </p:sp>
        <p:sp>
          <p:nvSpPr>
            <p:cNvPr id="70837" name="Rectangle 33">
              <a:extLst>
                <a:ext uri="{FF2B5EF4-FFF2-40B4-BE49-F238E27FC236}">
                  <a16:creationId xmlns:a16="http://schemas.microsoft.com/office/drawing/2014/main" id="{08088ACA-2483-7443-9467-AF329C40D512}"/>
                </a:ext>
              </a:extLst>
            </p:cNvPr>
            <p:cNvSpPr>
              <a:spLocks noChangeArrowheads="1"/>
            </p:cNvSpPr>
            <p:nvPr/>
          </p:nvSpPr>
          <p:spPr bwMode="auto">
            <a:xfrm>
              <a:off x="2006" y="1387"/>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00</a:t>
              </a:r>
            </a:p>
          </p:txBody>
        </p:sp>
        <p:sp>
          <p:nvSpPr>
            <p:cNvPr id="70838" name="Rectangle 34">
              <a:extLst>
                <a:ext uri="{FF2B5EF4-FFF2-40B4-BE49-F238E27FC236}">
                  <a16:creationId xmlns:a16="http://schemas.microsoft.com/office/drawing/2014/main" id="{B92B075F-A4D5-794D-80BC-1F332F3B22C2}"/>
                </a:ext>
              </a:extLst>
            </p:cNvPr>
            <p:cNvSpPr>
              <a:spLocks noChangeArrowheads="1"/>
            </p:cNvSpPr>
            <p:nvPr/>
          </p:nvSpPr>
          <p:spPr bwMode="auto">
            <a:xfrm>
              <a:off x="2006" y="1579"/>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01</a:t>
              </a:r>
            </a:p>
          </p:txBody>
        </p:sp>
        <p:sp>
          <p:nvSpPr>
            <p:cNvPr id="70839" name="Rectangle 35">
              <a:extLst>
                <a:ext uri="{FF2B5EF4-FFF2-40B4-BE49-F238E27FC236}">
                  <a16:creationId xmlns:a16="http://schemas.microsoft.com/office/drawing/2014/main" id="{49AA91AE-60A8-7B40-8D49-E48428C4B267}"/>
                </a:ext>
              </a:extLst>
            </p:cNvPr>
            <p:cNvSpPr>
              <a:spLocks noChangeArrowheads="1"/>
            </p:cNvSpPr>
            <p:nvPr/>
          </p:nvSpPr>
          <p:spPr bwMode="auto">
            <a:xfrm>
              <a:off x="2006" y="1771"/>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10</a:t>
              </a:r>
            </a:p>
          </p:txBody>
        </p:sp>
        <p:sp>
          <p:nvSpPr>
            <p:cNvPr id="70840" name="Rectangle 36">
              <a:extLst>
                <a:ext uri="{FF2B5EF4-FFF2-40B4-BE49-F238E27FC236}">
                  <a16:creationId xmlns:a16="http://schemas.microsoft.com/office/drawing/2014/main" id="{E0869A15-5F89-914B-9BC7-C6E9AD109668}"/>
                </a:ext>
              </a:extLst>
            </p:cNvPr>
            <p:cNvSpPr>
              <a:spLocks noChangeArrowheads="1"/>
            </p:cNvSpPr>
            <p:nvPr/>
          </p:nvSpPr>
          <p:spPr bwMode="auto">
            <a:xfrm>
              <a:off x="2006" y="1963"/>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11</a:t>
              </a:r>
            </a:p>
          </p:txBody>
        </p:sp>
        <p:sp>
          <p:nvSpPr>
            <p:cNvPr id="70841" name="Rectangle 37">
              <a:extLst>
                <a:ext uri="{FF2B5EF4-FFF2-40B4-BE49-F238E27FC236}">
                  <a16:creationId xmlns:a16="http://schemas.microsoft.com/office/drawing/2014/main" id="{FDFC6E45-F85A-ED43-B532-0A7E153CD820}"/>
                </a:ext>
              </a:extLst>
            </p:cNvPr>
            <p:cNvSpPr>
              <a:spLocks noChangeArrowheads="1"/>
            </p:cNvSpPr>
            <p:nvPr/>
          </p:nvSpPr>
          <p:spPr bwMode="auto">
            <a:xfrm>
              <a:off x="1142" y="1358"/>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a:t>
              </a:r>
            </a:p>
          </p:txBody>
        </p:sp>
        <p:sp>
          <p:nvSpPr>
            <p:cNvPr id="70842" name="Rectangle 38">
              <a:extLst>
                <a:ext uri="{FF2B5EF4-FFF2-40B4-BE49-F238E27FC236}">
                  <a16:creationId xmlns:a16="http://schemas.microsoft.com/office/drawing/2014/main" id="{B8AC2C85-F1F0-A54E-A3CA-8A2D8FBD71AD}"/>
                </a:ext>
              </a:extLst>
            </p:cNvPr>
            <p:cNvSpPr>
              <a:spLocks noChangeArrowheads="1"/>
            </p:cNvSpPr>
            <p:nvPr/>
          </p:nvSpPr>
          <p:spPr bwMode="auto">
            <a:xfrm>
              <a:off x="1142" y="1550"/>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a:t>
              </a:r>
            </a:p>
          </p:txBody>
        </p:sp>
      </p:grpSp>
      <p:sp>
        <p:nvSpPr>
          <p:cNvPr id="70663" name="Line 39">
            <a:extLst>
              <a:ext uri="{FF2B5EF4-FFF2-40B4-BE49-F238E27FC236}">
                <a16:creationId xmlns:a16="http://schemas.microsoft.com/office/drawing/2014/main" id="{5EEFA56A-DBCA-2E46-ABCA-505121807782}"/>
              </a:ext>
            </a:extLst>
          </p:cNvPr>
          <p:cNvSpPr>
            <a:spLocks noChangeShapeType="1"/>
          </p:cNvSpPr>
          <p:nvPr/>
        </p:nvSpPr>
        <p:spPr bwMode="auto">
          <a:xfrm>
            <a:off x="1447800" y="2286000"/>
            <a:ext cx="685800" cy="12192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70664" name="Group 40">
            <a:extLst>
              <a:ext uri="{FF2B5EF4-FFF2-40B4-BE49-F238E27FC236}">
                <a16:creationId xmlns:a16="http://schemas.microsoft.com/office/drawing/2014/main" id="{44940A0D-1665-D847-AE36-F4E6041F06AC}"/>
              </a:ext>
            </a:extLst>
          </p:cNvPr>
          <p:cNvGrpSpPr>
            <a:grpSpLocks/>
          </p:cNvGrpSpPr>
          <p:nvPr/>
        </p:nvGrpSpPr>
        <p:grpSpPr bwMode="auto">
          <a:xfrm>
            <a:off x="3413125" y="1851025"/>
            <a:ext cx="1644650" cy="1495425"/>
            <a:chOff x="2150" y="1166"/>
            <a:chExt cx="1036" cy="942"/>
          </a:xfrm>
        </p:grpSpPr>
        <p:sp>
          <p:nvSpPr>
            <p:cNvPr id="70811" name="Rectangle 41">
              <a:extLst>
                <a:ext uri="{FF2B5EF4-FFF2-40B4-BE49-F238E27FC236}">
                  <a16:creationId xmlns:a16="http://schemas.microsoft.com/office/drawing/2014/main" id="{FF57C71A-33B3-1940-80A1-1EDC150680B9}"/>
                </a:ext>
              </a:extLst>
            </p:cNvPr>
            <p:cNvSpPr>
              <a:spLocks noChangeArrowheads="1"/>
            </p:cNvSpPr>
            <p:nvPr/>
          </p:nvSpPr>
          <p:spPr bwMode="auto">
            <a:xfrm>
              <a:off x="2788" y="13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11</a:t>
              </a:r>
            </a:p>
          </p:txBody>
        </p:sp>
        <p:sp>
          <p:nvSpPr>
            <p:cNvPr id="70812" name="Rectangle 42">
              <a:extLst>
                <a:ext uri="{FF2B5EF4-FFF2-40B4-BE49-F238E27FC236}">
                  <a16:creationId xmlns:a16="http://schemas.microsoft.com/office/drawing/2014/main" id="{C47711B2-3705-D04C-8521-8DEABDF340B3}"/>
                </a:ext>
              </a:extLst>
            </p:cNvPr>
            <p:cNvSpPr>
              <a:spLocks noChangeArrowheads="1"/>
            </p:cNvSpPr>
            <p:nvPr/>
          </p:nvSpPr>
          <p:spPr bwMode="auto">
            <a:xfrm>
              <a:off x="2788" y="15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813" name="Rectangle 43">
              <a:extLst>
                <a:ext uri="{FF2B5EF4-FFF2-40B4-BE49-F238E27FC236}">
                  <a16:creationId xmlns:a16="http://schemas.microsoft.com/office/drawing/2014/main" id="{1FFAB773-8C73-7844-AD63-8E5E3AB3F570}"/>
                </a:ext>
              </a:extLst>
            </p:cNvPr>
            <p:cNvSpPr>
              <a:spLocks noChangeArrowheads="1"/>
            </p:cNvSpPr>
            <p:nvPr/>
          </p:nvSpPr>
          <p:spPr bwMode="auto">
            <a:xfrm>
              <a:off x="2788" y="17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814" name="Rectangle 44">
              <a:extLst>
                <a:ext uri="{FF2B5EF4-FFF2-40B4-BE49-F238E27FC236}">
                  <a16:creationId xmlns:a16="http://schemas.microsoft.com/office/drawing/2014/main" id="{E465AE35-9518-8D47-AC0A-BCF232284557}"/>
                </a:ext>
              </a:extLst>
            </p:cNvPr>
            <p:cNvSpPr>
              <a:spLocks noChangeArrowheads="1"/>
            </p:cNvSpPr>
            <p:nvPr/>
          </p:nvSpPr>
          <p:spPr bwMode="auto">
            <a:xfrm>
              <a:off x="2788" y="19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815" name="Rectangle 45">
              <a:extLst>
                <a:ext uri="{FF2B5EF4-FFF2-40B4-BE49-F238E27FC236}">
                  <a16:creationId xmlns:a16="http://schemas.microsoft.com/office/drawing/2014/main" id="{E9FF7ACB-4045-6745-8F1A-4E8CE96178AE}"/>
                </a:ext>
              </a:extLst>
            </p:cNvPr>
            <p:cNvSpPr>
              <a:spLocks noChangeArrowheads="1"/>
            </p:cNvSpPr>
            <p:nvPr/>
          </p:nvSpPr>
          <p:spPr bwMode="auto">
            <a:xfrm>
              <a:off x="2774" y="1166"/>
              <a:ext cx="2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PT</a:t>
              </a:r>
            </a:p>
          </p:txBody>
        </p:sp>
        <p:sp>
          <p:nvSpPr>
            <p:cNvPr id="70816" name="Rectangle 46">
              <a:extLst>
                <a:ext uri="{FF2B5EF4-FFF2-40B4-BE49-F238E27FC236}">
                  <a16:creationId xmlns:a16="http://schemas.microsoft.com/office/drawing/2014/main" id="{D551FF30-94EB-D246-873F-9BD589C6CAB8}"/>
                </a:ext>
              </a:extLst>
            </p:cNvPr>
            <p:cNvSpPr>
              <a:spLocks noChangeArrowheads="1"/>
            </p:cNvSpPr>
            <p:nvPr/>
          </p:nvSpPr>
          <p:spPr bwMode="auto">
            <a:xfrm>
              <a:off x="2404" y="13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817" name="Rectangle 47">
              <a:extLst>
                <a:ext uri="{FF2B5EF4-FFF2-40B4-BE49-F238E27FC236}">
                  <a16:creationId xmlns:a16="http://schemas.microsoft.com/office/drawing/2014/main" id="{D5E0E744-9F4E-1645-8C2D-E27325A9D987}"/>
                </a:ext>
              </a:extLst>
            </p:cNvPr>
            <p:cNvSpPr>
              <a:spLocks noChangeArrowheads="1"/>
            </p:cNvSpPr>
            <p:nvPr/>
          </p:nvSpPr>
          <p:spPr bwMode="auto">
            <a:xfrm>
              <a:off x="2404" y="15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01</a:t>
              </a:r>
            </a:p>
          </p:txBody>
        </p:sp>
        <p:sp>
          <p:nvSpPr>
            <p:cNvPr id="70818" name="Rectangle 48">
              <a:extLst>
                <a:ext uri="{FF2B5EF4-FFF2-40B4-BE49-F238E27FC236}">
                  <a16:creationId xmlns:a16="http://schemas.microsoft.com/office/drawing/2014/main" id="{37711300-92B2-C847-96A6-63F3C1099F6C}"/>
                </a:ext>
              </a:extLst>
            </p:cNvPr>
            <p:cNvSpPr>
              <a:spLocks noChangeArrowheads="1"/>
            </p:cNvSpPr>
            <p:nvPr/>
          </p:nvSpPr>
          <p:spPr bwMode="auto">
            <a:xfrm>
              <a:off x="2404" y="17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819" name="Rectangle 49">
              <a:extLst>
                <a:ext uri="{FF2B5EF4-FFF2-40B4-BE49-F238E27FC236}">
                  <a16:creationId xmlns:a16="http://schemas.microsoft.com/office/drawing/2014/main" id="{8F4DBCC4-D5C8-EE4E-A6B3-B98915ABC7A5}"/>
                </a:ext>
              </a:extLst>
            </p:cNvPr>
            <p:cNvSpPr>
              <a:spLocks noChangeArrowheads="1"/>
            </p:cNvSpPr>
            <p:nvPr/>
          </p:nvSpPr>
          <p:spPr bwMode="auto">
            <a:xfrm>
              <a:off x="2404" y="19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820" name="Rectangle 50">
              <a:extLst>
                <a:ext uri="{FF2B5EF4-FFF2-40B4-BE49-F238E27FC236}">
                  <a16:creationId xmlns:a16="http://schemas.microsoft.com/office/drawing/2014/main" id="{7EF420B5-7508-224A-96FB-6EECA2165A0C}"/>
                </a:ext>
              </a:extLst>
            </p:cNvPr>
            <p:cNvSpPr>
              <a:spLocks noChangeArrowheads="1"/>
            </p:cNvSpPr>
            <p:nvPr/>
          </p:nvSpPr>
          <p:spPr bwMode="auto">
            <a:xfrm>
              <a:off x="2390" y="1166"/>
              <a:ext cx="26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HT</a:t>
              </a:r>
            </a:p>
          </p:txBody>
        </p:sp>
        <p:sp>
          <p:nvSpPr>
            <p:cNvPr id="70821" name="Rectangle 51">
              <a:extLst>
                <a:ext uri="{FF2B5EF4-FFF2-40B4-BE49-F238E27FC236}">
                  <a16:creationId xmlns:a16="http://schemas.microsoft.com/office/drawing/2014/main" id="{EECC33EE-06CF-4C46-9FD5-B9C2679E53C6}"/>
                </a:ext>
              </a:extLst>
            </p:cNvPr>
            <p:cNvSpPr>
              <a:spLocks noChangeArrowheads="1"/>
            </p:cNvSpPr>
            <p:nvPr/>
          </p:nvSpPr>
          <p:spPr bwMode="auto">
            <a:xfrm>
              <a:off x="3014" y="1387"/>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00</a:t>
              </a:r>
            </a:p>
          </p:txBody>
        </p:sp>
        <p:sp>
          <p:nvSpPr>
            <p:cNvPr id="70822" name="Rectangle 52">
              <a:extLst>
                <a:ext uri="{FF2B5EF4-FFF2-40B4-BE49-F238E27FC236}">
                  <a16:creationId xmlns:a16="http://schemas.microsoft.com/office/drawing/2014/main" id="{17578294-C24E-1B47-940E-9A8BF110C0D2}"/>
                </a:ext>
              </a:extLst>
            </p:cNvPr>
            <p:cNvSpPr>
              <a:spLocks noChangeArrowheads="1"/>
            </p:cNvSpPr>
            <p:nvPr/>
          </p:nvSpPr>
          <p:spPr bwMode="auto">
            <a:xfrm>
              <a:off x="3014" y="1579"/>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01</a:t>
              </a:r>
            </a:p>
          </p:txBody>
        </p:sp>
        <p:sp>
          <p:nvSpPr>
            <p:cNvPr id="70823" name="Rectangle 53">
              <a:extLst>
                <a:ext uri="{FF2B5EF4-FFF2-40B4-BE49-F238E27FC236}">
                  <a16:creationId xmlns:a16="http://schemas.microsoft.com/office/drawing/2014/main" id="{CCDCF343-93B6-9C40-9A75-B054A929D3D2}"/>
                </a:ext>
              </a:extLst>
            </p:cNvPr>
            <p:cNvSpPr>
              <a:spLocks noChangeArrowheads="1"/>
            </p:cNvSpPr>
            <p:nvPr/>
          </p:nvSpPr>
          <p:spPr bwMode="auto">
            <a:xfrm>
              <a:off x="3014" y="1771"/>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10</a:t>
              </a:r>
            </a:p>
          </p:txBody>
        </p:sp>
        <p:sp>
          <p:nvSpPr>
            <p:cNvPr id="70824" name="Rectangle 54">
              <a:extLst>
                <a:ext uri="{FF2B5EF4-FFF2-40B4-BE49-F238E27FC236}">
                  <a16:creationId xmlns:a16="http://schemas.microsoft.com/office/drawing/2014/main" id="{256453F1-F76A-1645-82EA-87E5826F7541}"/>
                </a:ext>
              </a:extLst>
            </p:cNvPr>
            <p:cNvSpPr>
              <a:spLocks noChangeArrowheads="1"/>
            </p:cNvSpPr>
            <p:nvPr/>
          </p:nvSpPr>
          <p:spPr bwMode="auto">
            <a:xfrm>
              <a:off x="3014" y="1963"/>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11</a:t>
              </a:r>
            </a:p>
          </p:txBody>
        </p:sp>
        <p:sp>
          <p:nvSpPr>
            <p:cNvPr id="70825" name="Rectangle 55">
              <a:extLst>
                <a:ext uri="{FF2B5EF4-FFF2-40B4-BE49-F238E27FC236}">
                  <a16:creationId xmlns:a16="http://schemas.microsoft.com/office/drawing/2014/main" id="{CC65AACE-CA55-AD4E-84EA-140CB7DCFB99}"/>
                </a:ext>
              </a:extLst>
            </p:cNvPr>
            <p:cNvSpPr>
              <a:spLocks noChangeArrowheads="1"/>
            </p:cNvSpPr>
            <p:nvPr/>
          </p:nvSpPr>
          <p:spPr bwMode="auto">
            <a:xfrm>
              <a:off x="2150" y="1358"/>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a:t>
              </a:r>
            </a:p>
          </p:txBody>
        </p:sp>
        <p:sp>
          <p:nvSpPr>
            <p:cNvPr id="70826" name="Rectangle 56">
              <a:extLst>
                <a:ext uri="{FF2B5EF4-FFF2-40B4-BE49-F238E27FC236}">
                  <a16:creationId xmlns:a16="http://schemas.microsoft.com/office/drawing/2014/main" id="{530E09FC-9635-334D-B470-F0365A07B9EE}"/>
                </a:ext>
              </a:extLst>
            </p:cNvPr>
            <p:cNvSpPr>
              <a:spLocks noChangeArrowheads="1"/>
            </p:cNvSpPr>
            <p:nvPr/>
          </p:nvSpPr>
          <p:spPr bwMode="auto">
            <a:xfrm>
              <a:off x="2150" y="1550"/>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a:t>
              </a:r>
            </a:p>
          </p:txBody>
        </p:sp>
      </p:grpSp>
      <p:sp>
        <p:nvSpPr>
          <p:cNvPr id="70665" name="Rectangle 57">
            <a:extLst>
              <a:ext uri="{FF2B5EF4-FFF2-40B4-BE49-F238E27FC236}">
                <a16:creationId xmlns:a16="http://schemas.microsoft.com/office/drawing/2014/main" id="{DCEB0B20-02F1-6B49-88FC-E5535E1D5EBE}"/>
              </a:ext>
            </a:extLst>
          </p:cNvPr>
          <p:cNvSpPr>
            <a:spLocks noChangeArrowheads="1"/>
          </p:cNvSpPr>
          <p:nvPr/>
        </p:nvSpPr>
        <p:spPr bwMode="auto">
          <a:xfrm>
            <a:off x="3032125" y="3451225"/>
            <a:ext cx="1103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 T, pred T</a:t>
            </a:r>
          </a:p>
        </p:txBody>
      </p:sp>
      <p:sp>
        <p:nvSpPr>
          <p:cNvPr id="70666" name="Line 58">
            <a:extLst>
              <a:ext uri="{FF2B5EF4-FFF2-40B4-BE49-F238E27FC236}">
                <a16:creationId xmlns:a16="http://schemas.microsoft.com/office/drawing/2014/main" id="{256AB522-6083-4949-8643-EE63143E8919}"/>
              </a:ext>
            </a:extLst>
          </p:cNvPr>
          <p:cNvSpPr>
            <a:spLocks noChangeShapeType="1"/>
          </p:cNvSpPr>
          <p:nvPr/>
        </p:nvSpPr>
        <p:spPr bwMode="auto">
          <a:xfrm>
            <a:off x="3124200" y="2362200"/>
            <a:ext cx="838200" cy="11430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70667" name="Group 59">
            <a:extLst>
              <a:ext uri="{FF2B5EF4-FFF2-40B4-BE49-F238E27FC236}">
                <a16:creationId xmlns:a16="http://schemas.microsoft.com/office/drawing/2014/main" id="{B61E72AC-069E-414F-A0FC-65CDC22CC41F}"/>
              </a:ext>
            </a:extLst>
          </p:cNvPr>
          <p:cNvGrpSpPr>
            <a:grpSpLocks/>
          </p:cNvGrpSpPr>
          <p:nvPr/>
        </p:nvGrpSpPr>
        <p:grpSpPr bwMode="auto">
          <a:xfrm>
            <a:off x="5089525" y="1851025"/>
            <a:ext cx="1644650" cy="1495425"/>
            <a:chOff x="3206" y="1166"/>
            <a:chExt cx="1036" cy="942"/>
          </a:xfrm>
        </p:grpSpPr>
        <p:sp>
          <p:nvSpPr>
            <p:cNvPr id="70795" name="Rectangle 60">
              <a:extLst>
                <a:ext uri="{FF2B5EF4-FFF2-40B4-BE49-F238E27FC236}">
                  <a16:creationId xmlns:a16="http://schemas.microsoft.com/office/drawing/2014/main" id="{2147B12A-91D1-1644-9344-89535F0D58DC}"/>
                </a:ext>
              </a:extLst>
            </p:cNvPr>
            <p:cNvSpPr>
              <a:spLocks noChangeArrowheads="1"/>
            </p:cNvSpPr>
            <p:nvPr/>
          </p:nvSpPr>
          <p:spPr bwMode="auto">
            <a:xfrm>
              <a:off x="3844" y="13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11</a:t>
              </a:r>
            </a:p>
          </p:txBody>
        </p:sp>
        <p:sp>
          <p:nvSpPr>
            <p:cNvPr id="70796" name="Rectangle 61">
              <a:extLst>
                <a:ext uri="{FF2B5EF4-FFF2-40B4-BE49-F238E27FC236}">
                  <a16:creationId xmlns:a16="http://schemas.microsoft.com/office/drawing/2014/main" id="{DF6EC63B-89E1-C842-B0B4-9563DAAA7C61}"/>
                </a:ext>
              </a:extLst>
            </p:cNvPr>
            <p:cNvSpPr>
              <a:spLocks noChangeArrowheads="1"/>
            </p:cNvSpPr>
            <p:nvPr/>
          </p:nvSpPr>
          <p:spPr bwMode="auto">
            <a:xfrm>
              <a:off x="3844" y="15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00</a:t>
              </a:r>
            </a:p>
          </p:txBody>
        </p:sp>
        <p:sp>
          <p:nvSpPr>
            <p:cNvPr id="70797" name="Rectangle 62">
              <a:extLst>
                <a:ext uri="{FF2B5EF4-FFF2-40B4-BE49-F238E27FC236}">
                  <a16:creationId xmlns:a16="http://schemas.microsoft.com/office/drawing/2014/main" id="{FF8CBA96-1498-6C40-9C72-B01EC399A049}"/>
                </a:ext>
              </a:extLst>
            </p:cNvPr>
            <p:cNvSpPr>
              <a:spLocks noChangeArrowheads="1"/>
            </p:cNvSpPr>
            <p:nvPr/>
          </p:nvSpPr>
          <p:spPr bwMode="auto">
            <a:xfrm>
              <a:off x="3844" y="17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798" name="Rectangle 63">
              <a:extLst>
                <a:ext uri="{FF2B5EF4-FFF2-40B4-BE49-F238E27FC236}">
                  <a16:creationId xmlns:a16="http://schemas.microsoft.com/office/drawing/2014/main" id="{921B4C88-C424-2243-882D-D2FFCFE62C9A}"/>
                </a:ext>
              </a:extLst>
            </p:cNvPr>
            <p:cNvSpPr>
              <a:spLocks noChangeArrowheads="1"/>
            </p:cNvSpPr>
            <p:nvPr/>
          </p:nvSpPr>
          <p:spPr bwMode="auto">
            <a:xfrm>
              <a:off x="3844" y="19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799" name="Rectangle 64">
              <a:extLst>
                <a:ext uri="{FF2B5EF4-FFF2-40B4-BE49-F238E27FC236}">
                  <a16:creationId xmlns:a16="http://schemas.microsoft.com/office/drawing/2014/main" id="{98957020-E338-5D42-B83A-E7A44AAF0F85}"/>
                </a:ext>
              </a:extLst>
            </p:cNvPr>
            <p:cNvSpPr>
              <a:spLocks noChangeArrowheads="1"/>
            </p:cNvSpPr>
            <p:nvPr/>
          </p:nvSpPr>
          <p:spPr bwMode="auto">
            <a:xfrm>
              <a:off x="3830" y="1166"/>
              <a:ext cx="2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PT</a:t>
              </a:r>
            </a:p>
          </p:txBody>
        </p:sp>
        <p:sp>
          <p:nvSpPr>
            <p:cNvPr id="70800" name="Rectangle 65">
              <a:extLst>
                <a:ext uri="{FF2B5EF4-FFF2-40B4-BE49-F238E27FC236}">
                  <a16:creationId xmlns:a16="http://schemas.microsoft.com/office/drawing/2014/main" id="{512228C0-4718-7F49-8E9A-62C3B594FDAA}"/>
                </a:ext>
              </a:extLst>
            </p:cNvPr>
            <p:cNvSpPr>
              <a:spLocks noChangeArrowheads="1"/>
            </p:cNvSpPr>
            <p:nvPr/>
          </p:nvSpPr>
          <p:spPr bwMode="auto">
            <a:xfrm>
              <a:off x="3460" y="13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10</a:t>
              </a:r>
            </a:p>
          </p:txBody>
        </p:sp>
        <p:sp>
          <p:nvSpPr>
            <p:cNvPr id="70801" name="Rectangle 66">
              <a:extLst>
                <a:ext uri="{FF2B5EF4-FFF2-40B4-BE49-F238E27FC236}">
                  <a16:creationId xmlns:a16="http://schemas.microsoft.com/office/drawing/2014/main" id="{2322E508-7443-B54E-9074-A0B3E2A770DE}"/>
                </a:ext>
              </a:extLst>
            </p:cNvPr>
            <p:cNvSpPr>
              <a:spLocks noChangeArrowheads="1"/>
            </p:cNvSpPr>
            <p:nvPr/>
          </p:nvSpPr>
          <p:spPr bwMode="auto">
            <a:xfrm>
              <a:off x="3460" y="15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802" name="Rectangle 67">
              <a:extLst>
                <a:ext uri="{FF2B5EF4-FFF2-40B4-BE49-F238E27FC236}">
                  <a16:creationId xmlns:a16="http://schemas.microsoft.com/office/drawing/2014/main" id="{82D7CDC6-A3AF-3F4F-B0E9-0D72846E1B83}"/>
                </a:ext>
              </a:extLst>
            </p:cNvPr>
            <p:cNvSpPr>
              <a:spLocks noChangeArrowheads="1"/>
            </p:cNvSpPr>
            <p:nvPr/>
          </p:nvSpPr>
          <p:spPr bwMode="auto">
            <a:xfrm>
              <a:off x="3460" y="17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803" name="Rectangle 68">
              <a:extLst>
                <a:ext uri="{FF2B5EF4-FFF2-40B4-BE49-F238E27FC236}">
                  <a16:creationId xmlns:a16="http://schemas.microsoft.com/office/drawing/2014/main" id="{3DCF1467-31F2-9842-B917-2B270036B6BA}"/>
                </a:ext>
              </a:extLst>
            </p:cNvPr>
            <p:cNvSpPr>
              <a:spLocks noChangeArrowheads="1"/>
            </p:cNvSpPr>
            <p:nvPr/>
          </p:nvSpPr>
          <p:spPr bwMode="auto">
            <a:xfrm>
              <a:off x="3460" y="19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804" name="Rectangle 69">
              <a:extLst>
                <a:ext uri="{FF2B5EF4-FFF2-40B4-BE49-F238E27FC236}">
                  <a16:creationId xmlns:a16="http://schemas.microsoft.com/office/drawing/2014/main" id="{A83E2C63-4D6E-C043-8B5B-ED959349D5D1}"/>
                </a:ext>
              </a:extLst>
            </p:cNvPr>
            <p:cNvSpPr>
              <a:spLocks noChangeArrowheads="1"/>
            </p:cNvSpPr>
            <p:nvPr/>
          </p:nvSpPr>
          <p:spPr bwMode="auto">
            <a:xfrm>
              <a:off x="3446" y="1166"/>
              <a:ext cx="26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HT</a:t>
              </a:r>
            </a:p>
          </p:txBody>
        </p:sp>
        <p:sp>
          <p:nvSpPr>
            <p:cNvPr id="70805" name="Rectangle 70">
              <a:extLst>
                <a:ext uri="{FF2B5EF4-FFF2-40B4-BE49-F238E27FC236}">
                  <a16:creationId xmlns:a16="http://schemas.microsoft.com/office/drawing/2014/main" id="{2997F5B6-0AAD-F743-933E-F07F1DFDEBF0}"/>
                </a:ext>
              </a:extLst>
            </p:cNvPr>
            <p:cNvSpPr>
              <a:spLocks noChangeArrowheads="1"/>
            </p:cNvSpPr>
            <p:nvPr/>
          </p:nvSpPr>
          <p:spPr bwMode="auto">
            <a:xfrm>
              <a:off x="4070" y="1387"/>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00</a:t>
              </a:r>
            </a:p>
          </p:txBody>
        </p:sp>
        <p:sp>
          <p:nvSpPr>
            <p:cNvPr id="70806" name="Rectangle 71">
              <a:extLst>
                <a:ext uri="{FF2B5EF4-FFF2-40B4-BE49-F238E27FC236}">
                  <a16:creationId xmlns:a16="http://schemas.microsoft.com/office/drawing/2014/main" id="{124D7D49-3278-C94F-AD0B-025C49F1DD58}"/>
                </a:ext>
              </a:extLst>
            </p:cNvPr>
            <p:cNvSpPr>
              <a:spLocks noChangeArrowheads="1"/>
            </p:cNvSpPr>
            <p:nvPr/>
          </p:nvSpPr>
          <p:spPr bwMode="auto">
            <a:xfrm>
              <a:off x="4070" y="1579"/>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01</a:t>
              </a:r>
            </a:p>
          </p:txBody>
        </p:sp>
        <p:sp>
          <p:nvSpPr>
            <p:cNvPr id="70807" name="Rectangle 72">
              <a:extLst>
                <a:ext uri="{FF2B5EF4-FFF2-40B4-BE49-F238E27FC236}">
                  <a16:creationId xmlns:a16="http://schemas.microsoft.com/office/drawing/2014/main" id="{BA9A203B-9F69-DD4D-924A-AEBC08BEE8DC}"/>
                </a:ext>
              </a:extLst>
            </p:cNvPr>
            <p:cNvSpPr>
              <a:spLocks noChangeArrowheads="1"/>
            </p:cNvSpPr>
            <p:nvPr/>
          </p:nvSpPr>
          <p:spPr bwMode="auto">
            <a:xfrm>
              <a:off x="4070" y="1771"/>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10</a:t>
              </a:r>
            </a:p>
          </p:txBody>
        </p:sp>
        <p:sp>
          <p:nvSpPr>
            <p:cNvPr id="70808" name="Rectangle 73">
              <a:extLst>
                <a:ext uri="{FF2B5EF4-FFF2-40B4-BE49-F238E27FC236}">
                  <a16:creationId xmlns:a16="http://schemas.microsoft.com/office/drawing/2014/main" id="{57631429-72B1-2E48-8B19-1AF946C5287C}"/>
                </a:ext>
              </a:extLst>
            </p:cNvPr>
            <p:cNvSpPr>
              <a:spLocks noChangeArrowheads="1"/>
            </p:cNvSpPr>
            <p:nvPr/>
          </p:nvSpPr>
          <p:spPr bwMode="auto">
            <a:xfrm>
              <a:off x="4070" y="1963"/>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11</a:t>
              </a:r>
            </a:p>
          </p:txBody>
        </p:sp>
        <p:sp>
          <p:nvSpPr>
            <p:cNvPr id="70809" name="Rectangle 74">
              <a:extLst>
                <a:ext uri="{FF2B5EF4-FFF2-40B4-BE49-F238E27FC236}">
                  <a16:creationId xmlns:a16="http://schemas.microsoft.com/office/drawing/2014/main" id="{627AC24F-9309-3741-B549-4587EA293173}"/>
                </a:ext>
              </a:extLst>
            </p:cNvPr>
            <p:cNvSpPr>
              <a:spLocks noChangeArrowheads="1"/>
            </p:cNvSpPr>
            <p:nvPr/>
          </p:nvSpPr>
          <p:spPr bwMode="auto">
            <a:xfrm>
              <a:off x="3206" y="1358"/>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a:t>
              </a:r>
            </a:p>
          </p:txBody>
        </p:sp>
        <p:sp>
          <p:nvSpPr>
            <p:cNvPr id="70810" name="Rectangle 75">
              <a:extLst>
                <a:ext uri="{FF2B5EF4-FFF2-40B4-BE49-F238E27FC236}">
                  <a16:creationId xmlns:a16="http://schemas.microsoft.com/office/drawing/2014/main" id="{EA635DEC-DE22-4547-8FC6-513D5F3E61F0}"/>
                </a:ext>
              </a:extLst>
            </p:cNvPr>
            <p:cNvSpPr>
              <a:spLocks noChangeArrowheads="1"/>
            </p:cNvSpPr>
            <p:nvPr/>
          </p:nvSpPr>
          <p:spPr bwMode="auto">
            <a:xfrm>
              <a:off x="3206" y="1550"/>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a:t>
              </a:r>
            </a:p>
          </p:txBody>
        </p:sp>
      </p:grpSp>
      <p:sp>
        <p:nvSpPr>
          <p:cNvPr id="70668" name="Rectangle 76">
            <a:extLst>
              <a:ext uri="{FF2B5EF4-FFF2-40B4-BE49-F238E27FC236}">
                <a16:creationId xmlns:a16="http://schemas.microsoft.com/office/drawing/2014/main" id="{A15044CA-FB57-8D45-8C53-740B481443FC}"/>
              </a:ext>
            </a:extLst>
          </p:cNvPr>
          <p:cNvSpPr>
            <a:spLocks noChangeArrowheads="1"/>
          </p:cNvSpPr>
          <p:nvPr/>
        </p:nvSpPr>
        <p:spPr bwMode="auto">
          <a:xfrm>
            <a:off x="4708525" y="3451225"/>
            <a:ext cx="1171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 N, pred N</a:t>
            </a:r>
          </a:p>
        </p:txBody>
      </p:sp>
      <p:sp>
        <p:nvSpPr>
          <p:cNvPr id="70669" name="Line 77">
            <a:extLst>
              <a:ext uri="{FF2B5EF4-FFF2-40B4-BE49-F238E27FC236}">
                <a16:creationId xmlns:a16="http://schemas.microsoft.com/office/drawing/2014/main" id="{87C51B2E-827F-434C-A88A-0426B8A6AE3F}"/>
              </a:ext>
            </a:extLst>
          </p:cNvPr>
          <p:cNvSpPr>
            <a:spLocks noChangeShapeType="1"/>
          </p:cNvSpPr>
          <p:nvPr/>
        </p:nvSpPr>
        <p:spPr bwMode="auto">
          <a:xfrm>
            <a:off x="4800600" y="2667000"/>
            <a:ext cx="838200" cy="8382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70" name="Rectangle 78">
            <a:extLst>
              <a:ext uri="{FF2B5EF4-FFF2-40B4-BE49-F238E27FC236}">
                <a16:creationId xmlns:a16="http://schemas.microsoft.com/office/drawing/2014/main" id="{13445EE4-46F1-5846-AD3F-D4C2699D52E5}"/>
              </a:ext>
            </a:extLst>
          </p:cNvPr>
          <p:cNvSpPr>
            <a:spLocks noChangeArrowheads="1"/>
          </p:cNvSpPr>
          <p:nvPr/>
        </p:nvSpPr>
        <p:spPr bwMode="auto">
          <a:xfrm>
            <a:off x="6308725" y="3451225"/>
            <a:ext cx="11271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 T, pred N</a:t>
            </a:r>
          </a:p>
        </p:txBody>
      </p:sp>
      <p:grpSp>
        <p:nvGrpSpPr>
          <p:cNvPr id="70671" name="Group 79">
            <a:extLst>
              <a:ext uri="{FF2B5EF4-FFF2-40B4-BE49-F238E27FC236}">
                <a16:creationId xmlns:a16="http://schemas.microsoft.com/office/drawing/2014/main" id="{F5EE0DE7-724D-9044-BD80-D69AD97CD691}"/>
              </a:ext>
            </a:extLst>
          </p:cNvPr>
          <p:cNvGrpSpPr>
            <a:grpSpLocks/>
          </p:cNvGrpSpPr>
          <p:nvPr/>
        </p:nvGrpSpPr>
        <p:grpSpPr bwMode="auto">
          <a:xfrm>
            <a:off x="6842125" y="1927225"/>
            <a:ext cx="1644650" cy="1495425"/>
            <a:chOff x="4310" y="1214"/>
            <a:chExt cx="1036" cy="942"/>
          </a:xfrm>
        </p:grpSpPr>
        <p:sp>
          <p:nvSpPr>
            <p:cNvPr id="70779" name="Rectangle 80">
              <a:extLst>
                <a:ext uri="{FF2B5EF4-FFF2-40B4-BE49-F238E27FC236}">
                  <a16:creationId xmlns:a16="http://schemas.microsoft.com/office/drawing/2014/main" id="{1391D0D2-22AA-AB4C-8374-E61DEB4A9DBA}"/>
                </a:ext>
              </a:extLst>
            </p:cNvPr>
            <p:cNvSpPr>
              <a:spLocks noChangeArrowheads="1"/>
            </p:cNvSpPr>
            <p:nvPr/>
          </p:nvSpPr>
          <p:spPr bwMode="auto">
            <a:xfrm>
              <a:off x="4948" y="1396"/>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11</a:t>
              </a:r>
            </a:p>
          </p:txBody>
        </p:sp>
        <p:sp>
          <p:nvSpPr>
            <p:cNvPr id="70780" name="Rectangle 81">
              <a:extLst>
                <a:ext uri="{FF2B5EF4-FFF2-40B4-BE49-F238E27FC236}">
                  <a16:creationId xmlns:a16="http://schemas.microsoft.com/office/drawing/2014/main" id="{A1F123A4-FCF1-7D4C-8D04-19A841620717}"/>
                </a:ext>
              </a:extLst>
            </p:cNvPr>
            <p:cNvSpPr>
              <a:spLocks noChangeArrowheads="1"/>
            </p:cNvSpPr>
            <p:nvPr/>
          </p:nvSpPr>
          <p:spPr bwMode="auto">
            <a:xfrm>
              <a:off x="4948" y="158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01</a:t>
              </a:r>
            </a:p>
          </p:txBody>
        </p:sp>
        <p:sp>
          <p:nvSpPr>
            <p:cNvPr id="70781" name="Rectangle 82">
              <a:extLst>
                <a:ext uri="{FF2B5EF4-FFF2-40B4-BE49-F238E27FC236}">
                  <a16:creationId xmlns:a16="http://schemas.microsoft.com/office/drawing/2014/main" id="{855E5265-C586-0B46-9044-D30A4CF875EA}"/>
                </a:ext>
              </a:extLst>
            </p:cNvPr>
            <p:cNvSpPr>
              <a:spLocks noChangeArrowheads="1"/>
            </p:cNvSpPr>
            <p:nvPr/>
          </p:nvSpPr>
          <p:spPr bwMode="auto">
            <a:xfrm>
              <a:off x="4948" y="178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782" name="Rectangle 83">
              <a:extLst>
                <a:ext uri="{FF2B5EF4-FFF2-40B4-BE49-F238E27FC236}">
                  <a16:creationId xmlns:a16="http://schemas.microsoft.com/office/drawing/2014/main" id="{28B67B22-51A5-8C47-8673-B0ED420981EA}"/>
                </a:ext>
              </a:extLst>
            </p:cNvPr>
            <p:cNvSpPr>
              <a:spLocks noChangeArrowheads="1"/>
            </p:cNvSpPr>
            <p:nvPr/>
          </p:nvSpPr>
          <p:spPr bwMode="auto">
            <a:xfrm>
              <a:off x="4948" y="197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783" name="Rectangle 84">
              <a:extLst>
                <a:ext uri="{FF2B5EF4-FFF2-40B4-BE49-F238E27FC236}">
                  <a16:creationId xmlns:a16="http://schemas.microsoft.com/office/drawing/2014/main" id="{F0A65365-9D03-BA4A-B347-ABB8EAF75B32}"/>
                </a:ext>
              </a:extLst>
            </p:cNvPr>
            <p:cNvSpPr>
              <a:spLocks noChangeArrowheads="1"/>
            </p:cNvSpPr>
            <p:nvPr/>
          </p:nvSpPr>
          <p:spPr bwMode="auto">
            <a:xfrm>
              <a:off x="4934" y="1214"/>
              <a:ext cx="2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PT</a:t>
              </a:r>
            </a:p>
          </p:txBody>
        </p:sp>
        <p:sp>
          <p:nvSpPr>
            <p:cNvPr id="70784" name="Rectangle 85">
              <a:extLst>
                <a:ext uri="{FF2B5EF4-FFF2-40B4-BE49-F238E27FC236}">
                  <a16:creationId xmlns:a16="http://schemas.microsoft.com/office/drawing/2014/main" id="{D5DCF109-2C47-5C4B-BB07-38DF0DA42B85}"/>
                </a:ext>
              </a:extLst>
            </p:cNvPr>
            <p:cNvSpPr>
              <a:spLocks noChangeArrowheads="1"/>
            </p:cNvSpPr>
            <p:nvPr/>
          </p:nvSpPr>
          <p:spPr bwMode="auto">
            <a:xfrm>
              <a:off x="4564" y="1396"/>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10</a:t>
              </a:r>
            </a:p>
          </p:txBody>
        </p:sp>
        <p:sp>
          <p:nvSpPr>
            <p:cNvPr id="70785" name="Rectangle 86">
              <a:extLst>
                <a:ext uri="{FF2B5EF4-FFF2-40B4-BE49-F238E27FC236}">
                  <a16:creationId xmlns:a16="http://schemas.microsoft.com/office/drawing/2014/main" id="{C4C66FEC-41D8-6F4B-8A34-6F9CEF2333AF}"/>
                </a:ext>
              </a:extLst>
            </p:cNvPr>
            <p:cNvSpPr>
              <a:spLocks noChangeArrowheads="1"/>
            </p:cNvSpPr>
            <p:nvPr/>
          </p:nvSpPr>
          <p:spPr bwMode="auto">
            <a:xfrm>
              <a:off x="4564" y="158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11</a:t>
              </a:r>
            </a:p>
          </p:txBody>
        </p:sp>
        <p:sp>
          <p:nvSpPr>
            <p:cNvPr id="70786" name="Rectangle 87">
              <a:extLst>
                <a:ext uri="{FF2B5EF4-FFF2-40B4-BE49-F238E27FC236}">
                  <a16:creationId xmlns:a16="http://schemas.microsoft.com/office/drawing/2014/main" id="{3C31945C-846E-AA49-878F-287F393DE06A}"/>
                </a:ext>
              </a:extLst>
            </p:cNvPr>
            <p:cNvSpPr>
              <a:spLocks noChangeArrowheads="1"/>
            </p:cNvSpPr>
            <p:nvPr/>
          </p:nvSpPr>
          <p:spPr bwMode="auto">
            <a:xfrm>
              <a:off x="4564" y="178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87" name="Rectangle 88">
              <a:extLst>
                <a:ext uri="{FF2B5EF4-FFF2-40B4-BE49-F238E27FC236}">
                  <a16:creationId xmlns:a16="http://schemas.microsoft.com/office/drawing/2014/main" id="{ABDA9679-A5DF-6240-9E3F-94DDB8B80F1C}"/>
                </a:ext>
              </a:extLst>
            </p:cNvPr>
            <p:cNvSpPr>
              <a:spLocks noChangeArrowheads="1"/>
            </p:cNvSpPr>
            <p:nvPr/>
          </p:nvSpPr>
          <p:spPr bwMode="auto">
            <a:xfrm>
              <a:off x="4564" y="197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88" name="Rectangle 89">
              <a:extLst>
                <a:ext uri="{FF2B5EF4-FFF2-40B4-BE49-F238E27FC236}">
                  <a16:creationId xmlns:a16="http://schemas.microsoft.com/office/drawing/2014/main" id="{5E9AF5A5-2148-884C-92E5-3BF3BDD256ED}"/>
                </a:ext>
              </a:extLst>
            </p:cNvPr>
            <p:cNvSpPr>
              <a:spLocks noChangeArrowheads="1"/>
            </p:cNvSpPr>
            <p:nvPr/>
          </p:nvSpPr>
          <p:spPr bwMode="auto">
            <a:xfrm>
              <a:off x="4550" y="1214"/>
              <a:ext cx="26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HT</a:t>
              </a:r>
            </a:p>
          </p:txBody>
        </p:sp>
        <p:sp>
          <p:nvSpPr>
            <p:cNvPr id="70789" name="Rectangle 90">
              <a:extLst>
                <a:ext uri="{FF2B5EF4-FFF2-40B4-BE49-F238E27FC236}">
                  <a16:creationId xmlns:a16="http://schemas.microsoft.com/office/drawing/2014/main" id="{586CB61A-A2F7-4D4C-A0B2-5866EE5491F9}"/>
                </a:ext>
              </a:extLst>
            </p:cNvPr>
            <p:cNvSpPr>
              <a:spLocks noChangeArrowheads="1"/>
            </p:cNvSpPr>
            <p:nvPr/>
          </p:nvSpPr>
          <p:spPr bwMode="auto">
            <a:xfrm>
              <a:off x="5174" y="1435"/>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00</a:t>
              </a:r>
            </a:p>
          </p:txBody>
        </p:sp>
        <p:sp>
          <p:nvSpPr>
            <p:cNvPr id="70790" name="Rectangle 91">
              <a:extLst>
                <a:ext uri="{FF2B5EF4-FFF2-40B4-BE49-F238E27FC236}">
                  <a16:creationId xmlns:a16="http://schemas.microsoft.com/office/drawing/2014/main" id="{C0620A17-B92E-5441-BE54-BE0B604CB3F4}"/>
                </a:ext>
              </a:extLst>
            </p:cNvPr>
            <p:cNvSpPr>
              <a:spLocks noChangeArrowheads="1"/>
            </p:cNvSpPr>
            <p:nvPr/>
          </p:nvSpPr>
          <p:spPr bwMode="auto">
            <a:xfrm>
              <a:off x="5174" y="1627"/>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01</a:t>
              </a:r>
            </a:p>
          </p:txBody>
        </p:sp>
        <p:sp>
          <p:nvSpPr>
            <p:cNvPr id="70791" name="Rectangle 92">
              <a:extLst>
                <a:ext uri="{FF2B5EF4-FFF2-40B4-BE49-F238E27FC236}">
                  <a16:creationId xmlns:a16="http://schemas.microsoft.com/office/drawing/2014/main" id="{22859E4F-55AE-814E-B87B-B587E02E4513}"/>
                </a:ext>
              </a:extLst>
            </p:cNvPr>
            <p:cNvSpPr>
              <a:spLocks noChangeArrowheads="1"/>
            </p:cNvSpPr>
            <p:nvPr/>
          </p:nvSpPr>
          <p:spPr bwMode="auto">
            <a:xfrm>
              <a:off x="5174" y="1819"/>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10</a:t>
              </a:r>
            </a:p>
          </p:txBody>
        </p:sp>
        <p:sp>
          <p:nvSpPr>
            <p:cNvPr id="70792" name="Rectangle 93">
              <a:extLst>
                <a:ext uri="{FF2B5EF4-FFF2-40B4-BE49-F238E27FC236}">
                  <a16:creationId xmlns:a16="http://schemas.microsoft.com/office/drawing/2014/main" id="{B05BFD5D-1AAB-C54A-88A4-9085DA1E27A8}"/>
                </a:ext>
              </a:extLst>
            </p:cNvPr>
            <p:cNvSpPr>
              <a:spLocks noChangeArrowheads="1"/>
            </p:cNvSpPr>
            <p:nvPr/>
          </p:nvSpPr>
          <p:spPr bwMode="auto">
            <a:xfrm>
              <a:off x="5174" y="2011"/>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11</a:t>
              </a:r>
            </a:p>
          </p:txBody>
        </p:sp>
        <p:sp>
          <p:nvSpPr>
            <p:cNvPr id="70793" name="Rectangle 94">
              <a:extLst>
                <a:ext uri="{FF2B5EF4-FFF2-40B4-BE49-F238E27FC236}">
                  <a16:creationId xmlns:a16="http://schemas.microsoft.com/office/drawing/2014/main" id="{74EA17FA-68E0-2A42-B18B-52787CA8B296}"/>
                </a:ext>
              </a:extLst>
            </p:cNvPr>
            <p:cNvSpPr>
              <a:spLocks noChangeArrowheads="1"/>
            </p:cNvSpPr>
            <p:nvPr/>
          </p:nvSpPr>
          <p:spPr bwMode="auto">
            <a:xfrm>
              <a:off x="4310" y="1406"/>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a:t>
              </a:r>
            </a:p>
          </p:txBody>
        </p:sp>
        <p:sp>
          <p:nvSpPr>
            <p:cNvPr id="70794" name="Rectangle 95">
              <a:extLst>
                <a:ext uri="{FF2B5EF4-FFF2-40B4-BE49-F238E27FC236}">
                  <a16:creationId xmlns:a16="http://schemas.microsoft.com/office/drawing/2014/main" id="{20AA6221-F0C0-C144-AABC-0287DB9E0F82}"/>
                </a:ext>
              </a:extLst>
            </p:cNvPr>
            <p:cNvSpPr>
              <a:spLocks noChangeArrowheads="1"/>
            </p:cNvSpPr>
            <p:nvPr/>
          </p:nvSpPr>
          <p:spPr bwMode="auto">
            <a:xfrm>
              <a:off x="4310" y="1598"/>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a:t>
              </a:r>
            </a:p>
          </p:txBody>
        </p:sp>
      </p:grpSp>
      <p:sp>
        <p:nvSpPr>
          <p:cNvPr id="70672" name="Line 96">
            <a:extLst>
              <a:ext uri="{FF2B5EF4-FFF2-40B4-BE49-F238E27FC236}">
                <a16:creationId xmlns:a16="http://schemas.microsoft.com/office/drawing/2014/main" id="{BEDD7960-A33B-5F4A-9687-DCEA6513DCCB}"/>
              </a:ext>
            </a:extLst>
          </p:cNvPr>
          <p:cNvSpPr>
            <a:spLocks noChangeShapeType="1"/>
          </p:cNvSpPr>
          <p:nvPr/>
        </p:nvSpPr>
        <p:spPr bwMode="auto">
          <a:xfrm>
            <a:off x="6400800" y="2667000"/>
            <a:ext cx="914400" cy="8382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70673" name="Group 97">
            <a:extLst>
              <a:ext uri="{FF2B5EF4-FFF2-40B4-BE49-F238E27FC236}">
                <a16:creationId xmlns:a16="http://schemas.microsoft.com/office/drawing/2014/main" id="{B7FF2CF8-B232-494A-9D6F-59A843197E07}"/>
              </a:ext>
            </a:extLst>
          </p:cNvPr>
          <p:cNvGrpSpPr>
            <a:grpSpLocks/>
          </p:cNvGrpSpPr>
          <p:nvPr/>
        </p:nvGrpSpPr>
        <p:grpSpPr bwMode="auto">
          <a:xfrm>
            <a:off x="365125" y="3756025"/>
            <a:ext cx="1644650" cy="1495425"/>
            <a:chOff x="230" y="2366"/>
            <a:chExt cx="1036" cy="942"/>
          </a:xfrm>
        </p:grpSpPr>
        <p:sp>
          <p:nvSpPr>
            <p:cNvPr id="70763" name="Rectangle 98">
              <a:extLst>
                <a:ext uri="{FF2B5EF4-FFF2-40B4-BE49-F238E27FC236}">
                  <a16:creationId xmlns:a16="http://schemas.microsoft.com/office/drawing/2014/main" id="{F52787BD-D44D-B44E-9142-13844056B4B0}"/>
                </a:ext>
              </a:extLst>
            </p:cNvPr>
            <p:cNvSpPr>
              <a:spLocks noChangeArrowheads="1"/>
            </p:cNvSpPr>
            <p:nvPr/>
          </p:nvSpPr>
          <p:spPr bwMode="auto">
            <a:xfrm>
              <a:off x="868" y="25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11</a:t>
              </a:r>
            </a:p>
          </p:txBody>
        </p:sp>
        <p:sp>
          <p:nvSpPr>
            <p:cNvPr id="70764" name="Rectangle 99">
              <a:extLst>
                <a:ext uri="{FF2B5EF4-FFF2-40B4-BE49-F238E27FC236}">
                  <a16:creationId xmlns:a16="http://schemas.microsoft.com/office/drawing/2014/main" id="{5B52B2D0-CA57-C045-959B-B8563E436F36}"/>
                </a:ext>
              </a:extLst>
            </p:cNvPr>
            <p:cNvSpPr>
              <a:spLocks noChangeArrowheads="1"/>
            </p:cNvSpPr>
            <p:nvPr/>
          </p:nvSpPr>
          <p:spPr bwMode="auto">
            <a:xfrm>
              <a:off x="868" y="27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765" name="Rectangle 100">
              <a:extLst>
                <a:ext uri="{FF2B5EF4-FFF2-40B4-BE49-F238E27FC236}">
                  <a16:creationId xmlns:a16="http://schemas.microsoft.com/office/drawing/2014/main" id="{4BAACB87-700F-8040-B372-FC6924CF01E7}"/>
                </a:ext>
              </a:extLst>
            </p:cNvPr>
            <p:cNvSpPr>
              <a:spLocks noChangeArrowheads="1"/>
            </p:cNvSpPr>
            <p:nvPr/>
          </p:nvSpPr>
          <p:spPr bwMode="auto">
            <a:xfrm>
              <a:off x="868" y="29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10</a:t>
              </a:r>
            </a:p>
          </p:txBody>
        </p:sp>
        <p:sp>
          <p:nvSpPr>
            <p:cNvPr id="70766" name="Rectangle 101">
              <a:extLst>
                <a:ext uri="{FF2B5EF4-FFF2-40B4-BE49-F238E27FC236}">
                  <a16:creationId xmlns:a16="http://schemas.microsoft.com/office/drawing/2014/main" id="{D25A31AB-D635-6C43-A30C-DE3864B28E64}"/>
                </a:ext>
              </a:extLst>
            </p:cNvPr>
            <p:cNvSpPr>
              <a:spLocks noChangeArrowheads="1"/>
            </p:cNvSpPr>
            <p:nvPr/>
          </p:nvSpPr>
          <p:spPr bwMode="auto">
            <a:xfrm>
              <a:off x="868" y="31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767" name="Rectangle 102">
              <a:extLst>
                <a:ext uri="{FF2B5EF4-FFF2-40B4-BE49-F238E27FC236}">
                  <a16:creationId xmlns:a16="http://schemas.microsoft.com/office/drawing/2014/main" id="{598CC70B-D95B-6E45-A3FF-DB51D4B348B9}"/>
                </a:ext>
              </a:extLst>
            </p:cNvPr>
            <p:cNvSpPr>
              <a:spLocks noChangeArrowheads="1"/>
            </p:cNvSpPr>
            <p:nvPr/>
          </p:nvSpPr>
          <p:spPr bwMode="auto">
            <a:xfrm>
              <a:off x="854" y="2366"/>
              <a:ext cx="2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PT</a:t>
              </a:r>
            </a:p>
          </p:txBody>
        </p:sp>
        <p:sp>
          <p:nvSpPr>
            <p:cNvPr id="70768" name="Rectangle 103">
              <a:extLst>
                <a:ext uri="{FF2B5EF4-FFF2-40B4-BE49-F238E27FC236}">
                  <a16:creationId xmlns:a16="http://schemas.microsoft.com/office/drawing/2014/main" id="{9B8ECC92-B0D0-934F-AD73-21B753E87CAF}"/>
                </a:ext>
              </a:extLst>
            </p:cNvPr>
            <p:cNvSpPr>
              <a:spLocks noChangeArrowheads="1"/>
            </p:cNvSpPr>
            <p:nvPr/>
          </p:nvSpPr>
          <p:spPr bwMode="auto">
            <a:xfrm>
              <a:off x="484" y="25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01</a:t>
              </a:r>
            </a:p>
          </p:txBody>
        </p:sp>
        <p:sp>
          <p:nvSpPr>
            <p:cNvPr id="70769" name="Rectangle 104">
              <a:extLst>
                <a:ext uri="{FF2B5EF4-FFF2-40B4-BE49-F238E27FC236}">
                  <a16:creationId xmlns:a16="http://schemas.microsoft.com/office/drawing/2014/main" id="{9551DCCC-3A79-054F-82A6-E3FAC1FE57F6}"/>
                </a:ext>
              </a:extLst>
            </p:cNvPr>
            <p:cNvSpPr>
              <a:spLocks noChangeArrowheads="1"/>
            </p:cNvSpPr>
            <p:nvPr/>
          </p:nvSpPr>
          <p:spPr bwMode="auto">
            <a:xfrm>
              <a:off x="484" y="27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11</a:t>
              </a:r>
            </a:p>
          </p:txBody>
        </p:sp>
        <p:sp>
          <p:nvSpPr>
            <p:cNvPr id="70770" name="Rectangle 105">
              <a:extLst>
                <a:ext uri="{FF2B5EF4-FFF2-40B4-BE49-F238E27FC236}">
                  <a16:creationId xmlns:a16="http://schemas.microsoft.com/office/drawing/2014/main" id="{A1023B6B-D3C7-8D4D-B964-F1B4B45A89F4}"/>
                </a:ext>
              </a:extLst>
            </p:cNvPr>
            <p:cNvSpPr>
              <a:spLocks noChangeArrowheads="1"/>
            </p:cNvSpPr>
            <p:nvPr/>
          </p:nvSpPr>
          <p:spPr bwMode="auto">
            <a:xfrm>
              <a:off x="484" y="29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71" name="Rectangle 106">
              <a:extLst>
                <a:ext uri="{FF2B5EF4-FFF2-40B4-BE49-F238E27FC236}">
                  <a16:creationId xmlns:a16="http://schemas.microsoft.com/office/drawing/2014/main" id="{63C1E1F3-CAFC-2D4F-80F6-4413B3B2F72E}"/>
                </a:ext>
              </a:extLst>
            </p:cNvPr>
            <p:cNvSpPr>
              <a:spLocks noChangeArrowheads="1"/>
            </p:cNvSpPr>
            <p:nvPr/>
          </p:nvSpPr>
          <p:spPr bwMode="auto">
            <a:xfrm>
              <a:off x="484" y="31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72" name="Rectangle 107">
              <a:extLst>
                <a:ext uri="{FF2B5EF4-FFF2-40B4-BE49-F238E27FC236}">
                  <a16:creationId xmlns:a16="http://schemas.microsoft.com/office/drawing/2014/main" id="{C751F3E6-7C8D-9D4A-9CF8-94E1D0A653ED}"/>
                </a:ext>
              </a:extLst>
            </p:cNvPr>
            <p:cNvSpPr>
              <a:spLocks noChangeArrowheads="1"/>
            </p:cNvSpPr>
            <p:nvPr/>
          </p:nvSpPr>
          <p:spPr bwMode="auto">
            <a:xfrm>
              <a:off x="470" y="2366"/>
              <a:ext cx="26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HT</a:t>
              </a:r>
            </a:p>
          </p:txBody>
        </p:sp>
        <p:sp>
          <p:nvSpPr>
            <p:cNvPr id="70773" name="Rectangle 108">
              <a:extLst>
                <a:ext uri="{FF2B5EF4-FFF2-40B4-BE49-F238E27FC236}">
                  <a16:creationId xmlns:a16="http://schemas.microsoft.com/office/drawing/2014/main" id="{F0F56A37-1399-6E4F-9031-B441B55404BB}"/>
                </a:ext>
              </a:extLst>
            </p:cNvPr>
            <p:cNvSpPr>
              <a:spLocks noChangeArrowheads="1"/>
            </p:cNvSpPr>
            <p:nvPr/>
          </p:nvSpPr>
          <p:spPr bwMode="auto">
            <a:xfrm>
              <a:off x="1094" y="2587"/>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00</a:t>
              </a:r>
            </a:p>
          </p:txBody>
        </p:sp>
        <p:sp>
          <p:nvSpPr>
            <p:cNvPr id="70774" name="Rectangle 109">
              <a:extLst>
                <a:ext uri="{FF2B5EF4-FFF2-40B4-BE49-F238E27FC236}">
                  <a16:creationId xmlns:a16="http://schemas.microsoft.com/office/drawing/2014/main" id="{04BC8B7E-26DD-FA48-9E8E-28B9F432A85A}"/>
                </a:ext>
              </a:extLst>
            </p:cNvPr>
            <p:cNvSpPr>
              <a:spLocks noChangeArrowheads="1"/>
            </p:cNvSpPr>
            <p:nvPr/>
          </p:nvSpPr>
          <p:spPr bwMode="auto">
            <a:xfrm>
              <a:off x="1094" y="2779"/>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01</a:t>
              </a:r>
            </a:p>
          </p:txBody>
        </p:sp>
        <p:sp>
          <p:nvSpPr>
            <p:cNvPr id="70775" name="Rectangle 110">
              <a:extLst>
                <a:ext uri="{FF2B5EF4-FFF2-40B4-BE49-F238E27FC236}">
                  <a16:creationId xmlns:a16="http://schemas.microsoft.com/office/drawing/2014/main" id="{92A0253B-3182-2C40-BA50-23E989F72FC6}"/>
                </a:ext>
              </a:extLst>
            </p:cNvPr>
            <p:cNvSpPr>
              <a:spLocks noChangeArrowheads="1"/>
            </p:cNvSpPr>
            <p:nvPr/>
          </p:nvSpPr>
          <p:spPr bwMode="auto">
            <a:xfrm>
              <a:off x="1094" y="2971"/>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10</a:t>
              </a:r>
            </a:p>
          </p:txBody>
        </p:sp>
        <p:sp>
          <p:nvSpPr>
            <p:cNvPr id="70776" name="Rectangle 111">
              <a:extLst>
                <a:ext uri="{FF2B5EF4-FFF2-40B4-BE49-F238E27FC236}">
                  <a16:creationId xmlns:a16="http://schemas.microsoft.com/office/drawing/2014/main" id="{C50E86EE-0DA6-404A-8ABC-AB853DEF1708}"/>
                </a:ext>
              </a:extLst>
            </p:cNvPr>
            <p:cNvSpPr>
              <a:spLocks noChangeArrowheads="1"/>
            </p:cNvSpPr>
            <p:nvPr/>
          </p:nvSpPr>
          <p:spPr bwMode="auto">
            <a:xfrm>
              <a:off x="1094" y="3163"/>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11</a:t>
              </a:r>
            </a:p>
          </p:txBody>
        </p:sp>
        <p:sp>
          <p:nvSpPr>
            <p:cNvPr id="70777" name="Rectangle 112">
              <a:extLst>
                <a:ext uri="{FF2B5EF4-FFF2-40B4-BE49-F238E27FC236}">
                  <a16:creationId xmlns:a16="http://schemas.microsoft.com/office/drawing/2014/main" id="{31114EB7-29FA-724F-9F5C-B32CED09A5A4}"/>
                </a:ext>
              </a:extLst>
            </p:cNvPr>
            <p:cNvSpPr>
              <a:spLocks noChangeArrowheads="1"/>
            </p:cNvSpPr>
            <p:nvPr/>
          </p:nvSpPr>
          <p:spPr bwMode="auto">
            <a:xfrm>
              <a:off x="230" y="2558"/>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a:t>
              </a:r>
            </a:p>
          </p:txBody>
        </p:sp>
        <p:sp>
          <p:nvSpPr>
            <p:cNvPr id="70778" name="Rectangle 113">
              <a:extLst>
                <a:ext uri="{FF2B5EF4-FFF2-40B4-BE49-F238E27FC236}">
                  <a16:creationId xmlns:a16="http://schemas.microsoft.com/office/drawing/2014/main" id="{0E3C7D8A-A5EA-BA47-9B4E-E6827DD3362F}"/>
                </a:ext>
              </a:extLst>
            </p:cNvPr>
            <p:cNvSpPr>
              <a:spLocks noChangeArrowheads="1"/>
            </p:cNvSpPr>
            <p:nvPr/>
          </p:nvSpPr>
          <p:spPr bwMode="auto">
            <a:xfrm>
              <a:off x="230" y="2750"/>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a:t>
              </a:r>
            </a:p>
          </p:txBody>
        </p:sp>
      </p:grpSp>
      <p:sp>
        <p:nvSpPr>
          <p:cNvPr id="70674" name="Rectangle 114">
            <a:extLst>
              <a:ext uri="{FF2B5EF4-FFF2-40B4-BE49-F238E27FC236}">
                <a16:creationId xmlns:a16="http://schemas.microsoft.com/office/drawing/2014/main" id="{165BE3F6-DB5F-DB40-9C07-F84EBE87F5E3}"/>
              </a:ext>
            </a:extLst>
          </p:cNvPr>
          <p:cNvSpPr>
            <a:spLocks noChangeArrowheads="1"/>
          </p:cNvSpPr>
          <p:nvPr/>
        </p:nvSpPr>
        <p:spPr bwMode="auto">
          <a:xfrm>
            <a:off x="7797800" y="3451225"/>
            <a:ext cx="11271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 T, pred N</a:t>
            </a:r>
          </a:p>
        </p:txBody>
      </p:sp>
      <p:sp>
        <p:nvSpPr>
          <p:cNvPr id="70675" name="Line 115">
            <a:extLst>
              <a:ext uri="{FF2B5EF4-FFF2-40B4-BE49-F238E27FC236}">
                <a16:creationId xmlns:a16="http://schemas.microsoft.com/office/drawing/2014/main" id="{4FB8A46E-BF73-0E4C-9BF2-395302DB28B5}"/>
              </a:ext>
            </a:extLst>
          </p:cNvPr>
          <p:cNvSpPr>
            <a:spLocks noChangeShapeType="1"/>
          </p:cNvSpPr>
          <p:nvPr/>
        </p:nvSpPr>
        <p:spPr bwMode="auto">
          <a:xfrm>
            <a:off x="8153400" y="3048000"/>
            <a:ext cx="609600" cy="4572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76" name="Rectangle 116">
            <a:extLst>
              <a:ext uri="{FF2B5EF4-FFF2-40B4-BE49-F238E27FC236}">
                <a16:creationId xmlns:a16="http://schemas.microsoft.com/office/drawing/2014/main" id="{545A0F4A-36E8-2C45-A0A3-950C9393F6BC}"/>
              </a:ext>
            </a:extLst>
          </p:cNvPr>
          <p:cNvSpPr>
            <a:spLocks noChangeArrowheads="1"/>
          </p:cNvSpPr>
          <p:nvPr/>
        </p:nvSpPr>
        <p:spPr bwMode="auto">
          <a:xfrm>
            <a:off x="1584325" y="5432425"/>
            <a:ext cx="11271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 T, pred N</a:t>
            </a:r>
          </a:p>
        </p:txBody>
      </p:sp>
      <p:grpSp>
        <p:nvGrpSpPr>
          <p:cNvPr id="70677" name="Group 117">
            <a:extLst>
              <a:ext uri="{FF2B5EF4-FFF2-40B4-BE49-F238E27FC236}">
                <a16:creationId xmlns:a16="http://schemas.microsoft.com/office/drawing/2014/main" id="{40D67B60-F3C2-9C4C-A7F6-665FB66F347E}"/>
              </a:ext>
            </a:extLst>
          </p:cNvPr>
          <p:cNvGrpSpPr>
            <a:grpSpLocks/>
          </p:cNvGrpSpPr>
          <p:nvPr/>
        </p:nvGrpSpPr>
        <p:grpSpPr bwMode="auto">
          <a:xfrm>
            <a:off x="1965325" y="3756025"/>
            <a:ext cx="1644650" cy="1495425"/>
            <a:chOff x="1238" y="2366"/>
            <a:chExt cx="1036" cy="942"/>
          </a:xfrm>
        </p:grpSpPr>
        <p:sp>
          <p:nvSpPr>
            <p:cNvPr id="70747" name="Rectangle 118">
              <a:extLst>
                <a:ext uri="{FF2B5EF4-FFF2-40B4-BE49-F238E27FC236}">
                  <a16:creationId xmlns:a16="http://schemas.microsoft.com/office/drawing/2014/main" id="{1BFCFA0E-6282-CD4E-A1C5-4DF235E53A02}"/>
                </a:ext>
              </a:extLst>
            </p:cNvPr>
            <p:cNvSpPr>
              <a:spLocks noChangeArrowheads="1"/>
            </p:cNvSpPr>
            <p:nvPr/>
          </p:nvSpPr>
          <p:spPr bwMode="auto">
            <a:xfrm>
              <a:off x="1876" y="25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11</a:t>
              </a:r>
            </a:p>
          </p:txBody>
        </p:sp>
        <p:sp>
          <p:nvSpPr>
            <p:cNvPr id="70748" name="Rectangle 119">
              <a:extLst>
                <a:ext uri="{FF2B5EF4-FFF2-40B4-BE49-F238E27FC236}">
                  <a16:creationId xmlns:a16="http://schemas.microsoft.com/office/drawing/2014/main" id="{9014AC4F-07EE-954B-BDD4-DA521F430FC7}"/>
                </a:ext>
              </a:extLst>
            </p:cNvPr>
            <p:cNvSpPr>
              <a:spLocks noChangeArrowheads="1"/>
            </p:cNvSpPr>
            <p:nvPr/>
          </p:nvSpPr>
          <p:spPr bwMode="auto">
            <a:xfrm>
              <a:off x="1876" y="27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749" name="Rectangle 120">
              <a:extLst>
                <a:ext uri="{FF2B5EF4-FFF2-40B4-BE49-F238E27FC236}">
                  <a16:creationId xmlns:a16="http://schemas.microsoft.com/office/drawing/2014/main" id="{D67017D8-75AE-4542-857F-181E972FDE85}"/>
                </a:ext>
              </a:extLst>
            </p:cNvPr>
            <p:cNvSpPr>
              <a:spLocks noChangeArrowheads="1"/>
            </p:cNvSpPr>
            <p:nvPr/>
          </p:nvSpPr>
          <p:spPr bwMode="auto">
            <a:xfrm>
              <a:off x="1876" y="29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10</a:t>
              </a:r>
            </a:p>
          </p:txBody>
        </p:sp>
        <p:sp>
          <p:nvSpPr>
            <p:cNvPr id="70750" name="Rectangle 121">
              <a:extLst>
                <a:ext uri="{FF2B5EF4-FFF2-40B4-BE49-F238E27FC236}">
                  <a16:creationId xmlns:a16="http://schemas.microsoft.com/office/drawing/2014/main" id="{68738AF2-A651-214F-B9C5-4326B6AA54DA}"/>
                </a:ext>
              </a:extLst>
            </p:cNvPr>
            <p:cNvSpPr>
              <a:spLocks noChangeArrowheads="1"/>
            </p:cNvSpPr>
            <p:nvPr/>
          </p:nvSpPr>
          <p:spPr bwMode="auto">
            <a:xfrm>
              <a:off x="1876" y="31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10</a:t>
              </a:r>
            </a:p>
          </p:txBody>
        </p:sp>
        <p:sp>
          <p:nvSpPr>
            <p:cNvPr id="70751" name="Rectangle 122">
              <a:extLst>
                <a:ext uri="{FF2B5EF4-FFF2-40B4-BE49-F238E27FC236}">
                  <a16:creationId xmlns:a16="http://schemas.microsoft.com/office/drawing/2014/main" id="{53ECAE9D-F93A-EA42-AE93-8324A02B2B31}"/>
                </a:ext>
              </a:extLst>
            </p:cNvPr>
            <p:cNvSpPr>
              <a:spLocks noChangeArrowheads="1"/>
            </p:cNvSpPr>
            <p:nvPr/>
          </p:nvSpPr>
          <p:spPr bwMode="auto">
            <a:xfrm>
              <a:off x="1862" y="2366"/>
              <a:ext cx="2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PT</a:t>
              </a:r>
            </a:p>
          </p:txBody>
        </p:sp>
        <p:sp>
          <p:nvSpPr>
            <p:cNvPr id="70752" name="Rectangle 123">
              <a:extLst>
                <a:ext uri="{FF2B5EF4-FFF2-40B4-BE49-F238E27FC236}">
                  <a16:creationId xmlns:a16="http://schemas.microsoft.com/office/drawing/2014/main" id="{45535EED-6A36-E04B-A760-158F46BA9116}"/>
                </a:ext>
              </a:extLst>
            </p:cNvPr>
            <p:cNvSpPr>
              <a:spLocks noChangeArrowheads="1"/>
            </p:cNvSpPr>
            <p:nvPr/>
          </p:nvSpPr>
          <p:spPr bwMode="auto">
            <a:xfrm>
              <a:off x="1492" y="25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01</a:t>
              </a:r>
            </a:p>
          </p:txBody>
        </p:sp>
        <p:sp>
          <p:nvSpPr>
            <p:cNvPr id="70753" name="Rectangle 124">
              <a:extLst>
                <a:ext uri="{FF2B5EF4-FFF2-40B4-BE49-F238E27FC236}">
                  <a16:creationId xmlns:a16="http://schemas.microsoft.com/office/drawing/2014/main" id="{121171B1-496B-3C4A-9E16-95A20CB6A451}"/>
                </a:ext>
              </a:extLst>
            </p:cNvPr>
            <p:cNvSpPr>
              <a:spLocks noChangeArrowheads="1"/>
            </p:cNvSpPr>
            <p:nvPr/>
          </p:nvSpPr>
          <p:spPr bwMode="auto">
            <a:xfrm>
              <a:off x="1492" y="27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11</a:t>
              </a:r>
            </a:p>
          </p:txBody>
        </p:sp>
        <p:sp>
          <p:nvSpPr>
            <p:cNvPr id="70754" name="Rectangle 125">
              <a:extLst>
                <a:ext uri="{FF2B5EF4-FFF2-40B4-BE49-F238E27FC236}">
                  <a16:creationId xmlns:a16="http://schemas.microsoft.com/office/drawing/2014/main" id="{494CC4A5-5BE1-7D4E-A9EE-1497314E209C}"/>
                </a:ext>
              </a:extLst>
            </p:cNvPr>
            <p:cNvSpPr>
              <a:spLocks noChangeArrowheads="1"/>
            </p:cNvSpPr>
            <p:nvPr/>
          </p:nvSpPr>
          <p:spPr bwMode="auto">
            <a:xfrm>
              <a:off x="1492" y="29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55" name="Rectangle 126">
              <a:extLst>
                <a:ext uri="{FF2B5EF4-FFF2-40B4-BE49-F238E27FC236}">
                  <a16:creationId xmlns:a16="http://schemas.microsoft.com/office/drawing/2014/main" id="{027E0E57-70DE-5A4C-856A-988D66FA7DE3}"/>
                </a:ext>
              </a:extLst>
            </p:cNvPr>
            <p:cNvSpPr>
              <a:spLocks noChangeArrowheads="1"/>
            </p:cNvSpPr>
            <p:nvPr/>
          </p:nvSpPr>
          <p:spPr bwMode="auto">
            <a:xfrm>
              <a:off x="1492" y="31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56" name="Rectangle 127">
              <a:extLst>
                <a:ext uri="{FF2B5EF4-FFF2-40B4-BE49-F238E27FC236}">
                  <a16:creationId xmlns:a16="http://schemas.microsoft.com/office/drawing/2014/main" id="{FE2BF474-0591-9142-AE76-5D636A71D369}"/>
                </a:ext>
              </a:extLst>
            </p:cNvPr>
            <p:cNvSpPr>
              <a:spLocks noChangeArrowheads="1"/>
            </p:cNvSpPr>
            <p:nvPr/>
          </p:nvSpPr>
          <p:spPr bwMode="auto">
            <a:xfrm>
              <a:off x="1478" y="2366"/>
              <a:ext cx="26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HT</a:t>
              </a:r>
            </a:p>
          </p:txBody>
        </p:sp>
        <p:sp>
          <p:nvSpPr>
            <p:cNvPr id="70757" name="Rectangle 128">
              <a:extLst>
                <a:ext uri="{FF2B5EF4-FFF2-40B4-BE49-F238E27FC236}">
                  <a16:creationId xmlns:a16="http://schemas.microsoft.com/office/drawing/2014/main" id="{03363F86-3E3D-B14D-9EDA-B7ACAB89834B}"/>
                </a:ext>
              </a:extLst>
            </p:cNvPr>
            <p:cNvSpPr>
              <a:spLocks noChangeArrowheads="1"/>
            </p:cNvSpPr>
            <p:nvPr/>
          </p:nvSpPr>
          <p:spPr bwMode="auto">
            <a:xfrm>
              <a:off x="2102" y="2587"/>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00</a:t>
              </a:r>
            </a:p>
          </p:txBody>
        </p:sp>
        <p:sp>
          <p:nvSpPr>
            <p:cNvPr id="70758" name="Rectangle 129">
              <a:extLst>
                <a:ext uri="{FF2B5EF4-FFF2-40B4-BE49-F238E27FC236}">
                  <a16:creationId xmlns:a16="http://schemas.microsoft.com/office/drawing/2014/main" id="{BFB9D0A1-CBD1-2A41-B09B-D45AFA1D19CF}"/>
                </a:ext>
              </a:extLst>
            </p:cNvPr>
            <p:cNvSpPr>
              <a:spLocks noChangeArrowheads="1"/>
            </p:cNvSpPr>
            <p:nvPr/>
          </p:nvSpPr>
          <p:spPr bwMode="auto">
            <a:xfrm>
              <a:off x="2102" y="2779"/>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01</a:t>
              </a:r>
            </a:p>
          </p:txBody>
        </p:sp>
        <p:sp>
          <p:nvSpPr>
            <p:cNvPr id="70759" name="Rectangle 130">
              <a:extLst>
                <a:ext uri="{FF2B5EF4-FFF2-40B4-BE49-F238E27FC236}">
                  <a16:creationId xmlns:a16="http://schemas.microsoft.com/office/drawing/2014/main" id="{23B6F58F-3605-8F43-9626-A732D75A27D5}"/>
                </a:ext>
              </a:extLst>
            </p:cNvPr>
            <p:cNvSpPr>
              <a:spLocks noChangeArrowheads="1"/>
            </p:cNvSpPr>
            <p:nvPr/>
          </p:nvSpPr>
          <p:spPr bwMode="auto">
            <a:xfrm>
              <a:off x="2102" y="2971"/>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10</a:t>
              </a:r>
            </a:p>
          </p:txBody>
        </p:sp>
        <p:sp>
          <p:nvSpPr>
            <p:cNvPr id="70760" name="Rectangle 131">
              <a:extLst>
                <a:ext uri="{FF2B5EF4-FFF2-40B4-BE49-F238E27FC236}">
                  <a16:creationId xmlns:a16="http://schemas.microsoft.com/office/drawing/2014/main" id="{6F6C7D15-8E09-6048-A32D-2167274150BF}"/>
                </a:ext>
              </a:extLst>
            </p:cNvPr>
            <p:cNvSpPr>
              <a:spLocks noChangeArrowheads="1"/>
            </p:cNvSpPr>
            <p:nvPr/>
          </p:nvSpPr>
          <p:spPr bwMode="auto">
            <a:xfrm>
              <a:off x="2102" y="3163"/>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11</a:t>
              </a:r>
            </a:p>
          </p:txBody>
        </p:sp>
        <p:sp>
          <p:nvSpPr>
            <p:cNvPr id="70761" name="Rectangle 132">
              <a:extLst>
                <a:ext uri="{FF2B5EF4-FFF2-40B4-BE49-F238E27FC236}">
                  <a16:creationId xmlns:a16="http://schemas.microsoft.com/office/drawing/2014/main" id="{9F6E27B8-7354-3643-BF67-F0983035755C}"/>
                </a:ext>
              </a:extLst>
            </p:cNvPr>
            <p:cNvSpPr>
              <a:spLocks noChangeArrowheads="1"/>
            </p:cNvSpPr>
            <p:nvPr/>
          </p:nvSpPr>
          <p:spPr bwMode="auto">
            <a:xfrm>
              <a:off x="1238" y="2558"/>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a:t>
              </a:r>
            </a:p>
          </p:txBody>
        </p:sp>
        <p:sp>
          <p:nvSpPr>
            <p:cNvPr id="70762" name="Rectangle 133">
              <a:extLst>
                <a:ext uri="{FF2B5EF4-FFF2-40B4-BE49-F238E27FC236}">
                  <a16:creationId xmlns:a16="http://schemas.microsoft.com/office/drawing/2014/main" id="{525F5EE9-976F-8049-A9A7-FDB32D2E1E37}"/>
                </a:ext>
              </a:extLst>
            </p:cNvPr>
            <p:cNvSpPr>
              <a:spLocks noChangeArrowheads="1"/>
            </p:cNvSpPr>
            <p:nvPr/>
          </p:nvSpPr>
          <p:spPr bwMode="auto">
            <a:xfrm>
              <a:off x="1238" y="2750"/>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a:t>
              </a:r>
            </a:p>
          </p:txBody>
        </p:sp>
      </p:grpSp>
      <p:sp>
        <p:nvSpPr>
          <p:cNvPr id="70678" name="Rectangle 134">
            <a:extLst>
              <a:ext uri="{FF2B5EF4-FFF2-40B4-BE49-F238E27FC236}">
                <a16:creationId xmlns:a16="http://schemas.microsoft.com/office/drawing/2014/main" id="{2DB941CE-A489-364A-8EE1-27550B1E3E2D}"/>
              </a:ext>
            </a:extLst>
          </p:cNvPr>
          <p:cNvSpPr>
            <a:spLocks noChangeArrowheads="1"/>
          </p:cNvSpPr>
          <p:nvPr/>
        </p:nvSpPr>
        <p:spPr bwMode="auto">
          <a:xfrm>
            <a:off x="3260725" y="5432425"/>
            <a:ext cx="1171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 N, pred N</a:t>
            </a:r>
          </a:p>
        </p:txBody>
      </p:sp>
      <p:grpSp>
        <p:nvGrpSpPr>
          <p:cNvPr id="70679" name="Group 135">
            <a:extLst>
              <a:ext uri="{FF2B5EF4-FFF2-40B4-BE49-F238E27FC236}">
                <a16:creationId xmlns:a16="http://schemas.microsoft.com/office/drawing/2014/main" id="{59C77EF5-6AEC-DD49-AF27-B2B3D547768D}"/>
              </a:ext>
            </a:extLst>
          </p:cNvPr>
          <p:cNvGrpSpPr>
            <a:grpSpLocks/>
          </p:cNvGrpSpPr>
          <p:nvPr/>
        </p:nvGrpSpPr>
        <p:grpSpPr bwMode="auto">
          <a:xfrm>
            <a:off x="3565525" y="3756025"/>
            <a:ext cx="1644650" cy="1495425"/>
            <a:chOff x="2246" y="2366"/>
            <a:chExt cx="1036" cy="942"/>
          </a:xfrm>
        </p:grpSpPr>
        <p:sp>
          <p:nvSpPr>
            <p:cNvPr id="70731" name="Rectangle 136">
              <a:extLst>
                <a:ext uri="{FF2B5EF4-FFF2-40B4-BE49-F238E27FC236}">
                  <a16:creationId xmlns:a16="http://schemas.microsoft.com/office/drawing/2014/main" id="{C1217D12-ED1F-6A45-8FCF-8067001051A0}"/>
                </a:ext>
              </a:extLst>
            </p:cNvPr>
            <p:cNvSpPr>
              <a:spLocks noChangeArrowheads="1"/>
            </p:cNvSpPr>
            <p:nvPr/>
          </p:nvSpPr>
          <p:spPr bwMode="auto">
            <a:xfrm>
              <a:off x="2884" y="25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11</a:t>
              </a:r>
            </a:p>
          </p:txBody>
        </p:sp>
        <p:sp>
          <p:nvSpPr>
            <p:cNvPr id="70732" name="Rectangle 137">
              <a:extLst>
                <a:ext uri="{FF2B5EF4-FFF2-40B4-BE49-F238E27FC236}">
                  <a16:creationId xmlns:a16="http://schemas.microsoft.com/office/drawing/2014/main" id="{0A97A119-8D24-3349-B019-C4A0626BA7DD}"/>
                </a:ext>
              </a:extLst>
            </p:cNvPr>
            <p:cNvSpPr>
              <a:spLocks noChangeArrowheads="1"/>
            </p:cNvSpPr>
            <p:nvPr/>
          </p:nvSpPr>
          <p:spPr bwMode="auto">
            <a:xfrm>
              <a:off x="2884" y="27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00</a:t>
              </a:r>
            </a:p>
          </p:txBody>
        </p:sp>
        <p:sp>
          <p:nvSpPr>
            <p:cNvPr id="70733" name="Rectangle 138">
              <a:extLst>
                <a:ext uri="{FF2B5EF4-FFF2-40B4-BE49-F238E27FC236}">
                  <a16:creationId xmlns:a16="http://schemas.microsoft.com/office/drawing/2014/main" id="{17F18329-23CD-2E42-81BC-90ABB0F8BD7E}"/>
                </a:ext>
              </a:extLst>
            </p:cNvPr>
            <p:cNvSpPr>
              <a:spLocks noChangeArrowheads="1"/>
            </p:cNvSpPr>
            <p:nvPr/>
          </p:nvSpPr>
          <p:spPr bwMode="auto">
            <a:xfrm>
              <a:off x="2884" y="29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10</a:t>
              </a:r>
            </a:p>
          </p:txBody>
        </p:sp>
        <p:sp>
          <p:nvSpPr>
            <p:cNvPr id="70734" name="Rectangle 139">
              <a:extLst>
                <a:ext uri="{FF2B5EF4-FFF2-40B4-BE49-F238E27FC236}">
                  <a16:creationId xmlns:a16="http://schemas.microsoft.com/office/drawing/2014/main" id="{F199C1D7-1FBB-9249-9106-F9173335B77B}"/>
                </a:ext>
              </a:extLst>
            </p:cNvPr>
            <p:cNvSpPr>
              <a:spLocks noChangeArrowheads="1"/>
            </p:cNvSpPr>
            <p:nvPr/>
          </p:nvSpPr>
          <p:spPr bwMode="auto">
            <a:xfrm>
              <a:off x="2884" y="31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10</a:t>
              </a:r>
            </a:p>
          </p:txBody>
        </p:sp>
        <p:sp>
          <p:nvSpPr>
            <p:cNvPr id="70735" name="Rectangle 140">
              <a:extLst>
                <a:ext uri="{FF2B5EF4-FFF2-40B4-BE49-F238E27FC236}">
                  <a16:creationId xmlns:a16="http://schemas.microsoft.com/office/drawing/2014/main" id="{A32A8D7D-B96E-714D-B6A5-9DA98BF82542}"/>
                </a:ext>
              </a:extLst>
            </p:cNvPr>
            <p:cNvSpPr>
              <a:spLocks noChangeArrowheads="1"/>
            </p:cNvSpPr>
            <p:nvPr/>
          </p:nvSpPr>
          <p:spPr bwMode="auto">
            <a:xfrm>
              <a:off x="2870" y="2366"/>
              <a:ext cx="2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PT</a:t>
              </a:r>
            </a:p>
          </p:txBody>
        </p:sp>
        <p:sp>
          <p:nvSpPr>
            <p:cNvPr id="70736" name="Rectangle 141">
              <a:extLst>
                <a:ext uri="{FF2B5EF4-FFF2-40B4-BE49-F238E27FC236}">
                  <a16:creationId xmlns:a16="http://schemas.microsoft.com/office/drawing/2014/main" id="{FE4B9010-F96A-3B4E-87B2-E6C5E45A72B2}"/>
                </a:ext>
              </a:extLst>
            </p:cNvPr>
            <p:cNvSpPr>
              <a:spLocks noChangeArrowheads="1"/>
            </p:cNvSpPr>
            <p:nvPr/>
          </p:nvSpPr>
          <p:spPr bwMode="auto">
            <a:xfrm>
              <a:off x="2500" y="25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10</a:t>
              </a:r>
            </a:p>
          </p:txBody>
        </p:sp>
        <p:sp>
          <p:nvSpPr>
            <p:cNvPr id="70737" name="Rectangle 142">
              <a:extLst>
                <a:ext uri="{FF2B5EF4-FFF2-40B4-BE49-F238E27FC236}">
                  <a16:creationId xmlns:a16="http://schemas.microsoft.com/office/drawing/2014/main" id="{474DC851-65E4-3E42-A451-47421509A99E}"/>
                </a:ext>
              </a:extLst>
            </p:cNvPr>
            <p:cNvSpPr>
              <a:spLocks noChangeArrowheads="1"/>
            </p:cNvSpPr>
            <p:nvPr/>
          </p:nvSpPr>
          <p:spPr bwMode="auto">
            <a:xfrm>
              <a:off x="2500" y="27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11</a:t>
              </a:r>
            </a:p>
          </p:txBody>
        </p:sp>
        <p:sp>
          <p:nvSpPr>
            <p:cNvPr id="70738" name="Rectangle 143">
              <a:extLst>
                <a:ext uri="{FF2B5EF4-FFF2-40B4-BE49-F238E27FC236}">
                  <a16:creationId xmlns:a16="http://schemas.microsoft.com/office/drawing/2014/main" id="{4A095AB8-D347-C34C-A698-A5D4CD495D4F}"/>
                </a:ext>
              </a:extLst>
            </p:cNvPr>
            <p:cNvSpPr>
              <a:spLocks noChangeArrowheads="1"/>
            </p:cNvSpPr>
            <p:nvPr/>
          </p:nvSpPr>
          <p:spPr bwMode="auto">
            <a:xfrm>
              <a:off x="2500" y="29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39" name="Rectangle 144">
              <a:extLst>
                <a:ext uri="{FF2B5EF4-FFF2-40B4-BE49-F238E27FC236}">
                  <a16:creationId xmlns:a16="http://schemas.microsoft.com/office/drawing/2014/main" id="{829FC5C0-642C-4D4F-BFE2-CC0A5EC83240}"/>
                </a:ext>
              </a:extLst>
            </p:cNvPr>
            <p:cNvSpPr>
              <a:spLocks noChangeArrowheads="1"/>
            </p:cNvSpPr>
            <p:nvPr/>
          </p:nvSpPr>
          <p:spPr bwMode="auto">
            <a:xfrm>
              <a:off x="2500" y="31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40" name="Rectangle 145">
              <a:extLst>
                <a:ext uri="{FF2B5EF4-FFF2-40B4-BE49-F238E27FC236}">
                  <a16:creationId xmlns:a16="http://schemas.microsoft.com/office/drawing/2014/main" id="{5264ADB9-6825-FA49-A710-3F4E3A46D336}"/>
                </a:ext>
              </a:extLst>
            </p:cNvPr>
            <p:cNvSpPr>
              <a:spLocks noChangeArrowheads="1"/>
            </p:cNvSpPr>
            <p:nvPr/>
          </p:nvSpPr>
          <p:spPr bwMode="auto">
            <a:xfrm>
              <a:off x="2486" y="2366"/>
              <a:ext cx="26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HT</a:t>
              </a:r>
            </a:p>
          </p:txBody>
        </p:sp>
        <p:sp>
          <p:nvSpPr>
            <p:cNvPr id="70741" name="Rectangle 146">
              <a:extLst>
                <a:ext uri="{FF2B5EF4-FFF2-40B4-BE49-F238E27FC236}">
                  <a16:creationId xmlns:a16="http://schemas.microsoft.com/office/drawing/2014/main" id="{D3C80FB4-415A-0C4F-9120-63B93911F34A}"/>
                </a:ext>
              </a:extLst>
            </p:cNvPr>
            <p:cNvSpPr>
              <a:spLocks noChangeArrowheads="1"/>
            </p:cNvSpPr>
            <p:nvPr/>
          </p:nvSpPr>
          <p:spPr bwMode="auto">
            <a:xfrm>
              <a:off x="3110" y="2587"/>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00</a:t>
              </a:r>
            </a:p>
          </p:txBody>
        </p:sp>
        <p:sp>
          <p:nvSpPr>
            <p:cNvPr id="70742" name="Rectangle 147">
              <a:extLst>
                <a:ext uri="{FF2B5EF4-FFF2-40B4-BE49-F238E27FC236}">
                  <a16:creationId xmlns:a16="http://schemas.microsoft.com/office/drawing/2014/main" id="{E9CA1C40-A8EE-454C-95F8-2FE66764AE3B}"/>
                </a:ext>
              </a:extLst>
            </p:cNvPr>
            <p:cNvSpPr>
              <a:spLocks noChangeArrowheads="1"/>
            </p:cNvSpPr>
            <p:nvPr/>
          </p:nvSpPr>
          <p:spPr bwMode="auto">
            <a:xfrm>
              <a:off x="3110" y="2779"/>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01</a:t>
              </a:r>
            </a:p>
          </p:txBody>
        </p:sp>
        <p:sp>
          <p:nvSpPr>
            <p:cNvPr id="70743" name="Rectangle 148">
              <a:extLst>
                <a:ext uri="{FF2B5EF4-FFF2-40B4-BE49-F238E27FC236}">
                  <a16:creationId xmlns:a16="http://schemas.microsoft.com/office/drawing/2014/main" id="{559F0C7E-802A-A242-B236-4DFE5292EDA5}"/>
                </a:ext>
              </a:extLst>
            </p:cNvPr>
            <p:cNvSpPr>
              <a:spLocks noChangeArrowheads="1"/>
            </p:cNvSpPr>
            <p:nvPr/>
          </p:nvSpPr>
          <p:spPr bwMode="auto">
            <a:xfrm>
              <a:off x="3110" y="2971"/>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10</a:t>
              </a:r>
            </a:p>
          </p:txBody>
        </p:sp>
        <p:sp>
          <p:nvSpPr>
            <p:cNvPr id="70744" name="Rectangle 149">
              <a:extLst>
                <a:ext uri="{FF2B5EF4-FFF2-40B4-BE49-F238E27FC236}">
                  <a16:creationId xmlns:a16="http://schemas.microsoft.com/office/drawing/2014/main" id="{D81B9A7F-3C0E-1542-B8DE-1E8264EC2104}"/>
                </a:ext>
              </a:extLst>
            </p:cNvPr>
            <p:cNvSpPr>
              <a:spLocks noChangeArrowheads="1"/>
            </p:cNvSpPr>
            <p:nvPr/>
          </p:nvSpPr>
          <p:spPr bwMode="auto">
            <a:xfrm>
              <a:off x="3110" y="3163"/>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11</a:t>
              </a:r>
            </a:p>
          </p:txBody>
        </p:sp>
        <p:sp>
          <p:nvSpPr>
            <p:cNvPr id="70745" name="Rectangle 150">
              <a:extLst>
                <a:ext uri="{FF2B5EF4-FFF2-40B4-BE49-F238E27FC236}">
                  <a16:creationId xmlns:a16="http://schemas.microsoft.com/office/drawing/2014/main" id="{7DCC4F9A-E92C-E044-BF1D-2CA714DB87EE}"/>
                </a:ext>
              </a:extLst>
            </p:cNvPr>
            <p:cNvSpPr>
              <a:spLocks noChangeArrowheads="1"/>
            </p:cNvSpPr>
            <p:nvPr/>
          </p:nvSpPr>
          <p:spPr bwMode="auto">
            <a:xfrm>
              <a:off x="2246" y="2558"/>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a:t>
              </a:r>
            </a:p>
          </p:txBody>
        </p:sp>
        <p:sp>
          <p:nvSpPr>
            <p:cNvPr id="70746" name="Rectangle 151">
              <a:extLst>
                <a:ext uri="{FF2B5EF4-FFF2-40B4-BE49-F238E27FC236}">
                  <a16:creationId xmlns:a16="http://schemas.microsoft.com/office/drawing/2014/main" id="{EC196C8B-6867-704A-8BC0-C04206B9B3B2}"/>
                </a:ext>
              </a:extLst>
            </p:cNvPr>
            <p:cNvSpPr>
              <a:spLocks noChangeArrowheads="1"/>
            </p:cNvSpPr>
            <p:nvPr/>
          </p:nvSpPr>
          <p:spPr bwMode="auto">
            <a:xfrm>
              <a:off x="2246" y="2750"/>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a:t>
              </a:r>
            </a:p>
          </p:txBody>
        </p:sp>
      </p:grpSp>
      <p:sp>
        <p:nvSpPr>
          <p:cNvPr id="70680" name="Line 152">
            <a:extLst>
              <a:ext uri="{FF2B5EF4-FFF2-40B4-BE49-F238E27FC236}">
                <a16:creationId xmlns:a16="http://schemas.microsoft.com/office/drawing/2014/main" id="{DA01CD28-7879-DB40-902B-B5E07A3E3EA8}"/>
              </a:ext>
            </a:extLst>
          </p:cNvPr>
          <p:cNvSpPr>
            <a:spLocks noChangeShapeType="1"/>
          </p:cNvSpPr>
          <p:nvPr/>
        </p:nvSpPr>
        <p:spPr bwMode="auto">
          <a:xfrm>
            <a:off x="1676400" y="5105400"/>
            <a:ext cx="838200" cy="3810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81" name="Line 153">
            <a:extLst>
              <a:ext uri="{FF2B5EF4-FFF2-40B4-BE49-F238E27FC236}">
                <a16:creationId xmlns:a16="http://schemas.microsoft.com/office/drawing/2014/main" id="{F24BFCD6-B0EA-B342-9913-49BA8C52DF3C}"/>
              </a:ext>
            </a:extLst>
          </p:cNvPr>
          <p:cNvSpPr>
            <a:spLocks noChangeShapeType="1"/>
          </p:cNvSpPr>
          <p:nvPr/>
        </p:nvSpPr>
        <p:spPr bwMode="auto">
          <a:xfrm>
            <a:off x="3276600" y="4572000"/>
            <a:ext cx="914400" cy="9906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70682" name="Group 154">
            <a:extLst>
              <a:ext uri="{FF2B5EF4-FFF2-40B4-BE49-F238E27FC236}">
                <a16:creationId xmlns:a16="http://schemas.microsoft.com/office/drawing/2014/main" id="{CFBC13F7-6778-5149-9EC1-A6A718987D8F}"/>
              </a:ext>
            </a:extLst>
          </p:cNvPr>
          <p:cNvGrpSpPr>
            <a:grpSpLocks/>
          </p:cNvGrpSpPr>
          <p:nvPr/>
        </p:nvGrpSpPr>
        <p:grpSpPr bwMode="auto">
          <a:xfrm>
            <a:off x="5089525" y="3756025"/>
            <a:ext cx="1644650" cy="1495425"/>
            <a:chOff x="3206" y="2366"/>
            <a:chExt cx="1036" cy="942"/>
          </a:xfrm>
        </p:grpSpPr>
        <p:sp>
          <p:nvSpPr>
            <p:cNvPr id="70715" name="Rectangle 155">
              <a:extLst>
                <a:ext uri="{FF2B5EF4-FFF2-40B4-BE49-F238E27FC236}">
                  <a16:creationId xmlns:a16="http://schemas.microsoft.com/office/drawing/2014/main" id="{6C48D875-36AD-1742-8B0B-A6B519C394EF}"/>
                </a:ext>
              </a:extLst>
            </p:cNvPr>
            <p:cNvSpPr>
              <a:spLocks noChangeArrowheads="1"/>
            </p:cNvSpPr>
            <p:nvPr/>
          </p:nvSpPr>
          <p:spPr bwMode="auto">
            <a:xfrm>
              <a:off x="3844" y="25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11</a:t>
              </a:r>
            </a:p>
          </p:txBody>
        </p:sp>
        <p:sp>
          <p:nvSpPr>
            <p:cNvPr id="70716" name="Rectangle 156">
              <a:extLst>
                <a:ext uri="{FF2B5EF4-FFF2-40B4-BE49-F238E27FC236}">
                  <a16:creationId xmlns:a16="http://schemas.microsoft.com/office/drawing/2014/main" id="{17259768-E385-F146-BE32-AEDC311FB83E}"/>
                </a:ext>
              </a:extLst>
            </p:cNvPr>
            <p:cNvSpPr>
              <a:spLocks noChangeArrowheads="1"/>
            </p:cNvSpPr>
            <p:nvPr/>
          </p:nvSpPr>
          <p:spPr bwMode="auto">
            <a:xfrm>
              <a:off x="3844" y="27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17" name="Rectangle 157">
              <a:extLst>
                <a:ext uri="{FF2B5EF4-FFF2-40B4-BE49-F238E27FC236}">
                  <a16:creationId xmlns:a16="http://schemas.microsoft.com/office/drawing/2014/main" id="{1EC2F46F-8774-7E44-90BF-07D6F39DC885}"/>
                </a:ext>
              </a:extLst>
            </p:cNvPr>
            <p:cNvSpPr>
              <a:spLocks noChangeArrowheads="1"/>
            </p:cNvSpPr>
            <p:nvPr/>
          </p:nvSpPr>
          <p:spPr bwMode="auto">
            <a:xfrm>
              <a:off x="3844" y="29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10</a:t>
              </a:r>
            </a:p>
          </p:txBody>
        </p:sp>
        <p:sp>
          <p:nvSpPr>
            <p:cNvPr id="70718" name="Rectangle 158">
              <a:extLst>
                <a:ext uri="{FF2B5EF4-FFF2-40B4-BE49-F238E27FC236}">
                  <a16:creationId xmlns:a16="http://schemas.microsoft.com/office/drawing/2014/main" id="{A8701A3A-026D-DD46-B50A-A2590922E2BA}"/>
                </a:ext>
              </a:extLst>
            </p:cNvPr>
            <p:cNvSpPr>
              <a:spLocks noChangeArrowheads="1"/>
            </p:cNvSpPr>
            <p:nvPr/>
          </p:nvSpPr>
          <p:spPr bwMode="auto">
            <a:xfrm>
              <a:off x="3844" y="31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11</a:t>
              </a:r>
            </a:p>
          </p:txBody>
        </p:sp>
        <p:sp>
          <p:nvSpPr>
            <p:cNvPr id="70719" name="Rectangle 159">
              <a:extLst>
                <a:ext uri="{FF2B5EF4-FFF2-40B4-BE49-F238E27FC236}">
                  <a16:creationId xmlns:a16="http://schemas.microsoft.com/office/drawing/2014/main" id="{9F55BE29-017B-914C-8570-62F98FF6D1A0}"/>
                </a:ext>
              </a:extLst>
            </p:cNvPr>
            <p:cNvSpPr>
              <a:spLocks noChangeArrowheads="1"/>
            </p:cNvSpPr>
            <p:nvPr/>
          </p:nvSpPr>
          <p:spPr bwMode="auto">
            <a:xfrm>
              <a:off x="3830" y="2366"/>
              <a:ext cx="2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PT</a:t>
              </a:r>
            </a:p>
          </p:txBody>
        </p:sp>
        <p:sp>
          <p:nvSpPr>
            <p:cNvPr id="70720" name="Rectangle 160">
              <a:extLst>
                <a:ext uri="{FF2B5EF4-FFF2-40B4-BE49-F238E27FC236}">
                  <a16:creationId xmlns:a16="http://schemas.microsoft.com/office/drawing/2014/main" id="{7C062CAE-7306-9F42-A588-D74156C6B898}"/>
                </a:ext>
              </a:extLst>
            </p:cNvPr>
            <p:cNvSpPr>
              <a:spLocks noChangeArrowheads="1"/>
            </p:cNvSpPr>
            <p:nvPr/>
          </p:nvSpPr>
          <p:spPr bwMode="auto">
            <a:xfrm>
              <a:off x="3460" y="25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10</a:t>
              </a:r>
            </a:p>
          </p:txBody>
        </p:sp>
        <p:sp>
          <p:nvSpPr>
            <p:cNvPr id="70721" name="Rectangle 161">
              <a:extLst>
                <a:ext uri="{FF2B5EF4-FFF2-40B4-BE49-F238E27FC236}">
                  <a16:creationId xmlns:a16="http://schemas.microsoft.com/office/drawing/2014/main" id="{83F3E283-035D-8B4E-A36F-E9509C169538}"/>
                </a:ext>
              </a:extLst>
            </p:cNvPr>
            <p:cNvSpPr>
              <a:spLocks noChangeArrowheads="1"/>
            </p:cNvSpPr>
            <p:nvPr/>
          </p:nvSpPr>
          <p:spPr bwMode="auto">
            <a:xfrm>
              <a:off x="3460" y="27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11</a:t>
              </a:r>
            </a:p>
          </p:txBody>
        </p:sp>
        <p:sp>
          <p:nvSpPr>
            <p:cNvPr id="70722" name="Rectangle 162">
              <a:extLst>
                <a:ext uri="{FF2B5EF4-FFF2-40B4-BE49-F238E27FC236}">
                  <a16:creationId xmlns:a16="http://schemas.microsoft.com/office/drawing/2014/main" id="{DB1B900E-AE13-0B48-8D18-911CA2557B23}"/>
                </a:ext>
              </a:extLst>
            </p:cNvPr>
            <p:cNvSpPr>
              <a:spLocks noChangeArrowheads="1"/>
            </p:cNvSpPr>
            <p:nvPr/>
          </p:nvSpPr>
          <p:spPr bwMode="auto">
            <a:xfrm>
              <a:off x="3460" y="29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23" name="Rectangle 163">
              <a:extLst>
                <a:ext uri="{FF2B5EF4-FFF2-40B4-BE49-F238E27FC236}">
                  <a16:creationId xmlns:a16="http://schemas.microsoft.com/office/drawing/2014/main" id="{3D338A62-589E-E544-96DD-E4F8BE31792B}"/>
                </a:ext>
              </a:extLst>
            </p:cNvPr>
            <p:cNvSpPr>
              <a:spLocks noChangeArrowheads="1"/>
            </p:cNvSpPr>
            <p:nvPr/>
          </p:nvSpPr>
          <p:spPr bwMode="auto">
            <a:xfrm>
              <a:off x="3460" y="31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24" name="Rectangle 164">
              <a:extLst>
                <a:ext uri="{FF2B5EF4-FFF2-40B4-BE49-F238E27FC236}">
                  <a16:creationId xmlns:a16="http://schemas.microsoft.com/office/drawing/2014/main" id="{7E5006D0-5D4D-F840-A2CA-39A3E417C442}"/>
                </a:ext>
              </a:extLst>
            </p:cNvPr>
            <p:cNvSpPr>
              <a:spLocks noChangeArrowheads="1"/>
            </p:cNvSpPr>
            <p:nvPr/>
          </p:nvSpPr>
          <p:spPr bwMode="auto">
            <a:xfrm>
              <a:off x="3446" y="2366"/>
              <a:ext cx="26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HT</a:t>
              </a:r>
            </a:p>
          </p:txBody>
        </p:sp>
        <p:sp>
          <p:nvSpPr>
            <p:cNvPr id="70725" name="Rectangle 165">
              <a:extLst>
                <a:ext uri="{FF2B5EF4-FFF2-40B4-BE49-F238E27FC236}">
                  <a16:creationId xmlns:a16="http://schemas.microsoft.com/office/drawing/2014/main" id="{E9EB4446-E75E-604B-93E7-E5F78DDBDC70}"/>
                </a:ext>
              </a:extLst>
            </p:cNvPr>
            <p:cNvSpPr>
              <a:spLocks noChangeArrowheads="1"/>
            </p:cNvSpPr>
            <p:nvPr/>
          </p:nvSpPr>
          <p:spPr bwMode="auto">
            <a:xfrm>
              <a:off x="4070" y="2587"/>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00</a:t>
              </a:r>
            </a:p>
          </p:txBody>
        </p:sp>
        <p:sp>
          <p:nvSpPr>
            <p:cNvPr id="70726" name="Rectangle 166">
              <a:extLst>
                <a:ext uri="{FF2B5EF4-FFF2-40B4-BE49-F238E27FC236}">
                  <a16:creationId xmlns:a16="http://schemas.microsoft.com/office/drawing/2014/main" id="{3C09FBE2-DC45-0B49-849C-7F0A78631950}"/>
                </a:ext>
              </a:extLst>
            </p:cNvPr>
            <p:cNvSpPr>
              <a:spLocks noChangeArrowheads="1"/>
            </p:cNvSpPr>
            <p:nvPr/>
          </p:nvSpPr>
          <p:spPr bwMode="auto">
            <a:xfrm>
              <a:off x="4070" y="2779"/>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01</a:t>
              </a:r>
            </a:p>
          </p:txBody>
        </p:sp>
        <p:sp>
          <p:nvSpPr>
            <p:cNvPr id="70727" name="Rectangle 167">
              <a:extLst>
                <a:ext uri="{FF2B5EF4-FFF2-40B4-BE49-F238E27FC236}">
                  <a16:creationId xmlns:a16="http://schemas.microsoft.com/office/drawing/2014/main" id="{A6FBEB62-96D4-654E-A688-5A22C52F551A}"/>
                </a:ext>
              </a:extLst>
            </p:cNvPr>
            <p:cNvSpPr>
              <a:spLocks noChangeArrowheads="1"/>
            </p:cNvSpPr>
            <p:nvPr/>
          </p:nvSpPr>
          <p:spPr bwMode="auto">
            <a:xfrm>
              <a:off x="4070" y="2971"/>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10</a:t>
              </a:r>
            </a:p>
          </p:txBody>
        </p:sp>
        <p:sp>
          <p:nvSpPr>
            <p:cNvPr id="70728" name="Rectangle 168">
              <a:extLst>
                <a:ext uri="{FF2B5EF4-FFF2-40B4-BE49-F238E27FC236}">
                  <a16:creationId xmlns:a16="http://schemas.microsoft.com/office/drawing/2014/main" id="{D3E631B3-8DDA-A142-8414-36F232DA7474}"/>
                </a:ext>
              </a:extLst>
            </p:cNvPr>
            <p:cNvSpPr>
              <a:spLocks noChangeArrowheads="1"/>
            </p:cNvSpPr>
            <p:nvPr/>
          </p:nvSpPr>
          <p:spPr bwMode="auto">
            <a:xfrm>
              <a:off x="4070" y="3163"/>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11</a:t>
              </a:r>
            </a:p>
          </p:txBody>
        </p:sp>
        <p:sp>
          <p:nvSpPr>
            <p:cNvPr id="70729" name="Rectangle 169">
              <a:extLst>
                <a:ext uri="{FF2B5EF4-FFF2-40B4-BE49-F238E27FC236}">
                  <a16:creationId xmlns:a16="http://schemas.microsoft.com/office/drawing/2014/main" id="{F6CC7704-7866-8248-8E9A-10BC701969E8}"/>
                </a:ext>
              </a:extLst>
            </p:cNvPr>
            <p:cNvSpPr>
              <a:spLocks noChangeArrowheads="1"/>
            </p:cNvSpPr>
            <p:nvPr/>
          </p:nvSpPr>
          <p:spPr bwMode="auto">
            <a:xfrm>
              <a:off x="3206" y="2558"/>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a:t>
              </a:r>
            </a:p>
          </p:txBody>
        </p:sp>
        <p:sp>
          <p:nvSpPr>
            <p:cNvPr id="70730" name="Rectangle 170">
              <a:extLst>
                <a:ext uri="{FF2B5EF4-FFF2-40B4-BE49-F238E27FC236}">
                  <a16:creationId xmlns:a16="http://schemas.microsoft.com/office/drawing/2014/main" id="{6561B0D2-E42D-BB4E-B1B7-CB268859BA0E}"/>
                </a:ext>
              </a:extLst>
            </p:cNvPr>
            <p:cNvSpPr>
              <a:spLocks noChangeArrowheads="1"/>
            </p:cNvSpPr>
            <p:nvPr/>
          </p:nvSpPr>
          <p:spPr bwMode="auto">
            <a:xfrm>
              <a:off x="3206" y="2750"/>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a:t>
              </a:r>
            </a:p>
          </p:txBody>
        </p:sp>
      </p:grpSp>
      <p:sp>
        <p:nvSpPr>
          <p:cNvPr id="70683" name="Rectangle 171">
            <a:extLst>
              <a:ext uri="{FF2B5EF4-FFF2-40B4-BE49-F238E27FC236}">
                <a16:creationId xmlns:a16="http://schemas.microsoft.com/office/drawing/2014/main" id="{E18ADB56-6982-2B4A-B694-0AEDF1BAEECF}"/>
              </a:ext>
            </a:extLst>
          </p:cNvPr>
          <p:cNvSpPr>
            <a:spLocks noChangeArrowheads="1"/>
          </p:cNvSpPr>
          <p:nvPr/>
        </p:nvSpPr>
        <p:spPr bwMode="auto">
          <a:xfrm>
            <a:off x="4860925" y="5432425"/>
            <a:ext cx="1103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 T, pred T</a:t>
            </a:r>
          </a:p>
        </p:txBody>
      </p:sp>
      <p:sp>
        <p:nvSpPr>
          <p:cNvPr id="70684" name="Line 172">
            <a:extLst>
              <a:ext uri="{FF2B5EF4-FFF2-40B4-BE49-F238E27FC236}">
                <a16:creationId xmlns:a16="http://schemas.microsoft.com/office/drawing/2014/main" id="{CB9D52C5-DBEF-FF47-83FF-2D8F7A94410D}"/>
              </a:ext>
            </a:extLst>
          </p:cNvPr>
          <p:cNvSpPr>
            <a:spLocks noChangeShapeType="1"/>
          </p:cNvSpPr>
          <p:nvPr/>
        </p:nvSpPr>
        <p:spPr bwMode="auto">
          <a:xfrm>
            <a:off x="4876800" y="5181600"/>
            <a:ext cx="914400" cy="3048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85" name="Rectangle 173">
            <a:extLst>
              <a:ext uri="{FF2B5EF4-FFF2-40B4-BE49-F238E27FC236}">
                <a16:creationId xmlns:a16="http://schemas.microsoft.com/office/drawing/2014/main" id="{C6FDDEB4-3703-2644-BAE4-A5BD34BB0C3C}"/>
              </a:ext>
            </a:extLst>
          </p:cNvPr>
          <p:cNvSpPr>
            <a:spLocks noChangeArrowheads="1"/>
          </p:cNvSpPr>
          <p:nvPr/>
        </p:nvSpPr>
        <p:spPr bwMode="auto">
          <a:xfrm>
            <a:off x="6232525" y="5432425"/>
            <a:ext cx="1103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 T, pred T</a:t>
            </a:r>
          </a:p>
        </p:txBody>
      </p:sp>
      <p:grpSp>
        <p:nvGrpSpPr>
          <p:cNvPr id="70686" name="Group 174">
            <a:extLst>
              <a:ext uri="{FF2B5EF4-FFF2-40B4-BE49-F238E27FC236}">
                <a16:creationId xmlns:a16="http://schemas.microsoft.com/office/drawing/2014/main" id="{1A2A3F26-E8D8-4B4F-9F19-FC4B049EA471}"/>
              </a:ext>
            </a:extLst>
          </p:cNvPr>
          <p:cNvGrpSpPr>
            <a:grpSpLocks/>
          </p:cNvGrpSpPr>
          <p:nvPr/>
        </p:nvGrpSpPr>
        <p:grpSpPr bwMode="auto">
          <a:xfrm>
            <a:off x="6613525" y="3756025"/>
            <a:ext cx="1644650" cy="1495425"/>
            <a:chOff x="4166" y="2366"/>
            <a:chExt cx="1036" cy="942"/>
          </a:xfrm>
        </p:grpSpPr>
        <p:sp>
          <p:nvSpPr>
            <p:cNvPr id="70699" name="Rectangle 175">
              <a:extLst>
                <a:ext uri="{FF2B5EF4-FFF2-40B4-BE49-F238E27FC236}">
                  <a16:creationId xmlns:a16="http://schemas.microsoft.com/office/drawing/2014/main" id="{00665E79-E2E6-0A4F-A34E-2C294CF3D806}"/>
                </a:ext>
              </a:extLst>
            </p:cNvPr>
            <p:cNvSpPr>
              <a:spLocks noChangeArrowheads="1"/>
            </p:cNvSpPr>
            <p:nvPr/>
          </p:nvSpPr>
          <p:spPr bwMode="auto">
            <a:xfrm>
              <a:off x="4804" y="25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11</a:t>
              </a:r>
            </a:p>
          </p:txBody>
        </p:sp>
        <p:sp>
          <p:nvSpPr>
            <p:cNvPr id="70700" name="Rectangle 176">
              <a:extLst>
                <a:ext uri="{FF2B5EF4-FFF2-40B4-BE49-F238E27FC236}">
                  <a16:creationId xmlns:a16="http://schemas.microsoft.com/office/drawing/2014/main" id="{B3778B96-1E24-CE47-AA91-D4C0C7DC09D9}"/>
                </a:ext>
              </a:extLst>
            </p:cNvPr>
            <p:cNvSpPr>
              <a:spLocks noChangeArrowheads="1"/>
            </p:cNvSpPr>
            <p:nvPr/>
          </p:nvSpPr>
          <p:spPr bwMode="auto">
            <a:xfrm>
              <a:off x="4804" y="27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01" name="Rectangle 177">
              <a:extLst>
                <a:ext uri="{FF2B5EF4-FFF2-40B4-BE49-F238E27FC236}">
                  <a16:creationId xmlns:a16="http://schemas.microsoft.com/office/drawing/2014/main" id="{BA893F87-AD9C-9C44-8BC8-595D4D0864B6}"/>
                </a:ext>
              </a:extLst>
            </p:cNvPr>
            <p:cNvSpPr>
              <a:spLocks noChangeArrowheads="1"/>
            </p:cNvSpPr>
            <p:nvPr/>
          </p:nvSpPr>
          <p:spPr bwMode="auto">
            <a:xfrm>
              <a:off x="4804" y="29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11</a:t>
              </a:r>
            </a:p>
          </p:txBody>
        </p:sp>
        <p:sp>
          <p:nvSpPr>
            <p:cNvPr id="70702" name="Rectangle 178">
              <a:extLst>
                <a:ext uri="{FF2B5EF4-FFF2-40B4-BE49-F238E27FC236}">
                  <a16:creationId xmlns:a16="http://schemas.microsoft.com/office/drawing/2014/main" id="{B4EABC92-702D-3B46-AC9F-90C97F9F54F6}"/>
                </a:ext>
              </a:extLst>
            </p:cNvPr>
            <p:cNvSpPr>
              <a:spLocks noChangeArrowheads="1"/>
            </p:cNvSpPr>
            <p:nvPr/>
          </p:nvSpPr>
          <p:spPr bwMode="auto">
            <a:xfrm>
              <a:off x="4804" y="31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11</a:t>
              </a:r>
            </a:p>
          </p:txBody>
        </p:sp>
        <p:sp>
          <p:nvSpPr>
            <p:cNvPr id="70703" name="Rectangle 179">
              <a:extLst>
                <a:ext uri="{FF2B5EF4-FFF2-40B4-BE49-F238E27FC236}">
                  <a16:creationId xmlns:a16="http://schemas.microsoft.com/office/drawing/2014/main" id="{A8C88C62-04C8-6446-8EC3-279777427359}"/>
                </a:ext>
              </a:extLst>
            </p:cNvPr>
            <p:cNvSpPr>
              <a:spLocks noChangeArrowheads="1"/>
            </p:cNvSpPr>
            <p:nvPr/>
          </p:nvSpPr>
          <p:spPr bwMode="auto">
            <a:xfrm>
              <a:off x="4790" y="2366"/>
              <a:ext cx="26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PT</a:t>
              </a:r>
            </a:p>
          </p:txBody>
        </p:sp>
        <p:sp>
          <p:nvSpPr>
            <p:cNvPr id="70704" name="Rectangle 180">
              <a:extLst>
                <a:ext uri="{FF2B5EF4-FFF2-40B4-BE49-F238E27FC236}">
                  <a16:creationId xmlns:a16="http://schemas.microsoft.com/office/drawing/2014/main" id="{460D73DA-8CB8-0649-A24C-5E34102D161A}"/>
                </a:ext>
              </a:extLst>
            </p:cNvPr>
            <p:cNvSpPr>
              <a:spLocks noChangeArrowheads="1"/>
            </p:cNvSpPr>
            <p:nvPr/>
          </p:nvSpPr>
          <p:spPr bwMode="auto">
            <a:xfrm>
              <a:off x="4420" y="2548"/>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u="sng">
                  <a:latin typeface="Arial" panose="020B0604020202020204" pitchFamily="34" charset="0"/>
                </a:rPr>
                <a:t>01</a:t>
              </a:r>
            </a:p>
          </p:txBody>
        </p:sp>
        <p:sp>
          <p:nvSpPr>
            <p:cNvPr id="70705" name="Rectangle 181">
              <a:extLst>
                <a:ext uri="{FF2B5EF4-FFF2-40B4-BE49-F238E27FC236}">
                  <a16:creationId xmlns:a16="http://schemas.microsoft.com/office/drawing/2014/main" id="{7EB73C64-217B-E649-8549-BA7F17CE4F09}"/>
                </a:ext>
              </a:extLst>
            </p:cNvPr>
            <p:cNvSpPr>
              <a:spLocks noChangeArrowheads="1"/>
            </p:cNvSpPr>
            <p:nvPr/>
          </p:nvSpPr>
          <p:spPr bwMode="auto">
            <a:xfrm>
              <a:off x="4420" y="2740"/>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11</a:t>
              </a:r>
            </a:p>
          </p:txBody>
        </p:sp>
        <p:sp>
          <p:nvSpPr>
            <p:cNvPr id="70706" name="Rectangle 182">
              <a:extLst>
                <a:ext uri="{FF2B5EF4-FFF2-40B4-BE49-F238E27FC236}">
                  <a16:creationId xmlns:a16="http://schemas.microsoft.com/office/drawing/2014/main" id="{F6CD9FC5-AD2E-BE43-9323-A4AA7CC0BF08}"/>
                </a:ext>
              </a:extLst>
            </p:cNvPr>
            <p:cNvSpPr>
              <a:spLocks noChangeArrowheads="1"/>
            </p:cNvSpPr>
            <p:nvPr/>
          </p:nvSpPr>
          <p:spPr bwMode="auto">
            <a:xfrm>
              <a:off x="4420" y="2932"/>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07" name="Rectangle 183">
              <a:extLst>
                <a:ext uri="{FF2B5EF4-FFF2-40B4-BE49-F238E27FC236}">
                  <a16:creationId xmlns:a16="http://schemas.microsoft.com/office/drawing/2014/main" id="{63C5FD75-E68C-F742-ACE8-49078C99581E}"/>
                </a:ext>
              </a:extLst>
            </p:cNvPr>
            <p:cNvSpPr>
              <a:spLocks noChangeArrowheads="1"/>
            </p:cNvSpPr>
            <p:nvPr/>
          </p:nvSpPr>
          <p:spPr bwMode="auto">
            <a:xfrm>
              <a:off x="4420" y="3124"/>
              <a:ext cx="280" cy="184"/>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00</a:t>
              </a:r>
            </a:p>
          </p:txBody>
        </p:sp>
        <p:sp>
          <p:nvSpPr>
            <p:cNvPr id="70708" name="Rectangle 184">
              <a:extLst>
                <a:ext uri="{FF2B5EF4-FFF2-40B4-BE49-F238E27FC236}">
                  <a16:creationId xmlns:a16="http://schemas.microsoft.com/office/drawing/2014/main" id="{D6E87E37-F476-C14D-9500-C3ED61A87864}"/>
                </a:ext>
              </a:extLst>
            </p:cNvPr>
            <p:cNvSpPr>
              <a:spLocks noChangeArrowheads="1"/>
            </p:cNvSpPr>
            <p:nvPr/>
          </p:nvSpPr>
          <p:spPr bwMode="auto">
            <a:xfrm>
              <a:off x="4406" y="2366"/>
              <a:ext cx="26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HT</a:t>
              </a:r>
            </a:p>
          </p:txBody>
        </p:sp>
        <p:sp>
          <p:nvSpPr>
            <p:cNvPr id="70709" name="Rectangle 185">
              <a:extLst>
                <a:ext uri="{FF2B5EF4-FFF2-40B4-BE49-F238E27FC236}">
                  <a16:creationId xmlns:a16="http://schemas.microsoft.com/office/drawing/2014/main" id="{B56C6C9F-E50E-EC47-AB88-FFC8F391D92F}"/>
                </a:ext>
              </a:extLst>
            </p:cNvPr>
            <p:cNvSpPr>
              <a:spLocks noChangeArrowheads="1"/>
            </p:cNvSpPr>
            <p:nvPr/>
          </p:nvSpPr>
          <p:spPr bwMode="auto">
            <a:xfrm>
              <a:off x="5030" y="2587"/>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00</a:t>
              </a:r>
            </a:p>
          </p:txBody>
        </p:sp>
        <p:sp>
          <p:nvSpPr>
            <p:cNvPr id="70710" name="Rectangle 186">
              <a:extLst>
                <a:ext uri="{FF2B5EF4-FFF2-40B4-BE49-F238E27FC236}">
                  <a16:creationId xmlns:a16="http://schemas.microsoft.com/office/drawing/2014/main" id="{B2D9D80A-703B-A44A-AE1D-2951610C5632}"/>
                </a:ext>
              </a:extLst>
            </p:cNvPr>
            <p:cNvSpPr>
              <a:spLocks noChangeArrowheads="1"/>
            </p:cNvSpPr>
            <p:nvPr/>
          </p:nvSpPr>
          <p:spPr bwMode="auto">
            <a:xfrm>
              <a:off x="5030" y="2779"/>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01</a:t>
              </a:r>
            </a:p>
          </p:txBody>
        </p:sp>
        <p:sp>
          <p:nvSpPr>
            <p:cNvPr id="70711" name="Rectangle 187">
              <a:extLst>
                <a:ext uri="{FF2B5EF4-FFF2-40B4-BE49-F238E27FC236}">
                  <a16:creationId xmlns:a16="http://schemas.microsoft.com/office/drawing/2014/main" id="{A2679765-7349-8F4C-829E-A121559780BF}"/>
                </a:ext>
              </a:extLst>
            </p:cNvPr>
            <p:cNvSpPr>
              <a:spLocks noChangeArrowheads="1"/>
            </p:cNvSpPr>
            <p:nvPr/>
          </p:nvSpPr>
          <p:spPr bwMode="auto">
            <a:xfrm>
              <a:off x="5030" y="2971"/>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10</a:t>
              </a:r>
            </a:p>
          </p:txBody>
        </p:sp>
        <p:sp>
          <p:nvSpPr>
            <p:cNvPr id="70712" name="Rectangle 188">
              <a:extLst>
                <a:ext uri="{FF2B5EF4-FFF2-40B4-BE49-F238E27FC236}">
                  <a16:creationId xmlns:a16="http://schemas.microsoft.com/office/drawing/2014/main" id="{444A0265-D0C6-B04B-AB95-F4902E3D4FFA}"/>
                </a:ext>
              </a:extLst>
            </p:cNvPr>
            <p:cNvSpPr>
              <a:spLocks noChangeArrowheads="1"/>
            </p:cNvSpPr>
            <p:nvPr/>
          </p:nvSpPr>
          <p:spPr bwMode="auto">
            <a:xfrm>
              <a:off x="5030" y="3163"/>
              <a:ext cx="17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600">
                  <a:latin typeface="Arial" panose="020B0604020202020204" pitchFamily="34" charset="0"/>
                </a:rPr>
                <a:t>11</a:t>
              </a:r>
            </a:p>
          </p:txBody>
        </p:sp>
        <p:sp>
          <p:nvSpPr>
            <p:cNvPr id="70713" name="Rectangle 189">
              <a:extLst>
                <a:ext uri="{FF2B5EF4-FFF2-40B4-BE49-F238E27FC236}">
                  <a16:creationId xmlns:a16="http://schemas.microsoft.com/office/drawing/2014/main" id="{2F8A4A87-D5F2-4C4E-ADB7-9C2E7631B471}"/>
                </a:ext>
              </a:extLst>
            </p:cNvPr>
            <p:cNvSpPr>
              <a:spLocks noChangeArrowheads="1"/>
            </p:cNvSpPr>
            <p:nvPr/>
          </p:nvSpPr>
          <p:spPr bwMode="auto">
            <a:xfrm>
              <a:off x="4166" y="2558"/>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A:</a:t>
              </a:r>
            </a:p>
          </p:txBody>
        </p:sp>
        <p:sp>
          <p:nvSpPr>
            <p:cNvPr id="70714" name="Rectangle 190">
              <a:extLst>
                <a:ext uri="{FF2B5EF4-FFF2-40B4-BE49-F238E27FC236}">
                  <a16:creationId xmlns:a16="http://schemas.microsoft.com/office/drawing/2014/main" id="{9289115C-C445-264C-95CB-B9B2CA4708FF}"/>
                </a:ext>
              </a:extLst>
            </p:cNvPr>
            <p:cNvSpPr>
              <a:spLocks noChangeArrowheads="1"/>
            </p:cNvSpPr>
            <p:nvPr/>
          </p:nvSpPr>
          <p:spPr bwMode="auto">
            <a:xfrm>
              <a:off x="4166" y="2750"/>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B:</a:t>
              </a:r>
            </a:p>
          </p:txBody>
        </p:sp>
      </p:grpSp>
      <p:sp>
        <p:nvSpPr>
          <p:cNvPr id="70687" name="Line 191">
            <a:extLst>
              <a:ext uri="{FF2B5EF4-FFF2-40B4-BE49-F238E27FC236}">
                <a16:creationId xmlns:a16="http://schemas.microsoft.com/office/drawing/2014/main" id="{286EAA9F-4D67-034D-B4B5-D5969383F38D}"/>
              </a:ext>
            </a:extLst>
          </p:cNvPr>
          <p:cNvSpPr>
            <a:spLocks noChangeShapeType="1"/>
          </p:cNvSpPr>
          <p:nvPr/>
        </p:nvSpPr>
        <p:spPr bwMode="auto">
          <a:xfrm>
            <a:off x="6477000" y="4876800"/>
            <a:ext cx="685800" cy="6096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88" name="Rectangle 192">
            <a:extLst>
              <a:ext uri="{FF2B5EF4-FFF2-40B4-BE49-F238E27FC236}">
                <a16:creationId xmlns:a16="http://schemas.microsoft.com/office/drawing/2014/main" id="{C6726653-08C8-2E4F-A40C-22E44FFF42DE}"/>
              </a:ext>
            </a:extLst>
          </p:cNvPr>
          <p:cNvSpPr>
            <a:spLocks noChangeArrowheads="1"/>
          </p:cNvSpPr>
          <p:nvPr/>
        </p:nvSpPr>
        <p:spPr bwMode="auto">
          <a:xfrm>
            <a:off x="6080125" y="5837238"/>
            <a:ext cx="2759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200" b="1" i="1">
                <a:solidFill>
                  <a:schemeClr val="tx1"/>
                </a:solidFill>
                <a:latin typeface="Arial" panose="020B0604020202020204" pitchFamily="34" charset="0"/>
              </a:rPr>
              <a:t>PT entries 01, 10 are </a:t>
            </a:r>
            <a:r>
              <a:rPr lang="ja-JP" altLang="en-US" sz="1200" b="1" i="1">
                <a:solidFill>
                  <a:schemeClr val="tx1"/>
                </a:solidFill>
                <a:latin typeface="Arial" panose="020B0604020202020204" pitchFamily="34" charset="0"/>
              </a:rPr>
              <a:t>“</a:t>
            </a:r>
            <a:r>
              <a:rPr lang="en-US" altLang="ja-JP" sz="1200" b="1" i="1">
                <a:solidFill>
                  <a:schemeClr val="tx1"/>
                </a:solidFill>
                <a:latin typeface="Arial" panose="020B0604020202020204" pitchFamily="34" charset="0"/>
              </a:rPr>
              <a:t>trained</a:t>
            </a:r>
            <a:r>
              <a:rPr lang="ja-JP" altLang="en-US" sz="1200" b="1" i="1">
                <a:solidFill>
                  <a:schemeClr val="tx1"/>
                </a:solidFill>
                <a:latin typeface="Arial" panose="020B0604020202020204" pitchFamily="34" charset="0"/>
              </a:rPr>
              <a:t>”</a:t>
            </a:r>
            <a:r>
              <a:rPr lang="en-US" altLang="ja-JP" sz="1200" b="1" i="1">
                <a:solidFill>
                  <a:schemeClr val="tx1"/>
                </a:solidFill>
                <a:latin typeface="Arial" panose="020B0604020202020204" pitchFamily="34" charset="0"/>
              </a:rPr>
              <a:t> for A</a:t>
            </a:r>
          </a:p>
          <a:p>
            <a:pPr>
              <a:spcBef>
                <a:spcPct val="0"/>
              </a:spcBef>
              <a:buClrTx/>
              <a:buSzTx/>
              <a:buFontTx/>
              <a:buNone/>
            </a:pPr>
            <a:r>
              <a:rPr lang="en-US" altLang="en-US" sz="1200" b="1" i="1">
                <a:solidFill>
                  <a:schemeClr val="tx1"/>
                </a:solidFill>
                <a:latin typeface="Arial" panose="020B0604020202020204" pitchFamily="34" charset="0"/>
              </a:rPr>
              <a:t>and 11 is </a:t>
            </a:r>
            <a:r>
              <a:rPr lang="ja-JP" altLang="en-US" sz="1200" b="1" i="1">
                <a:solidFill>
                  <a:schemeClr val="tx1"/>
                </a:solidFill>
                <a:latin typeface="Arial" panose="020B0604020202020204" pitchFamily="34" charset="0"/>
              </a:rPr>
              <a:t>“</a:t>
            </a:r>
            <a:r>
              <a:rPr lang="en-US" altLang="ja-JP" sz="1200" b="1" i="1">
                <a:solidFill>
                  <a:schemeClr val="tx1"/>
                </a:solidFill>
                <a:latin typeface="Arial" panose="020B0604020202020204" pitchFamily="34" charset="0"/>
              </a:rPr>
              <a:t>trained</a:t>
            </a:r>
            <a:r>
              <a:rPr lang="ja-JP" altLang="en-US" sz="1200" b="1" i="1">
                <a:solidFill>
                  <a:schemeClr val="tx1"/>
                </a:solidFill>
                <a:latin typeface="Arial" panose="020B0604020202020204" pitchFamily="34" charset="0"/>
              </a:rPr>
              <a:t>”</a:t>
            </a:r>
            <a:r>
              <a:rPr lang="en-US" altLang="ja-JP" sz="1200" b="1" i="1">
                <a:solidFill>
                  <a:schemeClr val="tx1"/>
                </a:solidFill>
                <a:latin typeface="Arial" panose="020B0604020202020204" pitchFamily="34" charset="0"/>
              </a:rPr>
              <a:t> for B</a:t>
            </a:r>
            <a:endParaRPr lang="en-US" altLang="en-US" sz="1200" b="1" i="1">
              <a:solidFill>
                <a:schemeClr val="tx1"/>
              </a:solidFill>
              <a:latin typeface="Arial" panose="020B0604020202020204" pitchFamily="34" charset="0"/>
            </a:endParaRPr>
          </a:p>
        </p:txBody>
      </p:sp>
      <p:sp>
        <p:nvSpPr>
          <p:cNvPr id="70689" name="Rectangle 193">
            <a:extLst>
              <a:ext uri="{FF2B5EF4-FFF2-40B4-BE49-F238E27FC236}">
                <a16:creationId xmlns:a16="http://schemas.microsoft.com/office/drawing/2014/main" id="{B3826AEF-C093-5243-BBAA-2B072370DBF3}"/>
              </a:ext>
            </a:extLst>
          </p:cNvPr>
          <p:cNvSpPr>
            <a:spLocks noChangeArrowheads="1"/>
          </p:cNvSpPr>
          <p:nvPr/>
        </p:nvSpPr>
        <p:spPr bwMode="auto">
          <a:xfrm>
            <a:off x="593725" y="5889625"/>
            <a:ext cx="4481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In general: provides 96-98% accuracy for integer code</a:t>
            </a:r>
          </a:p>
        </p:txBody>
      </p:sp>
      <p:sp>
        <p:nvSpPr>
          <p:cNvPr id="70690" name="Line 194">
            <a:extLst>
              <a:ext uri="{FF2B5EF4-FFF2-40B4-BE49-F238E27FC236}">
                <a16:creationId xmlns:a16="http://schemas.microsoft.com/office/drawing/2014/main" id="{7FE7A880-7F7A-9D40-81B4-D06664AA2A5C}"/>
              </a:ext>
            </a:extLst>
          </p:cNvPr>
          <p:cNvSpPr>
            <a:spLocks noChangeShapeType="1"/>
          </p:cNvSpPr>
          <p:nvPr/>
        </p:nvSpPr>
        <p:spPr bwMode="auto">
          <a:xfrm>
            <a:off x="990600" y="2286000"/>
            <a:ext cx="152400" cy="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91" name="Line 195">
            <a:extLst>
              <a:ext uri="{FF2B5EF4-FFF2-40B4-BE49-F238E27FC236}">
                <a16:creationId xmlns:a16="http://schemas.microsoft.com/office/drawing/2014/main" id="{E01FCF86-40DC-1D4A-B6AA-CE588F364304}"/>
              </a:ext>
            </a:extLst>
          </p:cNvPr>
          <p:cNvSpPr>
            <a:spLocks noChangeShapeType="1"/>
          </p:cNvSpPr>
          <p:nvPr/>
        </p:nvSpPr>
        <p:spPr bwMode="auto">
          <a:xfrm flipV="1">
            <a:off x="2667000" y="2362200"/>
            <a:ext cx="152400" cy="2286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92" name="Line 196">
            <a:extLst>
              <a:ext uri="{FF2B5EF4-FFF2-40B4-BE49-F238E27FC236}">
                <a16:creationId xmlns:a16="http://schemas.microsoft.com/office/drawing/2014/main" id="{6340DF03-90D1-F944-B046-C5F3D874B79D}"/>
              </a:ext>
            </a:extLst>
          </p:cNvPr>
          <p:cNvSpPr>
            <a:spLocks noChangeShapeType="1"/>
          </p:cNvSpPr>
          <p:nvPr/>
        </p:nvSpPr>
        <p:spPr bwMode="auto">
          <a:xfrm>
            <a:off x="4267200" y="2286000"/>
            <a:ext cx="152400" cy="3048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93" name="Line 197">
            <a:extLst>
              <a:ext uri="{FF2B5EF4-FFF2-40B4-BE49-F238E27FC236}">
                <a16:creationId xmlns:a16="http://schemas.microsoft.com/office/drawing/2014/main" id="{24D470A3-1CBD-6046-A962-B4FF186262EB}"/>
              </a:ext>
            </a:extLst>
          </p:cNvPr>
          <p:cNvSpPr>
            <a:spLocks noChangeShapeType="1"/>
          </p:cNvSpPr>
          <p:nvPr/>
        </p:nvSpPr>
        <p:spPr bwMode="auto">
          <a:xfrm>
            <a:off x="5943600" y="2590800"/>
            <a:ext cx="152400" cy="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94" name="Line 198">
            <a:extLst>
              <a:ext uri="{FF2B5EF4-FFF2-40B4-BE49-F238E27FC236}">
                <a16:creationId xmlns:a16="http://schemas.microsoft.com/office/drawing/2014/main" id="{08F504CC-028E-974B-9163-6D66DCBE12A5}"/>
              </a:ext>
            </a:extLst>
          </p:cNvPr>
          <p:cNvSpPr>
            <a:spLocks noChangeShapeType="1"/>
          </p:cNvSpPr>
          <p:nvPr/>
        </p:nvSpPr>
        <p:spPr bwMode="auto">
          <a:xfrm>
            <a:off x="7696200" y="2362200"/>
            <a:ext cx="153988" cy="6096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95" name="Line 199">
            <a:extLst>
              <a:ext uri="{FF2B5EF4-FFF2-40B4-BE49-F238E27FC236}">
                <a16:creationId xmlns:a16="http://schemas.microsoft.com/office/drawing/2014/main" id="{DC197ED5-B416-0F40-9C22-7E810903CA52}"/>
              </a:ext>
            </a:extLst>
          </p:cNvPr>
          <p:cNvSpPr>
            <a:spLocks noChangeShapeType="1"/>
          </p:cNvSpPr>
          <p:nvPr/>
        </p:nvSpPr>
        <p:spPr bwMode="auto">
          <a:xfrm>
            <a:off x="1219200" y="4495800"/>
            <a:ext cx="153988" cy="6096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96" name="Line 200">
            <a:extLst>
              <a:ext uri="{FF2B5EF4-FFF2-40B4-BE49-F238E27FC236}">
                <a16:creationId xmlns:a16="http://schemas.microsoft.com/office/drawing/2014/main" id="{605F1936-C49C-C545-B297-CA391D0362A5}"/>
              </a:ext>
            </a:extLst>
          </p:cNvPr>
          <p:cNvSpPr>
            <a:spLocks noChangeShapeType="1"/>
          </p:cNvSpPr>
          <p:nvPr/>
        </p:nvSpPr>
        <p:spPr bwMode="auto">
          <a:xfrm>
            <a:off x="2819400" y="4267200"/>
            <a:ext cx="152400" cy="3048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97" name="Line 201">
            <a:extLst>
              <a:ext uri="{FF2B5EF4-FFF2-40B4-BE49-F238E27FC236}">
                <a16:creationId xmlns:a16="http://schemas.microsoft.com/office/drawing/2014/main" id="{5CDF2689-11D9-284A-BA53-1379DACC8A74}"/>
              </a:ext>
            </a:extLst>
          </p:cNvPr>
          <p:cNvSpPr>
            <a:spLocks noChangeShapeType="1"/>
          </p:cNvSpPr>
          <p:nvPr/>
        </p:nvSpPr>
        <p:spPr bwMode="auto">
          <a:xfrm>
            <a:off x="4419600" y="4495800"/>
            <a:ext cx="152400" cy="6096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98" name="Line 202">
            <a:extLst>
              <a:ext uri="{FF2B5EF4-FFF2-40B4-BE49-F238E27FC236}">
                <a16:creationId xmlns:a16="http://schemas.microsoft.com/office/drawing/2014/main" id="{D541EA5E-E79A-1946-A788-A53651E37AD3}"/>
              </a:ext>
            </a:extLst>
          </p:cNvPr>
          <p:cNvSpPr>
            <a:spLocks noChangeShapeType="1"/>
          </p:cNvSpPr>
          <p:nvPr/>
        </p:nvSpPr>
        <p:spPr bwMode="auto">
          <a:xfrm>
            <a:off x="5943600" y="4191000"/>
            <a:ext cx="152400" cy="609600"/>
          </a:xfrm>
          <a:prstGeom prst="line">
            <a:avLst/>
          </a:prstGeom>
          <a:noFill/>
          <a:ln w="12700">
            <a:solidFill>
              <a:schemeClr val="tx1"/>
            </a:solidFill>
            <a:prstDash val="dash"/>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4C022DB7-05E1-094F-9C08-51CA25DFB406}"/>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Hybrid/Tournament Predictors</a:t>
            </a:r>
          </a:p>
        </p:txBody>
      </p:sp>
      <p:sp>
        <p:nvSpPr>
          <p:cNvPr id="72707" name="Rectangle 12">
            <a:extLst>
              <a:ext uri="{FF2B5EF4-FFF2-40B4-BE49-F238E27FC236}">
                <a16:creationId xmlns:a16="http://schemas.microsoft.com/office/drawing/2014/main" id="{16851E7A-F818-5043-BB58-73C5C5C72B41}"/>
              </a:ext>
            </a:extLst>
          </p:cNvPr>
          <p:cNvSpPr>
            <a:spLocks noGrp="1" noChangeArrowheads="1"/>
          </p:cNvSpPr>
          <p:nvPr>
            <p:ph idx="1"/>
          </p:nvPr>
        </p:nvSpPr>
        <p:spPr/>
        <p:txBody>
          <a:bodyPr/>
          <a:lstStyle/>
          <a:p>
            <a:pPr>
              <a:lnSpc>
                <a:spcPct val="80000"/>
              </a:lnSpc>
            </a:pPr>
            <a:endParaRPr lang="en-US" altLang="en-US"/>
          </a:p>
          <a:p>
            <a:pPr>
              <a:lnSpc>
                <a:spcPct val="80000"/>
              </a:lnSpc>
            </a:pPr>
            <a:endParaRPr lang="en-US" altLang="en-US"/>
          </a:p>
          <a:p>
            <a:pPr>
              <a:lnSpc>
                <a:spcPct val="80000"/>
              </a:lnSpc>
            </a:pPr>
            <a:endParaRPr lang="en-US" altLang="en-US"/>
          </a:p>
          <a:p>
            <a:pPr>
              <a:lnSpc>
                <a:spcPct val="80000"/>
              </a:lnSpc>
            </a:pPr>
            <a:endParaRPr lang="en-US" altLang="en-US"/>
          </a:p>
          <a:p>
            <a:pPr>
              <a:lnSpc>
                <a:spcPct val="80000"/>
              </a:lnSpc>
            </a:pPr>
            <a:endParaRPr lang="en-US" altLang="en-US"/>
          </a:p>
          <a:p>
            <a:pPr>
              <a:lnSpc>
                <a:spcPct val="80000"/>
              </a:lnSpc>
            </a:pPr>
            <a:endParaRPr lang="en-US" altLang="en-US"/>
          </a:p>
          <a:p>
            <a:pPr>
              <a:lnSpc>
                <a:spcPct val="80000"/>
              </a:lnSpc>
            </a:pPr>
            <a:endParaRPr lang="en-US" altLang="en-US"/>
          </a:p>
          <a:p>
            <a:pPr>
              <a:lnSpc>
                <a:spcPct val="80000"/>
              </a:lnSpc>
            </a:pPr>
            <a:endParaRPr lang="en-US" altLang="en-US"/>
          </a:p>
          <a:p>
            <a:pPr>
              <a:lnSpc>
                <a:spcPct val="80000"/>
              </a:lnSpc>
            </a:pPr>
            <a:r>
              <a:rPr lang="en-US" altLang="en-US"/>
              <a:t>Both predictors supply a prediction-- pipeline uses only one</a:t>
            </a:r>
          </a:p>
          <a:p>
            <a:pPr>
              <a:lnSpc>
                <a:spcPct val="80000"/>
              </a:lnSpc>
            </a:pPr>
            <a:r>
              <a:rPr lang="en-US" altLang="en-US"/>
              <a:t>Chooser updated based on which predictor was correct</a:t>
            </a:r>
          </a:p>
          <a:p>
            <a:pPr lvl="1">
              <a:lnSpc>
                <a:spcPct val="80000"/>
              </a:lnSpc>
            </a:pPr>
            <a:r>
              <a:rPr lang="en-US" altLang="en-US" sz="2000"/>
              <a:t>Increment chooser counter if #1 was correct, decrement if #2 was correct</a:t>
            </a:r>
          </a:p>
        </p:txBody>
      </p:sp>
      <p:sp>
        <p:nvSpPr>
          <p:cNvPr id="72708" name="Rectangle 3">
            <a:extLst>
              <a:ext uri="{FF2B5EF4-FFF2-40B4-BE49-F238E27FC236}">
                <a16:creationId xmlns:a16="http://schemas.microsoft.com/office/drawing/2014/main" id="{A761CD4F-28C9-A64F-B712-7803AF79A75B}"/>
              </a:ext>
            </a:extLst>
          </p:cNvPr>
          <p:cNvSpPr>
            <a:spLocks noChangeArrowheads="1"/>
          </p:cNvSpPr>
          <p:nvPr/>
        </p:nvSpPr>
        <p:spPr bwMode="auto">
          <a:xfrm>
            <a:off x="3505200" y="1447800"/>
            <a:ext cx="1295400" cy="2133600"/>
          </a:xfrm>
          <a:prstGeom prst="rect">
            <a:avLst/>
          </a:prstGeom>
          <a:solidFill>
            <a:schemeClr val="bg1"/>
          </a:solidFill>
          <a:ln w="12700">
            <a:solidFill>
              <a:schemeClr val="tx1"/>
            </a:solidFill>
            <a:miter lim="800000"/>
            <a:headEnd type="none" w="sm" len="sm"/>
            <a:tailEnd type="none" w="sm" len="sm"/>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Predictor</a:t>
            </a:r>
          </a:p>
          <a:p>
            <a:pPr algn="ctr">
              <a:spcBef>
                <a:spcPct val="0"/>
              </a:spcBef>
              <a:buClrTx/>
              <a:buSzTx/>
              <a:buFontTx/>
              <a:buNone/>
            </a:pPr>
            <a:r>
              <a:rPr lang="en-US" altLang="en-US" sz="1400">
                <a:latin typeface="Arial" panose="020B0604020202020204" pitchFamily="34" charset="0"/>
              </a:rPr>
              <a:t>#1</a:t>
            </a:r>
          </a:p>
          <a:p>
            <a:pPr algn="ctr">
              <a:spcBef>
                <a:spcPct val="0"/>
              </a:spcBef>
              <a:buClrTx/>
              <a:buSzTx/>
              <a:buFontTx/>
              <a:buNone/>
            </a:pPr>
            <a:r>
              <a:rPr lang="en-US" altLang="en-US" sz="1400">
                <a:latin typeface="Arial" panose="020B0604020202020204" pitchFamily="34" charset="0"/>
              </a:rPr>
              <a:t>(e.g., gshare)</a:t>
            </a:r>
          </a:p>
        </p:txBody>
      </p:sp>
      <p:sp>
        <p:nvSpPr>
          <p:cNvPr id="72709" name="Rectangle 4">
            <a:extLst>
              <a:ext uri="{FF2B5EF4-FFF2-40B4-BE49-F238E27FC236}">
                <a16:creationId xmlns:a16="http://schemas.microsoft.com/office/drawing/2014/main" id="{43D66751-8C5E-564A-BDD7-DD0C72E2D0F8}"/>
              </a:ext>
            </a:extLst>
          </p:cNvPr>
          <p:cNvSpPr>
            <a:spLocks noChangeArrowheads="1"/>
          </p:cNvSpPr>
          <p:nvPr/>
        </p:nvSpPr>
        <p:spPr bwMode="auto">
          <a:xfrm>
            <a:off x="5334000" y="1447800"/>
            <a:ext cx="1295400" cy="2133600"/>
          </a:xfrm>
          <a:prstGeom prst="rect">
            <a:avLst/>
          </a:prstGeom>
          <a:solidFill>
            <a:schemeClr val="bg1"/>
          </a:solidFill>
          <a:ln w="12700">
            <a:solidFill>
              <a:schemeClr val="tx1"/>
            </a:solidFill>
            <a:miter lim="800000"/>
            <a:headEnd type="none" w="sm" len="sm"/>
            <a:tailEnd type="none" w="sm" len="sm"/>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Predictor</a:t>
            </a:r>
          </a:p>
          <a:p>
            <a:pPr algn="ctr">
              <a:spcBef>
                <a:spcPct val="0"/>
              </a:spcBef>
              <a:buClrTx/>
              <a:buSzTx/>
              <a:buFontTx/>
              <a:buNone/>
            </a:pPr>
            <a:r>
              <a:rPr lang="en-US" altLang="en-US" sz="1400">
                <a:latin typeface="Arial" panose="020B0604020202020204" pitchFamily="34" charset="0"/>
              </a:rPr>
              <a:t>#2</a:t>
            </a:r>
          </a:p>
          <a:p>
            <a:pPr algn="ctr">
              <a:spcBef>
                <a:spcPct val="0"/>
              </a:spcBef>
              <a:buClrTx/>
              <a:buSzTx/>
              <a:buFontTx/>
              <a:buNone/>
            </a:pPr>
            <a:r>
              <a:rPr lang="en-US" altLang="en-US" sz="1400">
                <a:latin typeface="Arial" panose="020B0604020202020204" pitchFamily="34" charset="0"/>
              </a:rPr>
              <a:t>(eg, bimodal)</a:t>
            </a:r>
          </a:p>
        </p:txBody>
      </p:sp>
      <p:sp>
        <p:nvSpPr>
          <p:cNvPr id="72710" name="Line 5">
            <a:extLst>
              <a:ext uri="{FF2B5EF4-FFF2-40B4-BE49-F238E27FC236}">
                <a16:creationId xmlns:a16="http://schemas.microsoft.com/office/drawing/2014/main" id="{EABC81E8-4DD1-6F45-B85E-C9C314DA6FE1}"/>
              </a:ext>
            </a:extLst>
          </p:cNvPr>
          <p:cNvSpPr>
            <a:spLocks noChangeShapeType="1"/>
          </p:cNvSpPr>
          <p:nvPr/>
        </p:nvSpPr>
        <p:spPr bwMode="auto">
          <a:xfrm>
            <a:off x="4114800" y="3581400"/>
            <a:ext cx="0" cy="3810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711" name="Line 6">
            <a:extLst>
              <a:ext uri="{FF2B5EF4-FFF2-40B4-BE49-F238E27FC236}">
                <a16:creationId xmlns:a16="http://schemas.microsoft.com/office/drawing/2014/main" id="{8200DE6A-B4DD-F54C-BF42-5D88CD065F90}"/>
              </a:ext>
            </a:extLst>
          </p:cNvPr>
          <p:cNvSpPr>
            <a:spLocks noChangeShapeType="1"/>
          </p:cNvSpPr>
          <p:nvPr/>
        </p:nvSpPr>
        <p:spPr bwMode="auto">
          <a:xfrm>
            <a:off x="5943600" y="3581400"/>
            <a:ext cx="0" cy="3810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712" name="AutoShape 7">
            <a:extLst>
              <a:ext uri="{FF2B5EF4-FFF2-40B4-BE49-F238E27FC236}">
                <a16:creationId xmlns:a16="http://schemas.microsoft.com/office/drawing/2014/main" id="{EE2E4815-A4A1-324B-B16E-A52333B944DC}"/>
              </a:ext>
            </a:extLst>
          </p:cNvPr>
          <p:cNvSpPr>
            <a:spLocks noChangeArrowheads="1"/>
          </p:cNvSpPr>
          <p:nvPr/>
        </p:nvSpPr>
        <p:spPr bwMode="auto">
          <a:xfrm>
            <a:off x="3429000" y="3962400"/>
            <a:ext cx="3124200" cy="228600"/>
          </a:xfrm>
          <a:custGeom>
            <a:avLst/>
            <a:gdLst>
              <a:gd name="T0" fmla="*/ 2147483646 w 21600"/>
              <a:gd name="T1" fmla="*/ 135492003 h 21600"/>
              <a:gd name="T2" fmla="*/ 2147483646 w 21600"/>
              <a:gd name="T3" fmla="*/ 270984006 h 21600"/>
              <a:gd name="T4" fmla="*/ 2147483646 w 21600"/>
              <a:gd name="T5" fmla="*/ 135492003 h 21600"/>
              <a:gd name="T6" fmla="*/ 2147483646 w 21600"/>
              <a:gd name="T7" fmla="*/ 0 h 21600"/>
              <a:gd name="T8" fmla="*/ 0 60000 65536"/>
              <a:gd name="T9" fmla="*/ 0 60000 65536"/>
              <a:gd name="T10" fmla="*/ 0 60000 65536"/>
              <a:gd name="T11" fmla="*/ 0 60000 65536"/>
              <a:gd name="T12" fmla="*/ 3205 w 21600"/>
              <a:gd name="T13" fmla="*/ 3205 h 21600"/>
              <a:gd name="T14" fmla="*/ 18395 w 21600"/>
              <a:gd name="T15" fmla="*/ 18395 h 21600"/>
            </a:gdLst>
            <a:ahLst/>
            <a:cxnLst>
              <a:cxn ang="T8">
                <a:pos x="T0" y="T1"/>
              </a:cxn>
              <a:cxn ang="T9">
                <a:pos x="T2" y="T3"/>
              </a:cxn>
              <a:cxn ang="T10">
                <a:pos x="T4" y="T5"/>
              </a:cxn>
              <a:cxn ang="T11">
                <a:pos x="T6" y="T7"/>
              </a:cxn>
            </a:cxnLst>
            <a:rect l="T12" t="T13" r="T14" b="T15"/>
            <a:pathLst>
              <a:path w="21600" h="21600">
                <a:moveTo>
                  <a:pt x="0" y="0"/>
                </a:moveTo>
                <a:lnTo>
                  <a:pt x="2810" y="21600"/>
                </a:lnTo>
                <a:lnTo>
                  <a:pt x="18790" y="21600"/>
                </a:lnTo>
                <a:lnTo>
                  <a:pt x="21600" y="0"/>
                </a:lnTo>
                <a:lnTo>
                  <a:pt x="0" y="0"/>
                </a:lnTo>
                <a:close/>
              </a:path>
            </a:pathLst>
          </a:custGeom>
          <a:solidFill>
            <a:schemeClr val="bg1"/>
          </a:solidFill>
          <a:ln w="12700">
            <a:solidFill>
              <a:schemeClr val="tx1"/>
            </a:solidFill>
            <a:miter lim="800000"/>
            <a:headEnd type="none" w="sm" len="sm"/>
            <a:tailEnd type="none" w="sm" len="sm"/>
          </a:ln>
        </p:spPr>
        <p:txBody>
          <a:bodyPr wrap="none" anchor="ctr"/>
          <a:lstStyle/>
          <a:p>
            <a:endParaRPr lang="en-US"/>
          </a:p>
        </p:txBody>
      </p:sp>
      <p:sp>
        <p:nvSpPr>
          <p:cNvPr id="72713" name="Rectangle 8">
            <a:extLst>
              <a:ext uri="{FF2B5EF4-FFF2-40B4-BE49-F238E27FC236}">
                <a16:creationId xmlns:a16="http://schemas.microsoft.com/office/drawing/2014/main" id="{AE8A9C97-EE8B-F14B-A476-803FE67EBA2F}"/>
              </a:ext>
            </a:extLst>
          </p:cNvPr>
          <p:cNvSpPr>
            <a:spLocks noChangeArrowheads="1"/>
          </p:cNvSpPr>
          <p:nvPr/>
        </p:nvSpPr>
        <p:spPr bwMode="auto">
          <a:xfrm>
            <a:off x="1981200" y="1447800"/>
            <a:ext cx="1295400" cy="2133600"/>
          </a:xfrm>
          <a:prstGeom prst="rect">
            <a:avLst/>
          </a:prstGeom>
          <a:solidFill>
            <a:schemeClr val="bg1"/>
          </a:solidFill>
          <a:ln w="12700">
            <a:solidFill>
              <a:schemeClr val="tx1"/>
            </a:solidFill>
            <a:miter lim="800000"/>
            <a:headEnd type="none" w="sm" len="sm"/>
            <a:tailEnd type="none" w="sm" len="sm"/>
          </a:ln>
        </p:spPr>
        <p:txBody>
          <a:bodyPr wrap="none"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400">
                <a:latin typeface="Arial" panose="020B0604020202020204" pitchFamily="34" charset="0"/>
              </a:rPr>
              <a:t>Chooser</a:t>
            </a:r>
          </a:p>
          <a:p>
            <a:pPr algn="ctr">
              <a:spcBef>
                <a:spcPct val="0"/>
              </a:spcBef>
              <a:buClrTx/>
              <a:buSzTx/>
              <a:buFontTx/>
              <a:buNone/>
            </a:pPr>
            <a:r>
              <a:rPr lang="en-US" altLang="en-US" sz="1400">
                <a:latin typeface="Arial" panose="020B0604020202020204" pitchFamily="34" charset="0"/>
              </a:rPr>
              <a:t>array of 2bit</a:t>
            </a:r>
          </a:p>
          <a:p>
            <a:pPr algn="ctr">
              <a:spcBef>
                <a:spcPct val="0"/>
              </a:spcBef>
              <a:buClrTx/>
              <a:buSzTx/>
              <a:buFontTx/>
              <a:buNone/>
            </a:pPr>
            <a:r>
              <a:rPr lang="en-US" altLang="en-US" sz="1400">
                <a:latin typeface="Arial" panose="020B0604020202020204" pitchFamily="34" charset="0"/>
              </a:rPr>
              <a:t>counters</a:t>
            </a:r>
          </a:p>
        </p:txBody>
      </p:sp>
      <p:sp>
        <p:nvSpPr>
          <p:cNvPr id="72714" name="AutoShape 9">
            <a:extLst>
              <a:ext uri="{FF2B5EF4-FFF2-40B4-BE49-F238E27FC236}">
                <a16:creationId xmlns:a16="http://schemas.microsoft.com/office/drawing/2014/main" id="{00B54C39-EBD2-2D4E-8B7B-E134BAB9A42B}"/>
              </a:ext>
            </a:extLst>
          </p:cNvPr>
          <p:cNvSpPr>
            <a:spLocks noChangeArrowheads="1"/>
          </p:cNvSpPr>
          <p:nvPr/>
        </p:nvSpPr>
        <p:spPr bwMode="auto">
          <a:xfrm rot="-5400000" flipH="1" flipV="1">
            <a:off x="628650" y="2343150"/>
            <a:ext cx="2235200" cy="292100"/>
          </a:xfrm>
          <a:custGeom>
            <a:avLst/>
            <a:gdLst>
              <a:gd name="T0" fmla="*/ 2147483646 w 21600"/>
              <a:gd name="T1" fmla="*/ 361189426 h 21600"/>
              <a:gd name="T2" fmla="*/ 2147483646 w 21600"/>
              <a:gd name="T3" fmla="*/ 722378852 h 21600"/>
              <a:gd name="T4" fmla="*/ 2147483646 w 21600"/>
              <a:gd name="T5" fmla="*/ 361189426 h 21600"/>
              <a:gd name="T6" fmla="*/ 2147483646 w 21600"/>
              <a:gd name="T7" fmla="*/ 0 h 21600"/>
              <a:gd name="T8" fmla="*/ 0 60000 65536"/>
              <a:gd name="T9" fmla="*/ 0 60000 65536"/>
              <a:gd name="T10" fmla="*/ 0 60000 65536"/>
              <a:gd name="T11" fmla="*/ 0 60000 65536"/>
              <a:gd name="T12" fmla="*/ 2766 w 21600"/>
              <a:gd name="T13" fmla="*/ 2766 h 21600"/>
              <a:gd name="T14" fmla="*/ 18834 w 21600"/>
              <a:gd name="T15" fmla="*/ 18834 h 21600"/>
            </a:gdLst>
            <a:ahLst/>
            <a:cxnLst>
              <a:cxn ang="T8">
                <a:pos x="T0" y="T1"/>
              </a:cxn>
              <a:cxn ang="T9">
                <a:pos x="T2" y="T3"/>
              </a:cxn>
              <a:cxn ang="T10">
                <a:pos x="T4" y="T5"/>
              </a:cxn>
              <a:cxn ang="T11">
                <a:pos x="T6" y="T7"/>
              </a:cxn>
            </a:cxnLst>
            <a:rect l="T12" t="T13" r="T14" b="T15"/>
            <a:pathLst>
              <a:path w="21600" h="21600">
                <a:moveTo>
                  <a:pt x="0" y="0"/>
                </a:moveTo>
                <a:lnTo>
                  <a:pt x="1932" y="21600"/>
                </a:lnTo>
                <a:lnTo>
                  <a:pt x="19668" y="21600"/>
                </a:lnTo>
                <a:lnTo>
                  <a:pt x="21600" y="0"/>
                </a:lnTo>
                <a:lnTo>
                  <a:pt x="0" y="0"/>
                </a:lnTo>
                <a:close/>
              </a:path>
            </a:pathLst>
          </a:custGeom>
          <a:solidFill>
            <a:schemeClr val="bg1"/>
          </a:solidFill>
          <a:ln w="12700">
            <a:solidFill>
              <a:schemeClr val="tx1"/>
            </a:solidFill>
            <a:miter lim="800000"/>
            <a:headEnd/>
            <a:tailEnd/>
          </a:ln>
        </p:spPr>
        <p:txBody>
          <a:bodyPr wrap="none" anchor="ctr"/>
          <a:lstStyle/>
          <a:p>
            <a:endParaRPr lang="en-US"/>
          </a:p>
        </p:txBody>
      </p:sp>
      <p:sp>
        <p:nvSpPr>
          <p:cNvPr id="72715" name="Rectangle 10">
            <a:extLst>
              <a:ext uri="{FF2B5EF4-FFF2-40B4-BE49-F238E27FC236}">
                <a16:creationId xmlns:a16="http://schemas.microsoft.com/office/drawing/2014/main" id="{459CB161-705F-F042-9C12-45AB6E8ACBA0}"/>
              </a:ext>
            </a:extLst>
          </p:cNvPr>
          <p:cNvSpPr>
            <a:spLocks noChangeArrowheads="1"/>
          </p:cNvSpPr>
          <p:nvPr/>
        </p:nvSpPr>
        <p:spPr bwMode="auto">
          <a:xfrm>
            <a:off x="1143000" y="3886200"/>
            <a:ext cx="1020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i="1">
                <a:latin typeface="Arial" panose="020B0604020202020204" pitchFamily="34" charset="0"/>
              </a:rPr>
              <a:t>address of</a:t>
            </a:r>
          </a:p>
          <a:p>
            <a:pPr>
              <a:spcBef>
                <a:spcPct val="0"/>
              </a:spcBef>
              <a:buClrTx/>
              <a:buSzTx/>
              <a:buFontTx/>
              <a:buNone/>
            </a:pPr>
            <a:r>
              <a:rPr lang="en-US" altLang="en-US" sz="1400" i="1">
                <a:latin typeface="Arial" panose="020B0604020202020204" pitchFamily="34" charset="0"/>
              </a:rPr>
              <a:t>branch</a:t>
            </a:r>
          </a:p>
        </p:txBody>
      </p:sp>
      <p:sp>
        <p:nvSpPr>
          <p:cNvPr id="72716" name="Line 11">
            <a:extLst>
              <a:ext uri="{FF2B5EF4-FFF2-40B4-BE49-F238E27FC236}">
                <a16:creationId xmlns:a16="http://schemas.microsoft.com/office/drawing/2014/main" id="{9CA5CCE6-4558-DD4B-B4A7-DF3E0720F059}"/>
              </a:ext>
            </a:extLst>
          </p:cNvPr>
          <p:cNvSpPr>
            <a:spLocks noChangeShapeType="1"/>
          </p:cNvSpPr>
          <p:nvPr/>
        </p:nvSpPr>
        <p:spPr bwMode="auto">
          <a:xfrm flipV="1">
            <a:off x="1752600" y="3505200"/>
            <a:ext cx="0" cy="3810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2717" name="Line 13">
            <a:extLst>
              <a:ext uri="{FF2B5EF4-FFF2-40B4-BE49-F238E27FC236}">
                <a16:creationId xmlns:a16="http://schemas.microsoft.com/office/drawing/2014/main" id="{D9D3672E-7224-2640-92C4-EE6B8E4D0665}"/>
              </a:ext>
            </a:extLst>
          </p:cNvPr>
          <p:cNvSpPr>
            <a:spLocks noChangeShapeType="1"/>
          </p:cNvSpPr>
          <p:nvPr/>
        </p:nvSpPr>
        <p:spPr bwMode="auto">
          <a:xfrm>
            <a:off x="5029200" y="4191000"/>
            <a:ext cx="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718" name="Line 14">
            <a:extLst>
              <a:ext uri="{FF2B5EF4-FFF2-40B4-BE49-F238E27FC236}">
                <a16:creationId xmlns:a16="http://schemas.microsoft.com/office/drawing/2014/main" id="{5A8DDB48-6565-BE49-A4BE-64B202C2B3F6}"/>
              </a:ext>
            </a:extLst>
          </p:cNvPr>
          <p:cNvSpPr>
            <a:spLocks noChangeShapeType="1"/>
          </p:cNvSpPr>
          <p:nvPr/>
        </p:nvSpPr>
        <p:spPr bwMode="auto">
          <a:xfrm>
            <a:off x="5029200" y="4343400"/>
            <a:ext cx="1600200"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719" name="Text Box 15">
            <a:extLst>
              <a:ext uri="{FF2B5EF4-FFF2-40B4-BE49-F238E27FC236}">
                <a16:creationId xmlns:a16="http://schemas.microsoft.com/office/drawing/2014/main" id="{C8AD1F2B-1222-3149-9370-1AAF0EE19065}"/>
              </a:ext>
            </a:extLst>
          </p:cNvPr>
          <p:cNvSpPr txBox="1">
            <a:spLocks noChangeArrowheads="1"/>
          </p:cNvSpPr>
          <p:nvPr/>
        </p:nvSpPr>
        <p:spPr bwMode="auto">
          <a:xfrm>
            <a:off x="6629400" y="4191000"/>
            <a:ext cx="9604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i="1">
                <a:latin typeface="Arial" panose="020B0604020202020204" pitchFamily="34" charset="0"/>
              </a:rPr>
              <a:t>prediction</a:t>
            </a:r>
          </a:p>
        </p:txBody>
      </p:sp>
      <p:sp>
        <p:nvSpPr>
          <p:cNvPr id="72720" name="Line 16">
            <a:extLst>
              <a:ext uri="{FF2B5EF4-FFF2-40B4-BE49-F238E27FC236}">
                <a16:creationId xmlns:a16="http://schemas.microsoft.com/office/drawing/2014/main" id="{D8B81B4E-2B21-4F43-8428-3FD4C819E60D}"/>
              </a:ext>
            </a:extLst>
          </p:cNvPr>
          <p:cNvSpPr>
            <a:spLocks noChangeShapeType="1"/>
          </p:cNvSpPr>
          <p:nvPr/>
        </p:nvSpPr>
        <p:spPr bwMode="auto">
          <a:xfrm>
            <a:off x="2590800" y="3581400"/>
            <a:ext cx="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72721" name="Line 17">
            <a:extLst>
              <a:ext uri="{FF2B5EF4-FFF2-40B4-BE49-F238E27FC236}">
                <a16:creationId xmlns:a16="http://schemas.microsoft.com/office/drawing/2014/main" id="{3AB64827-B150-B74A-B72B-2B5AA6AD4E08}"/>
              </a:ext>
            </a:extLst>
          </p:cNvPr>
          <p:cNvSpPr>
            <a:spLocks noChangeShapeType="1"/>
          </p:cNvSpPr>
          <p:nvPr/>
        </p:nvSpPr>
        <p:spPr bwMode="auto">
          <a:xfrm>
            <a:off x="2590800" y="4114800"/>
            <a:ext cx="1066800"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48749B19-5F60-CE47-86E9-EB356ED88C4A}"/>
              </a:ext>
            </a:extLst>
          </p:cNvPr>
          <p:cNvSpPr>
            <a:spLocks noGrp="1" noChangeArrowheads="1"/>
          </p:cNvSpPr>
          <p:nvPr>
            <p:ph type="title"/>
          </p:nvPr>
        </p:nvSpPr>
        <p:spPr/>
        <p:txBody>
          <a:bodyPr/>
          <a:lstStyle/>
          <a:p>
            <a:r>
              <a:rPr lang="en-US" altLang="en-US"/>
              <a:t>Accuracy of Various Predictors</a:t>
            </a:r>
          </a:p>
        </p:txBody>
      </p:sp>
      <p:sp>
        <p:nvSpPr>
          <p:cNvPr id="73731" name="Content Placeholder 2">
            <a:extLst>
              <a:ext uri="{FF2B5EF4-FFF2-40B4-BE49-F238E27FC236}">
                <a16:creationId xmlns:a16="http://schemas.microsoft.com/office/drawing/2014/main" id="{96CA4A00-1E1E-3C45-A06F-5CE7F79EA26E}"/>
              </a:ext>
            </a:extLst>
          </p:cNvPr>
          <p:cNvSpPr>
            <a:spLocks noGrp="1" noChangeArrowheads="1"/>
          </p:cNvSpPr>
          <p:nvPr>
            <p:ph idx="1"/>
          </p:nvPr>
        </p:nvSpPr>
        <p:spPr/>
        <p:txBody>
          <a:bodyPr/>
          <a:lstStyle/>
          <a:p>
            <a:endParaRPr lang="en-US" altLang="en-US"/>
          </a:p>
        </p:txBody>
      </p:sp>
      <p:pic>
        <p:nvPicPr>
          <p:cNvPr id="73732" name="Picture 12" descr="f03-04-9780123838728">
            <a:extLst>
              <a:ext uri="{FF2B5EF4-FFF2-40B4-BE49-F238E27FC236}">
                <a16:creationId xmlns:a16="http://schemas.microsoft.com/office/drawing/2014/main" id="{9813820F-1280-944B-91E3-4579313863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03363"/>
            <a:ext cx="6577013" cy="377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3" name="Rectangle 13">
            <a:extLst>
              <a:ext uri="{FF2B5EF4-FFF2-40B4-BE49-F238E27FC236}">
                <a16:creationId xmlns:a16="http://schemas.microsoft.com/office/drawing/2014/main" id="{C828CBD3-5C51-5446-860F-889BD97B54B6}"/>
              </a:ext>
            </a:extLst>
          </p:cNvPr>
          <p:cNvSpPr>
            <a:spLocks noChangeArrowheads="1"/>
          </p:cNvSpPr>
          <p:nvPr/>
        </p:nvSpPr>
        <p:spPr bwMode="auto">
          <a:xfrm>
            <a:off x="457200" y="5562600"/>
            <a:ext cx="81089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GB" altLang="en-US" sz="1200">
                <a:latin typeface="Times New Roman" panose="02020603050405020304" pitchFamily="18" charset="0"/>
              </a:rPr>
              <a:t>Figure 3.4 The misprediction rate for three different predictors on SPEC89 as the total number of bits is increased. The predictors are a local 2-bit predictor, a correlating predictor that is optimally structured in its use of global and local information at each point in the graph, and a tournament predictor. Although these data are for an older version of SPEC, data for more recent SPEC benchmarks would show similar behavior, perhaps converging to the asymptotic limit at slightly larger predictor sizes.</a:t>
            </a:r>
            <a:r>
              <a:rPr lang="en-US" altLang="en-US" sz="1200">
                <a:latin typeface="Times New Roman" panose="02020603050405020304" pitchFamily="18" charset="0"/>
              </a:rPr>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391E3D21-8AD8-E545-BD85-CCC169414E10}"/>
              </a:ext>
            </a:extLst>
          </p:cNvPr>
          <p:cNvSpPr>
            <a:spLocks noGrp="1" noChangeArrowheads="1"/>
          </p:cNvSpPr>
          <p:nvPr>
            <p:ph type="title"/>
          </p:nvPr>
        </p:nvSpPr>
        <p:spPr/>
        <p:txBody>
          <a:bodyPr>
            <a:normAutofit fontScale="90000"/>
          </a:bodyPr>
          <a:lstStyle/>
          <a:p>
            <a:r>
              <a:rPr lang="en-US" altLang="en-US" dirty="0"/>
              <a:t>Aside: </a:t>
            </a:r>
            <a:r>
              <a:rPr lang="en-US" altLang="en-US" dirty="0" err="1"/>
              <a:t>Seznec’s</a:t>
            </a:r>
            <a:r>
              <a:rPr lang="en-US" altLang="en-US" dirty="0"/>
              <a:t> TAGE Predictor [2006]</a:t>
            </a:r>
          </a:p>
        </p:txBody>
      </p:sp>
      <p:sp>
        <p:nvSpPr>
          <p:cNvPr id="3" name="Content Placeholder 2">
            <a:extLst>
              <a:ext uri="{FF2B5EF4-FFF2-40B4-BE49-F238E27FC236}">
                <a16:creationId xmlns:a16="http://schemas.microsoft.com/office/drawing/2014/main" id="{3F045A06-51E3-9A43-951B-691EAC5DE743}"/>
              </a:ext>
            </a:extLst>
          </p:cNvPr>
          <p:cNvSpPr>
            <a:spLocks noGrp="1"/>
          </p:cNvSpPr>
          <p:nvPr>
            <p:ph idx="1"/>
          </p:nvPr>
        </p:nvSpPr>
        <p:spPr/>
        <p:txBody>
          <a:bodyPr/>
          <a:lstStyle/>
          <a:p>
            <a:pPr>
              <a:defRPr/>
            </a:pPr>
            <a:r>
              <a:rPr lang="en-US" dirty="0">
                <a:ea typeface="ＭＳ Ｐゴシック" charset="0"/>
              </a:rPr>
              <a:t>Winner of last several years of branch predictor competition</a:t>
            </a:r>
          </a:p>
          <a:p>
            <a:pPr>
              <a:defRPr/>
            </a:pPr>
            <a:r>
              <a:rPr lang="en-US" dirty="0">
                <a:ea typeface="ＭＳ Ｐゴシック" charset="0"/>
              </a:rPr>
              <a:t>Multiple predictors with varied history lengths (T0..T4)</a:t>
            </a:r>
          </a:p>
          <a:p>
            <a:pPr>
              <a:defRPr/>
            </a:pPr>
            <a:r>
              <a:rPr lang="en-US" dirty="0">
                <a:ea typeface="ＭＳ Ｐゴシック" charset="0"/>
              </a:rPr>
              <a:t>Tag is used: prediction generated if tag matches</a:t>
            </a:r>
          </a:p>
          <a:p>
            <a:pPr lvl="1">
              <a:defRPr/>
            </a:pPr>
            <a:r>
              <a:rPr lang="en-US" dirty="0"/>
              <a:t>Final prediction = from predictor with the longest history that matches tag</a:t>
            </a:r>
          </a:p>
          <a:p>
            <a:pPr lvl="1">
              <a:defRPr/>
            </a:pPr>
            <a:r>
              <a:rPr lang="en-US" dirty="0" err="1"/>
              <a:t>Mispred</a:t>
            </a:r>
            <a:r>
              <a:rPr lang="en-US" dirty="0"/>
              <a:t> rate ~half of </a:t>
            </a:r>
            <a:r>
              <a:rPr lang="en-US" dirty="0" err="1"/>
              <a:t>gshare</a:t>
            </a:r>
            <a:endParaRPr lang="en-US" dirty="0"/>
          </a:p>
          <a:p>
            <a:pPr>
              <a:defRPr/>
            </a:pPr>
            <a:endParaRPr lang="en-US" dirty="0">
              <a:ea typeface="ＭＳ Ｐゴシック" charset="0"/>
            </a:endParaRPr>
          </a:p>
          <a:p>
            <a:pPr marL="0" indent="0">
              <a:buFont typeface="Wingdings" pitchFamily="2" charset="2"/>
              <a:buNone/>
              <a:defRPr/>
            </a:pPr>
            <a:endParaRPr lang="en-US" dirty="0">
              <a:ea typeface="ＭＳ Ｐゴシック" charset="0"/>
            </a:endParaRPr>
          </a:p>
        </p:txBody>
      </p:sp>
      <p:pic>
        <p:nvPicPr>
          <p:cNvPr id="74756" name="Picture 3">
            <a:extLst>
              <a:ext uri="{FF2B5EF4-FFF2-40B4-BE49-F238E27FC236}">
                <a16:creationId xmlns:a16="http://schemas.microsoft.com/office/drawing/2014/main" id="{55BACC79-D5A6-BB46-81A1-638676AAE1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3581400"/>
            <a:ext cx="3886200"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59E1AB22-88F3-8B4A-A305-A7618CEA2608}"/>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Can Compiler Help Predict Branch?</a:t>
            </a:r>
          </a:p>
        </p:txBody>
      </p:sp>
      <p:sp>
        <p:nvSpPr>
          <p:cNvPr id="75779" name="Rectangle 3">
            <a:extLst>
              <a:ext uri="{FF2B5EF4-FFF2-40B4-BE49-F238E27FC236}">
                <a16:creationId xmlns:a16="http://schemas.microsoft.com/office/drawing/2014/main" id="{A731A044-8CCF-4B40-A47B-09DFB123BF74}"/>
              </a:ext>
            </a:extLst>
          </p:cNvPr>
          <p:cNvSpPr>
            <a:spLocks noGrp="1" noChangeArrowheads="1"/>
          </p:cNvSpPr>
          <p:nvPr>
            <p:ph idx="1"/>
          </p:nvPr>
        </p:nvSpPr>
        <p:spPr/>
        <p:txBody>
          <a:bodyPr/>
          <a:lstStyle/>
          <a:p>
            <a:r>
              <a:rPr lang="en-US" altLang="en-US" dirty="0"/>
              <a:t>Heuristic #1: Branches are not taken</a:t>
            </a:r>
          </a:p>
          <a:p>
            <a:pPr lvl="1"/>
            <a:r>
              <a:rPr lang="en-US" altLang="en-US" dirty="0"/>
              <a:t>The majority of conditional branches are not taken</a:t>
            </a:r>
          </a:p>
          <a:p>
            <a:pPr lvl="1"/>
            <a:r>
              <a:rPr lang="en-US" altLang="en-US" dirty="0"/>
              <a:t>True about 60% of the time</a:t>
            </a:r>
          </a:p>
          <a:p>
            <a:r>
              <a:rPr lang="en-US" altLang="en-US" dirty="0"/>
              <a:t>Heuristic #2: backward branches are taken, forward branches are not taken (</a:t>
            </a:r>
            <a:r>
              <a:rPr lang="en-US" altLang="en-US" i="1" dirty="0"/>
              <a:t>BTFNT</a:t>
            </a:r>
            <a:r>
              <a:rPr lang="en-US" altLang="en-US" dirty="0"/>
              <a:t>)</a:t>
            </a:r>
          </a:p>
          <a:p>
            <a:pPr lvl="1"/>
            <a:r>
              <a:rPr lang="en-US" altLang="en-US" dirty="0"/>
              <a:t>Theme: Most backward branches are loops</a:t>
            </a:r>
          </a:p>
          <a:p>
            <a:pPr lvl="1"/>
            <a:r>
              <a:rPr lang="en-US" altLang="en-US" dirty="0"/>
              <a:t>Notes:</a:t>
            </a:r>
          </a:p>
          <a:p>
            <a:pPr lvl="2"/>
            <a:r>
              <a:rPr lang="en-US" altLang="en-US" dirty="0"/>
              <a:t>Since branches are PC relative, sign bit of offset = the prediction</a:t>
            </a:r>
          </a:p>
          <a:p>
            <a:pPr lvl="2"/>
            <a:r>
              <a:rPr lang="en-US" altLang="en-US" dirty="0"/>
              <a:t>Jim Smith reports 70% accuracy for this scheme for scientific workloads</a:t>
            </a:r>
          </a:p>
          <a:p>
            <a:r>
              <a:rPr lang="en-US" altLang="en-US" dirty="0"/>
              <a:t>Heuristic #3: Ball/Larus style predictions</a:t>
            </a:r>
          </a:p>
          <a:p>
            <a:pPr lvl="1"/>
            <a:r>
              <a:rPr lang="en-US" altLang="en-US" dirty="0"/>
              <a:t>Set of rules to predict branches in special situations</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a:extLst>
              <a:ext uri="{FF2B5EF4-FFF2-40B4-BE49-F238E27FC236}">
                <a16:creationId xmlns:a16="http://schemas.microsoft.com/office/drawing/2014/main" id="{ADD65864-DDF8-B940-AAA2-4C1D8B0A68EF}"/>
              </a:ext>
            </a:extLst>
          </p:cNvPr>
          <p:cNvSpPr>
            <a:spLocks noGrp="1" noChangeArrowheads="1"/>
          </p:cNvSpPr>
          <p:nvPr>
            <p:ph type="title"/>
          </p:nvPr>
        </p:nvSpPr>
        <p:spPr/>
        <p:txBody>
          <a:bodyPr/>
          <a:lstStyle/>
          <a:p>
            <a:pPr>
              <a:defRPr/>
            </a:pPr>
            <a:r>
              <a:rPr lang="en-US" altLang="en-US" sz="3200">
                <a:effectLst>
                  <a:outerShdw blurRad="38100" dist="38100" dir="2700000" algn="tl">
                    <a:srgbClr val="C0C0C0"/>
                  </a:outerShdw>
                </a:effectLst>
                <a:ea typeface="ＭＳ Ｐゴシック" charset="0"/>
              </a:rPr>
              <a:t>Examples of Ball/Larus predictions</a:t>
            </a:r>
          </a:p>
        </p:txBody>
      </p:sp>
      <p:sp>
        <p:nvSpPr>
          <p:cNvPr id="77827" name="Rectangle 3">
            <a:extLst>
              <a:ext uri="{FF2B5EF4-FFF2-40B4-BE49-F238E27FC236}">
                <a16:creationId xmlns:a16="http://schemas.microsoft.com/office/drawing/2014/main" id="{77D81896-67AE-CB40-BAE3-CE7072585754}"/>
              </a:ext>
            </a:extLst>
          </p:cNvPr>
          <p:cNvSpPr>
            <a:spLocks noGrp="1" noChangeArrowheads="1"/>
          </p:cNvSpPr>
          <p:nvPr>
            <p:ph idx="1"/>
          </p:nvPr>
        </p:nvSpPr>
        <p:spPr/>
        <p:txBody>
          <a:bodyPr/>
          <a:lstStyle/>
          <a:p>
            <a:r>
              <a:rPr lang="en-US" altLang="en-US"/>
              <a:t>Detect loops and use </a:t>
            </a:r>
            <a:r>
              <a:rPr lang="en-US" altLang="en-US" i="1"/>
              <a:t>BTFNT</a:t>
            </a:r>
          </a:p>
          <a:p>
            <a:r>
              <a:rPr lang="en-US" altLang="en-US"/>
              <a:t>Since error values returned by library functions are negative:</a:t>
            </a:r>
          </a:p>
          <a:p>
            <a:pPr lvl="1"/>
            <a:r>
              <a:rPr lang="en-US" altLang="en-US"/>
              <a:t>…and since errors are rare</a:t>
            </a:r>
          </a:p>
          <a:p>
            <a:pPr lvl="1"/>
            <a:r>
              <a:rPr lang="en-US" altLang="en-US"/>
              <a:t>Predict BLTZ, BLEZ, etc. </a:t>
            </a:r>
            <a:r>
              <a:rPr lang="en-US" altLang="en-US" i="1"/>
              <a:t>not taken</a:t>
            </a:r>
            <a:endParaRPr lang="en-US" altLang="en-US"/>
          </a:p>
          <a:p>
            <a:pPr lvl="1"/>
            <a:r>
              <a:rPr lang="en-US" altLang="en-US"/>
              <a:t>Predict BGTZ, BGEZ, etc., </a:t>
            </a:r>
            <a:r>
              <a:rPr lang="en-US" altLang="en-US" i="1"/>
              <a:t>taken</a:t>
            </a:r>
          </a:p>
          <a:p>
            <a:r>
              <a:rPr lang="en-US" altLang="en-US"/>
              <a:t>If a call is in the body of an </a:t>
            </a:r>
            <a:r>
              <a:rPr lang="en-US" altLang="en-US" i="1"/>
              <a:t>if</a:t>
            </a:r>
            <a:r>
              <a:rPr lang="en-US" altLang="en-US"/>
              <a:t>…</a:t>
            </a:r>
            <a:r>
              <a:rPr lang="en-US" altLang="en-US" i="1"/>
              <a:t>then</a:t>
            </a:r>
            <a:r>
              <a:rPr lang="en-US" altLang="en-US"/>
              <a:t>, predict the </a:t>
            </a:r>
            <a:r>
              <a:rPr lang="ja-JP" altLang="en-US" i="1"/>
              <a:t>“</a:t>
            </a:r>
            <a:r>
              <a:rPr lang="en-US" altLang="ja-JP" i="1"/>
              <a:t>then</a:t>
            </a:r>
            <a:r>
              <a:rPr lang="ja-JP" altLang="en-US" i="1"/>
              <a:t>”</a:t>
            </a:r>
            <a:r>
              <a:rPr lang="en-US" altLang="ja-JP" i="1"/>
              <a:t> </a:t>
            </a:r>
            <a:r>
              <a:rPr lang="en-US" altLang="ja-JP"/>
              <a:t>branch as </a:t>
            </a:r>
            <a:r>
              <a:rPr lang="en-US" altLang="ja-JP" i="1"/>
              <a:t>not-taken</a:t>
            </a:r>
            <a:endParaRPr lang="en-US" altLang="ja-JP"/>
          </a:p>
          <a:p>
            <a:pPr lvl="1"/>
            <a:r>
              <a:rPr lang="en-US" altLang="en-US"/>
              <a:t>Since most calls in if…thens guard special case code</a:t>
            </a:r>
          </a:p>
          <a:p>
            <a:r>
              <a:rPr lang="en-US" altLang="en-US"/>
              <a:t>Problem:</a:t>
            </a:r>
          </a:p>
          <a:p>
            <a:pPr lvl="1"/>
            <a:r>
              <a:rPr lang="en-US" altLang="en-US"/>
              <a:t>Works great for SPECint92 (from which it was designed)</a:t>
            </a:r>
          </a:p>
          <a:p>
            <a:pPr lvl="1"/>
            <a:r>
              <a:rPr lang="en-US" altLang="en-US"/>
              <a:t>My code might not work like that!</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A8D0E203-D0B6-FC46-B414-CC17FEBBB35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Profiling</a:t>
            </a:r>
          </a:p>
        </p:txBody>
      </p:sp>
      <p:sp>
        <p:nvSpPr>
          <p:cNvPr id="79875" name="Rectangle 3">
            <a:extLst>
              <a:ext uri="{FF2B5EF4-FFF2-40B4-BE49-F238E27FC236}">
                <a16:creationId xmlns:a16="http://schemas.microsoft.com/office/drawing/2014/main" id="{1243E654-FCC8-A94A-B9D8-6339E16B27C1}"/>
              </a:ext>
            </a:extLst>
          </p:cNvPr>
          <p:cNvSpPr>
            <a:spLocks noGrp="1" noChangeArrowheads="1"/>
          </p:cNvSpPr>
          <p:nvPr>
            <p:ph idx="1"/>
          </p:nvPr>
        </p:nvSpPr>
        <p:spPr/>
        <p:txBody>
          <a:bodyPr/>
          <a:lstStyle/>
          <a:p>
            <a:r>
              <a:rPr lang="en-US" altLang="en-US"/>
              <a:t>Three steps:</a:t>
            </a:r>
          </a:p>
          <a:p>
            <a:pPr lvl="1"/>
            <a:r>
              <a:rPr lang="en-US" altLang="en-US"/>
              <a:t>1. Run the program [the </a:t>
            </a:r>
            <a:r>
              <a:rPr lang="ja-JP" altLang="en-US"/>
              <a:t>“</a:t>
            </a:r>
            <a:r>
              <a:rPr lang="en-US" altLang="ja-JP"/>
              <a:t>profiled run</a:t>
            </a:r>
            <a:r>
              <a:rPr lang="ja-JP" altLang="en-US"/>
              <a:t>”</a:t>
            </a:r>
            <a:r>
              <a:rPr lang="en-US" altLang="ja-JP"/>
              <a:t>]</a:t>
            </a:r>
          </a:p>
          <a:p>
            <a:pPr lvl="1"/>
            <a:r>
              <a:rPr lang="en-US" altLang="en-US"/>
              <a:t>2. Record the preferred direction for each branch (</a:t>
            </a:r>
            <a:r>
              <a:rPr lang="en-US" altLang="en-US" i="1"/>
              <a:t>T </a:t>
            </a:r>
            <a:r>
              <a:rPr lang="en-US" altLang="en-US"/>
              <a:t>or </a:t>
            </a:r>
            <a:r>
              <a:rPr lang="en-US" altLang="en-US" i="1"/>
              <a:t>NT</a:t>
            </a:r>
            <a:r>
              <a:rPr lang="en-US" altLang="en-US"/>
              <a:t>)</a:t>
            </a:r>
          </a:p>
          <a:p>
            <a:pPr lvl="1"/>
            <a:r>
              <a:rPr lang="en-US" altLang="en-US"/>
              <a:t>3. Recompile to set the likely bits</a:t>
            </a:r>
          </a:p>
          <a:p>
            <a:r>
              <a:rPr lang="en-US" altLang="en-US"/>
              <a:t>What if the program takes inputs (e.g., sort)?</a:t>
            </a:r>
          </a:p>
          <a:p>
            <a:pPr lvl="1"/>
            <a:r>
              <a:rPr lang="en-US" altLang="en-US"/>
              <a:t>Collect a representative set of inputs somehow</a:t>
            </a:r>
          </a:p>
          <a:p>
            <a:r>
              <a:rPr lang="en-US" altLang="en-US"/>
              <a:t>Problems:</a:t>
            </a:r>
          </a:p>
          <a:p>
            <a:pPr lvl="1"/>
            <a:r>
              <a:rPr lang="en-US" altLang="en-US"/>
              <a:t>One prediction for entire run</a:t>
            </a:r>
          </a:p>
          <a:p>
            <a:pPr lvl="1"/>
            <a:r>
              <a:rPr lang="en-US" altLang="en-US"/>
              <a:t>The profiled run is slow!</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F8964C9E-6B17-7942-B1AF-47D233777A7B}"/>
              </a:ext>
            </a:extLst>
          </p:cNvPr>
          <p:cNvSpPr>
            <a:spLocks noGrp="1" noChangeArrowheads="1"/>
          </p:cNvSpPr>
          <p:nvPr>
            <p:ph type="title"/>
          </p:nvPr>
        </p:nvSpPr>
        <p:spPr/>
        <p:txBody>
          <a:bodyPr/>
          <a:lstStyle/>
          <a:p>
            <a:r>
              <a:rPr lang="en-US" altLang="en-US"/>
              <a:t>Effectiveness of Static Predictor</a:t>
            </a:r>
          </a:p>
        </p:txBody>
      </p:sp>
      <p:sp>
        <p:nvSpPr>
          <p:cNvPr id="81923" name="Content Placeholder 2">
            <a:extLst>
              <a:ext uri="{FF2B5EF4-FFF2-40B4-BE49-F238E27FC236}">
                <a16:creationId xmlns:a16="http://schemas.microsoft.com/office/drawing/2014/main" id="{E0996179-AC22-5B4C-B519-E13ED35B9459}"/>
              </a:ext>
            </a:extLst>
          </p:cNvPr>
          <p:cNvSpPr>
            <a:spLocks noGrp="1" noChangeArrowheads="1"/>
          </p:cNvSpPr>
          <p:nvPr>
            <p:ph idx="1"/>
          </p:nvPr>
        </p:nvSpPr>
        <p:spPr/>
        <p:txBody>
          <a:bodyPr/>
          <a:lstStyle/>
          <a:p>
            <a:r>
              <a:rPr lang="en-US" altLang="en-US"/>
              <a:t>Reasonable accuracy, but misprediction higher than dynamic predictors</a:t>
            </a:r>
          </a:p>
        </p:txBody>
      </p:sp>
      <p:pic>
        <p:nvPicPr>
          <p:cNvPr id="81924" name="Picture 4" descr="appc-17-9780123838728">
            <a:extLst>
              <a:ext uri="{FF2B5EF4-FFF2-40B4-BE49-F238E27FC236}">
                <a16:creationId xmlns:a16="http://schemas.microsoft.com/office/drawing/2014/main" id="{7DF698F5-C70F-6749-8B06-CCE8F95172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913" y="2293938"/>
            <a:ext cx="3429000" cy="315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25" name="Rectangle 5">
            <a:extLst>
              <a:ext uri="{FF2B5EF4-FFF2-40B4-BE49-F238E27FC236}">
                <a16:creationId xmlns:a16="http://schemas.microsoft.com/office/drawing/2014/main" id="{1794D9C1-4252-DE4B-8C0E-D546BC0BF7D0}"/>
              </a:ext>
            </a:extLst>
          </p:cNvPr>
          <p:cNvSpPr>
            <a:spLocks noChangeArrowheads="1"/>
          </p:cNvSpPr>
          <p:nvPr/>
        </p:nvSpPr>
        <p:spPr bwMode="auto">
          <a:xfrm>
            <a:off x="365125" y="5432425"/>
            <a:ext cx="8397875"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just">
              <a:spcBef>
                <a:spcPct val="0"/>
              </a:spcBef>
              <a:buClrTx/>
              <a:buSzTx/>
              <a:buFontTx/>
              <a:buNone/>
            </a:pPr>
            <a:r>
              <a:rPr lang="en-US" altLang="en-US" sz="1200" b="1">
                <a:latin typeface="Times New Roman" panose="02020603050405020304" pitchFamily="18" charset="0"/>
              </a:rPr>
              <a:t>Figure C.17 Misprediction rate on SPEC92 for a profile-based predictor varies widely but is generally better for the floating-point programs, which have an average misprediction rate of 9% with a standard deviation of 4%, than for the integer programs, which have an average misprediction rate of 15% with a standard deviation of 5%.</a:t>
            </a:r>
            <a:r>
              <a:rPr lang="en-US" altLang="en-US" sz="1200">
                <a:latin typeface="Times New Roman" panose="02020603050405020304" pitchFamily="18" charset="0"/>
              </a:rPr>
              <a:t> The actual performance depends on both the prediction accuracy and the branch frequency, which vary from 3% to 24%.</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44EE1A65-0311-7846-8DDF-1435B8E1F830}"/>
              </a:ext>
            </a:extLst>
          </p:cNvPr>
          <p:cNvSpPr>
            <a:spLocks noGrp="1" noChangeArrowheads="1"/>
          </p:cNvSpPr>
          <p:nvPr>
            <p:ph type="subTitle" idx="1"/>
          </p:nvPr>
        </p:nvSpPr>
        <p:spPr>
          <a:xfrm>
            <a:off x="685800" y="3505200"/>
            <a:ext cx="6400800" cy="1752600"/>
          </a:xfrm>
        </p:spPr>
        <p:txBody>
          <a:bodyPr>
            <a:normAutofit/>
          </a:bodyPr>
          <a:lstStyle/>
          <a:p>
            <a:r>
              <a:rPr lang="en-US" altLang="en-US" sz="3600" dirty="0"/>
              <a:t>Module </a:t>
            </a:r>
            <a:r>
              <a:rPr lang="en-US" altLang="ko-KR" sz="3600" dirty="0"/>
              <a:t>4</a:t>
            </a:r>
            <a:r>
              <a:rPr lang="en-US" altLang="en-US" sz="3600" dirty="0"/>
              <a:t>.4: Pipelining 4</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391FBC9D-16AD-A247-AEA6-57AD769AF8D9}"/>
              </a:ext>
            </a:extLst>
          </p:cNvPr>
          <p:cNvSpPr>
            <a:spLocks noGrp="1" noChangeArrowheads="1"/>
          </p:cNvSpPr>
          <p:nvPr>
            <p:ph type="title"/>
          </p:nvPr>
        </p:nvSpPr>
        <p:spPr/>
        <p:txBody>
          <a:bodyPr/>
          <a:lstStyle/>
          <a:p>
            <a:r>
              <a:rPr lang="en-US" altLang="en-US"/>
              <a:t>Objectives and Outline</a:t>
            </a:r>
          </a:p>
        </p:txBody>
      </p:sp>
      <p:sp>
        <p:nvSpPr>
          <p:cNvPr id="84995" name="Content Placeholder 2">
            <a:extLst>
              <a:ext uri="{FF2B5EF4-FFF2-40B4-BE49-F238E27FC236}">
                <a16:creationId xmlns:a16="http://schemas.microsoft.com/office/drawing/2014/main" id="{855DE744-58F5-3C40-A489-F1DCD9E1AC20}"/>
              </a:ext>
            </a:extLst>
          </p:cNvPr>
          <p:cNvSpPr>
            <a:spLocks noGrp="1" noChangeArrowheads="1"/>
          </p:cNvSpPr>
          <p:nvPr>
            <p:ph idx="1"/>
          </p:nvPr>
        </p:nvSpPr>
        <p:spPr/>
        <p:txBody>
          <a:bodyPr/>
          <a:lstStyle/>
          <a:p>
            <a:r>
              <a:rPr lang="en-US" altLang="en-US"/>
              <a:t>Objectives:</a:t>
            </a:r>
          </a:p>
          <a:p>
            <a:pPr lvl="1"/>
            <a:r>
              <a:rPr lang="en-US" altLang="en-US">
                <a:ea typeface="MS PGothic" panose="020B0600070205080204" pitchFamily="34" charset="-128"/>
              </a:rPr>
              <a:t>Understand various types of dependences (RAW/WAR/WAW) and (register vs. memory)</a:t>
            </a:r>
          </a:p>
          <a:p>
            <a:pPr lvl="1"/>
            <a:r>
              <a:rPr lang="en-US" altLang="en-US">
                <a:ea typeface="MS PGothic" panose="020B0600070205080204" pitchFamily="34" charset="-128"/>
              </a:rPr>
              <a:t>Draw data dependence graph given a set of instructions</a:t>
            </a:r>
          </a:p>
          <a:p>
            <a:pPr lvl="1"/>
            <a:r>
              <a:rPr lang="en-US" altLang="en-US">
                <a:ea typeface="MS PGothic" panose="020B0600070205080204" pitchFamily="34" charset="-128"/>
              </a:rPr>
              <a:t>Understand data forwarding (bypassing network)</a:t>
            </a:r>
          </a:p>
          <a:p>
            <a:pPr lvl="1"/>
            <a:r>
              <a:rPr lang="en-US" altLang="en-US">
                <a:ea typeface="MS PGothic" panose="020B0600070205080204" pitchFamily="34" charset="-128"/>
              </a:rPr>
              <a:t>Analyze pipeline performance through loop analysis</a:t>
            </a:r>
          </a:p>
          <a:p>
            <a:r>
              <a:rPr lang="en-US" altLang="en-US"/>
              <a:t>Outline:</a:t>
            </a:r>
          </a:p>
          <a:p>
            <a:pPr lvl="1"/>
            <a:r>
              <a:rPr lang="en-US" altLang="en-US">
                <a:ea typeface="MS PGothic" panose="020B0600070205080204" pitchFamily="34" charset="-128"/>
              </a:rPr>
              <a:t>Various data dependences and dependence graph</a:t>
            </a:r>
          </a:p>
          <a:p>
            <a:pPr lvl="1"/>
            <a:r>
              <a:rPr lang="en-US" altLang="en-US">
                <a:ea typeface="MS PGothic" panose="020B0600070205080204" pitchFamily="34" charset="-128"/>
              </a:rPr>
              <a:t>Data forwarding (bypassing network) impact on pipeline</a:t>
            </a:r>
          </a:p>
          <a:p>
            <a:pPr lvl="1"/>
            <a:r>
              <a:rPr lang="en-US" altLang="en-US">
                <a:ea typeface="MS PGothic" panose="020B0600070205080204" pitchFamily="34" charset="-128"/>
              </a:rPr>
              <a:t>Pipeline loop analysis</a:t>
            </a:r>
          </a:p>
          <a:p>
            <a:pPr lvl="1"/>
            <a:r>
              <a:rPr lang="en-US" altLang="en-US">
                <a:ea typeface="MS PGothic" panose="020B0600070205080204" pitchFamily="34" charset="-128"/>
              </a:rPr>
              <a:t>Case studies of example commercial processor pipelines</a:t>
            </a:r>
          </a:p>
          <a:p>
            <a:pPr lvl="1"/>
            <a:endParaRPr lang="en-US" altLang="en-US">
              <a:ea typeface="MS PGothic" panose="020B0600070205080204" pitchFamily="34" charset="-128"/>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826" name="Rectangle 2">
            <a:extLst>
              <a:ext uri="{FF2B5EF4-FFF2-40B4-BE49-F238E27FC236}">
                <a16:creationId xmlns:a16="http://schemas.microsoft.com/office/drawing/2014/main" id="{ECEF7040-B17B-9E4C-8FFC-EFF2BDA9C7D0}"/>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Let’s Revisit Types of dependencies</a:t>
            </a:r>
          </a:p>
        </p:txBody>
      </p:sp>
      <p:sp>
        <p:nvSpPr>
          <p:cNvPr id="205827" name="Rectangle 3">
            <a:extLst>
              <a:ext uri="{FF2B5EF4-FFF2-40B4-BE49-F238E27FC236}">
                <a16:creationId xmlns:a16="http://schemas.microsoft.com/office/drawing/2014/main" id="{94DD7903-72DF-1345-8FF2-8EC34B4EE35C}"/>
              </a:ext>
            </a:extLst>
          </p:cNvPr>
          <p:cNvSpPr>
            <a:spLocks noGrp="1" noChangeArrowheads="1"/>
          </p:cNvSpPr>
          <p:nvPr>
            <p:ph idx="1"/>
          </p:nvPr>
        </p:nvSpPr>
        <p:spPr/>
        <p:txBody>
          <a:bodyPr/>
          <a:lstStyle/>
          <a:p>
            <a:r>
              <a:rPr lang="en-US" altLang="en-US" sz="2400"/>
              <a:t>True-dependence (</a:t>
            </a:r>
            <a:r>
              <a:rPr lang="en-US" altLang="en-US" sz="1600"/>
              <a:t>pure-dependence, flow-dependence</a:t>
            </a:r>
            <a:r>
              <a:rPr lang="en-US" altLang="en-US" sz="2400"/>
              <a:t>)</a:t>
            </a:r>
          </a:p>
          <a:p>
            <a:pPr marL="628650" lvl="1" indent="-171450"/>
            <a:r>
              <a:rPr lang="en-US" altLang="en-US" sz="1600"/>
              <a:t>ADD </a:t>
            </a:r>
            <a:r>
              <a:rPr lang="en-US" altLang="en-US" sz="1600" u="sng"/>
              <a:t>R1</a:t>
            </a:r>
            <a:r>
              <a:rPr lang="en-US" altLang="en-US" sz="1600"/>
              <a:t>,R2,R3</a:t>
            </a:r>
          </a:p>
          <a:p>
            <a:pPr marL="628650" lvl="1" indent="-171450"/>
            <a:r>
              <a:rPr lang="en-US" altLang="en-US" sz="1600"/>
              <a:t>SUB R4,R5,</a:t>
            </a:r>
            <a:r>
              <a:rPr lang="en-US" altLang="en-US" sz="1600" u="sng"/>
              <a:t>R1</a:t>
            </a:r>
          </a:p>
          <a:p>
            <a:pPr marL="628650" lvl="1" indent="-171450"/>
            <a:r>
              <a:rPr lang="en-US" altLang="en-US" sz="1600"/>
              <a:t>May cause RAW hazards</a:t>
            </a:r>
          </a:p>
          <a:p>
            <a:r>
              <a:rPr lang="en-US" altLang="en-US" sz="2400"/>
              <a:t>Anti-Dependence</a:t>
            </a:r>
          </a:p>
          <a:p>
            <a:pPr marL="628650" lvl="1" indent="-171450"/>
            <a:r>
              <a:rPr lang="en-US" altLang="en-US" sz="1600"/>
              <a:t>ADD R3,R2,</a:t>
            </a:r>
            <a:r>
              <a:rPr lang="en-US" altLang="en-US" sz="1600" u="sng"/>
              <a:t>R1</a:t>
            </a:r>
            <a:endParaRPr lang="en-US" altLang="en-US" sz="1600"/>
          </a:p>
          <a:p>
            <a:pPr marL="628650" lvl="1" indent="-171450"/>
            <a:r>
              <a:rPr lang="en-US" altLang="en-US" sz="1600"/>
              <a:t>SUB </a:t>
            </a:r>
            <a:r>
              <a:rPr lang="en-US" altLang="en-US" sz="1600" u="sng"/>
              <a:t>R1</a:t>
            </a:r>
            <a:r>
              <a:rPr lang="en-US" altLang="en-US" sz="1600"/>
              <a:t>,R4,R5</a:t>
            </a:r>
          </a:p>
          <a:p>
            <a:pPr marL="628650" lvl="1" indent="-171450"/>
            <a:r>
              <a:rPr lang="en-US" altLang="en-US" sz="1600"/>
              <a:t>May cause WAR hazards</a:t>
            </a:r>
          </a:p>
          <a:p>
            <a:pPr marL="628650" lvl="1" indent="-171450"/>
            <a:r>
              <a:rPr lang="en-US" altLang="en-US" sz="1600"/>
              <a:t>Due to reuse: Removed by using another register</a:t>
            </a:r>
          </a:p>
          <a:p>
            <a:r>
              <a:rPr lang="en-US" altLang="en-US" sz="2400"/>
              <a:t>Output-Dependence</a:t>
            </a:r>
          </a:p>
          <a:p>
            <a:pPr marL="628650" lvl="1" indent="-171450"/>
            <a:r>
              <a:rPr lang="en-US" altLang="en-US" sz="1600"/>
              <a:t>ADD </a:t>
            </a:r>
            <a:r>
              <a:rPr lang="en-US" altLang="en-US" sz="1600" u="sng"/>
              <a:t>R1</a:t>
            </a:r>
            <a:r>
              <a:rPr lang="en-US" altLang="en-US" sz="1600"/>
              <a:t>,R2,R3</a:t>
            </a:r>
          </a:p>
          <a:p>
            <a:pPr marL="628650" lvl="1" indent="-171450"/>
            <a:r>
              <a:rPr lang="en-US" altLang="en-US" sz="1600"/>
              <a:t>SUB </a:t>
            </a:r>
            <a:r>
              <a:rPr lang="en-US" altLang="en-US" sz="1600" u="sng"/>
              <a:t>R1</a:t>
            </a:r>
            <a:r>
              <a:rPr lang="en-US" altLang="en-US" sz="1600"/>
              <a:t>,R4,R5</a:t>
            </a:r>
          </a:p>
          <a:p>
            <a:pPr marL="628650" lvl="1" indent="-171450"/>
            <a:r>
              <a:rPr lang="en-US" altLang="en-US" sz="1600"/>
              <a:t>May cause WAW hazards</a:t>
            </a:r>
          </a:p>
          <a:p>
            <a:pPr marL="628650" lvl="1" indent="-171450"/>
            <a:r>
              <a:rPr lang="en-US" altLang="en-US" sz="1600"/>
              <a:t>Due to reuse: Removed by using another register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58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58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582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582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5827">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05827">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05827">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205827">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205827">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205827">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205827">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205827">
                                            <p:txEl>
                                              <p:pRg st="11" end="11"/>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205827">
                                            <p:txEl>
                                              <p:pRg st="12" end="12"/>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20582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7" grpId="0" build="p" bldLvl="3"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5974A-52AF-6B43-9330-37F455E40CD3}"/>
              </a:ext>
            </a:extLst>
          </p:cNvPr>
          <p:cNvSpPr>
            <a:spLocks noGrp="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Dependence Graph</a:t>
            </a:r>
          </a:p>
        </p:txBody>
      </p:sp>
      <p:sp>
        <p:nvSpPr>
          <p:cNvPr id="87043" name="Content Placeholder 2">
            <a:extLst>
              <a:ext uri="{FF2B5EF4-FFF2-40B4-BE49-F238E27FC236}">
                <a16:creationId xmlns:a16="http://schemas.microsoft.com/office/drawing/2014/main" id="{A52867CA-C074-234D-9CC8-595692688665}"/>
              </a:ext>
            </a:extLst>
          </p:cNvPr>
          <p:cNvSpPr>
            <a:spLocks noGrp="1" noChangeArrowheads="1"/>
          </p:cNvSpPr>
          <p:nvPr>
            <p:ph idx="1"/>
          </p:nvPr>
        </p:nvSpPr>
        <p:spPr/>
        <p:txBody>
          <a:bodyPr/>
          <a:lstStyle/>
          <a:p>
            <a:r>
              <a:rPr lang="en-US" altLang="en-US"/>
              <a:t>Example</a:t>
            </a:r>
          </a:p>
          <a:p>
            <a:pPr marL="800100" lvl="1" indent="-342900"/>
            <a:r>
              <a:rPr lang="en-US" altLang="en-US"/>
              <a:t>A: ADD R1,R2,R3</a:t>
            </a:r>
          </a:p>
          <a:p>
            <a:pPr marL="800100" lvl="1" indent="-342900"/>
            <a:r>
              <a:rPr lang="en-US" altLang="en-US"/>
              <a:t>B: SUB R4,R5,R1</a:t>
            </a:r>
          </a:p>
          <a:p>
            <a:pPr marL="800100" lvl="1" indent="-342900"/>
            <a:r>
              <a:rPr lang="en-US" altLang="en-US"/>
              <a:t>C: ADD R6,R1,R4</a:t>
            </a:r>
          </a:p>
          <a:p>
            <a:pPr marL="800100" lvl="1" indent="-342900"/>
            <a:r>
              <a:rPr lang="en-US" altLang="en-US"/>
              <a:t>D: MUL R3,R7,R8</a:t>
            </a:r>
          </a:p>
          <a:p>
            <a:pPr marL="800100" lvl="1" indent="-342900"/>
            <a:r>
              <a:rPr lang="en-US" altLang="en-US"/>
              <a:t>E: DIV R4,R9,R10</a:t>
            </a:r>
          </a:p>
        </p:txBody>
      </p:sp>
      <p:pic>
        <p:nvPicPr>
          <p:cNvPr id="87044" name="Picture 4">
            <a:extLst>
              <a:ext uri="{FF2B5EF4-FFF2-40B4-BE49-F238E27FC236}">
                <a16:creationId xmlns:a16="http://schemas.microsoft.com/office/drawing/2014/main" id="{2703A5BD-87B9-924D-8A68-4BB2CF8FDA9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1676400"/>
            <a:ext cx="2513013" cy="302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7045" name="Straight Arrow Connector 3">
            <a:extLst>
              <a:ext uri="{FF2B5EF4-FFF2-40B4-BE49-F238E27FC236}">
                <a16:creationId xmlns:a16="http://schemas.microsoft.com/office/drawing/2014/main" id="{9FB5C0C1-F58A-2340-AA08-CD6D7CF3E06B}"/>
              </a:ext>
            </a:extLst>
          </p:cNvPr>
          <p:cNvCxnSpPr>
            <a:cxnSpLocks noChangeShapeType="1"/>
          </p:cNvCxnSpPr>
          <p:nvPr/>
        </p:nvCxnSpPr>
        <p:spPr bwMode="auto">
          <a:xfrm flipH="1">
            <a:off x="5486400" y="3657600"/>
            <a:ext cx="381000" cy="457200"/>
          </a:xfrm>
          <a:prstGeom prst="straightConnector1">
            <a:avLst/>
          </a:prstGeom>
          <a:noFill/>
          <a:ln w="15875" algn="ctr">
            <a:solidFill>
              <a:schemeClr val="accent2"/>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AABB1-942F-A24D-B2EA-A0366FCB3910}"/>
              </a:ext>
            </a:extLst>
          </p:cNvPr>
          <p:cNvSpPr>
            <a:spLocks noGrp="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Aside: Memory Dependences</a:t>
            </a:r>
          </a:p>
        </p:txBody>
      </p:sp>
      <p:sp>
        <p:nvSpPr>
          <p:cNvPr id="88067" name="Content Placeholder 2">
            <a:extLst>
              <a:ext uri="{FF2B5EF4-FFF2-40B4-BE49-F238E27FC236}">
                <a16:creationId xmlns:a16="http://schemas.microsoft.com/office/drawing/2014/main" id="{5FA0374A-74E7-9248-B2A7-2A5E0C4CD000}"/>
              </a:ext>
            </a:extLst>
          </p:cNvPr>
          <p:cNvSpPr>
            <a:spLocks noGrp="1" noChangeArrowheads="1"/>
          </p:cNvSpPr>
          <p:nvPr>
            <p:ph idx="1"/>
          </p:nvPr>
        </p:nvSpPr>
        <p:spPr/>
        <p:txBody>
          <a:bodyPr/>
          <a:lstStyle/>
          <a:p>
            <a:r>
              <a:rPr lang="en-US" altLang="en-US"/>
              <a:t>Dependences occur not just between register addresses, but also memory addresses: Memory Dependences, e.g.</a:t>
            </a:r>
          </a:p>
          <a:p>
            <a:pPr marL="742950" lvl="1"/>
            <a:r>
              <a:rPr lang="en-US" altLang="en-US"/>
              <a:t>A: ST R1, [R2]	// Mem[R2] &lt;- R1</a:t>
            </a:r>
          </a:p>
          <a:p>
            <a:pPr marL="742950" lvl="1"/>
            <a:r>
              <a:rPr lang="en-US" altLang="en-US"/>
              <a:t>B: LD R3, [R2]	// R3 &lt;- Mem[R2]</a:t>
            </a:r>
          </a:p>
          <a:p>
            <a:pPr marL="742950" lvl="1"/>
            <a:r>
              <a:rPr lang="en-US" altLang="en-US"/>
              <a:t>C: LD R5, 10[R4]	// R5 &lt;- Mem[R4+10]</a:t>
            </a:r>
          </a:p>
          <a:p>
            <a:r>
              <a:rPr lang="en-US" altLang="en-US"/>
              <a:t>B is dependent on A, but is C dependent on A?</a:t>
            </a:r>
          </a:p>
          <a:p>
            <a:pPr marL="742950" lvl="1"/>
            <a:r>
              <a:rPr lang="en-US" altLang="en-US"/>
              <a:t>True dependent if R4+10 = R2</a:t>
            </a:r>
          </a:p>
          <a:p>
            <a:pPr marL="742950" lvl="1"/>
            <a:r>
              <a:rPr lang="en-US" altLang="en-US"/>
              <a:t>Not dependent if R4+10 != R2</a:t>
            </a:r>
          </a:p>
          <a:p>
            <a:r>
              <a:rPr lang="en-US" altLang="en-US"/>
              <a:t>Dependences harder to detect because they are based on register values, rather than register addresses</a:t>
            </a:r>
          </a:p>
          <a:p>
            <a:r>
              <a:rPr lang="en-US" altLang="en-US"/>
              <a:t>Will discuss in greater details in a later module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9E95FA0F-1336-B84F-8773-1E7377595EA3}"/>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Data hazard</a:t>
            </a:r>
          </a:p>
        </p:txBody>
      </p:sp>
      <p:sp>
        <p:nvSpPr>
          <p:cNvPr id="89091" name="Rectangle 3">
            <a:extLst>
              <a:ext uri="{FF2B5EF4-FFF2-40B4-BE49-F238E27FC236}">
                <a16:creationId xmlns:a16="http://schemas.microsoft.com/office/drawing/2014/main" id="{7CB7E734-1F05-2F44-A46B-36D2B217E969}"/>
              </a:ext>
            </a:extLst>
          </p:cNvPr>
          <p:cNvSpPr>
            <a:spLocks noGrp="1" noChangeArrowheads="1"/>
          </p:cNvSpPr>
          <p:nvPr>
            <p:ph idx="1"/>
          </p:nvPr>
        </p:nvSpPr>
        <p:spPr/>
        <p:txBody>
          <a:bodyPr/>
          <a:lstStyle/>
          <a:p>
            <a:r>
              <a:rPr lang="en-US" altLang="en-US"/>
              <a:t>Read-after-write (RAW) hazard</a:t>
            </a:r>
          </a:p>
        </p:txBody>
      </p:sp>
      <p:grpSp>
        <p:nvGrpSpPr>
          <p:cNvPr id="198660" name="Group 4">
            <a:extLst>
              <a:ext uri="{FF2B5EF4-FFF2-40B4-BE49-F238E27FC236}">
                <a16:creationId xmlns:a16="http://schemas.microsoft.com/office/drawing/2014/main" id="{2EEB5732-F1C4-4546-9CA0-27856F71B27D}"/>
              </a:ext>
            </a:extLst>
          </p:cNvPr>
          <p:cNvGrpSpPr>
            <a:grpSpLocks/>
          </p:cNvGrpSpPr>
          <p:nvPr/>
        </p:nvGrpSpPr>
        <p:grpSpPr bwMode="auto">
          <a:xfrm>
            <a:off x="1066800" y="3505200"/>
            <a:ext cx="2084388" cy="396875"/>
            <a:chOff x="1008" y="2208"/>
            <a:chExt cx="1313" cy="250"/>
          </a:xfrm>
        </p:grpSpPr>
        <p:sp>
          <p:nvSpPr>
            <p:cNvPr id="89143" name="Text Box 5">
              <a:extLst>
                <a:ext uri="{FF2B5EF4-FFF2-40B4-BE49-F238E27FC236}">
                  <a16:creationId xmlns:a16="http://schemas.microsoft.com/office/drawing/2014/main" id="{41A99D54-3759-744B-9632-415251E50F52}"/>
                </a:ext>
              </a:extLst>
            </p:cNvPr>
            <p:cNvSpPr txBox="1">
              <a:spLocks noChangeArrowheads="1"/>
            </p:cNvSpPr>
            <p:nvPr/>
          </p:nvSpPr>
          <p:spPr bwMode="auto">
            <a:xfrm>
              <a:off x="1968" y="220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IF </a:t>
              </a:r>
            </a:p>
          </p:txBody>
        </p:sp>
        <p:sp>
          <p:nvSpPr>
            <p:cNvPr id="89144" name="Text Box 6">
              <a:extLst>
                <a:ext uri="{FF2B5EF4-FFF2-40B4-BE49-F238E27FC236}">
                  <a16:creationId xmlns:a16="http://schemas.microsoft.com/office/drawing/2014/main" id="{B5B9EF54-3AFA-5E43-93DD-ABF317A7E87B}"/>
                </a:ext>
              </a:extLst>
            </p:cNvPr>
            <p:cNvSpPr txBox="1">
              <a:spLocks noChangeArrowheads="1"/>
            </p:cNvSpPr>
            <p:nvPr/>
          </p:nvSpPr>
          <p:spPr bwMode="auto">
            <a:xfrm>
              <a:off x="1008" y="2208"/>
              <a:ext cx="9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add </a:t>
              </a:r>
              <a:r>
                <a:rPr lang="en-US" altLang="en-US" sz="2000" u="sng">
                  <a:latin typeface="Times New Roman" panose="02020603050405020304" pitchFamily="18" charset="0"/>
                </a:rPr>
                <a:t>r1</a:t>
              </a:r>
              <a:r>
                <a:rPr lang="en-US" altLang="en-US" sz="2000">
                  <a:latin typeface="Times New Roman" panose="02020603050405020304" pitchFamily="18" charset="0"/>
                </a:rPr>
                <a:t>, r2, r3</a:t>
              </a:r>
            </a:p>
          </p:txBody>
        </p:sp>
      </p:grpSp>
      <p:grpSp>
        <p:nvGrpSpPr>
          <p:cNvPr id="198663" name="Group 7">
            <a:extLst>
              <a:ext uri="{FF2B5EF4-FFF2-40B4-BE49-F238E27FC236}">
                <a16:creationId xmlns:a16="http://schemas.microsoft.com/office/drawing/2014/main" id="{89699681-5502-2441-BA1F-FC9025BF5B65}"/>
              </a:ext>
            </a:extLst>
          </p:cNvPr>
          <p:cNvGrpSpPr>
            <a:grpSpLocks/>
          </p:cNvGrpSpPr>
          <p:nvPr/>
        </p:nvGrpSpPr>
        <p:grpSpPr bwMode="auto">
          <a:xfrm>
            <a:off x="1066800" y="3505200"/>
            <a:ext cx="2693988" cy="854075"/>
            <a:chOff x="672" y="2208"/>
            <a:chExt cx="1697" cy="538"/>
          </a:xfrm>
        </p:grpSpPr>
        <p:grpSp>
          <p:nvGrpSpPr>
            <p:cNvPr id="89139" name="Group 8">
              <a:extLst>
                <a:ext uri="{FF2B5EF4-FFF2-40B4-BE49-F238E27FC236}">
                  <a16:creationId xmlns:a16="http://schemas.microsoft.com/office/drawing/2014/main" id="{8745F003-C4EB-2C49-A3B5-57D6F08E0EB3}"/>
                </a:ext>
              </a:extLst>
            </p:cNvPr>
            <p:cNvGrpSpPr>
              <a:grpSpLocks/>
            </p:cNvGrpSpPr>
            <p:nvPr/>
          </p:nvGrpSpPr>
          <p:grpSpPr bwMode="auto">
            <a:xfrm>
              <a:off x="2016" y="2208"/>
              <a:ext cx="353" cy="506"/>
              <a:chOff x="1632" y="2448"/>
              <a:chExt cx="353" cy="506"/>
            </a:xfrm>
          </p:grpSpPr>
          <p:sp>
            <p:nvSpPr>
              <p:cNvPr id="89141" name="Text Box 9">
                <a:extLst>
                  <a:ext uri="{FF2B5EF4-FFF2-40B4-BE49-F238E27FC236}">
                    <a16:creationId xmlns:a16="http://schemas.microsoft.com/office/drawing/2014/main" id="{38BF593C-B768-EC43-A75A-EA4A73F81396}"/>
                  </a:ext>
                </a:extLst>
              </p:cNvPr>
              <p:cNvSpPr txBox="1">
                <a:spLocks noChangeArrowheads="1"/>
              </p:cNvSpPr>
              <p:nvPr/>
            </p:nvSpPr>
            <p:spPr bwMode="auto">
              <a:xfrm>
                <a:off x="1632" y="244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ID </a:t>
                </a:r>
              </a:p>
            </p:txBody>
          </p:sp>
          <p:sp>
            <p:nvSpPr>
              <p:cNvPr id="89142" name="Text Box 10">
                <a:extLst>
                  <a:ext uri="{FF2B5EF4-FFF2-40B4-BE49-F238E27FC236}">
                    <a16:creationId xmlns:a16="http://schemas.microsoft.com/office/drawing/2014/main" id="{F925BF7D-D23F-2649-B200-8A0CCD1FF231}"/>
                  </a:ext>
                </a:extLst>
              </p:cNvPr>
              <p:cNvSpPr txBox="1">
                <a:spLocks noChangeArrowheads="1"/>
              </p:cNvSpPr>
              <p:nvPr/>
            </p:nvSpPr>
            <p:spPr bwMode="auto">
              <a:xfrm>
                <a:off x="1632" y="273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IF </a:t>
                </a:r>
              </a:p>
            </p:txBody>
          </p:sp>
        </p:grpSp>
        <p:sp>
          <p:nvSpPr>
            <p:cNvPr id="89140" name="Text Box 11">
              <a:extLst>
                <a:ext uri="{FF2B5EF4-FFF2-40B4-BE49-F238E27FC236}">
                  <a16:creationId xmlns:a16="http://schemas.microsoft.com/office/drawing/2014/main" id="{30326B96-D4F1-4842-9A82-923E46F16999}"/>
                </a:ext>
              </a:extLst>
            </p:cNvPr>
            <p:cNvSpPr txBox="1">
              <a:spLocks noChangeArrowheads="1"/>
            </p:cNvSpPr>
            <p:nvPr/>
          </p:nvSpPr>
          <p:spPr bwMode="auto">
            <a:xfrm>
              <a:off x="672" y="2496"/>
              <a:ext cx="9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add r4, </a:t>
              </a:r>
              <a:r>
                <a:rPr lang="en-US" altLang="en-US" sz="2000" u="sng">
                  <a:latin typeface="Times New Roman" panose="02020603050405020304" pitchFamily="18" charset="0"/>
                </a:rPr>
                <a:t>r1</a:t>
              </a:r>
              <a:r>
                <a:rPr lang="en-US" altLang="en-US" sz="2000">
                  <a:latin typeface="Times New Roman" panose="02020603050405020304" pitchFamily="18" charset="0"/>
                </a:rPr>
                <a:t>, r5</a:t>
              </a:r>
            </a:p>
          </p:txBody>
        </p:sp>
      </p:grpSp>
      <p:grpSp>
        <p:nvGrpSpPr>
          <p:cNvPr id="89094" name="Group 12">
            <a:extLst>
              <a:ext uri="{FF2B5EF4-FFF2-40B4-BE49-F238E27FC236}">
                <a16:creationId xmlns:a16="http://schemas.microsoft.com/office/drawing/2014/main" id="{38993D3B-51F2-C14B-A795-89ED9DD2D9F6}"/>
              </a:ext>
            </a:extLst>
          </p:cNvPr>
          <p:cNvGrpSpPr>
            <a:grpSpLocks/>
          </p:cNvGrpSpPr>
          <p:nvPr/>
        </p:nvGrpSpPr>
        <p:grpSpPr bwMode="auto">
          <a:xfrm>
            <a:off x="2590800" y="3429000"/>
            <a:ext cx="5486400" cy="2286000"/>
            <a:chOff x="1248" y="2400"/>
            <a:chExt cx="3456" cy="1440"/>
          </a:xfrm>
        </p:grpSpPr>
        <p:sp>
          <p:nvSpPr>
            <p:cNvPr id="89129" name="Line 13">
              <a:extLst>
                <a:ext uri="{FF2B5EF4-FFF2-40B4-BE49-F238E27FC236}">
                  <a16:creationId xmlns:a16="http://schemas.microsoft.com/office/drawing/2014/main" id="{D5AA4D6C-671E-924F-8BBB-7D5E3652AC4C}"/>
                </a:ext>
              </a:extLst>
            </p:cNvPr>
            <p:cNvSpPr>
              <a:spLocks noChangeShapeType="1"/>
            </p:cNvSpPr>
            <p:nvPr/>
          </p:nvSpPr>
          <p:spPr bwMode="auto">
            <a:xfrm>
              <a:off x="1632"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89130" name="Line 14">
              <a:extLst>
                <a:ext uri="{FF2B5EF4-FFF2-40B4-BE49-F238E27FC236}">
                  <a16:creationId xmlns:a16="http://schemas.microsoft.com/office/drawing/2014/main" id="{B136F64E-4FC3-ED42-AC56-27B56217A1BE}"/>
                </a:ext>
              </a:extLst>
            </p:cNvPr>
            <p:cNvSpPr>
              <a:spLocks noChangeShapeType="1"/>
            </p:cNvSpPr>
            <p:nvPr/>
          </p:nvSpPr>
          <p:spPr bwMode="auto">
            <a:xfrm>
              <a:off x="1248"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89131" name="Line 15">
              <a:extLst>
                <a:ext uri="{FF2B5EF4-FFF2-40B4-BE49-F238E27FC236}">
                  <a16:creationId xmlns:a16="http://schemas.microsoft.com/office/drawing/2014/main" id="{D7B3F8CD-CEC6-AD40-BEE5-425560CBA5CD}"/>
                </a:ext>
              </a:extLst>
            </p:cNvPr>
            <p:cNvSpPr>
              <a:spLocks noChangeShapeType="1"/>
            </p:cNvSpPr>
            <p:nvPr/>
          </p:nvSpPr>
          <p:spPr bwMode="auto">
            <a:xfrm>
              <a:off x="2400"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89132" name="Line 16">
              <a:extLst>
                <a:ext uri="{FF2B5EF4-FFF2-40B4-BE49-F238E27FC236}">
                  <a16:creationId xmlns:a16="http://schemas.microsoft.com/office/drawing/2014/main" id="{9310EA34-CE6E-DD4B-AD2B-4031070BE8E4}"/>
                </a:ext>
              </a:extLst>
            </p:cNvPr>
            <p:cNvSpPr>
              <a:spLocks noChangeShapeType="1"/>
            </p:cNvSpPr>
            <p:nvPr/>
          </p:nvSpPr>
          <p:spPr bwMode="auto">
            <a:xfrm>
              <a:off x="2016"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89133" name="Line 17">
              <a:extLst>
                <a:ext uri="{FF2B5EF4-FFF2-40B4-BE49-F238E27FC236}">
                  <a16:creationId xmlns:a16="http://schemas.microsoft.com/office/drawing/2014/main" id="{0AA5EF1A-0C27-3D40-AB45-AE3601BF8EE6}"/>
                </a:ext>
              </a:extLst>
            </p:cNvPr>
            <p:cNvSpPr>
              <a:spLocks noChangeShapeType="1"/>
            </p:cNvSpPr>
            <p:nvPr/>
          </p:nvSpPr>
          <p:spPr bwMode="auto">
            <a:xfrm>
              <a:off x="3168"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89134" name="Line 18">
              <a:extLst>
                <a:ext uri="{FF2B5EF4-FFF2-40B4-BE49-F238E27FC236}">
                  <a16:creationId xmlns:a16="http://schemas.microsoft.com/office/drawing/2014/main" id="{A680D93A-E678-F047-AC98-AB000CE9D0F8}"/>
                </a:ext>
              </a:extLst>
            </p:cNvPr>
            <p:cNvSpPr>
              <a:spLocks noChangeShapeType="1"/>
            </p:cNvSpPr>
            <p:nvPr/>
          </p:nvSpPr>
          <p:spPr bwMode="auto">
            <a:xfrm>
              <a:off x="2784"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89135" name="Line 19">
              <a:extLst>
                <a:ext uri="{FF2B5EF4-FFF2-40B4-BE49-F238E27FC236}">
                  <a16:creationId xmlns:a16="http://schemas.microsoft.com/office/drawing/2014/main" id="{51ECA1A8-6C6A-5B45-8110-294CB921C65F}"/>
                </a:ext>
              </a:extLst>
            </p:cNvPr>
            <p:cNvSpPr>
              <a:spLocks noChangeShapeType="1"/>
            </p:cNvSpPr>
            <p:nvPr/>
          </p:nvSpPr>
          <p:spPr bwMode="auto">
            <a:xfrm>
              <a:off x="3936"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89136" name="Line 20">
              <a:extLst>
                <a:ext uri="{FF2B5EF4-FFF2-40B4-BE49-F238E27FC236}">
                  <a16:creationId xmlns:a16="http://schemas.microsoft.com/office/drawing/2014/main" id="{C13741A6-B9EE-CD41-A594-9349B0C7DA5D}"/>
                </a:ext>
              </a:extLst>
            </p:cNvPr>
            <p:cNvSpPr>
              <a:spLocks noChangeShapeType="1"/>
            </p:cNvSpPr>
            <p:nvPr/>
          </p:nvSpPr>
          <p:spPr bwMode="auto">
            <a:xfrm>
              <a:off x="3552"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89137" name="Line 21">
              <a:extLst>
                <a:ext uri="{FF2B5EF4-FFF2-40B4-BE49-F238E27FC236}">
                  <a16:creationId xmlns:a16="http://schemas.microsoft.com/office/drawing/2014/main" id="{A5243A73-2415-3A44-8DEA-61418EB7C8D7}"/>
                </a:ext>
              </a:extLst>
            </p:cNvPr>
            <p:cNvSpPr>
              <a:spLocks noChangeShapeType="1"/>
            </p:cNvSpPr>
            <p:nvPr/>
          </p:nvSpPr>
          <p:spPr bwMode="auto">
            <a:xfrm>
              <a:off x="4704"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89138" name="Line 22">
              <a:extLst>
                <a:ext uri="{FF2B5EF4-FFF2-40B4-BE49-F238E27FC236}">
                  <a16:creationId xmlns:a16="http://schemas.microsoft.com/office/drawing/2014/main" id="{36A6D369-FF14-D84D-A87F-70A66C467D12}"/>
                </a:ext>
              </a:extLst>
            </p:cNvPr>
            <p:cNvSpPr>
              <a:spLocks noChangeShapeType="1"/>
            </p:cNvSpPr>
            <p:nvPr/>
          </p:nvSpPr>
          <p:spPr bwMode="auto">
            <a:xfrm>
              <a:off x="4320"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grpSp>
      <p:grpSp>
        <p:nvGrpSpPr>
          <p:cNvPr id="198679" name="Group 23">
            <a:extLst>
              <a:ext uri="{FF2B5EF4-FFF2-40B4-BE49-F238E27FC236}">
                <a16:creationId xmlns:a16="http://schemas.microsoft.com/office/drawing/2014/main" id="{506E0FB1-6FC6-AD46-833F-33F2C1184BAF}"/>
              </a:ext>
            </a:extLst>
          </p:cNvPr>
          <p:cNvGrpSpPr>
            <a:grpSpLocks/>
          </p:cNvGrpSpPr>
          <p:nvPr/>
        </p:nvGrpSpPr>
        <p:grpSpPr bwMode="auto">
          <a:xfrm>
            <a:off x="3810000" y="3505200"/>
            <a:ext cx="560388" cy="1260475"/>
            <a:chOff x="2400" y="2208"/>
            <a:chExt cx="353" cy="794"/>
          </a:xfrm>
        </p:grpSpPr>
        <p:sp>
          <p:nvSpPr>
            <p:cNvPr id="89126" name="Text Box 24">
              <a:extLst>
                <a:ext uri="{FF2B5EF4-FFF2-40B4-BE49-F238E27FC236}">
                  <a16:creationId xmlns:a16="http://schemas.microsoft.com/office/drawing/2014/main" id="{9DF8E649-4670-864D-91CC-4A28A7D0FC27}"/>
                </a:ext>
              </a:extLst>
            </p:cNvPr>
            <p:cNvSpPr txBox="1">
              <a:spLocks noChangeArrowheads="1"/>
            </p:cNvSpPr>
            <p:nvPr/>
          </p:nvSpPr>
          <p:spPr bwMode="auto">
            <a:xfrm>
              <a:off x="2400" y="220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EX </a:t>
              </a:r>
            </a:p>
          </p:txBody>
        </p:sp>
        <p:sp>
          <p:nvSpPr>
            <p:cNvPr id="89127" name="Text Box 25">
              <a:extLst>
                <a:ext uri="{FF2B5EF4-FFF2-40B4-BE49-F238E27FC236}">
                  <a16:creationId xmlns:a16="http://schemas.microsoft.com/office/drawing/2014/main" id="{FD60193C-F48D-184F-A719-167829F31D00}"/>
                </a:ext>
              </a:extLst>
            </p:cNvPr>
            <p:cNvSpPr txBox="1">
              <a:spLocks noChangeArrowheads="1"/>
            </p:cNvSpPr>
            <p:nvPr/>
          </p:nvSpPr>
          <p:spPr bwMode="auto">
            <a:xfrm>
              <a:off x="2400" y="249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i="1">
                  <a:latin typeface="Courier" pitchFamily="2" charset="0"/>
                </a:rPr>
                <a:t>ID</a:t>
              </a:r>
              <a:r>
                <a:rPr lang="en-US" altLang="en-US" sz="1600">
                  <a:latin typeface="Courier" pitchFamily="2" charset="0"/>
                </a:rPr>
                <a:t> </a:t>
              </a:r>
            </a:p>
          </p:txBody>
        </p:sp>
        <p:sp>
          <p:nvSpPr>
            <p:cNvPr id="89128" name="Text Box 26">
              <a:extLst>
                <a:ext uri="{FF2B5EF4-FFF2-40B4-BE49-F238E27FC236}">
                  <a16:creationId xmlns:a16="http://schemas.microsoft.com/office/drawing/2014/main" id="{F0CFDBF5-1782-004A-90CB-BB46A7D4346D}"/>
                </a:ext>
              </a:extLst>
            </p:cNvPr>
            <p:cNvSpPr txBox="1">
              <a:spLocks noChangeArrowheads="1"/>
            </p:cNvSpPr>
            <p:nvPr/>
          </p:nvSpPr>
          <p:spPr bwMode="auto">
            <a:xfrm>
              <a:off x="2400" y="278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i="1">
                  <a:latin typeface="Courier" pitchFamily="2" charset="0"/>
                </a:rPr>
                <a:t>IF</a:t>
              </a:r>
              <a:r>
                <a:rPr lang="en-US" altLang="en-US" sz="1600">
                  <a:latin typeface="Courier" pitchFamily="2" charset="0"/>
                </a:rPr>
                <a:t> </a:t>
              </a:r>
            </a:p>
          </p:txBody>
        </p:sp>
      </p:grpSp>
      <p:grpSp>
        <p:nvGrpSpPr>
          <p:cNvPr id="198683" name="Group 27">
            <a:extLst>
              <a:ext uri="{FF2B5EF4-FFF2-40B4-BE49-F238E27FC236}">
                <a16:creationId xmlns:a16="http://schemas.microsoft.com/office/drawing/2014/main" id="{4E05564C-0A07-E24C-BDEA-D31CF74A2C63}"/>
              </a:ext>
            </a:extLst>
          </p:cNvPr>
          <p:cNvGrpSpPr>
            <a:grpSpLocks/>
          </p:cNvGrpSpPr>
          <p:nvPr/>
        </p:nvGrpSpPr>
        <p:grpSpPr bwMode="auto">
          <a:xfrm>
            <a:off x="4343400" y="3505200"/>
            <a:ext cx="795338" cy="1250950"/>
            <a:chOff x="2736" y="2208"/>
            <a:chExt cx="501" cy="788"/>
          </a:xfrm>
        </p:grpSpPr>
        <p:sp>
          <p:nvSpPr>
            <p:cNvPr id="89123" name="Text Box 28">
              <a:extLst>
                <a:ext uri="{FF2B5EF4-FFF2-40B4-BE49-F238E27FC236}">
                  <a16:creationId xmlns:a16="http://schemas.microsoft.com/office/drawing/2014/main" id="{818A647A-A425-8F48-A2A3-59722088F6AD}"/>
                </a:ext>
              </a:extLst>
            </p:cNvPr>
            <p:cNvSpPr txBox="1">
              <a:spLocks noChangeArrowheads="1"/>
            </p:cNvSpPr>
            <p:nvPr/>
          </p:nvSpPr>
          <p:spPr bwMode="auto">
            <a:xfrm>
              <a:off x="2784" y="220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MEM</a:t>
              </a:r>
            </a:p>
          </p:txBody>
        </p:sp>
        <p:sp>
          <p:nvSpPr>
            <p:cNvPr id="89124" name="Text Box 29">
              <a:extLst>
                <a:ext uri="{FF2B5EF4-FFF2-40B4-BE49-F238E27FC236}">
                  <a16:creationId xmlns:a16="http://schemas.microsoft.com/office/drawing/2014/main" id="{F6264283-7C7F-7947-B0C8-638518783D00}"/>
                </a:ext>
              </a:extLst>
            </p:cNvPr>
            <p:cNvSpPr txBox="1">
              <a:spLocks noChangeArrowheads="1"/>
            </p:cNvSpPr>
            <p:nvPr/>
          </p:nvSpPr>
          <p:spPr bwMode="auto">
            <a:xfrm>
              <a:off x="2736" y="2496"/>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i="1">
                  <a:latin typeface="Courier" pitchFamily="2" charset="0"/>
                </a:rPr>
                <a:t>stall</a:t>
              </a:r>
            </a:p>
          </p:txBody>
        </p:sp>
        <p:sp>
          <p:nvSpPr>
            <p:cNvPr id="89125" name="Text Box 30">
              <a:extLst>
                <a:ext uri="{FF2B5EF4-FFF2-40B4-BE49-F238E27FC236}">
                  <a16:creationId xmlns:a16="http://schemas.microsoft.com/office/drawing/2014/main" id="{C8DBFD8E-CDEE-FA40-AB9D-A455A933786F}"/>
                </a:ext>
              </a:extLst>
            </p:cNvPr>
            <p:cNvSpPr txBox="1">
              <a:spLocks noChangeArrowheads="1"/>
            </p:cNvSpPr>
            <p:nvPr/>
          </p:nvSpPr>
          <p:spPr bwMode="auto">
            <a:xfrm>
              <a:off x="2736" y="2784"/>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i="1">
                  <a:latin typeface="Courier" pitchFamily="2" charset="0"/>
                </a:rPr>
                <a:t>stall</a:t>
              </a:r>
            </a:p>
          </p:txBody>
        </p:sp>
      </p:grpSp>
      <p:grpSp>
        <p:nvGrpSpPr>
          <p:cNvPr id="198687" name="Group 31">
            <a:extLst>
              <a:ext uri="{FF2B5EF4-FFF2-40B4-BE49-F238E27FC236}">
                <a16:creationId xmlns:a16="http://schemas.microsoft.com/office/drawing/2014/main" id="{5C345A15-8CE6-704A-8ACB-3DCE4297B536}"/>
              </a:ext>
            </a:extLst>
          </p:cNvPr>
          <p:cNvGrpSpPr>
            <a:grpSpLocks/>
          </p:cNvGrpSpPr>
          <p:nvPr/>
        </p:nvGrpSpPr>
        <p:grpSpPr bwMode="auto">
          <a:xfrm>
            <a:off x="4953000" y="3505200"/>
            <a:ext cx="795338" cy="1250950"/>
            <a:chOff x="3120" y="2208"/>
            <a:chExt cx="501" cy="788"/>
          </a:xfrm>
        </p:grpSpPr>
        <p:sp>
          <p:nvSpPr>
            <p:cNvPr id="89119" name="Text Box 32">
              <a:extLst>
                <a:ext uri="{FF2B5EF4-FFF2-40B4-BE49-F238E27FC236}">
                  <a16:creationId xmlns:a16="http://schemas.microsoft.com/office/drawing/2014/main" id="{525F6494-F6D1-3848-ABCF-69F99F9DA6AF}"/>
                </a:ext>
              </a:extLst>
            </p:cNvPr>
            <p:cNvSpPr txBox="1">
              <a:spLocks noChangeArrowheads="1"/>
            </p:cNvSpPr>
            <p:nvPr/>
          </p:nvSpPr>
          <p:spPr bwMode="auto">
            <a:xfrm>
              <a:off x="3168" y="220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WB </a:t>
              </a:r>
            </a:p>
          </p:txBody>
        </p:sp>
        <p:sp>
          <p:nvSpPr>
            <p:cNvPr id="89120" name="Line 33">
              <a:extLst>
                <a:ext uri="{FF2B5EF4-FFF2-40B4-BE49-F238E27FC236}">
                  <a16:creationId xmlns:a16="http://schemas.microsoft.com/office/drawing/2014/main" id="{199D1E68-A95E-4245-A26C-60EAF053F8FB}"/>
                </a:ext>
              </a:extLst>
            </p:cNvPr>
            <p:cNvSpPr>
              <a:spLocks noChangeShapeType="1"/>
            </p:cNvSpPr>
            <p:nvPr/>
          </p:nvSpPr>
          <p:spPr bwMode="auto">
            <a:xfrm>
              <a:off x="3408" y="2352"/>
              <a:ext cx="144" cy="192"/>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89121" name="Text Box 34">
              <a:extLst>
                <a:ext uri="{FF2B5EF4-FFF2-40B4-BE49-F238E27FC236}">
                  <a16:creationId xmlns:a16="http://schemas.microsoft.com/office/drawing/2014/main" id="{C5950873-8E52-3843-BD7F-30ADF7D1E2D1}"/>
                </a:ext>
              </a:extLst>
            </p:cNvPr>
            <p:cNvSpPr txBox="1">
              <a:spLocks noChangeArrowheads="1"/>
            </p:cNvSpPr>
            <p:nvPr/>
          </p:nvSpPr>
          <p:spPr bwMode="auto">
            <a:xfrm>
              <a:off x="3120" y="2496"/>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i="1">
                  <a:latin typeface="Courier" pitchFamily="2" charset="0"/>
                </a:rPr>
                <a:t>stall</a:t>
              </a:r>
            </a:p>
          </p:txBody>
        </p:sp>
        <p:sp>
          <p:nvSpPr>
            <p:cNvPr id="89122" name="Text Box 35">
              <a:extLst>
                <a:ext uri="{FF2B5EF4-FFF2-40B4-BE49-F238E27FC236}">
                  <a16:creationId xmlns:a16="http://schemas.microsoft.com/office/drawing/2014/main" id="{36A742BB-FE83-7C43-A480-A45D6DBAF8E7}"/>
                </a:ext>
              </a:extLst>
            </p:cNvPr>
            <p:cNvSpPr txBox="1">
              <a:spLocks noChangeArrowheads="1"/>
            </p:cNvSpPr>
            <p:nvPr/>
          </p:nvSpPr>
          <p:spPr bwMode="auto">
            <a:xfrm>
              <a:off x="3120" y="2784"/>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i="1">
                  <a:latin typeface="Courier" pitchFamily="2" charset="0"/>
                </a:rPr>
                <a:t>stall</a:t>
              </a:r>
            </a:p>
          </p:txBody>
        </p:sp>
      </p:grpSp>
      <p:grpSp>
        <p:nvGrpSpPr>
          <p:cNvPr id="198692" name="Group 36">
            <a:extLst>
              <a:ext uri="{FF2B5EF4-FFF2-40B4-BE49-F238E27FC236}">
                <a16:creationId xmlns:a16="http://schemas.microsoft.com/office/drawing/2014/main" id="{4923F4BC-4679-F347-BE20-C34A7939EBF5}"/>
              </a:ext>
            </a:extLst>
          </p:cNvPr>
          <p:cNvGrpSpPr>
            <a:grpSpLocks/>
          </p:cNvGrpSpPr>
          <p:nvPr/>
        </p:nvGrpSpPr>
        <p:grpSpPr bwMode="auto">
          <a:xfrm>
            <a:off x="5638800" y="3962400"/>
            <a:ext cx="560388" cy="803275"/>
            <a:chOff x="3552" y="2496"/>
            <a:chExt cx="353" cy="506"/>
          </a:xfrm>
        </p:grpSpPr>
        <p:sp>
          <p:nvSpPr>
            <p:cNvPr id="89117" name="Text Box 37">
              <a:extLst>
                <a:ext uri="{FF2B5EF4-FFF2-40B4-BE49-F238E27FC236}">
                  <a16:creationId xmlns:a16="http://schemas.microsoft.com/office/drawing/2014/main" id="{8047C02D-3B7E-0444-A391-AF94DEA447D8}"/>
                </a:ext>
              </a:extLst>
            </p:cNvPr>
            <p:cNvSpPr txBox="1">
              <a:spLocks noChangeArrowheads="1"/>
            </p:cNvSpPr>
            <p:nvPr/>
          </p:nvSpPr>
          <p:spPr bwMode="auto">
            <a:xfrm>
              <a:off x="3552" y="249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ID </a:t>
              </a:r>
            </a:p>
          </p:txBody>
        </p:sp>
        <p:sp>
          <p:nvSpPr>
            <p:cNvPr id="89118" name="Text Box 38">
              <a:extLst>
                <a:ext uri="{FF2B5EF4-FFF2-40B4-BE49-F238E27FC236}">
                  <a16:creationId xmlns:a16="http://schemas.microsoft.com/office/drawing/2014/main" id="{B21AEC7B-42DD-DE43-8364-4330C639A847}"/>
                </a:ext>
              </a:extLst>
            </p:cNvPr>
            <p:cNvSpPr txBox="1">
              <a:spLocks noChangeArrowheads="1"/>
            </p:cNvSpPr>
            <p:nvPr/>
          </p:nvSpPr>
          <p:spPr bwMode="auto">
            <a:xfrm>
              <a:off x="3552" y="278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IF </a:t>
              </a:r>
            </a:p>
          </p:txBody>
        </p:sp>
      </p:grpSp>
      <p:grpSp>
        <p:nvGrpSpPr>
          <p:cNvPr id="198695" name="Group 39">
            <a:extLst>
              <a:ext uri="{FF2B5EF4-FFF2-40B4-BE49-F238E27FC236}">
                <a16:creationId xmlns:a16="http://schemas.microsoft.com/office/drawing/2014/main" id="{98A6F41E-A68D-4E4E-897A-E6E26A337DBA}"/>
              </a:ext>
            </a:extLst>
          </p:cNvPr>
          <p:cNvGrpSpPr>
            <a:grpSpLocks/>
          </p:cNvGrpSpPr>
          <p:nvPr/>
        </p:nvGrpSpPr>
        <p:grpSpPr bwMode="auto">
          <a:xfrm>
            <a:off x="6248400" y="3962400"/>
            <a:ext cx="560388" cy="803275"/>
            <a:chOff x="3936" y="2496"/>
            <a:chExt cx="353" cy="506"/>
          </a:xfrm>
        </p:grpSpPr>
        <p:sp>
          <p:nvSpPr>
            <p:cNvPr id="89115" name="Text Box 40">
              <a:extLst>
                <a:ext uri="{FF2B5EF4-FFF2-40B4-BE49-F238E27FC236}">
                  <a16:creationId xmlns:a16="http://schemas.microsoft.com/office/drawing/2014/main" id="{50BBE9E9-D3EF-B548-B38D-30614AD0D841}"/>
                </a:ext>
              </a:extLst>
            </p:cNvPr>
            <p:cNvSpPr txBox="1">
              <a:spLocks noChangeArrowheads="1"/>
            </p:cNvSpPr>
            <p:nvPr/>
          </p:nvSpPr>
          <p:spPr bwMode="auto">
            <a:xfrm>
              <a:off x="3936" y="249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EX </a:t>
              </a:r>
            </a:p>
          </p:txBody>
        </p:sp>
        <p:sp>
          <p:nvSpPr>
            <p:cNvPr id="89116" name="Text Box 41">
              <a:extLst>
                <a:ext uri="{FF2B5EF4-FFF2-40B4-BE49-F238E27FC236}">
                  <a16:creationId xmlns:a16="http://schemas.microsoft.com/office/drawing/2014/main" id="{BB19CFF5-5B2B-3544-B296-9D94B82BF070}"/>
                </a:ext>
              </a:extLst>
            </p:cNvPr>
            <p:cNvSpPr txBox="1">
              <a:spLocks noChangeArrowheads="1"/>
            </p:cNvSpPr>
            <p:nvPr/>
          </p:nvSpPr>
          <p:spPr bwMode="auto">
            <a:xfrm>
              <a:off x="3936" y="278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ID </a:t>
              </a:r>
            </a:p>
          </p:txBody>
        </p:sp>
      </p:grpSp>
      <p:grpSp>
        <p:nvGrpSpPr>
          <p:cNvPr id="198698" name="Group 42">
            <a:extLst>
              <a:ext uri="{FF2B5EF4-FFF2-40B4-BE49-F238E27FC236}">
                <a16:creationId xmlns:a16="http://schemas.microsoft.com/office/drawing/2014/main" id="{5773DD39-1C4E-F044-8D36-13D31B400E60}"/>
              </a:ext>
            </a:extLst>
          </p:cNvPr>
          <p:cNvGrpSpPr>
            <a:grpSpLocks/>
          </p:cNvGrpSpPr>
          <p:nvPr/>
        </p:nvGrpSpPr>
        <p:grpSpPr bwMode="auto">
          <a:xfrm>
            <a:off x="7467600" y="3962400"/>
            <a:ext cx="560388" cy="803275"/>
            <a:chOff x="4704" y="2496"/>
            <a:chExt cx="353" cy="506"/>
          </a:xfrm>
        </p:grpSpPr>
        <p:sp>
          <p:nvSpPr>
            <p:cNvPr id="89113" name="Text Box 43">
              <a:extLst>
                <a:ext uri="{FF2B5EF4-FFF2-40B4-BE49-F238E27FC236}">
                  <a16:creationId xmlns:a16="http://schemas.microsoft.com/office/drawing/2014/main" id="{F6433F21-13AE-DC4C-AD20-26732C6A07B4}"/>
                </a:ext>
              </a:extLst>
            </p:cNvPr>
            <p:cNvSpPr txBox="1">
              <a:spLocks noChangeArrowheads="1"/>
            </p:cNvSpPr>
            <p:nvPr/>
          </p:nvSpPr>
          <p:spPr bwMode="auto">
            <a:xfrm>
              <a:off x="4704" y="249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WB </a:t>
              </a:r>
            </a:p>
          </p:txBody>
        </p:sp>
        <p:sp>
          <p:nvSpPr>
            <p:cNvPr id="89114" name="Text Box 44">
              <a:extLst>
                <a:ext uri="{FF2B5EF4-FFF2-40B4-BE49-F238E27FC236}">
                  <a16:creationId xmlns:a16="http://schemas.microsoft.com/office/drawing/2014/main" id="{484BDE25-DBEA-C84C-91C6-AAA542090852}"/>
                </a:ext>
              </a:extLst>
            </p:cNvPr>
            <p:cNvSpPr txBox="1">
              <a:spLocks noChangeArrowheads="1"/>
            </p:cNvSpPr>
            <p:nvPr/>
          </p:nvSpPr>
          <p:spPr bwMode="auto">
            <a:xfrm>
              <a:off x="4704" y="278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MEM</a:t>
              </a:r>
            </a:p>
          </p:txBody>
        </p:sp>
      </p:grpSp>
      <p:grpSp>
        <p:nvGrpSpPr>
          <p:cNvPr id="198701" name="Group 45">
            <a:extLst>
              <a:ext uri="{FF2B5EF4-FFF2-40B4-BE49-F238E27FC236}">
                <a16:creationId xmlns:a16="http://schemas.microsoft.com/office/drawing/2014/main" id="{722C1394-5821-4844-B54B-AE5C25B55143}"/>
              </a:ext>
            </a:extLst>
          </p:cNvPr>
          <p:cNvGrpSpPr>
            <a:grpSpLocks/>
          </p:cNvGrpSpPr>
          <p:nvPr/>
        </p:nvGrpSpPr>
        <p:grpSpPr bwMode="auto">
          <a:xfrm>
            <a:off x="6858000" y="3962400"/>
            <a:ext cx="560388" cy="803275"/>
            <a:chOff x="4320" y="2496"/>
            <a:chExt cx="353" cy="506"/>
          </a:xfrm>
        </p:grpSpPr>
        <p:sp>
          <p:nvSpPr>
            <p:cNvPr id="89111" name="Text Box 46">
              <a:extLst>
                <a:ext uri="{FF2B5EF4-FFF2-40B4-BE49-F238E27FC236}">
                  <a16:creationId xmlns:a16="http://schemas.microsoft.com/office/drawing/2014/main" id="{7C641229-4C49-6D49-B40A-9AB2BB825E45}"/>
                </a:ext>
              </a:extLst>
            </p:cNvPr>
            <p:cNvSpPr txBox="1">
              <a:spLocks noChangeArrowheads="1"/>
            </p:cNvSpPr>
            <p:nvPr/>
          </p:nvSpPr>
          <p:spPr bwMode="auto">
            <a:xfrm>
              <a:off x="4320" y="249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MEM</a:t>
              </a:r>
            </a:p>
          </p:txBody>
        </p:sp>
        <p:sp>
          <p:nvSpPr>
            <p:cNvPr id="89112" name="Text Box 47">
              <a:extLst>
                <a:ext uri="{FF2B5EF4-FFF2-40B4-BE49-F238E27FC236}">
                  <a16:creationId xmlns:a16="http://schemas.microsoft.com/office/drawing/2014/main" id="{988F2E21-3011-F546-931C-4993C45A96AD}"/>
                </a:ext>
              </a:extLst>
            </p:cNvPr>
            <p:cNvSpPr txBox="1">
              <a:spLocks noChangeArrowheads="1"/>
            </p:cNvSpPr>
            <p:nvPr/>
          </p:nvSpPr>
          <p:spPr bwMode="auto">
            <a:xfrm>
              <a:off x="4320" y="278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EX </a:t>
              </a:r>
            </a:p>
          </p:txBody>
        </p:sp>
      </p:grpSp>
      <p:grpSp>
        <p:nvGrpSpPr>
          <p:cNvPr id="198704" name="Group 48">
            <a:extLst>
              <a:ext uri="{FF2B5EF4-FFF2-40B4-BE49-F238E27FC236}">
                <a16:creationId xmlns:a16="http://schemas.microsoft.com/office/drawing/2014/main" id="{2BDF9183-A8CF-E340-91A5-3A923DF33155}"/>
              </a:ext>
            </a:extLst>
          </p:cNvPr>
          <p:cNvGrpSpPr>
            <a:grpSpLocks/>
          </p:cNvGrpSpPr>
          <p:nvPr/>
        </p:nvGrpSpPr>
        <p:grpSpPr bwMode="auto">
          <a:xfrm>
            <a:off x="2057400" y="2667000"/>
            <a:ext cx="2298700" cy="762000"/>
            <a:chOff x="1296" y="1680"/>
            <a:chExt cx="1448" cy="480"/>
          </a:xfrm>
        </p:grpSpPr>
        <p:sp>
          <p:nvSpPr>
            <p:cNvPr id="89109" name="Text Box 49">
              <a:extLst>
                <a:ext uri="{FF2B5EF4-FFF2-40B4-BE49-F238E27FC236}">
                  <a16:creationId xmlns:a16="http://schemas.microsoft.com/office/drawing/2014/main" id="{30E90272-855E-F44D-8365-A966827F0662}"/>
                </a:ext>
              </a:extLst>
            </p:cNvPr>
            <p:cNvSpPr txBox="1">
              <a:spLocks noChangeArrowheads="1"/>
            </p:cNvSpPr>
            <p:nvPr/>
          </p:nvSpPr>
          <p:spPr bwMode="auto">
            <a:xfrm>
              <a:off x="1296" y="1680"/>
              <a:ext cx="11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value available</a:t>
              </a:r>
            </a:p>
          </p:txBody>
        </p:sp>
        <p:sp>
          <p:nvSpPr>
            <p:cNvPr id="89110" name="Freeform 50">
              <a:extLst>
                <a:ext uri="{FF2B5EF4-FFF2-40B4-BE49-F238E27FC236}">
                  <a16:creationId xmlns:a16="http://schemas.microsoft.com/office/drawing/2014/main" id="{2E9B2159-C145-3C4B-A3C7-8E07E480DBE9}"/>
                </a:ext>
              </a:extLst>
            </p:cNvPr>
            <p:cNvSpPr>
              <a:spLocks/>
            </p:cNvSpPr>
            <p:nvPr/>
          </p:nvSpPr>
          <p:spPr bwMode="auto">
            <a:xfrm>
              <a:off x="2400" y="1824"/>
              <a:ext cx="344" cy="336"/>
            </a:xfrm>
            <a:custGeom>
              <a:avLst/>
              <a:gdLst>
                <a:gd name="T0" fmla="*/ 0 w 344"/>
                <a:gd name="T1" fmla="*/ 0 h 336"/>
                <a:gd name="T2" fmla="*/ 288 w 344"/>
                <a:gd name="T3" fmla="*/ 96 h 336"/>
                <a:gd name="T4" fmla="*/ 336 w 344"/>
                <a:gd name="T5" fmla="*/ 336 h 336"/>
                <a:gd name="T6" fmla="*/ 0 60000 65536"/>
                <a:gd name="T7" fmla="*/ 0 60000 65536"/>
                <a:gd name="T8" fmla="*/ 0 60000 65536"/>
              </a:gdLst>
              <a:ahLst/>
              <a:cxnLst>
                <a:cxn ang="T6">
                  <a:pos x="T0" y="T1"/>
                </a:cxn>
                <a:cxn ang="T7">
                  <a:pos x="T2" y="T3"/>
                </a:cxn>
                <a:cxn ang="T8">
                  <a:pos x="T4" y="T5"/>
                </a:cxn>
              </a:cxnLst>
              <a:rect l="0" t="0" r="r" b="b"/>
              <a:pathLst>
                <a:path w="344" h="336">
                  <a:moveTo>
                    <a:pt x="0" y="0"/>
                  </a:moveTo>
                  <a:cubicBezTo>
                    <a:pt x="116" y="20"/>
                    <a:pt x="232" y="40"/>
                    <a:pt x="288" y="96"/>
                  </a:cubicBezTo>
                  <a:cubicBezTo>
                    <a:pt x="344" y="152"/>
                    <a:pt x="340" y="244"/>
                    <a:pt x="336" y="336"/>
                  </a:cubicBezTo>
                </a:path>
              </a:pathLst>
            </a:custGeom>
            <a:noFill/>
            <a:ln w="9525" cap="flat" cmpd="sng">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grpSp>
        <p:nvGrpSpPr>
          <p:cNvPr id="198707" name="Group 51">
            <a:extLst>
              <a:ext uri="{FF2B5EF4-FFF2-40B4-BE49-F238E27FC236}">
                <a16:creationId xmlns:a16="http://schemas.microsoft.com/office/drawing/2014/main" id="{86FD2B52-EA4D-C44C-B858-952F4C4953AC}"/>
              </a:ext>
            </a:extLst>
          </p:cNvPr>
          <p:cNvGrpSpPr>
            <a:grpSpLocks/>
          </p:cNvGrpSpPr>
          <p:nvPr/>
        </p:nvGrpSpPr>
        <p:grpSpPr bwMode="auto">
          <a:xfrm>
            <a:off x="4495800" y="2590800"/>
            <a:ext cx="1587500" cy="1371600"/>
            <a:chOff x="2832" y="1632"/>
            <a:chExt cx="1000" cy="864"/>
          </a:xfrm>
        </p:grpSpPr>
        <p:sp>
          <p:nvSpPr>
            <p:cNvPr id="89107" name="Text Box 52">
              <a:extLst>
                <a:ext uri="{FF2B5EF4-FFF2-40B4-BE49-F238E27FC236}">
                  <a16:creationId xmlns:a16="http://schemas.microsoft.com/office/drawing/2014/main" id="{5473D028-72E5-FD47-AD77-866BEE537E79}"/>
                </a:ext>
              </a:extLst>
            </p:cNvPr>
            <p:cNvSpPr txBox="1">
              <a:spLocks noChangeArrowheads="1"/>
            </p:cNvSpPr>
            <p:nvPr/>
          </p:nvSpPr>
          <p:spPr bwMode="auto">
            <a:xfrm>
              <a:off x="2832" y="1632"/>
              <a:ext cx="10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value needed</a:t>
              </a:r>
            </a:p>
          </p:txBody>
        </p:sp>
        <p:sp>
          <p:nvSpPr>
            <p:cNvPr id="89108" name="Freeform 53">
              <a:extLst>
                <a:ext uri="{FF2B5EF4-FFF2-40B4-BE49-F238E27FC236}">
                  <a16:creationId xmlns:a16="http://schemas.microsoft.com/office/drawing/2014/main" id="{850224A8-AA74-744E-8E0C-A9432F080DC2}"/>
                </a:ext>
              </a:extLst>
            </p:cNvPr>
            <p:cNvSpPr>
              <a:spLocks/>
            </p:cNvSpPr>
            <p:nvPr/>
          </p:nvSpPr>
          <p:spPr bwMode="auto">
            <a:xfrm>
              <a:off x="2832" y="1800"/>
              <a:ext cx="112" cy="696"/>
            </a:xfrm>
            <a:custGeom>
              <a:avLst/>
              <a:gdLst>
                <a:gd name="T0" fmla="*/ 96 w 112"/>
                <a:gd name="T1" fmla="*/ 24 h 696"/>
                <a:gd name="T2" fmla="*/ 96 w 112"/>
                <a:gd name="T3" fmla="*/ 72 h 696"/>
                <a:gd name="T4" fmla="*/ 96 w 112"/>
                <a:gd name="T5" fmla="*/ 456 h 696"/>
                <a:gd name="T6" fmla="*/ 0 w 112"/>
                <a:gd name="T7" fmla="*/ 696 h 6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2" h="696">
                  <a:moveTo>
                    <a:pt x="96" y="24"/>
                  </a:moveTo>
                  <a:cubicBezTo>
                    <a:pt x="96" y="12"/>
                    <a:pt x="96" y="0"/>
                    <a:pt x="96" y="72"/>
                  </a:cubicBezTo>
                  <a:cubicBezTo>
                    <a:pt x="96" y="144"/>
                    <a:pt x="112" y="352"/>
                    <a:pt x="96" y="456"/>
                  </a:cubicBezTo>
                  <a:cubicBezTo>
                    <a:pt x="80" y="560"/>
                    <a:pt x="40" y="628"/>
                    <a:pt x="0" y="696"/>
                  </a:cubicBezTo>
                </a:path>
              </a:pathLst>
            </a:custGeom>
            <a:noFill/>
            <a:ln w="9525" cap="flat" cmpd="sng">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grpSp>
        <p:nvGrpSpPr>
          <p:cNvPr id="198710" name="Group 54">
            <a:extLst>
              <a:ext uri="{FF2B5EF4-FFF2-40B4-BE49-F238E27FC236}">
                <a16:creationId xmlns:a16="http://schemas.microsoft.com/office/drawing/2014/main" id="{8DEC8AA4-9D9C-E240-AA5C-112AD99BA316}"/>
              </a:ext>
            </a:extLst>
          </p:cNvPr>
          <p:cNvGrpSpPr>
            <a:grpSpLocks/>
          </p:cNvGrpSpPr>
          <p:nvPr/>
        </p:nvGrpSpPr>
        <p:grpSpPr bwMode="auto">
          <a:xfrm>
            <a:off x="5562600" y="2667000"/>
            <a:ext cx="2595563" cy="762000"/>
            <a:chOff x="3504" y="1680"/>
            <a:chExt cx="1635" cy="480"/>
          </a:xfrm>
        </p:grpSpPr>
        <p:sp>
          <p:nvSpPr>
            <p:cNvPr id="89105" name="Freeform 55">
              <a:extLst>
                <a:ext uri="{FF2B5EF4-FFF2-40B4-BE49-F238E27FC236}">
                  <a16:creationId xmlns:a16="http://schemas.microsoft.com/office/drawing/2014/main" id="{AED6E6F2-6EFF-5547-819E-9732F9A2CE1B}"/>
                </a:ext>
              </a:extLst>
            </p:cNvPr>
            <p:cNvSpPr>
              <a:spLocks/>
            </p:cNvSpPr>
            <p:nvPr/>
          </p:nvSpPr>
          <p:spPr bwMode="auto">
            <a:xfrm>
              <a:off x="3504" y="1824"/>
              <a:ext cx="624" cy="336"/>
            </a:xfrm>
            <a:custGeom>
              <a:avLst/>
              <a:gdLst>
                <a:gd name="T0" fmla="*/ 624 w 624"/>
                <a:gd name="T1" fmla="*/ 0 h 336"/>
                <a:gd name="T2" fmla="*/ 144 w 624"/>
                <a:gd name="T3" fmla="*/ 96 h 336"/>
                <a:gd name="T4" fmla="*/ 0 w 624"/>
                <a:gd name="T5" fmla="*/ 336 h 336"/>
                <a:gd name="T6" fmla="*/ 0 60000 65536"/>
                <a:gd name="T7" fmla="*/ 0 60000 65536"/>
                <a:gd name="T8" fmla="*/ 0 60000 65536"/>
              </a:gdLst>
              <a:ahLst/>
              <a:cxnLst>
                <a:cxn ang="T6">
                  <a:pos x="T0" y="T1"/>
                </a:cxn>
                <a:cxn ang="T7">
                  <a:pos x="T2" y="T3"/>
                </a:cxn>
                <a:cxn ang="T8">
                  <a:pos x="T4" y="T5"/>
                </a:cxn>
              </a:cxnLst>
              <a:rect l="0" t="0" r="r" b="b"/>
              <a:pathLst>
                <a:path w="624" h="336">
                  <a:moveTo>
                    <a:pt x="624" y="0"/>
                  </a:moveTo>
                  <a:cubicBezTo>
                    <a:pt x="436" y="20"/>
                    <a:pt x="248" y="40"/>
                    <a:pt x="144" y="96"/>
                  </a:cubicBezTo>
                  <a:cubicBezTo>
                    <a:pt x="40" y="152"/>
                    <a:pt x="20" y="244"/>
                    <a:pt x="0" y="336"/>
                  </a:cubicBezTo>
                </a:path>
              </a:pathLst>
            </a:custGeom>
            <a:noFill/>
            <a:ln w="9525" cap="flat" cmpd="sng">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sp>
          <p:nvSpPr>
            <p:cNvPr id="89106" name="Text Box 56">
              <a:extLst>
                <a:ext uri="{FF2B5EF4-FFF2-40B4-BE49-F238E27FC236}">
                  <a16:creationId xmlns:a16="http://schemas.microsoft.com/office/drawing/2014/main" id="{9E0ECE55-A506-4747-A820-CCD898E2EFA7}"/>
                </a:ext>
              </a:extLst>
            </p:cNvPr>
            <p:cNvSpPr txBox="1">
              <a:spLocks noChangeArrowheads="1"/>
            </p:cNvSpPr>
            <p:nvPr/>
          </p:nvSpPr>
          <p:spPr bwMode="auto">
            <a:xfrm>
              <a:off x="4122" y="1680"/>
              <a:ext cx="10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value written</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866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9866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9867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9868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9868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9869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9869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19870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19869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nodeType="clickEffect">
                                  <p:stCondLst>
                                    <p:cond delay="0"/>
                                  </p:stCondLst>
                                  <p:childTnLst>
                                    <p:set>
                                      <p:cBhvr>
                                        <p:cTn id="42" dur="1" fill="hold">
                                          <p:stCondLst>
                                            <p:cond delay="0"/>
                                          </p:stCondLst>
                                        </p:cTn>
                                        <p:tgtEl>
                                          <p:spTgt spid="198707"/>
                                        </p:tgtEl>
                                        <p:attrNameLst>
                                          <p:attrName>style.visibility</p:attrName>
                                        </p:attrNameLst>
                                      </p:cBhvr>
                                      <p:to>
                                        <p:strVal val="visible"/>
                                      </p:to>
                                    </p:set>
                                    <p:animEffect transition="in" filter="dissolve">
                                      <p:cBhvr>
                                        <p:cTn id="43" dur="500"/>
                                        <p:tgtEl>
                                          <p:spTgt spid="19870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198710"/>
                                        </p:tgtEl>
                                        <p:attrNameLst>
                                          <p:attrName>style.visibility</p:attrName>
                                        </p:attrNameLst>
                                      </p:cBhvr>
                                      <p:to>
                                        <p:strVal val="visible"/>
                                      </p:to>
                                    </p:set>
                                    <p:animEffect transition="in" filter="dissolve">
                                      <p:cBhvr>
                                        <p:cTn id="48" dur="500"/>
                                        <p:tgtEl>
                                          <p:spTgt spid="19871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nodeType="clickEffect">
                                  <p:stCondLst>
                                    <p:cond delay="0"/>
                                  </p:stCondLst>
                                  <p:childTnLst>
                                    <p:set>
                                      <p:cBhvr>
                                        <p:cTn id="52" dur="1" fill="hold">
                                          <p:stCondLst>
                                            <p:cond delay="0"/>
                                          </p:stCondLst>
                                        </p:cTn>
                                        <p:tgtEl>
                                          <p:spTgt spid="198704"/>
                                        </p:tgtEl>
                                        <p:attrNameLst>
                                          <p:attrName>style.visibility</p:attrName>
                                        </p:attrNameLst>
                                      </p:cBhvr>
                                      <p:to>
                                        <p:strVal val="visible"/>
                                      </p:to>
                                    </p:set>
                                    <p:animEffect transition="in" filter="dissolve">
                                      <p:cBhvr>
                                        <p:cTn id="53" dur="500"/>
                                        <p:tgtEl>
                                          <p:spTgt spid="198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D3812D43-6B80-0F4C-AC04-EA39A009184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Data forwarding (bypasses)</a:t>
            </a:r>
          </a:p>
        </p:txBody>
      </p:sp>
      <p:sp>
        <p:nvSpPr>
          <p:cNvPr id="90115" name="AutoShape 3">
            <a:extLst>
              <a:ext uri="{FF2B5EF4-FFF2-40B4-BE49-F238E27FC236}">
                <a16:creationId xmlns:a16="http://schemas.microsoft.com/office/drawing/2014/main" id="{4C6A6B10-5702-2A41-AD40-76E50D44B8F5}"/>
              </a:ext>
            </a:extLst>
          </p:cNvPr>
          <p:cNvSpPr>
            <a:spLocks noChangeAspect="1" noChangeArrowheads="1"/>
          </p:cNvSpPr>
          <p:nvPr/>
        </p:nvSpPr>
        <p:spPr bwMode="auto">
          <a:xfrm rot="5400000" flipH="1" flipV="1">
            <a:off x="2755900" y="4025900"/>
            <a:ext cx="1093788" cy="357188"/>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2400">
                <a:latin typeface="Arial" panose="020B0604020202020204" pitchFamily="34" charset="0"/>
              </a:rPr>
              <a:t>ALU</a:t>
            </a:r>
          </a:p>
        </p:txBody>
      </p:sp>
      <p:sp>
        <p:nvSpPr>
          <p:cNvPr id="90116" name="Rectangle 4">
            <a:extLst>
              <a:ext uri="{FF2B5EF4-FFF2-40B4-BE49-F238E27FC236}">
                <a16:creationId xmlns:a16="http://schemas.microsoft.com/office/drawing/2014/main" id="{830CEEAD-CCD8-1441-BB0B-3D6FC3327E45}"/>
              </a:ext>
            </a:extLst>
          </p:cNvPr>
          <p:cNvSpPr>
            <a:spLocks noChangeAspect="1" noChangeArrowheads="1"/>
          </p:cNvSpPr>
          <p:nvPr/>
        </p:nvSpPr>
        <p:spPr bwMode="auto">
          <a:xfrm>
            <a:off x="4648200" y="3657600"/>
            <a:ext cx="479425" cy="1093788"/>
          </a:xfrm>
          <a:prstGeom prst="rect">
            <a:avLst/>
          </a:prstGeom>
          <a:solidFill>
            <a:schemeClr val="bg1"/>
          </a:solidFill>
          <a:ln w="12700">
            <a:solidFill>
              <a:schemeClr val="tx1"/>
            </a:solidFill>
            <a:miter lim="800000"/>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2400">
                <a:latin typeface="Arial" panose="020B0604020202020204" pitchFamily="34" charset="0"/>
              </a:rPr>
              <a:t>D$</a:t>
            </a:r>
          </a:p>
        </p:txBody>
      </p:sp>
      <p:sp>
        <p:nvSpPr>
          <p:cNvPr id="90117" name="AutoShape 5">
            <a:extLst>
              <a:ext uri="{FF2B5EF4-FFF2-40B4-BE49-F238E27FC236}">
                <a16:creationId xmlns:a16="http://schemas.microsoft.com/office/drawing/2014/main" id="{04F91B18-2404-0046-B2C5-0378C1913F34}"/>
              </a:ext>
            </a:extLst>
          </p:cNvPr>
          <p:cNvSpPr>
            <a:spLocks noChangeAspect="1" noChangeArrowheads="1"/>
          </p:cNvSpPr>
          <p:nvPr/>
        </p:nvSpPr>
        <p:spPr bwMode="auto">
          <a:xfrm rot="-5400000">
            <a:off x="1901032" y="3356768"/>
            <a:ext cx="1371600" cy="296863"/>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90118" name="AutoShape 6">
            <a:extLst>
              <a:ext uri="{FF2B5EF4-FFF2-40B4-BE49-F238E27FC236}">
                <a16:creationId xmlns:a16="http://schemas.microsoft.com/office/drawing/2014/main" id="{67E05F58-E8E7-C346-BFE6-7C6E461B702D}"/>
              </a:ext>
            </a:extLst>
          </p:cNvPr>
          <p:cNvSpPr>
            <a:spLocks noChangeAspect="1" noChangeArrowheads="1"/>
          </p:cNvSpPr>
          <p:nvPr/>
        </p:nvSpPr>
        <p:spPr bwMode="auto">
          <a:xfrm rot="-5400000">
            <a:off x="6293644" y="4298156"/>
            <a:ext cx="663575" cy="296863"/>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90119" name="Line 7">
            <a:extLst>
              <a:ext uri="{FF2B5EF4-FFF2-40B4-BE49-F238E27FC236}">
                <a16:creationId xmlns:a16="http://schemas.microsoft.com/office/drawing/2014/main" id="{25348271-F46A-B64A-B024-FBA7EA58E070}"/>
              </a:ext>
            </a:extLst>
          </p:cNvPr>
          <p:cNvSpPr>
            <a:spLocks noChangeShapeType="1"/>
          </p:cNvSpPr>
          <p:nvPr/>
        </p:nvSpPr>
        <p:spPr bwMode="auto">
          <a:xfrm>
            <a:off x="4419600" y="4191000"/>
            <a:ext cx="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0120" name="Line 8">
            <a:extLst>
              <a:ext uri="{FF2B5EF4-FFF2-40B4-BE49-F238E27FC236}">
                <a16:creationId xmlns:a16="http://schemas.microsoft.com/office/drawing/2014/main" id="{C3EFFAC5-8140-1E4F-80D4-38D27E7A6EE4}"/>
              </a:ext>
            </a:extLst>
          </p:cNvPr>
          <p:cNvSpPr>
            <a:spLocks noChangeShapeType="1"/>
          </p:cNvSpPr>
          <p:nvPr/>
        </p:nvSpPr>
        <p:spPr bwMode="auto">
          <a:xfrm>
            <a:off x="4419600" y="50292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a:p>
        </p:txBody>
      </p:sp>
      <p:sp>
        <p:nvSpPr>
          <p:cNvPr id="90121" name="Line 9">
            <a:extLst>
              <a:ext uri="{FF2B5EF4-FFF2-40B4-BE49-F238E27FC236}">
                <a16:creationId xmlns:a16="http://schemas.microsoft.com/office/drawing/2014/main" id="{2FBFC6EB-534E-2040-B8AA-E4C8738DB196}"/>
              </a:ext>
            </a:extLst>
          </p:cNvPr>
          <p:cNvSpPr>
            <a:spLocks noChangeShapeType="1"/>
          </p:cNvSpPr>
          <p:nvPr/>
        </p:nvSpPr>
        <p:spPr bwMode="auto">
          <a:xfrm>
            <a:off x="5410200" y="4572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0122" name="Line 10">
            <a:extLst>
              <a:ext uri="{FF2B5EF4-FFF2-40B4-BE49-F238E27FC236}">
                <a16:creationId xmlns:a16="http://schemas.microsoft.com/office/drawing/2014/main" id="{125118A4-A602-EF4A-BDB4-0AF16D8B7D55}"/>
              </a:ext>
            </a:extLst>
          </p:cNvPr>
          <p:cNvSpPr>
            <a:spLocks noChangeShapeType="1"/>
          </p:cNvSpPr>
          <p:nvPr/>
        </p:nvSpPr>
        <p:spPr bwMode="auto">
          <a:xfrm>
            <a:off x="5410200" y="45720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US"/>
          </a:p>
        </p:txBody>
      </p:sp>
      <p:sp>
        <p:nvSpPr>
          <p:cNvPr id="90123" name="Rectangle 11">
            <a:extLst>
              <a:ext uri="{FF2B5EF4-FFF2-40B4-BE49-F238E27FC236}">
                <a16:creationId xmlns:a16="http://schemas.microsoft.com/office/drawing/2014/main" id="{7D98B733-FBD0-B743-A25E-EB481B9B56B4}"/>
              </a:ext>
            </a:extLst>
          </p:cNvPr>
          <p:cNvSpPr>
            <a:spLocks noChangeArrowheads="1"/>
          </p:cNvSpPr>
          <p:nvPr/>
        </p:nvSpPr>
        <p:spPr bwMode="auto">
          <a:xfrm>
            <a:off x="1601788" y="2514600"/>
            <a:ext cx="381000" cy="3505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Arial" panose="020B0604020202020204" pitchFamily="34" charset="0"/>
            </a:endParaRPr>
          </a:p>
        </p:txBody>
      </p:sp>
      <p:sp>
        <p:nvSpPr>
          <p:cNvPr id="90124" name="Text Box 12">
            <a:extLst>
              <a:ext uri="{FF2B5EF4-FFF2-40B4-BE49-F238E27FC236}">
                <a16:creationId xmlns:a16="http://schemas.microsoft.com/office/drawing/2014/main" id="{3D198B5F-C8E1-C147-A4C4-388FD3BA084B}"/>
              </a:ext>
            </a:extLst>
          </p:cNvPr>
          <p:cNvSpPr txBox="1">
            <a:spLocks noChangeArrowheads="1"/>
          </p:cNvSpPr>
          <p:nvPr/>
        </p:nvSpPr>
        <p:spPr bwMode="auto">
          <a:xfrm>
            <a:off x="1606550" y="38100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B</a:t>
            </a:r>
          </a:p>
        </p:txBody>
      </p:sp>
      <p:sp>
        <p:nvSpPr>
          <p:cNvPr id="90125" name="Text Box 13">
            <a:extLst>
              <a:ext uri="{FF2B5EF4-FFF2-40B4-BE49-F238E27FC236}">
                <a16:creationId xmlns:a16="http://schemas.microsoft.com/office/drawing/2014/main" id="{92DE495E-82B2-1C4D-AEE2-BF6D773236AB}"/>
              </a:ext>
            </a:extLst>
          </p:cNvPr>
          <p:cNvSpPr txBox="1">
            <a:spLocks noChangeArrowheads="1"/>
          </p:cNvSpPr>
          <p:nvPr/>
        </p:nvSpPr>
        <p:spPr bwMode="auto">
          <a:xfrm>
            <a:off x="1600200" y="4343400"/>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A</a:t>
            </a:r>
          </a:p>
        </p:txBody>
      </p:sp>
      <p:sp>
        <p:nvSpPr>
          <p:cNvPr id="90126" name="Text Box 14">
            <a:extLst>
              <a:ext uri="{FF2B5EF4-FFF2-40B4-BE49-F238E27FC236}">
                <a16:creationId xmlns:a16="http://schemas.microsoft.com/office/drawing/2014/main" id="{28484983-2E2E-544B-8E40-3811A132E0B8}"/>
              </a:ext>
            </a:extLst>
          </p:cNvPr>
          <p:cNvSpPr txBox="1">
            <a:spLocks noChangeArrowheads="1"/>
          </p:cNvSpPr>
          <p:nvPr/>
        </p:nvSpPr>
        <p:spPr bwMode="auto">
          <a:xfrm rot="-5400000">
            <a:off x="1434306" y="3366294"/>
            <a:ext cx="7286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IMM</a:t>
            </a:r>
          </a:p>
        </p:txBody>
      </p:sp>
      <p:sp>
        <p:nvSpPr>
          <p:cNvPr id="90127" name="Line 15">
            <a:extLst>
              <a:ext uri="{FF2B5EF4-FFF2-40B4-BE49-F238E27FC236}">
                <a16:creationId xmlns:a16="http://schemas.microsoft.com/office/drawing/2014/main" id="{9DC63C5C-4C25-BE40-9A0E-975899F0DEA8}"/>
              </a:ext>
            </a:extLst>
          </p:cNvPr>
          <p:cNvSpPr>
            <a:spLocks noChangeShapeType="1"/>
          </p:cNvSpPr>
          <p:nvPr/>
        </p:nvSpPr>
        <p:spPr bwMode="auto">
          <a:xfrm>
            <a:off x="1981200" y="39624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28" name="Line 16">
            <a:extLst>
              <a:ext uri="{FF2B5EF4-FFF2-40B4-BE49-F238E27FC236}">
                <a16:creationId xmlns:a16="http://schemas.microsoft.com/office/drawing/2014/main" id="{4999A5C3-E486-2F43-BAC8-A43557F7B389}"/>
              </a:ext>
            </a:extLst>
          </p:cNvPr>
          <p:cNvSpPr>
            <a:spLocks noChangeShapeType="1"/>
          </p:cNvSpPr>
          <p:nvPr/>
        </p:nvSpPr>
        <p:spPr bwMode="auto">
          <a:xfrm>
            <a:off x="1981200" y="36576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29" name="AutoShape 17">
            <a:extLst>
              <a:ext uri="{FF2B5EF4-FFF2-40B4-BE49-F238E27FC236}">
                <a16:creationId xmlns:a16="http://schemas.microsoft.com/office/drawing/2014/main" id="{396205EE-139F-764C-B742-95AF2751E197}"/>
              </a:ext>
            </a:extLst>
          </p:cNvPr>
          <p:cNvSpPr>
            <a:spLocks noChangeAspect="1" noChangeArrowheads="1"/>
          </p:cNvSpPr>
          <p:nvPr/>
        </p:nvSpPr>
        <p:spPr bwMode="auto">
          <a:xfrm rot="-5400000">
            <a:off x="1901032" y="4804568"/>
            <a:ext cx="1371600" cy="296863"/>
          </a:xfrm>
          <a:prstGeom prst="roundRect">
            <a:avLst>
              <a:gd name="adj" fmla="val 12495"/>
            </a:avLst>
          </a:prstGeom>
          <a:solidFill>
            <a:schemeClr val="bg1"/>
          </a:solidFill>
          <a:ln w="12700">
            <a:solidFill>
              <a:schemeClr val="tx1"/>
            </a:solidFill>
            <a:round/>
            <a:headEnd/>
            <a:tailEnd/>
          </a:ln>
        </p:spPr>
        <p:txBody>
          <a:bodyPr wrap="none" lIns="92075" tIns="46038" rIns="92075" bIns="46038" anchor="ct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a:spcBef>
                <a:spcPct val="0"/>
              </a:spcBef>
              <a:buClrTx/>
              <a:buSzTx/>
              <a:buFontTx/>
              <a:buNone/>
            </a:pPr>
            <a:r>
              <a:rPr lang="en-US" altLang="en-US" sz="1200">
                <a:latin typeface="Arial" panose="020B0604020202020204" pitchFamily="34" charset="0"/>
              </a:rPr>
              <a:t>MUX</a:t>
            </a:r>
          </a:p>
        </p:txBody>
      </p:sp>
      <p:sp>
        <p:nvSpPr>
          <p:cNvPr id="90130" name="Line 18">
            <a:extLst>
              <a:ext uri="{FF2B5EF4-FFF2-40B4-BE49-F238E27FC236}">
                <a16:creationId xmlns:a16="http://schemas.microsoft.com/office/drawing/2014/main" id="{E4430B1E-E5CA-FF48-98A8-792BA18ECEEE}"/>
              </a:ext>
            </a:extLst>
          </p:cNvPr>
          <p:cNvSpPr>
            <a:spLocks noChangeShapeType="1"/>
          </p:cNvSpPr>
          <p:nvPr/>
        </p:nvSpPr>
        <p:spPr bwMode="auto">
          <a:xfrm>
            <a:off x="1981200" y="44958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31" name="Line 19">
            <a:extLst>
              <a:ext uri="{FF2B5EF4-FFF2-40B4-BE49-F238E27FC236}">
                <a16:creationId xmlns:a16="http://schemas.microsoft.com/office/drawing/2014/main" id="{71295513-0B33-444F-B555-E3ECBEF99800}"/>
              </a:ext>
            </a:extLst>
          </p:cNvPr>
          <p:cNvSpPr>
            <a:spLocks noChangeShapeType="1"/>
          </p:cNvSpPr>
          <p:nvPr/>
        </p:nvSpPr>
        <p:spPr bwMode="auto">
          <a:xfrm>
            <a:off x="2743200" y="38100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90132" name="Line 20">
            <a:extLst>
              <a:ext uri="{FF2B5EF4-FFF2-40B4-BE49-F238E27FC236}">
                <a16:creationId xmlns:a16="http://schemas.microsoft.com/office/drawing/2014/main" id="{6E5CE596-71DD-C44C-BF58-A5CE34B41239}"/>
              </a:ext>
            </a:extLst>
          </p:cNvPr>
          <p:cNvSpPr>
            <a:spLocks noChangeShapeType="1"/>
          </p:cNvSpPr>
          <p:nvPr/>
        </p:nvSpPr>
        <p:spPr bwMode="auto">
          <a:xfrm>
            <a:off x="2743200" y="45720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33" name="Rectangle 21">
            <a:extLst>
              <a:ext uri="{FF2B5EF4-FFF2-40B4-BE49-F238E27FC236}">
                <a16:creationId xmlns:a16="http://schemas.microsoft.com/office/drawing/2014/main" id="{02D26413-27F5-504E-ADBD-517A2DA18834}"/>
              </a:ext>
            </a:extLst>
          </p:cNvPr>
          <p:cNvSpPr>
            <a:spLocks noChangeArrowheads="1"/>
          </p:cNvSpPr>
          <p:nvPr/>
        </p:nvSpPr>
        <p:spPr bwMode="auto">
          <a:xfrm>
            <a:off x="3886200" y="2514600"/>
            <a:ext cx="381000" cy="3505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Arial" panose="020B0604020202020204" pitchFamily="34" charset="0"/>
            </a:endParaRPr>
          </a:p>
        </p:txBody>
      </p:sp>
      <p:sp>
        <p:nvSpPr>
          <p:cNvPr id="90134" name="Line 22">
            <a:extLst>
              <a:ext uri="{FF2B5EF4-FFF2-40B4-BE49-F238E27FC236}">
                <a16:creationId xmlns:a16="http://schemas.microsoft.com/office/drawing/2014/main" id="{A3DE7BD0-AA38-CA49-BF9B-2157518821A3}"/>
              </a:ext>
            </a:extLst>
          </p:cNvPr>
          <p:cNvSpPr>
            <a:spLocks noChangeShapeType="1"/>
          </p:cNvSpPr>
          <p:nvPr/>
        </p:nvSpPr>
        <p:spPr bwMode="auto">
          <a:xfrm>
            <a:off x="3505200" y="41910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35" name="Line 23">
            <a:extLst>
              <a:ext uri="{FF2B5EF4-FFF2-40B4-BE49-F238E27FC236}">
                <a16:creationId xmlns:a16="http://schemas.microsoft.com/office/drawing/2014/main" id="{EDCD0837-CE2C-D34D-9826-D3ADA90583BD}"/>
              </a:ext>
            </a:extLst>
          </p:cNvPr>
          <p:cNvSpPr>
            <a:spLocks noChangeShapeType="1"/>
          </p:cNvSpPr>
          <p:nvPr/>
        </p:nvSpPr>
        <p:spPr bwMode="auto">
          <a:xfrm>
            <a:off x="4267200" y="41910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36" name="Line 24">
            <a:extLst>
              <a:ext uri="{FF2B5EF4-FFF2-40B4-BE49-F238E27FC236}">
                <a16:creationId xmlns:a16="http://schemas.microsoft.com/office/drawing/2014/main" id="{0E32925E-5C17-4A40-ADEB-F22D95061B3D}"/>
              </a:ext>
            </a:extLst>
          </p:cNvPr>
          <p:cNvSpPr>
            <a:spLocks noChangeShapeType="1"/>
          </p:cNvSpPr>
          <p:nvPr/>
        </p:nvSpPr>
        <p:spPr bwMode="auto">
          <a:xfrm>
            <a:off x="5181600" y="41910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90137" name="Rectangle 25">
            <a:extLst>
              <a:ext uri="{FF2B5EF4-FFF2-40B4-BE49-F238E27FC236}">
                <a16:creationId xmlns:a16="http://schemas.microsoft.com/office/drawing/2014/main" id="{2A969268-65B5-1F4F-9C7B-1E63A89148CE}"/>
              </a:ext>
            </a:extLst>
          </p:cNvPr>
          <p:cNvSpPr>
            <a:spLocks noChangeArrowheads="1"/>
          </p:cNvSpPr>
          <p:nvPr/>
        </p:nvSpPr>
        <p:spPr bwMode="auto">
          <a:xfrm>
            <a:off x="5715000" y="2514600"/>
            <a:ext cx="381000" cy="3505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Arial" panose="020B0604020202020204" pitchFamily="34" charset="0"/>
            </a:endParaRPr>
          </a:p>
        </p:txBody>
      </p:sp>
      <p:sp>
        <p:nvSpPr>
          <p:cNvPr id="90138" name="Line 26">
            <a:extLst>
              <a:ext uri="{FF2B5EF4-FFF2-40B4-BE49-F238E27FC236}">
                <a16:creationId xmlns:a16="http://schemas.microsoft.com/office/drawing/2014/main" id="{76C7B5F0-3F09-3648-81F6-968FCDC4EB64}"/>
              </a:ext>
            </a:extLst>
          </p:cNvPr>
          <p:cNvSpPr>
            <a:spLocks noChangeShapeType="1"/>
          </p:cNvSpPr>
          <p:nvPr/>
        </p:nvSpPr>
        <p:spPr bwMode="auto">
          <a:xfrm>
            <a:off x="6096000" y="41910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39" name="Line 27">
            <a:extLst>
              <a:ext uri="{FF2B5EF4-FFF2-40B4-BE49-F238E27FC236}">
                <a16:creationId xmlns:a16="http://schemas.microsoft.com/office/drawing/2014/main" id="{C6200AA9-7293-9F48-8E18-5AD16EA96874}"/>
              </a:ext>
            </a:extLst>
          </p:cNvPr>
          <p:cNvSpPr>
            <a:spLocks noChangeShapeType="1"/>
          </p:cNvSpPr>
          <p:nvPr/>
        </p:nvSpPr>
        <p:spPr bwMode="auto">
          <a:xfrm>
            <a:off x="6096000" y="45720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40" name="Text Box 28">
            <a:extLst>
              <a:ext uri="{FF2B5EF4-FFF2-40B4-BE49-F238E27FC236}">
                <a16:creationId xmlns:a16="http://schemas.microsoft.com/office/drawing/2014/main" id="{0CC3D21D-3F35-0644-9486-D76C2040AF8A}"/>
              </a:ext>
            </a:extLst>
          </p:cNvPr>
          <p:cNvSpPr txBox="1">
            <a:spLocks noChangeArrowheads="1"/>
          </p:cNvSpPr>
          <p:nvPr/>
        </p:nvSpPr>
        <p:spPr bwMode="auto">
          <a:xfrm>
            <a:off x="1371600" y="2133600"/>
            <a:ext cx="862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ID/EX</a:t>
            </a:r>
          </a:p>
        </p:txBody>
      </p:sp>
      <p:sp>
        <p:nvSpPr>
          <p:cNvPr id="90141" name="Text Box 29">
            <a:extLst>
              <a:ext uri="{FF2B5EF4-FFF2-40B4-BE49-F238E27FC236}">
                <a16:creationId xmlns:a16="http://schemas.microsoft.com/office/drawing/2014/main" id="{01686963-258A-B648-85B7-7D1CEB3A0EBE}"/>
              </a:ext>
            </a:extLst>
          </p:cNvPr>
          <p:cNvSpPr txBox="1">
            <a:spLocks noChangeArrowheads="1"/>
          </p:cNvSpPr>
          <p:nvPr/>
        </p:nvSpPr>
        <p:spPr bwMode="auto">
          <a:xfrm>
            <a:off x="3505200" y="2133600"/>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EX/MEM</a:t>
            </a:r>
          </a:p>
        </p:txBody>
      </p:sp>
      <p:sp>
        <p:nvSpPr>
          <p:cNvPr id="90142" name="Text Box 30">
            <a:extLst>
              <a:ext uri="{FF2B5EF4-FFF2-40B4-BE49-F238E27FC236}">
                <a16:creationId xmlns:a16="http://schemas.microsoft.com/office/drawing/2014/main" id="{2C3D9B7A-A14E-0B47-A79A-3089FC94421D}"/>
              </a:ext>
            </a:extLst>
          </p:cNvPr>
          <p:cNvSpPr txBox="1">
            <a:spLocks noChangeArrowheads="1"/>
          </p:cNvSpPr>
          <p:nvPr/>
        </p:nvSpPr>
        <p:spPr bwMode="auto">
          <a:xfrm>
            <a:off x="5334000" y="2133600"/>
            <a:ext cx="1270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MEM/WB</a:t>
            </a:r>
          </a:p>
        </p:txBody>
      </p:sp>
      <p:sp>
        <p:nvSpPr>
          <p:cNvPr id="90143" name="Rectangle 31">
            <a:extLst>
              <a:ext uri="{FF2B5EF4-FFF2-40B4-BE49-F238E27FC236}">
                <a16:creationId xmlns:a16="http://schemas.microsoft.com/office/drawing/2014/main" id="{5052A81C-CA09-A74D-879D-EAC9F9A883B1}"/>
              </a:ext>
            </a:extLst>
          </p:cNvPr>
          <p:cNvSpPr>
            <a:spLocks noChangeArrowheads="1"/>
          </p:cNvSpPr>
          <p:nvPr/>
        </p:nvSpPr>
        <p:spPr bwMode="auto">
          <a:xfrm>
            <a:off x="7239000" y="3962400"/>
            <a:ext cx="381000" cy="1219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2400">
              <a:latin typeface="Arial" panose="020B0604020202020204" pitchFamily="34" charset="0"/>
            </a:endParaRPr>
          </a:p>
        </p:txBody>
      </p:sp>
      <p:sp>
        <p:nvSpPr>
          <p:cNvPr id="90144" name="Line 32">
            <a:extLst>
              <a:ext uri="{FF2B5EF4-FFF2-40B4-BE49-F238E27FC236}">
                <a16:creationId xmlns:a16="http://schemas.microsoft.com/office/drawing/2014/main" id="{274D7732-9B9B-6546-A914-988091D06FC7}"/>
              </a:ext>
            </a:extLst>
          </p:cNvPr>
          <p:cNvSpPr>
            <a:spLocks noChangeShapeType="1"/>
          </p:cNvSpPr>
          <p:nvPr/>
        </p:nvSpPr>
        <p:spPr bwMode="auto">
          <a:xfrm>
            <a:off x="6781800" y="44196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45" name="Line 33">
            <a:extLst>
              <a:ext uri="{FF2B5EF4-FFF2-40B4-BE49-F238E27FC236}">
                <a16:creationId xmlns:a16="http://schemas.microsoft.com/office/drawing/2014/main" id="{5E3C40BF-ED8E-BF45-BB6E-2394D27A47EE}"/>
              </a:ext>
            </a:extLst>
          </p:cNvPr>
          <p:cNvSpPr>
            <a:spLocks noChangeShapeType="1"/>
          </p:cNvSpPr>
          <p:nvPr/>
        </p:nvSpPr>
        <p:spPr bwMode="auto">
          <a:xfrm>
            <a:off x="7010400" y="4419600"/>
            <a:ext cx="0" cy="914400"/>
          </a:xfrm>
          <a:prstGeom prst="line">
            <a:avLst/>
          </a:prstGeom>
          <a:noFill/>
          <a:ln w="9525"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46" name="Text Box 34">
            <a:extLst>
              <a:ext uri="{FF2B5EF4-FFF2-40B4-BE49-F238E27FC236}">
                <a16:creationId xmlns:a16="http://schemas.microsoft.com/office/drawing/2014/main" id="{B78053D4-177F-E840-9B1D-5B01468421A9}"/>
              </a:ext>
            </a:extLst>
          </p:cNvPr>
          <p:cNvSpPr txBox="1">
            <a:spLocks noChangeArrowheads="1"/>
          </p:cNvSpPr>
          <p:nvPr/>
        </p:nvSpPr>
        <p:spPr bwMode="auto">
          <a:xfrm>
            <a:off x="6781800" y="5486400"/>
            <a:ext cx="18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endParaRPr lang="en-US" altLang="en-US" sz="2000">
              <a:latin typeface="Times New Roman" panose="02020603050405020304" pitchFamily="18" charset="0"/>
            </a:endParaRPr>
          </a:p>
        </p:txBody>
      </p:sp>
      <p:sp>
        <p:nvSpPr>
          <p:cNvPr id="90147" name="Text Box 35">
            <a:extLst>
              <a:ext uri="{FF2B5EF4-FFF2-40B4-BE49-F238E27FC236}">
                <a16:creationId xmlns:a16="http://schemas.microsoft.com/office/drawing/2014/main" id="{D972FD9B-A2F1-434C-B55D-AA1ECA7411D4}"/>
              </a:ext>
            </a:extLst>
          </p:cNvPr>
          <p:cNvSpPr txBox="1">
            <a:spLocks noChangeArrowheads="1"/>
          </p:cNvSpPr>
          <p:nvPr/>
        </p:nvSpPr>
        <p:spPr bwMode="auto">
          <a:xfrm>
            <a:off x="6629400" y="5334000"/>
            <a:ext cx="504825" cy="4064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RF</a:t>
            </a:r>
          </a:p>
        </p:txBody>
      </p:sp>
      <p:grpSp>
        <p:nvGrpSpPr>
          <p:cNvPr id="199716" name="Group 36">
            <a:extLst>
              <a:ext uri="{FF2B5EF4-FFF2-40B4-BE49-F238E27FC236}">
                <a16:creationId xmlns:a16="http://schemas.microsoft.com/office/drawing/2014/main" id="{3E6B34D8-AECC-7344-87F7-E51066A85E9F}"/>
              </a:ext>
            </a:extLst>
          </p:cNvPr>
          <p:cNvGrpSpPr>
            <a:grpSpLocks/>
          </p:cNvGrpSpPr>
          <p:nvPr/>
        </p:nvGrpSpPr>
        <p:grpSpPr bwMode="auto">
          <a:xfrm>
            <a:off x="2286000" y="2743200"/>
            <a:ext cx="3046413" cy="2971800"/>
            <a:chOff x="1440" y="1728"/>
            <a:chExt cx="1919" cy="1872"/>
          </a:xfrm>
        </p:grpSpPr>
        <p:grpSp>
          <p:nvGrpSpPr>
            <p:cNvPr id="90174" name="Group 37">
              <a:extLst>
                <a:ext uri="{FF2B5EF4-FFF2-40B4-BE49-F238E27FC236}">
                  <a16:creationId xmlns:a16="http://schemas.microsoft.com/office/drawing/2014/main" id="{C8E58001-A46E-E840-AA83-35B0AE4DBC04}"/>
                </a:ext>
              </a:extLst>
            </p:cNvPr>
            <p:cNvGrpSpPr>
              <a:grpSpLocks/>
            </p:cNvGrpSpPr>
            <p:nvPr/>
          </p:nvGrpSpPr>
          <p:grpSpPr bwMode="auto">
            <a:xfrm>
              <a:off x="1440" y="1728"/>
              <a:ext cx="1344" cy="1872"/>
              <a:chOff x="1440" y="1440"/>
              <a:chExt cx="1344" cy="1872"/>
            </a:xfrm>
          </p:grpSpPr>
          <p:sp>
            <p:nvSpPr>
              <p:cNvPr id="90176" name="Line 38">
                <a:extLst>
                  <a:ext uri="{FF2B5EF4-FFF2-40B4-BE49-F238E27FC236}">
                    <a16:creationId xmlns:a16="http://schemas.microsoft.com/office/drawing/2014/main" id="{23C10778-020B-6F4E-9D66-5DA665E56F17}"/>
                  </a:ext>
                </a:extLst>
              </p:cNvPr>
              <p:cNvSpPr>
                <a:spLocks noChangeShapeType="1"/>
              </p:cNvSpPr>
              <p:nvPr/>
            </p:nvSpPr>
            <p:spPr bwMode="auto">
              <a:xfrm flipV="1">
                <a:off x="2784" y="1440"/>
                <a:ext cx="0" cy="9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0177" name="Line 39">
                <a:extLst>
                  <a:ext uri="{FF2B5EF4-FFF2-40B4-BE49-F238E27FC236}">
                    <a16:creationId xmlns:a16="http://schemas.microsoft.com/office/drawing/2014/main" id="{B1023F2E-F0AA-5E44-89B2-B13DDF489539}"/>
                  </a:ext>
                </a:extLst>
              </p:cNvPr>
              <p:cNvSpPr>
                <a:spLocks noChangeShapeType="1"/>
              </p:cNvSpPr>
              <p:nvPr/>
            </p:nvSpPr>
            <p:spPr bwMode="auto">
              <a:xfrm>
                <a:off x="1440" y="1440"/>
                <a:ext cx="13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0178" name="Line 40">
                <a:extLst>
                  <a:ext uri="{FF2B5EF4-FFF2-40B4-BE49-F238E27FC236}">
                    <a16:creationId xmlns:a16="http://schemas.microsoft.com/office/drawing/2014/main" id="{2826F171-4378-5946-864A-A4E41ADE6B68}"/>
                  </a:ext>
                </a:extLst>
              </p:cNvPr>
              <p:cNvSpPr>
                <a:spLocks noChangeShapeType="1"/>
              </p:cNvSpPr>
              <p:nvPr/>
            </p:nvSpPr>
            <p:spPr bwMode="auto">
              <a:xfrm>
                <a:off x="1440" y="1584"/>
                <a:ext cx="9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79" name="Line 41">
                <a:extLst>
                  <a:ext uri="{FF2B5EF4-FFF2-40B4-BE49-F238E27FC236}">
                    <a16:creationId xmlns:a16="http://schemas.microsoft.com/office/drawing/2014/main" id="{8C78FD4C-7056-E749-B828-5C8BA42DE3B9}"/>
                  </a:ext>
                </a:extLst>
              </p:cNvPr>
              <p:cNvSpPr>
                <a:spLocks noChangeShapeType="1"/>
              </p:cNvSpPr>
              <p:nvPr/>
            </p:nvSpPr>
            <p:spPr bwMode="auto">
              <a:xfrm>
                <a:off x="1440" y="1440"/>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80" name="Line 42">
                <a:extLst>
                  <a:ext uri="{FF2B5EF4-FFF2-40B4-BE49-F238E27FC236}">
                    <a16:creationId xmlns:a16="http://schemas.microsoft.com/office/drawing/2014/main" id="{2BEAF025-3A14-5F4F-A2C4-6F657E642114}"/>
                  </a:ext>
                </a:extLst>
              </p:cNvPr>
              <p:cNvSpPr>
                <a:spLocks noChangeShapeType="1"/>
              </p:cNvSpPr>
              <p:nvPr/>
            </p:nvSpPr>
            <p:spPr bwMode="auto">
              <a:xfrm>
                <a:off x="1440" y="3168"/>
                <a:ext cx="9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81" name="Line 43">
                <a:extLst>
                  <a:ext uri="{FF2B5EF4-FFF2-40B4-BE49-F238E27FC236}">
                    <a16:creationId xmlns:a16="http://schemas.microsoft.com/office/drawing/2014/main" id="{FD2CE765-5E65-DB4F-8402-AA31F14FFA12}"/>
                  </a:ext>
                </a:extLst>
              </p:cNvPr>
              <p:cNvSpPr>
                <a:spLocks noChangeShapeType="1"/>
              </p:cNvSpPr>
              <p:nvPr/>
            </p:nvSpPr>
            <p:spPr bwMode="auto">
              <a:xfrm>
                <a:off x="1440" y="316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82" name="Line 44">
                <a:extLst>
                  <a:ext uri="{FF2B5EF4-FFF2-40B4-BE49-F238E27FC236}">
                    <a16:creationId xmlns:a16="http://schemas.microsoft.com/office/drawing/2014/main" id="{5D15EF83-BE59-2D40-B4EA-DF19F0FBE5C6}"/>
                  </a:ext>
                </a:extLst>
              </p:cNvPr>
              <p:cNvSpPr>
                <a:spLocks noChangeShapeType="1"/>
              </p:cNvSpPr>
              <p:nvPr/>
            </p:nvSpPr>
            <p:spPr bwMode="auto">
              <a:xfrm>
                <a:off x="1440" y="3312"/>
                <a:ext cx="13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83" name="Line 45">
                <a:extLst>
                  <a:ext uri="{FF2B5EF4-FFF2-40B4-BE49-F238E27FC236}">
                    <a16:creationId xmlns:a16="http://schemas.microsoft.com/office/drawing/2014/main" id="{004E2896-7415-F944-9A44-55585BCB9052}"/>
                  </a:ext>
                </a:extLst>
              </p:cNvPr>
              <p:cNvSpPr>
                <a:spLocks noChangeShapeType="1"/>
              </p:cNvSpPr>
              <p:nvPr/>
            </p:nvSpPr>
            <p:spPr bwMode="auto">
              <a:xfrm>
                <a:off x="2784" y="2880"/>
                <a:ext cx="0" cy="4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90175" name="Text Box 46">
              <a:extLst>
                <a:ext uri="{FF2B5EF4-FFF2-40B4-BE49-F238E27FC236}">
                  <a16:creationId xmlns:a16="http://schemas.microsoft.com/office/drawing/2014/main" id="{6697FC41-6CEF-3D46-A0F2-BEF93E3040CF}"/>
                </a:ext>
              </a:extLst>
            </p:cNvPr>
            <p:cNvSpPr txBox="1">
              <a:spLocks noChangeArrowheads="1"/>
            </p:cNvSpPr>
            <p:nvPr/>
          </p:nvSpPr>
          <p:spPr bwMode="auto">
            <a:xfrm>
              <a:off x="2688" y="1872"/>
              <a:ext cx="6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bypass 1</a:t>
              </a:r>
            </a:p>
          </p:txBody>
        </p:sp>
      </p:grpSp>
      <p:grpSp>
        <p:nvGrpSpPr>
          <p:cNvPr id="199727" name="Group 47">
            <a:extLst>
              <a:ext uri="{FF2B5EF4-FFF2-40B4-BE49-F238E27FC236}">
                <a16:creationId xmlns:a16="http://schemas.microsoft.com/office/drawing/2014/main" id="{C69069C7-9177-8246-B4D3-F17C80E16857}"/>
              </a:ext>
            </a:extLst>
          </p:cNvPr>
          <p:cNvGrpSpPr>
            <a:grpSpLocks/>
          </p:cNvGrpSpPr>
          <p:nvPr/>
        </p:nvGrpSpPr>
        <p:grpSpPr bwMode="auto">
          <a:xfrm>
            <a:off x="2209800" y="2667000"/>
            <a:ext cx="5180013" cy="3124200"/>
            <a:chOff x="1392" y="1680"/>
            <a:chExt cx="3263" cy="1968"/>
          </a:xfrm>
        </p:grpSpPr>
        <p:grpSp>
          <p:nvGrpSpPr>
            <p:cNvPr id="90162" name="Group 48">
              <a:extLst>
                <a:ext uri="{FF2B5EF4-FFF2-40B4-BE49-F238E27FC236}">
                  <a16:creationId xmlns:a16="http://schemas.microsoft.com/office/drawing/2014/main" id="{16A0D3AF-82C3-154A-96D3-23750FF51CFC}"/>
                </a:ext>
              </a:extLst>
            </p:cNvPr>
            <p:cNvGrpSpPr>
              <a:grpSpLocks/>
            </p:cNvGrpSpPr>
            <p:nvPr/>
          </p:nvGrpSpPr>
          <p:grpSpPr bwMode="auto">
            <a:xfrm>
              <a:off x="1392" y="1680"/>
              <a:ext cx="3024" cy="1968"/>
              <a:chOff x="1392" y="1392"/>
              <a:chExt cx="3024" cy="1968"/>
            </a:xfrm>
          </p:grpSpPr>
          <p:sp>
            <p:nvSpPr>
              <p:cNvPr id="90164" name="Line 49">
                <a:extLst>
                  <a:ext uri="{FF2B5EF4-FFF2-40B4-BE49-F238E27FC236}">
                    <a16:creationId xmlns:a16="http://schemas.microsoft.com/office/drawing/2014/main" id="{51F158ED-EA9D-9D4E-8E47-018A9FDC6751}"/>
                  </a:ext>
                </a:extLst>
              </p:cNvPr>
              <p:cNvSpPr>
                <a:spLocks noChangeShapeType="1"/>
              </p:cNvSpPr>
              <p:nvPr/>
            </p:nvSpPr>
            <p:spPr bwMode="auto">
              <a:xfrm flipV="1">
                <a:off x="4416" y="1392"/>
                <a:ext cx="0" cy="11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0165" name="Line 50">
                <a:extLst>
                  <a:ext uri="{FF2B5EF4-FFF2-40B4-BE49-F238E27FC236}">
                    <a16:creationId xmlns:a16="http://schemas.microsoft.com/office/drawing/2014/main" id="{8110FD40-8101-8E45-818D-7CDCD4A743C1}"/>
                  </a:ext>
                </a:extLst>
              </p:cNvPr>
              <p:cNvSpPr>
                <a:spLocks noChangeShapeType="1"/>
              </p:cNvSpPr>
              <p:nvPr/>
            </p:nvSpPr>
            <p:spPr bwMode="auto">
              <a:xfrm>
                <a:off x="1392" y="1392"/>
                <a:ext cx="302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0166" name="Line 51">
                <a:extLst>
                  <a:ext uri="{FF2B5EF4-FFF2-40B4-BE49-F238E27FC236}">
                    <a16:creationId xmlns:a16="http://schemas.microsoft.com/office/drawing/2014/main" id="{EAF484B7-7B50-074F-B1E4-4D0B3B17C97E}"/>
                  </a:ext>
                </a:extLst>
              </p:cNvPr>
              <p:cNvSpPr>
                <a:spLocks noChangeShapeType="1"/>
              </p:cNvSpPr>
              <p:nvPr/>
            </p:nvSpPr>
            <p:spPr bwMode="auto">
              <a:xfrm>
                <a:off x="1392" y="1392"/>
                <a:ext cx="0" cy="3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67" name="Line 52">
                <a:extLst>
                  <a:ext uri="{FF2B5EF4-FFF2-40B4-BE49-F238E27FC236}">
                    <a16:creationId xmlns:a16="http://schemas.microsoft.com/office/drawing/2014/main" id="{301244B5-DE97-1347-B00B-85694591605D}"/>
                  </a:ext>
                </a:extLst>
              </p:cNvPr>
              <p:cNvSpPr>
                <a:spLocks noChangeShapeType="1"/>
              </p:cNvSpPr>
              <p:nvPr/>
            </p:nvSpPr>
            <p:spPr bwMode="auto">
              <a:xfrm>
                <a:off x="1392" y="1728"/>
                <a:ext cx="14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68" name="Line 53">
                <a:extLst>
                  <a:ext uri="{FF2B5EF4-FFF2-40B4-BE49-F238E27FC236}">
                    <a16:creationId xmlns:a16="http://schemas.microsoft.com/office/drawing/2014/main" id="{7B452DFB-4908-2D44-8E34-ADF7EA786AC7}"/>
                  </a:ext>
                </a:extLst>
              </p:cNvPr>
              <p:cNvSpPr>
                <a:spLocks noChangeShapeType="1"/>
              </p:cNvSpPr>
              <p:nvPr/>
            </p:nvSpPr>
            <p:spPr bwMode="auto">
              <a:xfrm>
                <a:off x="1392" y="2976"/>
                <a:ext cx="14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69" name="Line 54">
                <a:extLst>
                  <a:ext uri="{FF2B5EF4-FFF2-40B4-BE49-F238E27FC236}">
                    <a16:creationId xmlns:a16="http://schemas.microsoft.com/office/drawing/2014/main" id="{1C6BBD78-4F41-7A42-A955-2D8A2B9C6F4A}"/>
                  </a:ext>
                </a:extLst>
              </p:cNvPr>
              <p:cNvSpPr>
                <a:spLocks noChangeShapeType="1"/>
              </p:cNvSpPr>
              <p:nvPr/>
            </p:nvSpPr>
            <p:spPr bwMode="auto">
              <a:xfrm flipH="1">
                <a:off x="4272" y="2496"/>
                <a:ext cx="144"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70" name="Line 55">
                <a:extLst>
                  <a:ext uri="{FF2B5EF4-FFF2-40B4-BE49-F238E27FC236}">
                    <a16:creationId xmlns:a16="http://schemas.microsoft.com/office/drawing/2014/main" id="{4B3C5A55-A682-FA4E-94AF-94B5CACA9115}"/>
                  </a:ext>
                </a:extLst>
              </p:cNvPr>
              <p:cNvSpPr>
                <a:spLocks noChangeShapeType="1"/>
              </p:cNvSpPr>
              <p:nvPr/>
            </p:nvSpPr>
            <p:spPr bwMode="auto">
              <a:xfrm>
                <a:off x="3984" y="2880"/>
                <a:ext cx="2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71" name="Line 56">
                <a:extLst>
                  <a:ext uri="{FF2B5EF4-FFF2-40B4-BE49-F238E27FC236}">
                    <a16:creationId xmlns:a16="http://schemas.microsoft.com/office/drawing/2014/main" id="{8E5ECA0B-2C33-3F43-B4E5-34ADB035E663}"/>
                  </a:ext>
                </a:extLst>
              </p:cNvPr>
              <p:cNvSpPr>
                <a:spLocks noChangeShapeType="1"/>
              </p:cNvSpPr>
              <p:nvPr/>
            </p:nvSpPr>
            <p:spPr bwMode="auto">
              <a:xfrm>
                <a:off x="3984" y="2880"/>
                <a:ext cx="0"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72" name="Line 57">
                <a:extLst>
                  <a:ext uri="{FF2B5EF4-FFF2-40B4-BE49-F238E27FC236}">
                    <a16:creationId xmlns:a16="http://schemas.microsoft.com/office/drawing/2014/main" id="{7F3D42CD-59A9-8745-BB69-9D553849E229}"/>
                  </a:ext>
                </a:extLst>
              </p:cNvPr>
              <p:cNvSpPr>
                <a:spLocks noChangeShapeType="1"/>
              </p:cNvSpPr>
              <p:nvPr/>
            </p:nvSpPr>
            <p:spPr bwMode="auto">
              <a:xfrm>
                <a:off x="1392" y="3360"/>
                <a:ext cx="25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73" name="Line 58">
                <a:extLst>
                  <a:ext uri="{FF2B5EF4-FFF2-40B4-BE49-F238E27FC236}">
                    <a16:creationId xmlns:a16="http://schemas.microsoft.com/office/drawing/2014/main" id="{F5DEE29D-0F76-C748-8426-2B12C4C9B045}"/>
                  </a:ext>
                </a:extLst>
              </p:cNvPr>
              <p:cNvSpPr>
                <a:spLocks noChangeShapeType="1"/>
              </p:cNvSpPr>
              <p:nvPr/>
            </p:nvSpPr>
            <p:spPr bwMode="auto">
              <a:xfrm flipV="1">
                <a:off x="1392" y="2976"/>
                <a:ext cx="0"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90163" name="Text Box 59">
              <a:extLst>
                <a:ext uri="{FF2B5EF4-FFF2-40B4-BE49-F238E27FC236}">
                  <a16:creationId xmlns:a16="http://schemas.microsoft.com/office/drawing/2014/main" id="{ADA1820E-2A58-4940-9FB7-0710BE42DEDE}"/>
                </a:ext>
              </a:extLst>
            </p:cNvPr>
            <p:cNvSpPr txBox="1">
              <a:spLocks noChangeArrowheads="1"/>
            </p:cNvSpPr>
            <p:nvPr/>
          </p:nvSpPr>
          <p:spPr bwMode="auto">
            <a:xfrm>
              <a:off x="3984" y="1920"/>
              <a:ext cx="6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bypass 2</a:t>
              </a:r>
            </a:p>
          </p:txBody>
        </p:sp>
      </p:grpSp>
      <p:grpSp>
        <p:nvGrpSpPr>
          <p:cNvPr id="199740" name="Group 60">
            <a:extLst>
              <a:ext uri="{FF2B5EF4-FFF2-40B4-BE49-F238E27FC236}">
                <a16:creationId xmlns:a16="http://schemas.microsoft.com/office/drawing/2014/main" id="{4ACB49B5-B8A1-E64C-AB44-A2D09A8E4EE6}"/>
              </a:ext>
            </a:extLst>
          </p:cNvPr>
          <p:cNvGrpSpPr>
            <a:grpSpLocks/>
          </p:cNvGrpSpPr>
          <p:nvPr/>
        </p:nvGrpSpPr>
        <p:grpSpPr bwMode="auto">
          <a:xfrm>
            <a:off x="2133600" y="2590800"/>
            <a:ext cx="6323013" cy="3276600"/>
            <a:chOff x="1344" y="1632"/>
            <a:chExt cx="3983" cy="2064"/>
          </a:xfrm>
        </p:grpSpPr>
        <p:grpSp>
          <p:nvGrpSpPr>
            <p:cNvPr id="90151" name="Group 61">
              <a:extLst>
                <a:ext uri="{FF2B5EF4-FFF2-40B4-BE49-F238E27FC236}">
                  <a16:creationId xmlns:a16="http://schemas.microsoft.com/office/drawing/2014/main" id="{AAA4B5ED-C1B9-DF49-B003-CD9C3506C5E8}"/>
                </a:ext>
              </a:extLst>
            </p:cNvPr>
            <p:cNvGrpSpPr>
              <a:grpSpLocks/>
            </p:cNvGrpSpPr>
            <p:nvPr/>
          </p:nvGrpSpPr>
          <p:grpSpPr bwMode="auto">
            <a:xfrm>
              <a:off x="1344" y="1632"/>
              <a:ext cx="3600" cy="2064"/>
              <a:chOff x="1344" y="1344"/>
              <a:chExt cx="3600" cy="2064"/>
            </a:xfrm>
          </p:grpSpPr>
          <p:sp>
            <p:nvSpPr>
              <p:cNvPr id="90153" name="Line 62">
                <a:extLst>
                  <a:ext uri="{FF2B5EF4-FFF2-40B4-BE49-F238E27FC236}">
                    <a16:creationId xmlns:a16="http://schemas.microsoft.com/office/drawing/2014/main" id="{28613334-9CC0-7548-AF2A-C39803F5C436}"/>
                  </a:ext>
                </a:extLst>
              </p:cNvPr>
              <p:cNvSpPr>
                <a:spLocks noChangeShapeType="1"/>
              </p:cNvSpPr>
              <p:nvPr/>
            </p:nvSpPr>
            <p:spPr bwMode="auto">
              <a:xfrm>
                <a:off x="1344" y="1344"/>
                <a:ext cx="0" cy="5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0154" name="Line 63">
                <a:extLst>
                  <a:ext uri="{FF2B5EF4-FFF2-40B4-BE49-F238E27FC236}">
                    <a16:creationId xmlns:a16="http://schemas.microsoft.com/office/drawing/2014/main" id="{A8189DAF-6861-6844-94E1-CDFC879FFF96}"/>
                  </a:ext>
                </a:extLst>
              </p:cNvPr>
              <p:cNvSpPr>
                <a:spLocks noChangeShapeType="1"/>
              </p:cNvSpPr>
              <p:nvPr/>
            </p:nvSpPr>
            <p:spPr bwMode="auto">
              <a:xfrm>
                <a:off x="1344" y="1872"/>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55" name="Line 64">
                <a:extLst>
                  <a:ext uri="{FF2B5EF4-FFF2-40B4-BE49-F238E27FC236}">
                    <a16:creationId xmlns:a16="http://schemas.microsoft.com/office/drawing/2014/main" id="{0EC8FE92-3CA4-AD4C-A802-BEAFBFEE9746}"/>
                  </a:ext>
                </a:extLst>
              </p:cNvPr>
              <p:cNvSpPr>
                <a:spLocks noChangeShapeType="1"/>
              </p:cNvSpPr>
              <p:nvPr/>
            </p:nvSpPr>
            <p:spPr bwMode="auto">
              <a:xfrm>
                <a:off x="1344" y="1344"/>
                <a:ext cx="3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0156" name="Line 65">
                <a:extLst>
                  <a:ext uri="{FF2B5EF4-FFF2-40B4-BE49-F238E27FC236}">
                    <a16:creationId xmlns:a16="http://schemas.microsoft.com/office/drawing/2014/main" id="{6807E4A9-C62A-1943-85DC-5820AB9ED36A}"/>
                  </a:ext>
                </a:extLst>
              </p:cNvPr>
              <p:cNvSpPr>
                <a:spLocks noChangeShapeType="1"/>
              </p:cNvSpPr>
              <p:nvPr/>
            </p:nvSpPr>
            <p:spPr bwMode="auto">
              <a:xfrm>
                <a:off x="4800" y="2496"/>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0157" name="Line 66">
                <a:extLst>
                  <a:ext uri="{FF2B5EF4-FFF2-40B4-BE49-F238E27FC236}">
                    <a16:creationId xmlns:a16="http://schemas.microsoft.com/office/drawing/2014/main" id="{7A6AADF5-855C-1B47-9E50-3231382AC51C}"/>
                  </a:ext>
                </a:extLst>
              </p:cNvPr>
              <p:cNvSpPr>
                <a:spLocks noChangeShapeType="1"/>
              </p:cNvSpPr>
              <p:nvPr/>
            </p:nvSpPr>
            <p:spPr bwMode="auto">
              <a:xfrm flipV="1">
                <a:off x="4944" y="1344"/>
                <a:ext cx="0" cy="115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58" name="Line 67">
                <a:extLst>
                  <a:ext uri="{FF2B5EF4-FFF2-40B4-BE49-F238E27FC236}">
                    <a16:creationId xmlns:a16="http://schemas.microsoft.com/office/drawing/2014/main" id="{3500FBAD-A9D3-3A47-85F0-D218A97842C5}"/>
                  </a:ext>
                </a:extLst>
              </p:cNvPr>
              <p:cNvSpPr>
                <a:spLocks noChangeShapeType="1"/>
              </p:cNvSpPr>
              <p:nvPr/>
            </p:nvSpPr>
            <p:spPr bwMode="auto">
              <a:xfrm>
                <a:off x="1344" y="2784"/>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59" name="Line 68">
                <a:extLst>
                  <a:ext uri="{FF2B5EF4-FFF2-40B4-BE49-F238E27FC236}">
                    <a16:creationId xmlns:a16="http://schemas.microsoft.com/office/drawing/2014/main" id="{8F9B2BEB-BC31-934C-8546-6DC878688B10}"/>
                  </a:ext>
                </a:extLst>
              </p:cNvPr>
              <p:cNvSpPr>
                <a:spLocks noChangeShapeType="1"/>
              </p:cNvSpPr>
              <p:nvPr/>
            </p:nvSpPr>
            <p:spPr bwMode="auto">
              <a:xfrm>
                <a:off x="1344" y="2784"/>
                <a:ext cx="0" cy="62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0160" name="Line 69">
                <a:extLst>
                  <a:ext uri="{FF2B5EF4-FFF2-40B4-BE49-F238E27FC236}">
                    <a16:creationId xmlns:a16="http://schemas.microsoft.com/office/drawing/2014/main" id="{4616028A-07C7-864F-AC82-35125105199A}"/>
                  </a:ext>
                </a:extLst>
              </p:cNvPr>
              <p:cNvSpPr>
                <a:spLocks noChangeShapeType="1"/>
              </p:cNvSpPr>
              <p:nvPr/>
            </p:nvSpPr>
            <p:spPr bwMode="auto">
              <a:xfrm>
                <a:off x="1344" y="3408"/>
                <a:ext cx="3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0161" name="Line 70">
                <a:extLst>
                  <a:ext uri="{FF2B5EF4-FFF2-40B4-BE49-F238E27FC236}">
                    <a16:creationId xmlns:a16="http://schemas.microsoft.com/office/drawing/2014/main" id="{7E56E449-76AF-424C-A211-CD7FFD7D49FF}"/>
                  </a:ext>
                </a:extLst>
              </p:cNvPr>
              <p:cNvSpPr>
                <a:spLocks noChangeShapeType="1"/>
              </p:cNvSpPr>
              <p:nvPr/>
            </p:nvSpPr>
            <p:spPr bwMode="auto">
              <a:xfrm>
                <a:off x="4944" y="2496"/>
                <a:ext cx="0" cy="9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90152" name="Text Box 71">
              <a:extLst>
                <a:ext uri="{FF2B5EF4-FFF2-40B4-BE49-F238E27FC236}">
                  <a16:creationId xmlns:a16="http://schemas.microsoft.com/office/drawing/2014/main" id="{B4B39761-6F47-6F41-9DB9-4881F627C67A}"/>
                </a:ext>
              </a:extLst>
            </p:cNvPr>
            <p:cNvSpPr txBox="1">
              <a:spLocks noChangeArrowheads="1"/>
            </p:cNvSpPr>
            <p:nvPr/>
          </p:nvSpPr>
          <p:spPr bwMode="auto">
            <a:xfrm>
              <a:off x="4656" y="2112"/>
              <a:ext cx="67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bypass 3</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99716"/>
                                        </p:tgtEl>
                                        <p:attrNameLst>
                                          <p:attrName>style.visibility</p:attrName>
                                        </p:attrNameLst>
                                      </p:cBhvr>
                                      <p:to>
                                        <p:strVal val="visible"/>
                                      </p:to>
                                    </p:set>
                                    <p:animEffect transition="in" filter="dissolve">
                                      <p:cBhvr>
                                        <p:cTn id="7" dur="500"/>
                                        <p:tgtEl>
                                          <p:spTgt spid="1997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99727"/>
                                        </p:tgtEl>
                                        <p:attrNameLst>
                                          <p:attrName>style.visibility</p:attrName>
                                        </p:attrNameLst>
                                      </p:cBhvr>
                                      <p:to>
                                        <p:strVal val="visible"/>
                                      </p:to>
                                    </p:set>
                                    <p:animEffect transition="in" filter="dissolve">
                                      <p:cBhvr>
                                        <p:cTn id="12" dur="500"/>
                                        <p:tgtEl>
                                          <p:spTgt spid="1997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99740"/>
                                        </p:tgtEl>
                                        <p:attrNameLst>
                                          <p:attrName>style.visibility</p:attrName>
                                        </p:attrNameLst>
                                      </p:cBhvr>
                                      <p:to>
                                        <p:strVal val="visible"/>
                                      </p:to>
                                    </p:set>
                                    <p:animEffect transition="in" filter="dissolve">
                                      <p:cBhvr>
                                        <p:cTn id="17" dur="500"/>
                                        <p:tgtEl>
                                          <p:spTgt spid="199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4DDA461B-BBA1-7D42-AC99-038F3449157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Data forwarding (cont.)</a:t>
            </a:r>
          </a:p>
        </p:txBody>
      </p:sp>
      <p:sp>
        <p:nvSpPr>
          <p:cNvPr id="91139" name="Content Placeholder 1">
            <a:extLst>
              <a:ext uri="{FF2B5EF4-FFF2-40B4-BE49-F238E27FC236}">
                <a16:creationId xmlns:a16="http://schemas.microsoft.com/office/drawing/2014/main" id="{D0C09F47-68E3-6F4A-A0FF-0641577FFC8F}"/>
              </a:ext>
            </a:extLst>
          </p:cNvPr>
          <p:cNvSpPr>
            <a:spLocks noGrp="1" noChangeArrowheads="1"/>
          </p:cNvSpPr>
          <p:nvPr>
            <p:ph idx="1"/>
          </p:nvPr>
        </p:nvSpPr>
        <p:spPr/>
        <p:txBody>
          <a:bodyPr/>
          <a:lstStyle/>
          <a:p>
            <a:endParaRPr lang="en-US" altLang="en-US"/>
          </a:p>
        </p:txBody>
      </p:sp>
      <p:grpSp>
        <p:nvGrpSpPr>
          <p:cNvPr id="200707" name="Group 3">
            <a:extLst>
              <a:ext uri="{FF2B5EF4-FFF2-40B4-BE49-F238E27FC236}">
                <a16:creationId xmlns:a16="http://schemas.microsoft.com/office/drawing/2014/main" id="{A523FBB1-8650-B446-A06F-FC8B07D1428C}"/>
              </a:ext>
            </a:extLst>
          </p:cNvPr>
          <p:cNvGrpSpPr>
            <a:grpSpLocks/>
          </p:cNvGrpSpPr>
          <p:nvPr/>
        </p:nvGrpSpPr>
        <p:grpSpPr bwMode="auto">
          <a:xfrm>
            <a:off x="1066800" y="2895600"/>
            <a:ext cx="2084388" cy="396875"/>
            <a:chOff x="672" y="1824"/>
            <a:chExt cx="1313" cy="250"/>
          </a:xfrm>
        </p:grpSpPr>
        <p:sp>
          <p:nvSpPr>
            <p:cNvPr id="91192" name="Text Box 4">
              <a:extLst>
                <a:ext uri="{FF2B5EF4-FFF2-40B4-BE49-F238E27FC236}">
                  <a16:creationId xmlns:a16="http://schemas.microsoft.com/office/drawing/2014/main" id="{9E688CBF-4F4C-BC45-AB1C-669BF8CBA58A}"/>
                </a:ext>
              </a:extLst>
            </p:cNvPr>
            <p:cNvSpPr txBox="1">
              <a:spLocks noChangeArrowheads="1"/>
            </p:cNvSpPr>
            <p:nvPr/>
          </p:nvSpPr>
          <p:spPr bwMode="auto">
            <a:xfrm>
              <a:off x="1632" y="182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IF </a:t>
              </a:r>
            </a:p>
          </p:txBody>
        </p:sp>
        <p:sp>
          <p:nvSpPr>
            <p:cNvPr id="91193" name="Text Box 5">
              <a:extLst>
                <a:ext uri="{FF2B5EF4-FFF2-40B4-BE49-F238E27FC236}">
                  <a16:creationId xmlns:a16="http://schemas.microsoft.com/office/drawing/2014/main" id="{61FA2D41-CD3B-654E-8628-52A023019FB2}"/>
                </a:ext>
              </a:extLst>
            </p:cNvPr>
            <p:cNvSpPr txBox="1">
              <a:spLocks noChangeArrowheads="1"/>
            </p:cNvSpPr>
            <p:nvPr/>
          </p:nvSpPr>
          <p:spPr bwMode="auto">
            <a:xfrm>
              <a:off x="672" y="1824"/>
              <a:ext cx="9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add </a:t>
              </a:r>
              <a:r>
                <a:rPr lang="en-US" altLang="en-US" sz="2000" u="sng">
                  <a:latin typeface="Times New Roman" panose="02020603050405020304" pitchFamily="18" charset="0"/>
                </a:rPr>
                <a:t>r1</a:t>
              </a:r>
              <a:r>
                <a:rPr lang="en-US" altLang="en-US" sz="2000">
                  <a:latin typeface="Times New Roman" panose="02020603050405020304" pitchFamily="18" charset="0"/>
                </a:rPr>
                <a:t>, r2, r3</a:t>
              </a:r>
            </a:p>
          </p:txBody>
        </p:sp>
      </p:grpSp>
      <p:grpSp>
        <p:nvGrpSpPr>
          <p:cNvPr id="200710" name="Group 6">
            <a:extLst>
              <a:ext uri="{FF2B5EF4-FFF2-40B4-BE49-F238E27FC236}">
                <a16:creationId xmlns:a16="http://schemas.microsoft.com/office/drawing/2014/main" id="{1489DE19-369D-1547-A35E-96EF184A8CAF}"/>
              </a:ext>
            </a:extLst>
          </p:cNvPr>
          <p:cNvGrpSpPr>
            <a:grpSpLocks/>
          </p:cNvGrpSpPr>
          <p:nvPr/>
        </p:nvGrpSpPr>
        <p:grpSpPr bwMode="auto">
          <a:xfrm>
            <a:off x="1066800" y="2895600"/>
            <a:ext cx="2693988" cy="854075"/>
            <a:chOff x="672" y="1824"/>
            <a:chExt cx="1697" cy="538"/>
          </a:xfrm>
        </p:grpSpPr>
        <p:sp>
          <p:nvSpPr>
            <p:cNvPr id="91189" name="Text Box 7">
              <a:extLst>
                <a:ext uri="{FF2B5EF4-FFF2-40B4-BE49-F238E27FC236}">
                  <a16:creationId xmlns:a16="http://schemas.microsoft.com/office/drawing/2014/main" id="{7A3E2D7E-7F2E-F34A-BC33-D61372D1F21C}"/>
                </a:ext>
              </a:extLst>
            </p:cNvPr>
            <p:cNvSpPr txBox="1">
              <a:spLocks noChangeArrowheads="1"/>
            </p:cNvSpPr>
            <p:nvPr/>
          </p:nvSpPr>
          <p:spPr bwMode="auto">
            <a:xfrm>
              <a:off x="2016" y="182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ID </a:t>
              </a:r>
            </a:p>
          </p:txBody>
        </p:sp>
        <p:sp>
          <p:nvSpPr>
            <p:cNvPr id="91190" name="Text Box 8">
              <a:extLst>
                <a:ext uri="{FF2B5EF4-FFF2-40B4-BE49-F238E27FC236}">
                  <a16:creationId xmlns:a16="http://schemas.microsoft.com/office/drawing/2014/main" id="{927BDCB1-38E6-D546-BDA0-0D05E48D6787}"/>
                </a:ext>
              </a:extLst>
            </p:cNvPr>
            <p:cNvSpPr txBox="1">
              <a:spLocks noChangeArrowheads="1"/>
            </p:cNvSpPr>
            <p:nvPr/>
          </p:nvSpPr>
          <p:spPr bwMode="auto">
            <a:xfrm>
              <a:off x="2016" y="2112"/>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IF </a:t>
              </a:r>
            </a:p>
          </p:txBody>
        </p:sp>
        <p:sp>
          <p:nvSpPr>
            <p:cNvPr id="91191" name="Text Box 9">
              <a:extLst>
                <a:ext uri="{FF2B5EF4-FFF2-40B4-BE49-F238E27FC236}">
                  <a16:creationId xmlns:a16="http://schemas.microsoft.com/office/drawing/2014/main" id="{39A415B8-DE55-AA4A-9A11-2F2B149ED5B0}"/>
                </a:ext>
              </a:extLst>
            </p:cNvPr>
            <p:cNvSpPr txBox="1">
              <a:spLocks noChangeArrowheads="1"/>
            </p:cNvSpPr>
            <p:nvPr/>
          </p:nvSpPr>
          <p:spPr bwMode="auto">
            <a:xfrm>
              <a:off x="672" y="2112"/>
              <a:ext cx="9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add r4, </a:t>
              </a:r>
              <a:r>
                <a:rPr lang="en-US" altLang="en-US" sz="2000" u="sng">
                  <a:latin typeface="Times New Roman" panose="02020603050405020304" pitchFamily="18" charset="0"/>
                </a:rPr>
                <a:t>r1</a:t>
              </a:r>
              <a:r>
                <a:rPr lang="en-US" altLang="en-US" sz="2000">
                  <a:latin typeface="Times New Roman" panose="02020603050405020304" pitchFamily="18" charset="0"/>
                </a:rPr>
                <a:t>, r5</a:t>
              </a:r>
            </a:p>
          </p:txBody>
        </p:sp>
      </p:grpSp>
      <p:sp>
        <p:nvSpPr>
          <p:cNvPr id="91142" name="Line 10">
            <a:extLst>
              <a:ext uri="{FF2B5EF4-FFF2-40B4-BE49-F238E27FC236}">
                <a16:creationId xmlns:a16="http://schemas.microsoft.com/office/drawing/2014/main" id="{1C4E1AA8-292E-EA40-A68A-DE214D1833FE}"/>
              </a:ext>
            </a:extLst>
          </p:cNvPr>
          <p:cNvSpPr>
            <a:spLocks noChangeShapeType="1"/>
          </p:cNvSpPr>
          <p:nvPr/>
        </p:nvSpPr>
        <p:spPr bwMode="auto">
          <a:xfrm>
            <a:off x="3200400" y="2819400"/>
            <a:ext cx="0" cy="2286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1143" name="Line 11">
            <a:extLst>
              <a:ext uri="{FF2B5EF4-FFF2-40B4-BE49-F238E27FC236}">
                <a16:creationId xmlns:a16="http://schemas.microsoft.com/office/drawing/2014/main" id="{0C55E0E0-E46E-CA4F-9541-A028521D7F2A}"/>
              </a:ext>
            </a:extLst>
          </p:cNvPr>
          <p:cNvSpPr>
            <a:spLocks noChangeShapeType="1"/>
          </p:cNvSpPr>
          <p:nvPr/>
        </p:nvSpPr>
        <p:spPr bwMode="auto">
          <a:xfrm>
            <a:off x="2590800" y="2819400"/>
            <a:ext cx="0" cy="2286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1144" name="Line 12">
            <a:extLst>
              <a:ext uri="{FF2B5EF4-FFF2-40B4-BE49-F238E27FC236}">
                <a16:creationId xmlns:a16="http://schemas.microsoft.com/office/drawing/2014/main" id="{969EAC13-11CD-D046-92D4-2DBC588239A6}"/>
              </a:ext>
            </a:extLst>
          </p:cNvPr>
          <p:cNvSpPr>
            <a:spLocks noChangeShapeType="1"/>
          </p:cNvSpPr>
          <p:nvPr/>
        </p:nvSpPr>
        <p:spPr bwMode="auto">
          <a:xfrm>
            <a:off x="4419600" y="2819400"/>
            <a:ext cx="0" cy="2286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1145" name="Line 13">
            <a:extLst>
              <a:ext uri="{FF2B5EF4-FFF2-40B4-BE49-F238E27FC236}">
                <a16:creationId xmlns:a16="http://schemas.microsoft.com/office/drawing/2014/main" id="{6EBA2448-5168-D043-9153-37362957D073}"/>
              </a:ext>
            </a:extLst>
          </p:cNvPr>
          <p:cNvSpPr>
            <a:spLocks noChangeShapeType="1"/>
          </p:cNvSpPr>
          <p:nvPr/>
        </p:nvSpPr>
        <p:spPr bwMode="auto">
          <a:xfrm>
            <a:off x="3810000" y="2819400"/>
            <a:ext cx="0" cy="2286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1146" name="Line 14">
            <a:extLst>
              <a:ext uri="{FF2B5EF4-FFF2-40B4-BE49-F238E27FC236}">
                <a16:creationId xmlns:a16="http://schemas.microsoft.com/office/drawing/2014/main" id="{2C5DC8AB-9B6E-F84D-8DD7-6CE81323F893}"/>
              </a:ext>
            </a:extLst>
          </p:cNvPr>
          <p:cNvSpPr>
            <a:spLocks noChangeShapeType="1"/>
          </p:cNvSpPr>
          <p:nvPr/>
        </p:nvSpPr>
        <p:spPr bwMode="auto">
          <a:xfrm>
            <a:off x="6858000" y="2819400"/>
            <a:ext cx="0" cy="2286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1147" name="Line 15">
            <a:extLst>
              <a:ext uri="{FF2B5EF4-FFF2-40B4-BE49-F238E27FC236}">
                <a16:creationId xmlns:a16="http://schemas.microsoft.com/office/drawing/2014/main" id="{1B0B34C1-3F48-894B-BC87-BFFF313D68D2}"/>
              </a:ext>
            </a:extLst>
          </p:cNvPr>
          <p:cNvSpPr>
            <a:spLocks noChangeShapeType="1"/>
          </p:cNvSpPr>
          <p:nvPr/>
        </p:nvSpPr>
        <p:spPr bwMode="auto">
          <a:xfrm>
            <a:off x="8077200" y="2819400"/>
            <a:ext cx="0" cy="2286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1148" name="Line 16">
            <a:extLst>
              <a:ext uri="{FF2B5EF4-FFF2-40B4-BE49-F238E27FC236}">
                <a16:creationId xmlns:a16="http://schemas.microsoft.com/office/drawing/2014/main" id="{9EFDE034-FFA2-6348-8399-8DDEF0DF5838}"/>
              </a:ext>
            </a:extLst>
          </p:cNvPr>
          <p:cNvSpPr>
            <a:spLocks noChangeShapeType="1"/>
          </p:cNvSpPr>
          <p:nvPr/>
        </p:nvSpPr>
        <p:spPr bwMode="auto">
          <a:xfrm>
            <a:off x="7467600" y="2819400"/>
            <a:ext cx="0" cy="2286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grpSp>
        <p:nvGrpSpPr>
          <p:cNvPr id="200721" name="Group 17">
            <a:extLst>
              <a:ext uri="{FF2B5EF4-FFF2-40B4-BE49-F238E27FC236}">
                <a16:creationId xmlns:a16="http://schemas.microsoft.com/office/drawing/2014/main" id="{3EA7F438-0EB9-D046-A651-11045FEE0049}"/>
              </a:ext>
            </a:extLst>
          </p:cNvPr>
          <p:cNvGrpSpPr>
            <a:grpSpLocks/>
          </p:cNvGrpSpPr>
          <p:nvPr/>
        </p:nvGrpSpPr>
        <p:grpSpPr bwMode="auto">
          <a:xfrm>
            <a:off x="6858000" y="4267200"/>
            <a:ext cx="560388" cy="803275"/>
            <a:chOff x="4320" y="2688"/>
            <a:chExt cx="353" cy="506"/>
          </a:xfrm>
        </p:grpSpPr>
        <p:sp>
          <p:nvSpPr>
            <p:cNvPr id="91187" name="Text Box 18">
              <a:extLst>
                <a:ext uri="{FF2B5EF4-FFF2-40B4-BE49-F238E27FC236}">
                  <a16:creationId xmlns:a16="http://schemas.microsoft.com/office/drawing/2014/main" id="{DCCA1463-8E5F-6748-95D9-B2C230C85FA0}"/>
                </a:ext>
              </a:extLst>
            </p:cNvPr>
            <p:cNvSpPr txBox="1">
              <a:spLocks noChangeArrowheads="1"/>
            </p:cNvSpPr>
            <p:nvPr/>
          </p:nvSpPr>
          <p:spPr bwMode="auto">
            <a:xfrm>
              <a:off x="4320" y="268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WB </a:t>
              </a:r>
            </a:p>
          </p:txBody>
        </p:sp>
        <p:sp>
          <p:nvSpPr>
            <p:cNvPr id="91188" name="Text Box 19">
              <a:extLst>
                <a:ext uri="{FF2B5EF4-FFF2-40B4-BE49-F238E27FC236}">
                  <a16:creationId xmlns:a16="http://schemas.microsoft.com/office/drawing/2014/main" id="{B1EBD56B-9B5D-CF4F-A53E-AC91D822A2DE}"/>
                </a:ext>
              </a:extLst>
            </p:cNvPr>
            <p:cNvSpPr txBox="1">
              <a:spLocks noChangeArrowheads="1"/>
            </p:cNvSpPr>
            <p:nvPr/>
          </p:nvSpPr>
          <p:spPr bwMode="auto">
            <a:xfrm>
              <a:off x="4320" y="297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MEM</a:t>
              </a:r>
            </a:p>
          </p:txBody>
        </p:sp>
      </p:grpSp>
      <p:grpSp>
        <p:nvGrpSpPr>
          <p:cNvPr id="200724" name="Group 20">
            <a:extLst>
              <a:ext uri="{FF2B5EF4-FFF2-40B4-BE49-F238E27FC236}">
                <a16:creationId xmlns:a16="http://schemas.microsoft.com/office/drawing/2014/main" id="{D475EA49-A18C-B742-8397-BF67147A40C8}"/>
              </a:ext>
            </a:extLst>
          </p:cNvPr>
          <p:cNvGrpSpPr>
            <a:grpSpLocks/>
          </p:cNvGrpSpPr>
          <p:nvPr/>
        </p:nvGrpSpPr>
        <p:grpSpPr bwMode="auto">
          <a:xfrm>
            <a:off x="6248400" y="3810000"/>
            <a:ext cx="560388" cy="1260475"/>
            <a:chOff x="3936" y="2400"/>
            <a:chExt cx="353" cy="794"/>
          </a:xfrm>
        </p:grpSpPr>
        <p:sp>
          <p:nvSpPr>
            <p:cNvPr id="91184" name="Text Box 21">
              <a:extLst>
                <a:ext uri="{FF2B5EF4-FFF2-40B4-BE49-F238E27FC236}">
                  <a16:creationId xmlns:a16="http://schemas.microsoft.com/office/drawing/2014/main" id="{17CA7D4C-F60E-2047-9DE3-9F8CBF114B93}"/>
                </a:ext>
              </a:extLst>
            </p:cNvPr>
            <p:cNvSpPr txBox="1">
              <a:spLocks noChangeArrowheads="1"/>
            </p:cNvSpPr>
            <p:nvPr/>
          </p:nvSpPr>
          <p:spPr bwMode="auto">
            <a:xfrm>
              <a:off x="3936" y="2400"/>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WB </a:t>
              </a:r>
            </a:p>
          </p:txBody>
        </p:sp>
        <p:sp>
          <p:nvSpPr>
            <p:cNvPr id="91185" name="Text Box 22">
              <a:extLst>
                <a:ext uri="{FF2B5EF4-FFF2-40B4-BE49-F238E27FC236}">
                  <a16:creationId xmlns:a16="http://schemas.microsoft.com/office/drawing/2014/main" id="{30626D85-4DA6-274A-885F-9548D184C8AC}"/>
                </a:ext>
              </a:extLst>
            </p:cNvPr>
            <p:cNvSpPr txBox="1">
              <a:spLocks noChangeArrowheads="1"/>
            </p:cNvSpPr>
            <p:nvPr/>
          </p:nvSpPr>
          <p:spPr bwMode="auto">
            <a:xfrm>
              <a:off x="3936" y="268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MEM</a:t>
              </a:r>
            </a:p>
          </p:txBody>
        </p:sp>
        <p:sp>
          <p:nvSpPr>
            <p:cNvPr id="91186" name="Text Box 23">
              <a:extLst>
                <a:ext uri="{FF2B5EF4-FFF2-40B4-BE49-F238E27FC236}">
                  <a16:creationId xmlns:a16="http://schemas.microsoft.com/office/drawing/2014/main" id="{24C63BCF-E057-AB42-8CF6-2B1ED65DFBE2}"/>
                </a:ext>
              </a:extLst>
            </p:cNvPr>
            <p:cNvSpPr txBox="1">
              <a:spLocks noChangeArrowheads="1"/>
            </p:cNvSpPr>
            <p:nvPr/>
          </p:nvSpPr>
          <p:spPr bwMode="auto">
            <a:xfrm>
              <a:off x="3936" y="297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EX </a:t>
              </a:r>
            </a:p>
          </p:txBody>
        </p:sp>
      </p:grpSp>
      <p:sp>
        <p:nvSpPr>
          <p:cNvPr id="200728" name="Text Box 24">
            <a:extLst>
              <a:ext uri="{FF2B5EF4-FFF2-40B4-BE49-F238E27FC236}">
                <a16:creationId xmlns:a16="http://schemas.microsoft.com/office/drawing/2014/main" id="{24631C1D-4982-2D48-96FA-186252DF7303}"/>
              </a:ext>
            </a:extLst>
          </p:cNvPr>
          <p:cNvSpPr txBox="1">
            <a:spLocks noChangeArrowheads="1"/>
          </p:cNvSpPr>
          <p:nvPr/>
        </p:nvSpPr>
        <p:spPr bwMode="auto">
          <a:xfrm>
            <a:off x="7467600" y="4724400"/>
            <a:ext cx="560388" cy="3460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WB </a:t>
            </a:r>
          </a:p>
        </p:txBody>
      </p:sp>
      <p:grpSp>
        <p:nvGrpSpPr>
          <p:cNvPr id="200729" name="Group 25">
            <a:extLst>
              <a:ext uri="{FF2B5EF4-FFF2-40B4-BE49-F238E27FC236}">
                <a16:creationId xmlns:a16="http://schemas.microsoft.com/office/drawing/2014/main" id="{F8F3426D-168D-B94B-B735-B0FC5AC98A26}"/>
              </a:ext>
            </a:extLst>
          </p:cNvPr>
          <p:cNvGrpSpPr>
            <a:grpSpLocks/>
          </p:cNvGrpSpPr>
          <p:nvPr/>
        </p:nvGrpSpPr>
        <p:grpSpPr bwMode="auto">
          <a:xfrm>
            <a:off x="1066800" y="2895600"/>
            <a:ext cx="3303588" cy="1311275"/>
            <a:chOff x="672" y="1824"/>
            <a:chExt cx="2081" cy="826"/>
          </a:xfrm>
        </p:grpSpPr>
        <p:sp>
          <p:nvSpPr>
            <p:cNvPr id="91180" name="Text Box 26">
              <a:extLst>
                <a:ext uri="{FF2B5EF4-FFF2-40B4-BE49-F238E27FC236}">
                  <a16:creationId xmlns:a16="http://schemas.microsoft.com/office/drawing/2014/main" id="{7ACB706B-61B6-DF4A-A2FC-827961DDB679}"/>
                </a:ext>
              </a:extLst>
            </p:cNvPr>
            <p:cNvSpPr txBox="1">
              <a:spLocks noChangeArrowheads="1"/>
            </p:cNvSpPr>
            <p:nvPr/>
          </p:nvSpPr>
          <p:spPr bwMode="auto">
            <a:xfrm>
              <a:off x="2400" y="182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EX </a:t>
              </a:r>
            </a:p>
          </p:txBody>
        </p:sp>
        <p:sp>
          <p:nvSpPr>
            <p:cNvPr id="91181" name="Text Box 27">
              <a:extLst>
                <a:ext uri="{FF2B5EF4-FFF2-40B4-BE49-F238E27FC236}">
                  <a16:creationId xmlns:a16="http://schemas.microsoft.com/office/drawing/2014/main" id="{B20D62BD-4192-684E-9A60-EF0CE3D64C1D}"/>
                </a:ext>
              </a:extLst>
            </p:cNvPr>
            <p:cNvSpPr txBox="1">
              <a:spLocks noChangeArrowheads="1"/>
            </p:cNvSpPr>
            <p:nvPr/>
          </p:nvSpPr>
          <p:spPr bwMode="auto">
            <a:xfrm>
              <a:off x="2400" y="2112"/>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ID </a:t>
              </a:r>
            </a:p>
          </p:txBody>
        </p:sp>
        <p:sp>
          <p:nvSpPr>
            <p:cNvPr id="91182" name="Text Box 28">
              <a:extLst>
                <a:ext uri="{FF2B5EF4-FFF2-40B4-BE49-F238E27FC236}">
                  <a16:creationId xmlns:a16="http://schemas.microsoft.com/office/drawing/2014/main" id="{11C0DAEA-6D9F-8A4C-8B8E-58B1D0C5829A}"/>
                </a:ext>
              </a:extLst>
            </p:cNvPr>
            <p:cNvSpPr txBox="1">
              <a:spLocks noChangeArrowheads="1"/>
            </p:cNvSpPr>
            <p:nvPr/>
          </p:nvSpPr>
          <p:spPr bwMode="auto">
            <a:xfrm>
              <a:off x="2400" y="2400"/>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IF </a:t>
              </a:r>
            </a:p>
          </p:txBody>
        </p:sp>
        <p:sp>
          <p:nvSpPr>
            <p:cNvPr id="91183" name="Text Box 29">
              <a:extLst>
                <a:ext uri="{FF2B5EF4-FFF2-40B4-BE49-F238E27FC236}">
                  <a16:creationId xmlns:a16="http://schemas.microsoft.com/office/drawing/2014/main" id="{2852B8CF-B731-F640-B2C5-5D0DB4B303D3}"/>
                </a:ext>
              </a:extLst>
            </p:cNvPr>
            <p:cNvSpPr txBox="1">
              <a:spLocks noChangeArrowheads="1"/>
            </p:cNvSpPr>
            <p:nvPr/>
          </p:nvSpPr>
          <p:spPr bwMode="auto">
            <a:xfrm>
              <a:off x="672" y="2400"/>
              <a:ext cx="9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add r6, </a:t>
              </a:r>
              <a:r>
                <a:rPr lang="en-US" altLang="en-US" sz="2000" u="sng">
                  <a:latin typeface="Times New Roman" panose="02020603050405020304" pitchFamily="18" charset="0"/>
                </a:rPr>
                <a:t>r1</a:t>
              </a:r>
              <a:r>
                <a:rPr lang="en-US" altLang="en-US" sz="2000">
                  <a:latin typeface="Times New Roman" panose="02020603050405020304" pitchFamily="18" charset="0"/>
                </a:rPr>
                <a:t>, r5</a:t>
              </a:r>
            </a:p>
          </p:txBody>
        </p:sp>
      </p:grpSp>
      <p:grpSp>
        <p:nvGrpSpPr>
          <p:cNvPr id="200734" name="Group 30">
            <a:extLst>
              <a:ext uri="{FF2B5EF4-FFF2-40B4-BE49-F238E27FC236}">
                <a16:creationId xmlns:a16="http://schemas.microsoft.com/office/drawing/2014/main" id="{9E223A8D-B189-2041-B77C-93FF7162D5F6}"/>
              </a:ext>
            </a:extLst>
          </p:cNvPr>
          <p:cNvGrpSpPr>
            <a:grpSpLocks/>
          </p:cNvGrpSpPr>
          <p:nvPr/>
        </p:nvGrpSpPr>
        <p:grpSpPr bwMode="auto">
          <a:xfrm>
            <a:off x="1066800" y="2590800"/>
            <a:ext cx="3913188" cy="2073275"/>
            <a:chOff x="672" y="1632"/>
            <a:chExt cx="2465" cy="1306"/>
          </a:xfrm>
        </p:grpSpPr>
        <p:sp>
          <p:nvSpPr>
            <p:cNvPr id="91173" name="Text Box 31">
              <a:extLst>
                <a:ext uri="{FF2B5EF4-FFF2-40B4-BE49-F238E27FC236}">
                  <a16:creationId xmlns:a16="http://schemas.microsoft.com/office/drawing/2014/main" id="{8B7A49D1-01FB-E041-80F6-D1B90064B4E0}"/>
                </a:ext>
              </a:extLst>
            </p:cNvPr>
            <p:cNvSpPr txBox="1">
              <a:spLocks noChangeArrowheads="1"/>
            </p:cNvSpPr>
            <p:nvPr/>
          </p:nvSpPr>
          <p:spPr bwMode="auto">
            <a:xfrm>
              <a:off x="2784" y="182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MEM</a:t>
              </a:r>
            </a:p>
          </p:txBody>
        </p:sp>
        <p:sp>
          <p:nvSpPr>
            <p:cNvPr id="91174" name="Text Box 32">
              <a:extLst>
                <a:ext uri="{FF2B5EF4-FFF2-40B4-BE49-F238E27FC236}">
                  <a16:creationId xmlns:a16="http://schemas.microsoft.com/office/drawing/2014/main" id="{B82D158B-349F-F848-868E-E3EF55DC14D3}"/>
                </a:ext>
              </a:extLst>
            </p:cNvPr>
            <p:cNvSpPr txBox="1">
              <a:spLocks noChangeArrowheads="1"/>
            </p:cNvSpPr>
            <p:nvPr/>
          </p:nvSpPr>
          <p:spPr bwMode="auto">
            <a:xfrm>
              <a:off x="2784" y="2112"/>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EX </a:t>
              </a:r>
            </a:p>
          </p:txBody>
        </p:sp>
        <p:sp>
          <p:nvSpPr>
            <p:cNvPr id="91175" name="Text Box 33">
              <a:extLst>
                <a:ext uri="{FF2B5EF4-FFF2-40B4-BE49-F238E27FC236}">
                  <a16:creationId xmlns:a16="http://schemas.microsoft.com/office/drawing/2014/main" id="{4A6BBAC8-AD99-4F4B-9BDD-26D6666E0C53}"/>
                </a:ext>
              </a:extLst>
            </p:cNvPr>
            <p:cNvSpPr txBox="1">
              <a:spLocks noChangeArrowheads="1"/>
            </p:cNvSpPr>
            <p:nvPr/>
          </p:nvSpPr>
          <p:spPr bwMode="auto">
            <a:xfrm>
              <a:off x="2784" y="2400"/>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ID </a:t>
              </a:r>
            </a:p>
          </p:txBody>
        </p:sp>
        <p:sp>
          <p:nvSpPr>
            <p:cNvPr id="91176" name="Text Box 34">
              <a:extLst>
                <a:ext uri="{FF2B5EF4-FFF2-40B4-BE49-F238E27FC236}">
                  <a16:creationId xmlns:a16="http://schemas.microsoft.com/office/drawing/2014/main" id="{19486FEA-3EA4-2948-A126-6234FA581886}"/>
                </a:ext>
              </a:extLst>
            </p:cNvPr>
            <p:cNvSpPr txBox="1">
              <a:spLocks noChangeArrowheads="1"/>
            </p:cNvSpPr>
            <p:nvPr/>
          </p:nvSpPr>
          <p:spPr bwMode="auto">
            <a:xfrm>
              <a:off x="2784" y="268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IF </a:t>
              </a:r>
            </a:p>
          </p:txBody>
        </p:sp>
        <p:sp>
          <p:nvSpPr>
            <p:cNvPr id="91177" name="Text Box 35">
              <a:extLst>
                <a:ext uri="{FF2B5EF4-FFF2-40B4-BE49-F238E27FC236}">
                  <a16:creationId xmlns:a16="http://schemas.microsoft.com/office/drawing/2014/main" id="{2ADD85AC-7795-AE45-9D54-77B95E143D3E}"/>
                </a:ext>
              </a:extLst>
            </p:cNvPr>
            <p:cNvSpPr txBox="1">
              <a:spLocks noChangeArrowheads="1"/>
            </p:cNvSpPr>
            <p:nvPr/>
          </p:nvSpPr>
          <p:spPr bwMode="auto">
            <a:xfrm>
              <a:off x="672" y="2688"/>
              <a:ext cx="9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add r7, </a:t>
              </a:r>
              <a:r>
                <a:rPr lang="en-US" altLang="en-US" sz="2000" u="sng">
                  <a:latin typeface="Times New Roman" panose="02020603050405020304" pitchFamily="18" charset="0"/>
                </a:rPr>
                <a:t>r1</a:t>
              </a:r>
              <a:r>
                <a:rPr lang="en-US" altLang="en-US" sz="2000">
                  <a:latin typeface="Times New Roman" panose="02020603050405020304" pitchFamily="18" charset="0"/>
                </a:rPr>
                <a:t>, r5</a:t>
              </a:r>
            </a:p>
          </p:txBody>
        </p:sp>
        <p:sp>
          <p:nvSpPr>
            <p:cNvPr id="91178" name="Line 36">
              <a:extLst>
                <a:ext uri="{FF2B5EF4-FFF2-40B4-BE49-F238E27FC236}">
                  <a16:creationId xmlns:a16="http://schemas.microsoft.com/office/drawing/2014/main" id="{CABF04D6-47DA-9C47-AFEB-CE81B81D6340}"/>
                </a:ext>
              </a:extLst>
            </p:cNvPr>
            <p:cNvSpPr>
              <a:spLocks noChangeShapeType="1"/>
            </p:cNvSpPr>
            <p:nvPr/>
          </p:nvSpPr>
          <p:spPr bwMode="auto">
            <a:xfrm>
              <a:off x="2736" y="1920"/>
              <a:ext cx="96" cy="24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179" name="Text Box 37">
              <a:extLst>
                <a:ext uri="{FF2B5EF4-FFF2-40B4-BE49-F238E27FC236}">
                  <a16:creationId xmlns:a16="http://schemas.microsoft.com/office/drawing/2014/main" id="{B5F84125-D735-E545-96C1-594ADA6868B2}"/>
                </a:ext>
              </a:extLst>
            </p:cNvPr>
            <p:cNvSpPr txBox="1">
              <a:spLocks noChangeArrowheads="1"/>
            </p:cNvSpPr>
            <p:nvPr/>
          </p:nvSpPr>
          <p:spPr bwMode="auto">
            <a:xfrm>
              <a:off x="2592" y="1632"/>
              <a:ext cx="3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400">
                  <a:latin typeface="Times New Roman" panose="02020603050405020304" pitchFamily="18" charset="0"/>
                </a:rPr>
                <a:t>byp 1</a:t>
              </a:r>
            </a:p>
          </p:txBody>
        </p:sp>
      </p:grpSp>
      <p:sp>
        <p:nvSpPr>
          <p:cNvPr id="91154" name="Line 38">
            <a:extLst>
              <a:ext uri="{FF2B5EF4-FFF2-40B4-BE49-F238E27FC236}">
                <a16:creationId xmlns:a16="http://schemas.microsoft.com/office/drawing/2014/main" id="{ABB0BC2D-36E8-9341-8CC9-81D3A0AC96AC}"/>
              </a:ext>
            </a:extLst>
          </p:cNvPr>
          <p:cNvSpPr>
            <a:spLocks noChangeShapeType="1"/>
          </p:cNvSpPr>
          <p:nvPr/>
        </p:nvSpPr>
        <p:spPr bwMode="auto">
          <a:xfrm>
            <a:off x="5638800" y="2819400"/>
            <a:ext cx="0" cy="2286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1155" name="Line 39">
            <a:extLst>
              <a:ext uri="{FF2B5EF4-FFF2-40B4-BE49-F238E27FC236}">
                <a16:creationId xmlns:a16="http://schemas.microsoft.com/office/drawing/2014/main" id="{44965C7E-B695-994A-94D7-29F74F410A16}"/>
              </a:ext>
            </a:extLst>
          </p:cNvPr>
          <p:cNvSpPr>
            <a:spLocks noChangeShapeType="1"/>
          </p:cNvSpPr>
          <p:nvPr/>
        </p:nvSpPr>
        <p:spPr bwMode="auto">
          <a:xfrm>
            <a:off x="5029200" y="2819400"/>
            <a:ext cx="0" cy="2286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grpSp>
        <p:nvGrpSpPr>
          <p:cNvPr id="200744" name="Group 40">
            <a:extLst>
              <a:ext uri="{FF2B5EF4-FFF2-40B4-BE49-F238E27FC236}">
                <a16:creationId xmlns:a16="http://schemas.microsoft.com/office/drawing/2014/main" id="{5C18BB9B-4718-0B42-B445-9F01FBBB66D0}"/>
              </a:ext>
            </a:extLst>
          </p:cNvPr>
          <p:cNvGrpSpPr>
            <a:grpSpLocks/>
          </p:cNvGrpSpPr>
          <p:nvPr/>
        </p:nvGrpSpPr>
        <p:grpSpPr bwMode="auto">
          <a:xfrm>
            <a:off x="1066800" y="2590800"/>
            <a:ext cx="4522788" cy="2530475"/>
            <a:chOff x="672" y="1632"/>
            <a:chExt cx="2849" cy="1594"/>
          </a:xfrm>
        </p:grpSpPr>
        <p:sp>
          <p:nvSpPr>
            <p:cNvPr id="91165" name="Text Box 41">
              <a:extLst>
                <a:ext uri="{FF2B5EF4-FFF2-40B4-BE49-F238E27FC236}">
                  <a16:creationId xmlns:a16="http://schemas.microsoft.com/office/drawing/2014/main" id="{869ED81E-1598-D44A-98EF-1C11A9E1E7DE}"/>
                </a:ext>
              </a:extLst>
            </p:cNvPr>
            <p:cNvSpPr txBox="1">
              <a:spLocks noChangeArrowheads="1"/>
            </p:cNvSpPr>
            <p:nvPr/>
          </p:nvSpPr>
          <p:spPr bwMode="auto">
            <a:xfrm>
              <a:off x="3168" y="182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WB </a:t>
              </a:r>
            </a:p>
          </p:txBody>
        </p:sp>
        <p:sp>
          <p:nvSpPr>
            <p:cNvPr id="91166" name="Text Box 42">
              <a:extLst>
                <a:ext uri="{FF2B5EF4-FFF2-40B4-BE49-F238E27FC236}">
                  <a16:creationId xmlns:a16="http://schemas.microsoft.com/office/drawing/2014/main" id="{8B620F28-EAF7-C64F-BF3D-8801189A07A1}"/>
                </a:ext>
              </a:extLst>
            </p:cNvPr>
            <p:cNvSpPr txBox="1">
              <a:spLocks noChangeArrowheads="1"/>
            </p:cNvSpPr>
            <p:nvPr/>
          </p:nvSpPr>
          <p:spPr bwMode="auto">
            <a:xfrm>
              <a:off x="3168" y="2112"/>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MEM</a:t>
              </a:r>
            </a:p>
          </p:txBody>
        </p:sp>
        <p:sp>
          <p:nvSpPr>
            <p:cNvPr id="91167" name="Text Box 43">
              <a:extLst>
                <a:ext uri="{FF2B5EF4-FFF2-40B4-BE49-F238E27FC236}">
                  <a16:creationId xmlns:a16="http://schemas.microsoft.com/office/drawing/2014/main" id="{AF02192F-8B84-1A44-9696-A5CF3B31B8B0}"/>
                </a:ext>
              </a:extLst>
            </p:cNvPr>
            <p:cNvSpPr txBox="1">
              <a:spLocks noChangeArrowheads="1"/>
            </p:cNvSpPr>
            <p:nvPr/>
          </p:nvSpPr>
          <p:spPr bwMode="auto">
            <a:xfrm>
              <a:off x="3168" y="2400"/>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EX </a:t>
              </a:r>
            </a:p>
          </p:txBody>
        </p:sp>
        <p:sp>
          <p:nvSpPr>
            <p:cNvPr id="91168" name="Text Box 44">
              <a:extLst>
                <a:ext uri="{FF2B5EF4-FFF2-40B4-BE49-F238E27FC236}">
                  <a16:creationId xmlns:a16="http://schemas.microsoft.com/office/drawing/2014/main" id="{FD364195-8714-DA48-AB42-9F08C9322178}"/>
                </a:ext>
              </a:extLst>
            </p:cNvPr>
            <p:cNvSpPr txBox="1">
              <a:spLocks noChangeArrowheads="1"/>
            </p:cNvSpPr>
            <p:nvPr/>
          </p:nvSpPr>
          <p:spPr bwMode="auto">
            <a:xfrm>
              <a:off x="3168" y="268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ID </a:t>
              </a:r>
            </a:p>
          </p:txBody>
        </p:sp>
        <p:sp>
          <p:nvSpPr>
            <p:cNvPr id="91169" name="Text Box 45">
              <a:extLst>
                <a:ext uri="{FF2B5EF4-FFF2-40B4-BE49-F238E27FC236}">
                  <a16:creationId xmlns:a16="http://schemas.microsoft.com/office/drawing/2014/main" id="{3B75AE9F-6674-C645-B7B6-58A426264CF5}"/>
                </a:ext>
              </a:extLst>
            </p:cNvPr>
            <p:cNvSpPr txBox="1">
              <a:spLocks noChangeArrowheads="1"/>
            </p:cNvSpPr>
            <p:nvPr/>
          </p:nvSpPr>
          <p:spPr bwMode="auto">
            <a:xfrm>
              <a:off x="3168" y="297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IF </a:t>
              </a:r>
            </a:p>
          </p:txBody>
        </p:sp>
        <p:sp>
          <p:nvSpPr>
            <p:cNvPr id="91170" name="Text Box 46">
              <a:extLst>
                <a:ext uri="{FF2B5EF4-FFF2-40B4-BE49-F238E27FC236}">
                  <a16:creationId xmlns:a16="http://schemas.microsoft.com/office/drawing/2014/main" id="{B665A34F-0A72-D248-870C-CAC9C18D9DDA}"/>
                </a:ext>
              </a:extLst>
            </p:cNvPr>
            <p:cNvSpPr txBox="1">
              <a:spLocks noChangeArrowheads="1"/>
            </p:cNvSpPr>
            <p:nvPr/>
          </p:nvSpPr>
          <p:spPr bwMode="auto">
            <a:xfrm>
              <a:off x="672" y="2976"/>
              <a:ext cx="9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add r8, </a:t>
              </a:r>
              <a:r>
                <a:rPr lang="en-US" altLang="en-US" sz="2000" u="sng">
                  <a:latin typeface="Times New Roman" panose="02020603050405020304" pitchFamily="18" charset="0"/>
                </a:rPr>
                <a:t>r1</a:t>
              </a:r>
              <a:r>
                <a:rPr lang="en-US" altLang="en-US" sz="2000">
                  <a:latin typeface="Times New Roman" panose="02020603050405020304" pitchFamily="18" charset="0"/>
                </a:rPr>
                <a:t>, r5</a:t>
              </a:r>
            </a:p>
          </p:txBody>
        </p:sp>
        <p:sp>
          <p:nvSpPr>
            <p:cNvPr id="91171" name="Line 47">
              <a:extLst>
                <a:ext uri="{FF2B5EF4-FFF2-40B4-BE49-F238E27FC236}">
                  <a16:creationId xmlns:a16="http://schemas.microsoft.com/office/drawing/2014/main" id="{9D427F8D-CCE6-1144-B657-4A103D1E5755}"/>
                </a:ext>
              </a:extLst>
            </p:cNvPr>
            <p:cNvSpPr>
              <a:spLocks noChangeShapeType="1"/>
            </p:cNvSpPr>
            <p:nvPr/>
          </p:nvSpPr>
          <p:spPr bwMode="auto">
            <a:xfrm>
              <a:off x="3120" y="1920"/>
              <a:ext cx="96" cy="57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91172" name="Text Box 48">
              <a:extLst>
                <a:ext uri="{FF2B5EF4-FFF2-40B4-BE49-F238E27FC236}">
                  <a16:creationId xmlns:a16="http://schemas.microsoft.com/office/drawing/2014/main" id="{DD947DC6-0E9C-6442-A3AF-37150FB8929B}"/>
                </a:ext>
              </a:extLst>
            </p:cNvPr>
            <p:cNvSpPr txBox="1">
              <a:spLocks noChangeArrowheads="1"/>
            </p:cNvSpPr>
            <p:nvPr/>
          </p:nvSpPr>
          <p:spPr bwMode="auto">
            <a:xfrm>
              <a:off x="2976" y="1632"/>
              <a:ext cx="3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400">
                  <a:latin typeface="Times New Roman" panose="02020603050405020304" pitchFamily="18" charset="0"/>
                </a:rPr>
                <a:t>byp 2</a:t>
              </a:r>
            </a:p>
          </p:txBody>
        </p:sp>
      </p:grpSp>
      <p:sp>
        <p:nvSpPr>
          <p:cNvPr id="91157" name="Line 49">
            <a:extLst>
              <a:ext uri="{FF2B5EF4-FFF2-40B4-BE49-F238E27FC236}">
                <a16:creationId xmlns:a16="http://schemas.microsoft.com/office/drawing/2014/main" id="{517894A9-CAE9-7342-868C-6A9CE601DCC2}"/>
              </a:ext>
            </a:extLst>
          </p:cNvPr>
          <p:cNvSpPr>
            <a:spLocks noChangeShapeType="1"/>
          </p:cNvSpPr>
          <p:nvPr/>
        </p:nvSpPr>
        <p:spPr bwMode="auto">
          <a:xfrm>
            <a:off x="6248400" y="2819400"/>
            <a:ext cx="0" cy="22860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grpSp>
        <p:nvGrpSpPr>
          <p:cNvPr id="200754" name="Group 50">
            <a:extLst>
              <a:ext uri="{FF2B5EF4-FFF2-40B4-BE49-F238E27FC236}">
                <a16:creationId xmlns:a16="http://schemas.microsoft.com/office/drawing/2014/main" id="{F314954D-C82E-5F4B-8B84-05BD3A447521}"/>
              </a:ext>
            </a:extLst>
          </p:cNvPr>
          <p:cNvGrpSpPr>
            <a:grpSpLocks/>
          </p:cNvGrpSpPr>
          <p:nvPr/>
        </p:nvGrpSpPr>
        <p:grpSpPr bwMode="auto">
          <a:xfrm>
            <a:off x="5334000" y="2590800"/>
            <a:ext cx="865188" cy="2479675"/>
            <a:chOff x="3360" y="1632"/>
            <a:chExt cx="545" cy="1562"/>
          </a:xfrm>
        </p:grpSpPr>
        <p:sp>
          <p:nvSpPr>
            <p:cNvPr id="91159" name="Text Box 51">
              <a:extLst>
                <a:ext uri="{FF2B5EF4-FFF2-40B4-BE49-F238E27FC236}">
                  <a16:creationId xmlns:a16="http://schemas.microsoft.com/office/drawing/2014/main" id="{AB2A8628-48B4-564B-BDC8-FF59F9F6EF03}"/>
                </a:ext>
              </a:extLst>
            </p:cNvPr>
            <p:cNvSpPr txBox="1">
              <a:spLocks noChangeArrowheads="1"/>
            </p:cNvSpPr>
            <p:nvPr/>
          </p:nvSpPr>
          <p:spPr bwMode="auto">
            <a:xfrm>
              <a:off x="3552" y="2112"/>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WB </a:t>
              </a:r>
            </a:p>
          </p:txBody>
        </p:sp>
        <p:sp>
          <p:nvSpPr>
            <p:cNvPr id="91160" name="Text Box 52">
              <a:extLst>
                <a:ext uri="{FF2B5EF4-FFF2-40B4-BE49-F238E27FC236}">
                  <a16:creationId xmlns:a16="http://schemas.microsoft.com/office/drawing/2014/main" id="{A95D9459-C010-0F46-91EA-BFA77582A61D}"/>
                </a:ext>
              </a:extLst>
            </p:cNvPr>
            <p:cNvSpPr txBox="1">
              <a:spLocks noChangeArrowheads="1"/>
            </p:cNvSpPr>
            <p:nvPr/>
          </p:nvSpPr>
          <p:spPr bwMode="auto">
            <a:xfrm>
              <a:off x="3552" y="2400"/>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MEM</a:t>
              </a:r>
            </a:p>
          </p:txBody>
        </p:sp>
        <p:sp>
          <p:nvSpPr>
            <p:cNvPr id="91161" name="Text Box 53">
              <a:extLst>
                <a:ext uri="{FF2B5EF4-FFF2-40B4-BE49-F238E27FC236}">
                  <a16:creationId xmlns:a16="http://schemas.microsoft.com/office/drawing/2014/main" id="{7938E334-1D66-BF40-82DF-0EC8D80BD9F3}"/>
                </a:ext>
              </a:extLst>
            </p:cNvPr>
            <p:cNvSpPr txBox="1">
              <a:spLocks noChangeArrowheads="1"/>
            </p:cNvSpPr>
            <p:nvPr/>
          </p:nvSpPr>
          <p:spPr bwMode="auto">
            <a:xfrm>
              <a:off x="3552" y="268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EX </a:t>
              </a:r>
            </a:p>
          </p:txBody>
        </p:sp>
        <p:sp>
          <p:nvSpPr>
            <p:cNvPr id="91162" name="Text Box 54">
              <a:extLst>
                <a:ext uri="{FF2B5EF4-FFF2-40B4-BE49-F238E27FC236}">
                  <a16:creationId xmlns:a16="http://schemas.microsoft.com/office/drawing/2014/main" id="{A4B090D7-01DE-EA43-B557-78E41671214F}"/>
                </a:ext>
              </a:extLst>
            </p:cNvPr>
            <p:cNvSpPr txBox="1">
              <a:spLocks noChangeArrowheads="1"/>
            </p:cNvSpPr>
            <p:nvPr/>
          </p:nvSpPr>
          <p:spPr bwMode="auto">
            <a:xfrm>
              <a:off x="3552" y="297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ID </a:t>
              </a:r>
            </a:p>
          </p:txBody>
        </p:sp>
        <p:sp>
          <p:nvSpPr>
            <p:cNvPr id="91163" name="Line 55">
              <a:extLst>
                <a:ext uri="{FF2B5EF4-FFF2-40B4-BE49-F238E27FC236}">
                  <a16:creationId xmlns:a16="http://schemas.microsoft.com/office/drawing/2014/main" id="{7CFB5CF1-D5C8-5048-BCC6-5A234883B5E0}"/>
                </a:ext>
              </a:extLst>
            </p:cNvPr>
            <p:cNvSpPr>
              <a:spLocks noChangeShapeType="1"/>
            </p:cNvSpPr>
            <p:nvPr/>
          </p:nvSpPr>
          <p:spPr bwMode="auto">
            <a:xfrm>
              <a:off x="3504" y="1920"/>
              <a:ext cx="96" cy="86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1164" name="Text Box 56">
              <a:extLst>
                <a:ext uri="{FF2B5EF4-FFF2-40B4-BE49-F238E27FC236}">
                  <a16:creationId xmlns:a16="http://schemas.microsoft.com/office/drawing/2014/main" id="{1A28BB27-7CC7-4F49-A3B7-2C8DC19C4916}"/>
                </a:ext>
              </a:extLst>
            </p:cNvPr>
            <p:cNvSpPr txBox="1">
              <a:spLocks noChangeArrowheads="1"/>
            </p:cNvSpPr>
            <p:nvPr/>
          </p:nvSpPr>
          <p:spPr bwMode="auto">
            <a:xfrm>
              <a:off x="3360" y="1632"/>
              <a:ext cx="3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400">
                  <a:latin typeface="Times New Roman" panose="02020603050405020304" pitchFamily="18" charset="0"/>
                </a:rPr>
                <a:t>byp 3</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07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007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0072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0073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0074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20075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20072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20072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2007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28" grpId="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a:extLst>
              <a:ext uri="{FF2B5EF4-FFF2-40B4-BE49-F238E27FC236}">
                <a16:creationId xmlns:a16="http://schemas.microsoft.com/office/drawing/2014/main" id="{2A5609C8-DFA9-5341-8F8F-77BD17D30127}"/>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Stalls due to data hazards</a:t>
            </a:r>
          </a:p>
        </p:txBody>
      </p:sp>
      <p:sp>
        <p:nvSpPr>
          <p:cNvPr id="92163" name="Rectangle 3">
            <a:extLst>
              <a:ext uri="{FF2B5EF4-FFF2-40B4-BE49-F238E27FC236}">
                <a16:creationId xmlns:a16="http://schemas.microsoft.com/office/drawing/2014/main" id="{98CA7167-040C-CB47-90CE-6F6385F843A3}"/>
              </a:ext>
            </a:extLst>
          </p:cNvPr>
          <p:cNvSpPr>
            <a:spLocks noGrp="1" noChangeArrowheads="1"/>
          </p:cNvSpPr>
          <p:nvPr>
            <p:ph idx="1"/>
          </p:nvPr>
        </p:nvSpPr>
        <p:spPr/>
        <p:txBody>
          <a:bodyPr/>
          <a:lstStyle/>
          <a:p>
            <a:r>
              <a:rPr lang="en-US" altLang="en-US" sz="2000"/>
              <a:t>Our simple pipeline</a:t>
            </a:r>
          </a:p>
          <a:p>
            <a:pPr marL="742950" lvl="1" indent="-285750"/>
            <a:r>
              <a:rPr lang="en-US" altLang="en-US" sz="1600"/>
              <a:t>Most RAW hazards =&gt; no stall</a:t>
            </a:r>
          </a:p>
          <a:p>
            <a:pPr marL="742950" lvl="1" indent="-285750"/>
            <a:r>
              <a:rPr lang="en-US" altLang="en-US" sz="1600"/>
              <a:t>Loads cause 1-cycle stall (cache hit)</a:t>
            </a:r>
          </a:p>
        </p:txBody>
      </p:sp>
      <p:grpSp>
        <p:nvGrpSpPr>
          <p:cNvPr id="201732" name="Group 4">
            <a:extLst>
              <a:ext uri="{FF2B5EF4-FFF2-40B4-BE49-F238E27FC236}">
                <a16:creationId xmlns:a16="http://schemas.microsoft.com/office/drawing/2014/main" id="{F8FB294B-5FC2-2A45-8731-5FBC0D2B7E6C}"/>
              </a:ext>
            </a:extLst>
          </p:cNvPr>
          <p:cNvGrpSpPr>
            <a:grpSpLocks/>
          </p:cNvGrpSpPr>
          <p:nvPr/>
        </p:nvGrpSpPr>
        <p:grpSpPr bwMode="auto">
          <a:xfrm>
            <a:off x="1136651" y="4114800"/>
            <a:ext cx="2014539" cy="400050"/>
            <a:chOff x="1052" y="2208"/>
            <a:chExt cx="1269" cy="252"/>
          </a:xfrm>
        </p:grpSpPr>
        <p:sp>
          <p:nvSpPr>
            <p:cNvPr id="92208" name="Text Box 5">
              <a:extLst>
                <a:ext uri="{FF2B5EF4-FFF2-40B4-BE49-F238E27FC236}">
                  <a16:creationId xmlns:a16="http://schemas.microsoft.com/office/drawing/2014/main" id="{7D222102-8556-9C4E-993D-657F8DEAD88E}"/>
                </a:ext>
              </a:extLst>
            </p:cNvPr>
            <p:cNvSpPr txBox="1">
              <a:spLocks noChangeArrowheads="1"/>
            </p:cNvSpPr>
            <p:nvPr/>
          </p:nvSpPr>
          <p:spPr bwMode="auto">
            <a:xfrm>
              <a:off x="1968" y="220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IF </a:t>
              </a:r>
            </a:p>
          </p:txBody>
        </p:sp>
        <p:sp>
          <p:nvSpPr>
            <p:cNvPr id="92209" name="Text Box 6">
              <a:extLst>
                <a:ext uri="{FF2B5EF4-FFF2-40B4-BE49-F238E27FC236}">
                  <a16:creationId xmlns:a16="http://schemas.microsoft.com/office/drawing/2014/main" id="{309ED8EF-E4DE-B745-9A62-D90E0E435398}"/>
                </a:ext>
              </a:extLst>
            </p:cNvPr>
            <p:cNvSpPr txBox="1">
              <a:spLocks noChangeArrowheads="1"/>
            </p:cNvSpPr>
            <p:nvPr/>
          </p:nvSpPr>
          <p:spPr bwMode="auto">
            <a:xfrm>
              <a:off x="1052" y="2208"/>
              <a:ext cx="8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dirty="0" err="1">
                  <a:latin typeface="Times New Roman" panose="02020603050405020304" pitchFamily="18" charset="0"/>
                </a:rPr>
                <a:t>lw</a:t>
              </a:r>
              <a:r>
                <a:rPr lang="en-US" altLang="en-US" sz="2000" dirty="0">
                  <a:latin typeface="Times New Roman" panose="02020603050405020304" pitchFamily="18" charset="0"/>
                </a:rPr>
                <a:t> </a:t>
              </a:r>
              <a:r>
                <a:rPr lang="en-US" altLang="en-US" sz="2000" u="sng" dirty="0">
                  <a:latin typeface="Times New Roman" panose="02020603050405020304" pitchFamily="18" charset="0"/>
                </a:rPr>
                <a:t>r1</a:t>
              </a:r>
              <a:r>
                <a:rPr lang="en-US" altLang="en-US" sz="2000" dirty="0">
                  <a:latin typeface="Times New Roman" panose="02020603050405020304" pitchFamily="18" charset="0"/>
                </a:rPr>
                <a:t>, 0(r2)</a:t>
              </a:r>
            </a:p>
          </p:txBody>
        </p:sp>
      </p:grpSp>
      <p:grpSp>
        <p:nvGrpSpPr>
          <p:cNvPr id="201735" name="Group 7">
            <a:extLst>
              <a:ext uri="{FF2B5EF4-FFF2-40B4-BE49-F238E27FC236}">
                <a16:creationId xmlns:a16="http://schemas.microsoft.com/office/drawing/2014/main" id="{4FE76844-1F3D-CA4C-95A8-AAB0774996F7}"/>
              </a:ext>
            </a:extLst>
          </p:cNvPr>
          <p:cNvGrpSpPr>
            <a:grpSpLocks/>
          </p:cNvGrpSpPr>
          <p:nvPr/>
        </p:nvGrpSpPr>
        <p:grpSpPr bwMode="auto">
          <a:xfrm>
            <a:off x="1066800" y="4114800"/>
            <a:ext cx="2693988" cy="854075"/>
            <a:chOff x="672" y="2208"/>
            <a:chExt cx="1697" cy="538"/>
          </a:xfrm>
        </p:grpSpPr>
        <p:grpSp>
          <p:nvGrpSpPr>
            <p:cNvPr id="92204" name="Group 8">
              <a:extLst>
                <a:ext uri="{FF2B5EF4-FFF2-40B4-BE49-F238E27FC236}">
                  <a16:creationId xmlns:a16="http://schemas.microsoft.com/office/drawing/2014/main" id="{AC0FA422-7C27-F34C-986C-9F9539A6921C}"/>
                </a:ext>
              </a:extLst>
            </p:cNvPr>
            <p:cNvGrpSpPr>
              <a:grpSpLocks/>
            </p:cNvGrpSpPr>
            <p:nvPr/>
          </p:nvGrpSpPr>
          <p:grpSpPr bwMode="auto">
            <a:xfrm>
              <a:off x="2016" y="2208"/>
              <a:ext cx="353" cy="506"/>
              <a:chOff x="1632" y="2448"/>
              <a:chExt cx="353" cy="506"/>
            </a:xfrm>
          </p:grpSpPr>
          <p:sp>
            <p:nvSpPr>
              <p:cNvPr id="92206" name="Text Box 9">
                <a:extLst>
                  <a:ext uri="{FF2B5EF4-FFF2-40B4-BE49-F238E27FC236}">
                    <a16:creationId xmlns:a16="http://schemas.microsoft.com/office/drawing/2014/main" id="{0B55CD8C-1409-1B45-8566-223F6A4DE2E7}"/>
                  </a:ext>
                </a:extLst>
              </p:cNvPr>
              <p:cNvSpPr txBox="1">
                <a:spLocks noChangeArrowheads="1"/>
              </p:cNvSpPr>
              <p:nvPr/>
            </p:nvSpPr>
            <p:spPr bwMode="auto">
              <a:xfrm>
                <a:off x="1632" y="244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ID </a:t>
                </a:r>
              </a:p>
            </p:txBody>
          </p:sp>
          <p:sp>
            <p:nvSpPr>
              <p:cNvPr id="92207" name="Text Box 10">
                <a:extLst>
                  <a:ext uri="{FF2B5EF4-FFF2-40B4-BE49-F238E27FC236}">
                    <a16:creationId xmlns:a16="http://schemas.microsoft.com/office/drawing/2014/main" id="{BC06740A-70DB-144B-BDA8-BA90B823DE37}"/>
                  </a:ext>
                </a:extLst>
              </p:cNvPr>
              <p:cNvSpPr txBox="1">
                <a:spLocks noChangeArrowheads="1"/>
              </p:cNvSpPr>
              <p:nvPr/>
            </p:nvSpPr>
            <p:spPr bwMode="auto">
              <a:xfrm>
                <a:off x="1632" y="273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IF </a:t>
                </a:r>
              </a:p>
            </p:txBody>
          </p:sp>
        </p:grpSp>
        <p:sp>
          <p:nvSpPr>
            <p:cNvPr id="92205" name="Text Box 11">
              <a:extLst>
                <a:ext uri="{FF2B5EF4-FFF2-40B4-BE49-F238E27FC236}">
                  <a16:creationId xmlns:a16="http://schemas.microsoft.com/office/drawing/2014/main" id="{21BC7BB0-B829-4A42-9454-5698B3527687}"/>
                </a:ext>
              </a:extLst>
            </p:cNvPr>
            <p:cNvSpPr txBox="1">
              <a:spLocks noChangeArrowheads="1"/>
            </p:cNvSpPr>
            <p:nvPr/>
          </p:nvSpPr>
          <p:spPr bwMode="auto">
            <a:xfrm>
              <a:off x="672" y="2496"/>
              <a:ext cx="9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add r4, </a:t>
              </a:r>
              <a:r>
                <a:rPr lang="en-US" altLang="en-US" sz="2000" u="sng">
                  <a:latin typeface="Times New Roman" panose="02020603050405020304" pitchFamily="18" charset="0"/>
                </a:rPr>
                <a:t>r1</a:t>
              </a:r>
              <a:r>
                <a:rPr lang="en-US" altLang="en-US" sz="2000">
                  <a:latin typeface="Times New Roman" panose="02020603050405020304" pitchFamily="18" charset="0"/>
                </a:rPr>
                <a:t>, r5</a:t>
              </a:r>
            </a:p>
          </p:txBody>
        </p:sp>
      </p:grpSp>
      <p:grpSp>
        <p:nvGrpSpPr>
          <p:cNvPr id="92166" name="Group 12">
            <a:extLst>
              <a:ext uri="{FF2B5EF4-FFF2-40B4-BE49-F238E27FC236}">
                <a16:creationId xmlns:a16="http://schemas.microsoft.com/office/drawing/2014/main" id="{EFD22992-81A4-E247-9A2E-F8F6E335DAE5}"/>
              </a:ext>
            </a:extLst>
          </p:cNvPr>
          <p:cNvGrpSpPr>
            <a:grpSpLocks/>
          </p:cNvGrpSpPr>
          <p:nvPr/>
        </p:nvGrpSpPr>
        <p:grpSpPr bwMode="auto">
          <a:xfrm>
            <a:off x="2590800" y="4038600"/>
            <a:ext cx="5486400" cy="2286000"/>
            <a:chOff x="1248" y="2400"/>
            <a:chExt cx="3456" cy="1440"/>
          </a:xfrm>
        </p:grpSpPr>
        <p:sp>
          <p:nvSpPr>
            <p:cNvPr id="92194" name="Line 13">
              <a:extLst>
                <a:ext uri="{FF2B5EF4-FFF2-40B4-BE49-F238E27FC236}">
                  <a16:creationId xmlns:a16="http://schemas.microsoft.com/office/drawing/2014/main" id="{9B8FCC29-11A8-5A41-AFA5-9F92E5792618}"/>
                </a:ext>
              </a:extLst>
            </p:cNvPr>
            <p:cNvSpPr>
              <a:spLocks noChangeShapeType="1"/>
            </p:cNvSpPr>
            <p:nvPr/>
          </p:nvSpPr>
          <p:spPr bwMode="auto">
            <a:xfrm>
              <a:off x="1632"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2195" name="Line 14">
              <a:extLst>
                <a:ext uri="{FF2B5EF4-FFF2-40B4-BE49-F238E27FC236}">
                  <a16:creationId xmlns:a16="http://schemas.microsoft.com/office/drawing/2014/main" id="{88AF4F1B-4A06-A649-9446-B3DDCE558591}"/>
                </a:ext>
              </a:extLst>
            </p:cNvPr>
            <p:cNvSpPr>
              <a:spLocks noChangeShapeType="1"/>
            </p:cNvSpPr>
            <p:nvPr/>
          </p:nvSpPr>
          <p:spPr bwMode="auto">
            <a:xfrm>
              <a:off x="1248"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2196" name="Line 15">
              <a:extLst>
                <a:ext uri="{FF2B5EF4-FFF2-40B4-BE49-F238E27FC236}">
                  <a16:creationId xmlns:a16="http://schemas.microsoft.com/office/drawing/2014/main" id="{DD0E1A49-61D5-DF44-A284-23F92C532A91}"/>
                </a:ext>
              </a:extLst>
            </p:cNvPr>
            <p:cNvSpPr>
              <a:spLocks noChangeShapeType="1"/>
            </p:cNvSpPr>
            <p:nvPr/>
          </p:nvSpPr>
          <p:spPr bwMode="auto">
            <a:xfrm>
              <a:off x="2400"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2197" name="Line 16">
              <a:extLst>
                <a:ext uri="{FF2B5EF4-FFF2-40B4-BE49-F238E27FC236}">
                  <a16:creationId xmlns:a16="http://schemas.microsoft.com/office/drawing/2014/main" id="{7BBBFA9F-CCF1-C04E-9184-BFB4984BF143}"/>
                </a:ext>
              </a:extLst>
            </p:cNvPr>
            <p:cNvSpPr>
              <a:spLocks noChangeShapeType="1"/>
            </p:cNvSpPr>
            <p:nvPr/>
          </p:nvSpPr>
          <p:spPr bwMode="auto">
            <a:xfrm>
              <a:off x="2016"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2198" name="Line 17">
              <a:extLst>
                <a:ext uri="{FF2B5EF4-FFF2-40B4-BE49-F238E27FC236}">
                  <a16:creationId xmlns:a16="http://schemas.microsoft.com/office/drawing/2014/main" id="{E2444D8C-CC71-964E-B038-F441445137BF}"/>
                </a:ext>
              </a:extLst>
            </p:cNvPr>
            <p:cNvSpPr>
              <a:spLocks noChangeShapeType="1"/>
            </p:cNvSpPr>
            <p:nvPr/>
          </p:nvSpPr>
          <p:spPr bwMode="auto">
            <a:xfrm>
              <a:off x="3168"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2199" name="Line 18">
              <a:extLst>
                <a:ext uri="{FF2B5EF4-FFF2-40B4-BE49-F238E27FC236}">
                  <a16:creationId xmlns:a16="http://schemas.microsoft.com/office/drawing/2014/main" id="{076A71E5-3BA0-814C-AE22-52FFE674285F}"/>
                </a:ext>
              </a:extLst>
            </p:cNvPr>
            <p:cNvSpPr>
              <a:spLocks noChangeShapeType="1"/>
            </p:cNvSpPr>
            <p:nvPr/>
          </p:nvSpPr>
          <p:spPr bwMode="auto">
            <a:xfrm>
              <a:off x="2784"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2200" name="Line 19">
              <a:extLst>
                <a:ext uri="{FF2B5EF4-FFF2-40B4-BE49-F238E27FC236}">
                  <a16:creationId xmlns:a16="http://schemas.microsoft.com/office/drawing/2014/main" id="{48B71367-5A80-4646-85C9-6FFB90E9987B}"/>
                </a:ext>
              </a:extLst>
            </p:cNvPr>
            <p:cNvSpPr>
              <a:spLocks noChangeShapeType="1"/>
            </p:cNvSpPr>
            <p:nvPr/>
          </p:nvSpPr>
          <p:spPr bwMode="auto">
            <a:xfrm>
              <a:off x="3936"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2201" name="Line 20">
              <a:extLst>
                <a:ext uri="{FF2B5EF4-FFF2-40B4-BE49-F238E27FC236}">
                  <a16:creationId xmlns:a16="http://schemas.microsoft.com/office/drawing/2014/main" id="{FC6B0061-551F-B044-89F6-718AE4BE22B9}"/>
                </a:ext>
              </a:extLst>
            </p:cNvPr>
            <p:cNvSpPr>
              <a:spLocks noChangeShapeType="1"/>
            </p:cNvSpPr>
            <p:nvPr/>
          </p:nvSpPr>
          <p:spPr bwMode="auto">
            <a:xfrm>
              <a:off x="3552"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2202" name="Line 21">
              <a:extLst>
                <a:ext uri="{FF2B5EF4-FFF2-40B4-BE49-F238E27FC236}">
                  <a16:creationId xmlns:a16="http://schemas.microsoft.com/office/drawing/2014/main" id="{A21C4338-725A-4441-B901-034A1220BD96}"/>
                </a:ext>
              </a:extLst>
            </p:cNvPr>
            <p:cNvSpPr>
              <a:spLocks noChangeShapeType="1"/>
            </p:cNvSpPr>
            <p:nvPr/>
          </p:nvSpPr>
          <p:spPr bwMode="auto">
            <a:xfrm>
              <a:off x="4704"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92203" name="Line 22">
              <a:extLst>
                <a:ext uri="{FF2B5EF4-FFF2-40B4-BE49-F238E27FC236}">
                  <a16:creationId xmlns:a16="http://schemas.microsoft.com/office/drawing/2014/main" id="{BAD0FF80-058C-894E-B546-28AE51218499}"/>
                </a:ext>
              </a:extLst>
            </p:cNvPr>
            <p:cNvSpPr>
              <a:spLocks noChangeShapeType="1"/>
            </p:cNvSpPr>
            <p:nvPr/>
          </p:nvSpPr>
          <p:spPr bwMode="auto">
            <a:xfrm>
              <a:off x="4320" y="2400"/>
              <a:ext cx="0" cy="144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grpSp>
      <p:grpSp>
        <p:nvGrpSpPr>
          <p:cNvPr id="201751" name="Group 23">
            <a:extLst>
              <a:ext uri="{FF2B5EF4-FFF2-40B4-BE49-F238E27FC236}">
                <a16:creationId xmlns:a16="http://schemas.microsoft.com/office/drawing/2014/main" id="{352F49A3-53E1-6547-AEE4-8FC52656E7F3}"/>
              </a:ext>
            </a:extLst>
          </p:cNvPr>
          <p:cNvGrpSpPr>
            <a:grpSpLocks/>
          </p:cNvGrpSpPr>
          <p:nvPr/>
        </p:nvGrpSpPr>
        <p:grpSpPr bwMode="auto">
          <a:xfrm>
            <a:off x="3810000" y="4114800"/>
            <a:ext cx="560388" cy="1260475"/>
            <a:chOff x="2400" y="2208"/>
            <a:chExt cx="353" cy="794"/>
          </a:xfrm>
        </p:grpSpPr>
        <p:sp>
          <p:nvSpPr>
            <p:cNvPr id="92191" name="Text Box 24">
              <a:extLst>
                <a:ext uri="{FF2B5EF4-FFF2-40B4-BE49-F238E27FC236}">
                  <a16:creationId xmlns:a16="http://schemas.microsoft.com/office/drawing/2014/main" id="{98DF2651-3C74-664B-85C0-27605F7FE405}"/>
                </a:ext>
              </a:extLst>
            </p:cNvPr>
            <p:cNvSpPr txBox="1">
              <a:spLocks noChangeArrowheads="1"/>
            </p:cNvSpPr>
            <p:nvPr/>
          </p:nvSpPr>
          <p:spPr bwMode="auto">
            <a:xfrm>
              <a:off x="2400" y="220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EX </a:t>
              </a:r>
            </a:p>
          </p:txBody>
        </p:sp>
        <p:sp>
          <p:nvSpPr>
            <p:cNvPr id="92192" name="Text Box 25">
              <a:extLst>
                <a:ext uri="{FF2B5EF4-FFF2-40B4-BE49-F238E27FC236}">
                  <a16:creationId xmlns:a16="http://schemas.microsoft.com/office/drawing/2014/main" id="{F67EA9AC-AC51-1F4C-AC32-C9AD959DCF40}"/>
                </a:ext>
              </a:extLst>
            </p:cNvPr>
            <p:cNvSpPr txBox="1">
              <a:spLocks noChangeArrowheads="1"/>
            </p:cNvSpPr>
            <p:nvPr/>
          </p:nvSpPr>
          <p:spPr bwMode="auto">
            <a:xfrm>
              <a:off x="2400" y="249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i="1">
                  <a:latin typeface="Courier" pitchFamily="2" charset="0"/>
                </a:rPr>
                <a:t>ID</a:t>
              </a:r>
              <a:r>
                <a:rPr lang="en-US" altLang="en-US" sz="1600">
                  <a:latin typeface="Courier" pitchFamily="2" charset="0"/>
                </a:rPr>
                <a:t> </a:t>
              </a:r>
            </a:p>
          </p:txBody>
        </p:sp>
        <p:sp>
          <p:nvSpPr>
            <p:cNvPr id="92193" name="Text Box 26">
              <a:extLst>
                <a:ext uri="{FF2B5EF4-FFF2-40B4-BE49-F238E27FC236}">
                  <a16:creationId xmlns:a16="http://schemas.microsoft.com/office/drawing/2014/main" id="{0C9F40CF-DC4C-094B-9BCF-90AF77CED278}"/>
                </a:ext>
              </a:extLst>
            </p:cNvPr>
            <p:cNvSpPr txBox="1">
              <a:spLocks noChangeArrowheads="1"/>
            </p:cNvSpPr>
            <p:nvPr/>
          </p:nvSpPr>
          <p:spPr bwMode="auto">
            <a:xfrm>
              <a:off x="2400" y="278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i="1">
                  <a:latin typeface="Courier" pitchFamily="2" charset="0"/>
                </a:rPr>
                <a:t>IF</a:t>
              </a:r>
              <a:r>
                <a:rPr lang="en-US" altLang="en-US" sz="1600">
                  <a:latin typeface="Courier" pitchFamily="2" charset="0"/>
                </a:rPr>
                <a:t> </a:t>
              </a:r>
            </a:p>
          </p:txBody>
        </p:sp>
      </p:grpSp>
      <p:grpSp>
        <p:nvGrpSpPr>
          <p:cNvPr id="201755" name="Group 27">
            <a:extLst>
              <a:ext uri="{FF2B5EF4-FFF2-40B4-BE49-F238E27FC236}">
                <a16:creationId xmlns:a16="http://schemas.microsoft.com/office/drawing/2014/main" id="{D2B161F9-9CD0-9B4C-8AA1-5784AC6C64E3}"/>
              </a:ext>
            </a:extLst>
          </p:cNvPr>
          <p:cNvGrpSpPr>
            <a:grpSpLocks/>
          </p:cNvGrpSpPr>
          <p:nvPr/>
        </p:nvGrpSpPr>
        <p:grpSpPr bwMode="auto">
          <a:xfrm>
            <a:off x="4343400" y="4114800"/>
            <a:ext cx="795338" cy="1250950"/>
            <a:chOff x="2736" y="2208"/>
            <a:chExt cx="501" cy="788"/>
          </a:xfrm>
        </p:grpSpPr>
        <p:sp>
          <p:nvSpPr>
            <p:cNvPr id="92188" name="Text Box 28">
              <a:extLst>
                <a:ext uri="{FF2B5EF4-FFF2-40B4-BE49-F238E27FC236}">
                  <a16:creationId xmlns:a16="http://schemas.microsoft.com/office/drawing/2014/main" id="{FB02DE16-B868-164E-94F3-C2E186BA2E1E}"/>
                </a:ext>
              </a:extLst>
            </p:cNvPr>
            <p:cNvSpPr txBox="1">
              <a:spLocks noChangeArrowheads="1"/>
            </p:cNvSpPr>
            <p:nvPr/>
          </p:nvSpPr>
          <p:spPr bwMode="auto">
            <a:xfrm>
              <a:off x="2784" y="2208"/>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MEM</a:t>
              </a:r>
            </a:p>
          </p:txBody>
        </p:sp>
        <p:sp>
          <p:nvSpPr>
            <p:cNvPr id="92189" name="Text Box 29">
              <a:extLst>
                <a:ext uri="{FF2B5EF4-FFF2-40B4-BE49-F238E27FC236}">
                  <a16:creationId xmlns:a16="http://schemas.microsoft.com/office/drawing/2014/main" id="{3043AF18-19EB-9F4C-A476-54C505241E73}"/>
                </a:ext>
              </a:extLst>
            </p:cNvPr>
            <p:cNvSpPr txBox="1">
              <a:spLocks noChangeArrowheads="1"/>
            </p:cNvSpPr>
            <p:nvPr/>
          </p:nvSpPr>
          <p:spPr bwMode="auto">
            <a:xfrm>
              <a:off x="2736" y="2496"/>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i="1">
                  <a:latin typeface="Courier" pitchFamily="2" charset="0"/>
                </a:rPr>
                <a:t>stall</a:t>
              </a:r>
            </a:p>
          </p:txBody>
        </p:sp>
        <p:sp>
          <p:nvSpPr>
            <p:cNvPr id="92190" name="Text Box 30">
              <a:extLst>
                <a:ext uri="{FF2B5EF4-FFF2-40B4-BE49-F238E27FC236}">
                  <a16:creationId xmlns:a16="http://schemas.microsoft.com/office/drawing/2014/main" id="{A2FF6888-BC79-E547-9E8F-BB2423B43C4E}"/>
                </a:ext>
              </a:extLst>
            </p:cNvPr>
            <p:cNvSpPr txBox="1">
              <a:spLocks noChangeArrowheads="1"/>
            </p:cNvSpPr>
            <p:nvPr/>
          </p:nvSpPr>
          <p:spPr bwMode="auto">
            <a:xfrm>
              <a:off x="2736" y="2784"/>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i="1">
                  <a:latin typeface="Courier" pitchFamily="2" charset="0"/>
                </a:rPr>
                <a:t>stall</a:t>
              </a:r>
            </a:p>
          </p:txBody>
        </p:sp>
      </p:grpSp>
      <p:grpSp>
        <p:nvGrpSpPr>
          <p:cNvPr id="201759" name="Group 31">
            <a:extLst>
              <a:ext uri="{FF2B5EF4-FFF2-40B4-BE49-F238E27FC236}">
                <a16:creationId xmlns:a16="http://schemas.microsoft.com/office/drawing/2014/main" id="{F3270653-D538-A449-A67B-F21D954F4D7E}"/>
              </a:ext>
            </a:extLst>
          </p:cNvPr>
          <p:cNvGrpSpPr>
            <a:grpSpLocks/>
          </p:cNvGrpSpPr>
          <p:nvPr/>
        </p:nvGrpSpPr>
        <p:grpSpPr bwMode="auto">
          <a:xfrm>
            <a:off x="6248400" y="4572000"/>
            <a:ext cx="560388" cy="803275"/>
            <a:chOff x="4704" y="2496"/>
            <a:chExt cx="353" cy="506"/>
          </a:xfrm>
        </p:grpSpPr>
        <p:sp>
          <p:nvSpPr>
            <p:cNvPr id="92186" name="Text Box 32">
              <a:extLst>
                <a:ext uri="{FF2B5EF4-FFF2-40B4-BE49-F238E27FC236}">
                  <a16:creationId xmlns:a16="http://schemas.microsoft.com/office/drawing/2014/main" id="{E570FA60-921C-A345-864B-4A8A3DF23CF8}"/>
                </a:ext>
              </a:extLst>
            </p:cNvPr>
            <p:cNvSpPr txBox="1">
              <a:spLocks noChangeArrowheads="1"/>
            </p:cNvSpPr>
            <p:nvPr/>
          </p:nvSpPr>
          <p:spPr bwMode="auto">
            <a:xfrm>
              <a:off x="4704" y="249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WB </a:t>
              </a:r>
            </a:p>
          </p:txBody>
        </p:sp>
        <p:sp>
          <p:nvSpPr>
            <p:cNvPr id="92187" name="Text Box 33">
              <a:extLst>
                <a:ext uri="{FF2B5EF4-FFF2-40B4-BE49-F238E27FC236}">
                  <a16:creationId xmlns:a16="http://schemas.microsoft.com/office/drawing/2014/main" id="{7ED3D3A6-9653-E94D-AAB2-D96F90736D93}"/>
                </a:ext>
              </a:extLst>
            </p:cNvPr>
            <p:cNvSpPr txBox="1">
              <a:spLocks noChangeArrowheads="1"/>
            </p:cNvSpPr>
            <p:nvPr/>
          </p:nvSpPr>
          <p:spPr bwMode="auto">
            <a:xfrm>
              <a:off x="4704" y="278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MEM</a:t>
              </a:r>
            </a:p>
          </p:txBody>
        </p:sp>
      </p:grpSp>
      <p:grpSp>
        <p:nvGrpSpPr>
          <p:cNvPr id="201762" name="Group 34">
            <a:extLst>
              <a:ext uri="{FF2B5EF4-FFF2-40B4-BE49-F238E27FC236}">
                <a16:creationId xmlns:a16="http://schemas.microsoft.com/office/drawing/2014/main" id="{97716CDD-A427-F54A-A696-97C98DEF7E02}"/>
              </a:ext>
            </a:extLst>
          </p:cNvPr>
          <p:cNvGrpSpPr>
            <a:grpSpLocks/>
          </p:cNvGrpSpPr>
          <p:nvPr/>
        </p:nvGrpSpPr>
        <p:grpSpPr bwMode="auto">
          <a:xfrm>
            <a:off x="5638800" y="4572000"/>
            <a:ext cx="560388" cy="803275"/>
            <a:chOff x="4320" y="2496"/>
            <a:chExt cx="353" cy="506"/>
          </a:xfrm>
        </p:grpSpPr>
        <p:sp>
          <p:nvSpPr>
            <p:cNvPr id="92184" name="Text Box 35">
              <a:extLst>
                <a:ext uri="{FF2B5EF4-FFF2-40B4-BE49-F238E27FC236}">
                  <a16:creationId xmlns:a16="http://schemas.microsoft.com/office/drawing/2014/main" id="{D7561783-2834-C64E-A0BB-85AE14A7CAC8}"/>
                </a:ext>
              </a:extLst>
            </p:cNvPr>
            <p:cNvSpPr txBox="1">
              <a:spLocks noChangeArrowheads="1"/>
            </p:cNvSpPr>
            <p:nvPr/>
          </p:nvSpPr>
          <p:spPr bwMode="auto">
            <a:xfrm>
              <a:off x="4320" y="249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MEM</a:t>
              </a:r>
            </a:p>
          </p:txBody>
        </p:sp>
        <p:sp>
          <p:nvSpPr>
            <p:cNvPr id="92185" name="Text Box 36">
              <a:extLst>
                <a:ext uri="{FF2B5EF4-FFF2-40B4-BE49-F238E27FC236}">
                  <a16:creationId xmlns:a16="http://schemas.microsoft.com/office/drawing/2014/main" id="{C4876AF1-EACA-824F-9B8E-12BE8E056A70}"/>
                </a:ext>
              </a:extLst>
            </p:cNvPr>
            <p:cNvSpPr txBox="1">
              <a:spLocks noChangeArrowheads="1"/>
            </p:cNvSpPr>
            <p:nvPr/>
          </p:nvSpPr>
          <p:spPr bwMode="auto">
            <a:xfrm>
              <a:off x="4320" y="278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EX </a:t>
              </a:r>
            </a:p>
          </p:txBody>
        </p:sp>
      </p:grpSp>
      <p:grpSp>
        <p:nvGrpSpPr>
          <p:cNvPr id="201765" name="Group 37">
            <a:extLst>
              <a:ext uri="{FF2B5EF4-FFF2-40B4-BE49-F238E27FC236}">
                <a16:creationId xmlns:a16="http://schemas.microsoft.com/office/drawing/2014/main" id="{8F69C685-0F3E-A644-B653-A8057114AF64}"/>
              </a:ext>
            </a:extLst>
          </p:cNvPr>
          <p:cNvGrpSpPr>
            <a:grpSpLocks/>
          </p:cNvGrpSpPr>
          <p:nvPr/>
        </p:nvGrpSpPr>
        <p:grpSpPr bwMode="auto">
          <a:xfrm>
            <a:off x="5041900" y="3276600"/>
            <a:ext cx="2393950" cy="762000"/>
            <a:chOff x="3176" y="2064"/>
            <a:chExt cx="1508" cy="480"/>
          </a:xfrm>
        </p:grpSpPr>
        <p:sp>
          <p:nvSpPr>
            <p:cNvPr id="92182" name="Text Box 38">
              <a:extLst>
                <a:ext uri="{FF2B5EF4-FFF2-40B4-BE49-F238E27FC236}">
                  <a16:creationId xmlns:a16="http://schemas.microsoft.com/office/drawing/2014/main" id="{9A052426-0D07-AE47-9883-B6FACD70D0C1}"/>
                </a:ext>
              </a:extLst>
            </p:cNvPr>
            <p:cNvSpPr txBox="1">
              <a:spLocks noChangeArrowheads="1"/>
            </p:cNvSpPr>
            <p:nvPr/>
          </p:nvSpPr>
          <p:spPr bwMode="auto">
            <a:xfrm>
              <a:off x="3552" y="2064"/>
              <a:ext cx="11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value available</a:t>
              </a:r>
            </a:p>
          </p:txBody>
        </p:sp>
        <p:sp>
          <p:nvSpPr>
            <p:cNvPr id="92183" name="Freeform 39">
              <a:extLst>
                <a:ext uri="{FF2B5EF4-FFF2-40B4-BE49-F238E27FC236}">
                  <a16:creationId xmlns:a16="http://schemas.microsoft.com/office/drawing/2014/main" id="{5D568588-FF8C-9649-9EC2-B698DE05792F}"/>
                </a:ext>
              </a:extLst>
            </p:cNvPr>
            <p:cNvSpPr>
              <a:spLocks/>
            </p:cNvSpPr>
            <p:nvPr/>
          </p:nvSpPr>
          <p:spPr bwMode="auto">
            <a:xfrm flipH="1">
              <a:off x="3176" y="2208"/>
              <a:ext cx="472" cy="336"/>
            </a:xfrm>
            <a:custGeom>
              <a:avLst/>
              <a:gdLst>
                <a:gd name="T0" fmla="*/ 0 w 344"/>
                <a:gd name="T1" fmla="*/ 0 h 336"/>
                <a:gd name="T2" fmla="*/ 1021 w 344"/>
                <a:gd name="T3" fmla="*/ 96 h 336"/>
                <a:gd name="T4" fmla="*/ 1192 w 344"/>
                <a:gd name="T5" fmla="*/ 336 h 336"/>
                <a:gd name="T6" fmla="*/ 0 60000 65536"/>
                <a:gd name="T7" fmla="*/ 0 60000 65536"/>
                <a:gd name="T8" fmla="*/ 0 60000 65536"/>
              </a:gdLst>
              <a:ahLst/>
              <a:cxnLst>
                <a:cxn ang="T6">
                  <a:pos x="T0" y="T1"/>
                </a:cxn>
                <a:cxn ang="T7">
                  <a:pos x="T2" y="T3"/>
                </a:cxn>
                <a:cxn ang="T8">
                  <a:pos x="T4" y="T5"/>
                </a:cxn>
              </a:cxnLst>
              <a:rect l="0" t="0" r="r" b="b"/>
              <a:pathLst>
                <a:path w="344" h="336">
                  <a:moveTo>
                    <a:pt x="0" y="0"/>
                  </a:moveTo>
                  <a:cubicBezTo>
                    <a:pt x="116" y="20"/>
                    <a:pt x="232" y="40"/>
                    <a:pt x="288" y="96"/>
                  </a:cubicBezTo>
                  <a:cubicBezTo>
                    <a:pt x="344" y="152"/>
                    <a:pt x="340" y="244"/>
                    <a:pt x="336" y="336"/>
                  </a:cubicBezTo>
                </a:path>
              </a:pathLst>
            </a:custGeom>
            <a:noFill/>
            <a:ln w="9525" cap="flat" cmpd="sng">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grpSp>
      <p:grpSp>
        <p:nvGrpSpPr>
          <p:cNvPr id="201768" name="Group 40">
            <a:extLst>
              <a:ext uri="{FF2B5EF4-FFF2-40B4-BE49-F238E27FC236}">
                <a16:creationId xmlns:a16="http://schemas.microsoft.com/office/drawing/2014/main" id="{48DE4198-51DD-4645-A2DE-5D8C90B10C3F}"/>
              </a:ext>
            </a:extLst>
          </p:cNvPr>
          <p:cNvGrpSpPr>
            <a:grpSpLocks/>
          </p:cNvGrpSpPr>
          <p:nvPr/>
        </p:nvGrpSpPr>
        <p:grpSpPr bwMode="auto">
          <a:xfrm>
            <a:off x="3276600" y="3200400"/>
            <a:ext cx="1587500" cy="1371600"/>
            <a:chOff x="2064" y="2016"/>
            <a:chExt cx="1000" cy="864"/>
          </a:xfrm>
        </p:grpSpPr>
        <p:sp>
          <p:nvSpPr>
            <p:cNvPr id="92180" name="Text Box 41">
              <a:extLst>
                <a:ext uri="{FF2B5EF4-FFF2-40B4-BE49-F238E27FC236}">
                  <a16:creationId xmlns:a16="http://schemas.microsoft.com/office/drawing/2014/main" id="{73F12636-7A39-D34A-B8F2-4B75CB6C5C89}"/>
                </a:ext>
              </a:extLst>
            </p:cNvPr>
            <p:cNvSpPr txBox="1">
              <a:spLocks noChangeArrowheads="1"/>
            </p:cNvSpPr>
            <p:nvPr/>
          </p:nvSpPr>
          <p:spPr bwMode="auto">
            <a:xfrm>
              <a:off x="2064" y="2016"/>
              <a:ext cx="10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000">
                  <a:latin typeface="Times New Roman" panose="02020603050405020304" pitchFamily="18" charset="0"/>
                </a:rPr>
                <a:t>value needed</a:t>
              </a:r>
            </a:p>
          </p:txBody>
        </p:sp>
        <p:sp>
          <p:nvSpPr>
            <p:cNvPr id="92181" name="Freeform 42">
              <a:extLst>
                <a:ext uri="{FF2B5EF4-FFF2-40B4-BE49-F238E27FC236}">
                  <a16:creationId xmlns:a16="http://schemas.microsoft.com/office/drawing/2014/main" id="{CA8AB064-9ACC-2B4D-9B3B-90DC85A3CCAB}"/>
                </a:ext>
              </a:extLst>
            </p:cNvPr>
            <p:cNvSpPr>
              <a:spLocks/>
            </p:cNvSpPr>
            <p:nvPr/>
          </p:nvSpPr>
          <p:spPr bwMode="auto">
            <a:xfrm>
              <a:off x="2832" y="2184"/>
              <a:ext cx="112" cy="696"/>
            </a:xfrm>
            <a:custGeom>
              <a:avLst/>
              <a:gdLst>
                <a:gd name="T0" fmla="*/ 96 w 112"/>
                <a:gd name="T1" fmla="*/ 24 h 696"/>
                <a:gd name="T2" fmla="*/ 96 w 112"/>
                <a:gd name="T3" fmla="*/ 72 h 696"/>
                <a:gd name="T4" fmla="*/ 96 w 112"/>
                <a:gd name="T5" fmla="*/ 456 h 696"/>
                <a:gd name="T6" fmla="*/ 0 w 112"/>
                <a:gd name="T7" fmla="*/ 696 h 6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2" h="696">
                  <a:moveTo>
                    <a:pt x="96" y="24"/>
                  </a:moveTo>
                  <a:cubicBezTo>
                    <a:pt x="96" y="12"/>
                    <a:pt x="96" y="0"/>
                    <a:pt x="96" y="72"/>
                  </a:cubicBezTo>
                  <a:cubicBezTo>
                    <a:pt x="96" y="144"/>
                    <a:pt x="112" y="352"/>
                    <a:pt x="96" y="456"/>
                  </a:cubicBezTo>
                  <a:cubicBezTo>
                    <a:pt x="80" y="560"/>
                    <a:pt x="40" y="628"/>
                    <a:pt x="0" y="696"/>
                  </a:cubicBezTo>
                </a:path>
              </a:pathLst>
            </a:custGeom>
            <a:noFill/>
            <a:ln w="9525" cap="flat" cmpd="sng">
              <a:solidFill>
                <a:schemeClr val="tx1"/>
              </a:solidFill>
              <a:prstDash val="solid"/>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grpSp>
        <p:nvGrpSpPr>
          <p:cNvPr id="201771" name="Group 43">
            <a:extLst>
              <a:ext uri="{FF2B5EF4-FFF2-40B4-BE49-F238E27FC236}">
                <a16:creationId xmlns:a16="http://schemas.microsoft.com/office/drawing/2014/main" id="{14CBA129-D079-3847-B232-5DC54DF8ED59}"/>
              </a:ext>
            </a:extLst>
          </p:cNvPr>
          <p:cNvGrpSpPr>
            <a:grpSpLocks/>
          </p:cNvGrpSpPr>
          <p:nvPr/>
        </p:nvGrpSpPr>
        <p:grpSpPr bwMode="auto">
          <a:xfrm>
            <a:off x="4953000" y="3733800"/>
            <a:ext cx="674688" cy="1641475"/>
            <a:chOff x="3120" y="2352"/>
            <a:chExt cx="425" cy="1034"/>
          </a:xfrm>
        </p:grpSpPr>
        <p:sp>
          <p:nvSpPr>
            <p:cNvPr id="92174" name="Text Box 44">
              <a:extLst>
                <a:ext uri="{FF2B5EF4-FFF2-40B4-BE49-F238E27FC236}">
                  <a16:creationId xmlns:a16="http://schemas.microsoft.com/office/drawing/2014/main" id="{B6DFE939-7CDA-CD47-994E-C5B9BC96E2CF}"/>
                </a:ext>
              </a:extLst>
            </p:cNvPr>
            <p:cNvSpPr txBox="1">
              <a:spLocks noChangeArrowheads="1"/>
            </p:cNvSpPr>
            <p:nvPr/>
          </p:nvSpPr>
          <p:spPr bwMode="auto">
            <a:xfrm>
              <a:off x="3168" y="2592"/>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WB </a:t>
              </a:r>
            </a:p>
          </p:txBody>
        </p:sp>
        <p:grpSp>
          <p:nvGrpSpPr>
            <p:cNvPr id="92175" name="Group 45">
              <a:extLst>
                <a:ext uri="{FF2B5EF4-FFF2-40B4-BE49-F238E27FC236}">
                  <a16:creationId xmlns:a16="http://schemas.microsoft.com/office/drawing/2014/main" id="{B80DAFF7-E8E0-B542-87D5-843A33BCDE9F}"/>
                </a:ext>
              </a:extLst>
            </p:cNvPr>
            <p:cNvGrpSpPr>
              <a:grpSpLocks/>
            </p:cNvGrpSpPr>
            <p:nvPr/>
          </p:nvGrpSpPr>
          <p:grpSpPr bwMode="auto">
            <a:xfrm>
              <a:off x="3168" y="2880"/>
              <a:ext cx="353" cy="506"/>
              <a:chOff x="3936" y="2496"/>
              <a:chExt cx="353" cy="506"/>
            </a:xfrm>
          </p:grpSpPr>
          <p:sp>
            <p:nvSpPr>
              <p:cNvPr id="92178" name="Text Box 46">
                <a:extLst>
                  <a:ext uri="{FF2B5EF4-FFF2-40B4-BE49-F238E27FC236}">
                    <a16:creationId xmlns:a16="http://schemas.microsoft.com/office/drawing/2014/main" id="{B8ADCD07-05B0-5B4F-AA87-144E8618E5CB}"/>
                  </a:ext>
                </a:extLst>
              </p:cNvPr>
              <p:cNvSpPr txBox="1">
                <a:spLocks noChangeArrowheads="1"/>
              </p:cNvSpPr>
              <p:nvPr/>
            </p:nvSpPr>
            <p:spPr bwMode="auto">
              <a:xfrm>
                <a:off x="3936" y="2496"/>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EX </a:t>
                </a:r>
              </a:p>
            </p:txBody>
          </p:sp>
          <p:sp>
            <p:nvSpPr>
              <p:cNvPr id="92179" name="Text Box 47">
                <a:extLst>
                  <a:ext uri="{FF2B5EF4-FFF2-40B4-BE49-F238E27FC236}">
                    <a16:creationId xmlns:a16="http://schemas.microsoft.com/office/drawing/2014/main" id="{598F1D04-7C2C-3F45-970E-200BCF2A7339}"/>
                  </a:ext>
                </a:extLst>
              </p:cNvPr>
              <p:cNvSpPr txBox="1">
                <a:spLocks noChangeArrowheads="1"/>
              </p:cNvSpPr>
              <p:nvPr/>
            </p:nvSpPr>
            <p:spPr bwMode="auto">
              <a:xfrm>
                <a:off x="3936" y="2784"/>
                <a:ext cx="35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1600">
                    <a:latin typeface="Courier" pitchFamily="2" charset="0"/>
                  </a:rPr>
                  <a:t>ID </a:t>
                </a:r>
              </a:p>
            </p:txBody>
          </p:sp>
        </p:grpSp>
        <p:sp>
          <p:nvSpPr>
            <p:cNvPr id="92176" name="Line 48">
              <a:extLst>
                <a:ext uri="{FF2B5EF4-FFF2-40B4-BE49-F238E27FC236}">
                  <a16:creationId xmlns:a16="http://schemas.microsoft.com/office/drawing/2014/main" id="{9E9F0027-89B8-D74B-AFA5-3E05F2C85B76}"/>
                </a:ext>
              </a:extLst>
            </p:cNvPr>
            <p:cNvSpPr>
              <a:spLocks noChangeShapeType="1"/>
            </p:cNvSpPr>
            <p:nvPr/>
          </p:nvSpPr>
          <p:spPr bwMode="auto">
            <a:xfrm>
              <a:off x="3120" y="2688"/>
              <a:ext cx="96" cy="24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177" name="Text Box 49">
              <a:extLst>
                <a:ext uri="{FF2B5EF4-FFF2-40B4-BE49-F238E27FC236}">
                  <a16:creationId xmlns:a16="http://schemas.microsoft.com/office/drawing/2014/main" id="{73F30261-837E-7E41-88BB-96CEE0797E28}"/>
                </a:ext>
              </a:extLst>
            </p:cNvPr>
            <p:cNvSpPr txBox="1">
              <a:spLocks noChangeArrowheads="1"/>
            </p:cNvSpPr>
            <p:nvPr/>
          </p:nvSpPr>
          <p:spPr bwMode="auto">
            <a:xfrm>
              <a:off x="3177" y="2352"/>
              <a:ext cx="3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lgn="ctr" eaLnBrk="1" hangingPunct="1">
                <a:spcBef>
                  <a:spcPct val="0"/>
                </a:spcBef>
                <a:buClrTx/>
                <a:buSzTx/>
                <a:buFontTx/>
                <a:buNone/>
              </a:pPr>
              <a:r>
                <a:rPr lang="en-US" altLang="en-US" sz="2400">
                  <a:latin typeface="Times New Roman" panose="02020603050405020304" pitchFamily="18" charset="0"/>
                </a:rPr>
                <a:t>byp 2</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017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0173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0175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0175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0177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20176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20175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201768"/>
                                        </p:tgtEl>
                                        <p:attrNameLst>
                                          <p:attrName>style.visibility</p:attrName>
                                        </p:attrNameLst>
                                      </p:cBhvr>
                                      <p:to>
                                        <p:strVal val="visible"/>
                                      </p:to>
                                    </p:set>
                                    <p:animEffect transition="in" filter="dissolve">
                                      <p:cBhvr>
                                        <p:cTn id="35" dur="500"/>
                                        <p:tgtEl>
                                          <p:spTgt spid="20176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201765"/>
                                        </p:tgtEl>
                                        <p:attrNameLst>
                                          <p:attrName>style.visibility</p:attrName>
                                        </p:attrNameLst>
                                      </p:cBhvr>
                                      <p:to>
                                        <p:strVal val="visible"/>
                                      </p:to>
                                    </p:set>
                                    <p:animEffect transition="in" filter="dissolve">
                                      <p:cBhvr>
                                        <p:cTn id="40" dur="500"/>
                                        <p:tgtEl>
                                          <p:spTgt spid="201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61B4E25D-8BC1-084C-A0C5-B65D48669638}"/>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Other data hazards</a:t>
            </a:r>
          </a:p>
        </p:txBody>
      </p:sp>
      <p:sp>
        <p:nvSpPr>
          <p:cNvPr id="202755" name="Rectangle 3">
            <a:extLst>
              <a:ext uri="{FF2B5EF4-FFF2-40B4-BE49-F238E27FC236}">
                <a16:creationId xmlns:a16="http://schemas.microsoft.com/office/drawing/2014/main" id="{407E4BA1-3428-0A40-AF54-EC07AE648F4B}"/>
              </a:ext>
            </a:extLst>
          </p:cNvPr>
          <p:cNvSpPr>
            <a:spLocks noGrp="1" noChangeArrowheads="1"/>
          </p:cNvSpPr>
          <p:nvPr>
            <p:ph idx="1"/>
          </p:nvPr>
        </p:nvSpPr>
        <p:spPr/>
        <p:txBody>
          <a:bodyPr/>
          <a:lstStyle/>
          <a:p>
            <a:pPr marL="342900" indent="-342900"/>
            <a:r>
              <a:rPr lang="en-US" altLang="en-US" sz="3200"/>
              <a:t>WAR (write-after-read)</a:t>
            </a:r>
          </a:p>
          <a:p>
            <a:pPr marL="742950" lvl="1"/>
            <a:r>
              <a:rPr lang="en-US" altLang="en-US"/>
              <a:t>A  r1, </a:t>
            </a:r>
            <a:r>
              <a:rPr lang="en-US" altLang="en-US" u="sng"/>
              <a:t>r2</a:t>
            </a:r>
            <a:r>
              <a:rPr lang="en-US" altLang="en-US"/>
              <a:t>, r3</a:t>
            </a:r>
          </a:p>
          <a:p>
            <a:pPr marL="742950" lvl="1"/>
            <a:r>
              <a:rPr lang="en-US" altLang="en-US"/>
              <a:t>B  </a:t>
            </a:r>
            <a:r>
              <a:rPr lang="en-US" altLang="en-US" u="sng"/>
              <a:t>r2</a:t>
            </a:r>
            <a:r>
              <a:rPr lang="en-US" altLang="en-US"/>
              <a:t>, r4, r5</a:t>
            </a:r>
          </a:p>
          <a:p>
            <a:pPr marL="742950" lvl="1"/>
            <a:r>
              <a:rPr lang="en-US" altLang="en-US"/>
              <a:t>Hazard if B writes R2 before A reads R2</a:t>
            </a:r>
          </a:p>
          <a:p>
            <a:pPr marL="742950" lvl="1"/>
            <a:r>
              <a:rPr lang="en-US" altLang="en-US"/>
              <a:t>Doesn</a:t>
            </a:r>
            <a:r>
              <a:rPr lang="ja-JP" altLang="en-US"/>
              <a:t>’</a:t>
            </a:r>
            <a:r>
              <a:rPr lang="en-US" altLang="ja-JP"/>
              <a:t>t happen in simple DLX pipeline, but can in others</a:t>
            </a:r>
          </a:p>
          <a:p>
            <a:pPr lvl="2"/>
            <a:r>
              <a:rPr lang="en-US" altLang="en-US" sz="2400"/>
              <a:t>E.g., occurs if pipeline allows late register reads</a:t>
            </a:r>
          </a:p>
        </p:txBody>
      </p:sp>
      <p:sp>
        <p:nvSpPr>
          <p:cNvPr id="202756" name="Rectangle 4">
            <a:extLst>
              <a:ext uri="{FF2B5EF4-FFF2-40B4-BE49-F238E27FC236}">
                <a16:creationId xmlns:a16="http://schemas.microsoft.com/office/drawing/2014/main" id="{B56C2100-7511-BE49-9D25-887D1BE7E106}"/>
              </a:ext>
            </a:extLst>
          </p:cNvPr>
          <p:cNvSpPr>
            <a:spLocks noChangeArrowheads="1"/>
          </p:cNvSpPr>
          <p:nvPr/>
        </p:nvSpPr>
        <p:spPr bwMode="auto">
          <a:xfrm>
            <a:off x="1143000" y="5410200"/>
            <a:ext cx="7862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SW 0(R2), </a:t>
            </a:r>
            <a:r>
              <a:rPr lang="en-US" altLang="en-US" sz="1400" u="sng">
                <a:latin typeface="Arial" panose="020B0604020202020204" pitchFamily="34" charset="0"/>
              </a:rPr>
              <a:t>R1</a:t>
            </a:r>
            <a:r>
              <a:rPr lang="en-US" altLang="en-US" sz="1400">
                <a:latin typeface="Arial" panose="020B0604020202020204" pitchFamily="34" charset="0"/>
              </a:rPr>
              <a:t>	IF	ID	EX	MEM1	MEM2	MEM3	WB</a:t>
            </a:r>
          </a:p>
          <a:p>
            <a:pPr>
              <a:spcBef>
                <a:spcPct val="0"/>
              </a:spcBef>
              <a:buClrTx/>
              <a:buSzTx/>
              <a:buFontTx/>
              <a:buNone/>
            </a:pPr>
            <a:r>
              <a:rPr lang="en-US" altLang="en-US" sz="1400">
                <a:latin typeface="Arial" panose="020B0604020202020204" pitchFamily="34" charset="0"/>
              </a:rPr>
              <a:t>ADD </a:t>
            </a:r>
            <a:r>
              <a:rPr lang="en-US" altLang="en-US" sz="1400" u="sng">
                <a:latin typeface="Arial" panose="020B0604020202020204" pitchFamily="34" charset="0"/>
              </a:rPr>
              <a:t>R1</a:t>
            </a:r>
            <a:r>
              <a:rPr lang="en-US" altLang="en-US" sz="1400">
                <a:latin typeface="Arial" panose="020B0604020202020204" pitchFamily="34" charset="0"/>
              </a:rPr>
              <a:t>, R3, R4		IF	ID	EX	WB</a:t>
            </a:r>
          </a:p>
        </p:txBody>
      </p:sp>
      <p:grpSp>
        <p:nvGrpSpPr>
          <p:cNvPr id="202757" name="Group 5">
            <a:extLst>
              <a:ext uri="{FF2B5EF4-FFF2-40B4-BE49-F238E27FC236}">
                <a16:creationId xmlns:a16="http://schemas.microsoft.com/office/drawing/2014/main" id="{7E60B78C-F6DC-F945-966A-0EBD7AC26AFF}"/>
              </a:ext>
            </a:extLst>
          </p:cNvPr>
          <p:cNvGrpSpPr>
            <a:grpSpLocks/>
          </p:cNvGrpSpPr>
          <p:nvPr/>
        </p:nvGrpSpPr>
        <p:grpSpPr bwMode="auto">
          <a:xfrm>
            <a:off x="6157913" y="5537200"/>
            <a:ext cx="1819275" cy="866775"/>
            <a:chOff x="3879" y="3488"/>
            <a:chExt cx="1146" cy="546"/>
          </a:xfrm>
        </p:grpSpPr>
        <p:sp>
          <p:nvSpPr>
            <p:cNvPr id="93194" name="Rectangle 6">
              <a:extLst>
                <a:ext uri="{FF2B5EF4-FFF2-40B4-BE49-F238E27FC236}">
                  <a16:creationId xmlns:a16="http://schemas.microsoft.com/office/drawing/2014/main" id="{CDDB414E-EC1B-8740-8855-7EEE2845E6BA}"/>
                </a:ext>
              </a:extLst>
            </p:cNvPr>
            <p:cNvSpPr>
              <a:spLocks noChangeArrowheads="1"/>
            </p:cNvSpPr>
            <p:nvPr/>
          </p:nvSpPr>
          <p:spPr bwMode="auto">
            <a:xfrm>
              <a:off x="3879" y="3840"/>
              <a:ext cx="11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i="1" u="sng">
                  <a:latin typeface="Arial" panose="020B0604020202020204" pitchFamily="34" charset="0"/>
                </a:rPr>
                <a:t>writes R1 during WB</a:t>
              </a:r>
            </a:p>
          </p:txBody>
        </p:sp>
        <p:sp>
          <p:nvSpPr>
            <p:cNvPr id="93195" name="Oval 7">
              <a:extLst>
                <a:ext uri="{FF2B5EF4-FFF2-40B4-BE49-F238E27FC236}">
                  <a16:creationId xmlns:a16="http://schemas.microsoft.com/office/drawing/2014/main" id="{5B371E73-58C2-3646-B1BE-A8669F038159}"/>
                </a:ext>
              </a:extLst>
            </p:cNvPr>
            <p:cNvSpPr>
              <a:spLocks noChangeArrowheads="1"/>
            </p:cNvSpPr>
            <p:nvPr/>
          </p:nvSpPr>
          <p:spPr bwMode="auto">
            <a:xfrm>
              <a:off x="4080" y="3488"/>
              <a:ext cx="432" cy="27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93196" name="Line 8">
              <a:extLst>
                <a:ext uri="{FF2B5EF4-FFF2-40B4-BE49-F238E27FC236}">
                  <a16:creationId xmlns:a16="http://schemas.microsoft.com/office/drawing/2014/main" id="{49B77625-E7E4-D04D-AEDD-F7E78B851F85}"/>
                </a:ext>
              </a:extLst>
            </p:cNvPr>
            <p:cNvSpPr>
              <a:spLocks noChangeShapeType="1"/>
            </p:cNvSpPr>
            <p:nvPr/>
          </p:nvSpPr>
          <p:spPr bwMode="auto">
            <a:xfrm>
              <a:off x="4320" y="3696"/>
              <a:ext cx="9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202761" name="Group 9">
            <a:extLst>
              <a:ext uri="{FF2B5EF4-FFF2-40B4-BE49-F238E27FC236}">
                <a16:creationId xmlns:a16="http://schemas.microsoft.com/office/drawing/2014/main" id="{C3B71E18-4CD7-5B4B-8AFF-EDC3DE2D55FC}"/>
              </a:ext>
            </a:extLst>
          </p:cNvPr>
          <p:cNvGrpSpPr>
            <a:grpSpLocks/>
          </p:cNvGrpSpPr>
          <p:nvPr/>
        </p:nvGrpSpPr>
        <p:grpSpPr bwMode="auto">
          <a:xfrm>
            <a:off x="6684963" y="4953000"/>
            <a:ext cx="2097087" cy="788988"/>
            <a:chOff x="4211" y="3120"/>
            <a:chExt cx="1321" cy="497"/>
          </a:xfrm>
        </p:grpSpPr>
        <p:sp>
          <p:nvSpPr>
            <p:cNvPr id="93191" name="Rectangle 10">
              <a:extLst>
                <a:ext uri="{FF2B5EF4-FFF2-40B4-BE49-F238E27FC236}">
                  <a16:creationId xmlns:a16="http://schemas.microsoft.com/office/drawing/2014/main" id="{1AAFFD62-55F9-9941-AFFB-64147FB581AD}"/>
                </a:ext>
              </a:extLst>
            </p:cNvPr>
            <p:cNvSpPr>
              <a:spLocks noChangeArrowheads="1"/>
            </p:cNvSpPr>
            <p:nvPr/>
          </p:nvSpPr>
          <p:spPr bwMode="auto">
            <a:xfrm>
              <a:off x="4211" y="3120"/>
              <a:ext cx="132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i="1" u="sng">
                  <a:latin typeface="Arial" panose="020B0604020202020204" pitchFamily="34" charset="0"/>
                </a:rPr>
                <a:t>Reads R1 during MEM3</a:t>
              </a:r>
            </a:p>
          </p:txBody>
        </p:sp>
        <p:sp>
          <p:nvSpPr>
            <p:cNvPr id="93192" name="Oval 11">
              <a:extLst>
                <a:ext uri="{FF2B5EF4-FFF2-40B4-BE49-F238E27FC236}">
                  <a16:creationId xmlns:a16="http://schemas.microsoft.com/office/drawing/2014/main" id="{19DF7093-2FFF-654E-AC74-3D1178B0575C}"/>
                </a:ext>
              </a:extLst>
            </p:cNvPr>
            <p:cNvSpPr>
              <a:spLocks noChangeArrowheads="1"/>
            </p:cNvSpPr>
            <p:nvPr/>
          </p:nvSpPr>
          <p:spPr bwMode="auto">
            <a:xfrm>
              <a:off x="4704" y="3344"/>
              <a:ext cx="528" cy="27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93193" name="Line 12">
              <a:extLst>
                <a:ext uri="{FF2B5EF4-FFF2-40B4-BE49-F238E27FC236}">
                  <a16:creationId xmlns:a16="http://schemas.microsoft.com/office/drawing/2014/main" id="{837C80D2-2AD6-1A45-875C-8929F15F439D}"/>
                </a:ext>
              </a:extLst>
            </p:cNvPr>
            <p:cNvSpPr>
              <a:spLocks noChangeShapeType="1"/>
            </p:cNvSpPr>
            <p:nvPr/>
          </p:nvSpPr>
          <p:spPr bwMode="auto">
            <a:xfrm flipV="1">
              <a:off x="4944" y="3264"/>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27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27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275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275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275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202755">
                                            <p:txEl>
                                              <p:pRg st="5" end="5"/>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20275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202757"/>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2027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build="p" bldLvl="2" autoUpdateAnimBg="0"/>
      <p:bldP spid="202756"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5A0A43E8-1CDF-0944-8BEF-7EFBF81E6666}"/>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charset="0"/>
              </a:rPr>
              <a:t>Other data hazards (cont.)</a:t>
            </a:r>
          </a:p>
        </p:txBody>
      </p:sp>
      <p:sp>
        <p:nvSpPr>
          <p:cNvPr id="203779" name="Rectangle 3">
            <a:extLst>
              <a:ext uri="{FF2B5EF4-FFF2-40B4-BE49-F238E27FC236}">
                <a16:creationId xmlns:a16="http://schemas.microsoft.com/office/drawing/2014/main" id="{61C21E28-1DE1-1645-97F1-692758403744}"/>
              </a:ext>
            </a:extLst>
          </p:cNvPr>
          <p:cNvSpPr>
            <a:spLocks noGrp="1" noChangeArrowheads="1"/>
          </p:cNvSpPr>
          <p:nvPr>
            <p:ph idx="1"/>
          </p:nvPr>
        </p:nvSpPr>
        <p:spPr/>
        <p:txBody>
          <a:bodyPr/>
          <a:lstStyle/>
          <a:p>
            <a:pPr marL="342900" indent="-342900"/>
            <a:r>
              <a:rPr lang="en-US" altLang="en-US" sz="3200"/>
              <a:t>WAW (write-after-write)</a:t>
            </a:r>
          </a:p>
          <a:p>
            <a:pPr marL="742950" lvl="1"/>
            <a:r>
              <a:rPr lang="en-US" altLang="en-US" sz="2000"/>
              <a:t>A  </a:t>
            </a:r>
            <a:r>
              <a:rPr lang="en-US" altLang="en-US" sz="2000" u="sng"/>
              <a:t>r1</a:t>
            </a:r>
            <a:r>
              <a:rPr lang="en-US" altLang="en-US" sz="2000"/>
              <a:t>, r2, r3</a:t>
            </a:r>
          </a:p>
          <a:p>
            <a:pPr marL="742950" lvl="1"/>
            <a:r>
              <a:rPr lang="en-US" altLang="en-US" sz="2000"/>
              <a:t>B  </a:t>
            </a:r>
            <a:r>
              <a:rPr lang="en-US" altLang="en-US" sz="2000" u="sng"/>
              <a:t>r1</a:t>
            </a:r>
            <a:r>
              <a:rPr lang="en-US" altLang="en-US" sz="2000"/>
              <a:t>, r4, r5</a:t>
            </a:r>
          </a:p>
          <a:p>
            <a:pPr marL="742950" lvl="1"/>
            <a:r>
              <a:rPr lang="en-US" altLang="en-US" sz="2000"/>
              <a:t>Hazard if B writes R1 before A writes R1</a:t>
            </a:r>
          </a:p>
          <a:p>
            <a:pPr marL="742950" lvl="1"/>
            <a:r>
              <a:rPr lang="en-US" altLang="en-US" sz="2000"/>
              <a:t>Result: later instructions see wrong value in the register</a:t>
            </a:r>
          </a:p>
          <a:p>
            <a:pPr marL="742950" lvl="1"/>
            <a:r>
              <a:rPr lang="en-US" altLang="en-US" sz="2000"/>
              <a:t>Occurs if instructions can write register file out-of-order</a:t>
            </a:r>
          </a:p>
          <a:p>
            <a:pPr marL="742950" lvl="1"/>
            <a:r>
              <a:rPr lang="en-US" altLang="en-US" sz="2000"/>
              <a:t>This also doesn</a:t>
            </a:r>
            <a:r>
              <a:rPr lang="ja-JP" altLang="en-US" sz="2000"/>
              <a:t>’</a:t>
            </a:r>
            <a:r>
              <a:rPr lang="en-US" altLang="ja-JP" sz="2000"/>
              <a:t>t happen in simple DLX pipeline, but can in others:</a:t>
            </a:r>
            <a:endParaRPr lang="en-US" altLang="en-US"/>
          </a:p>
        </p:txBody>
      </p:sp>
      <p:sp>
        <p:nvSpPr>
          <p:cNvPr id="203780" name="Rectangle 4">
            <a:extLst>
              <a:ext uri="{FF2B5EF4-FFF2-40B4-BE49-F238E27FC236}">
                <a16:creationId xmlns:a16="http://schemas.microsoft.com/office/drawing/2014/main" id="{EB3E22B5-E432-C347-9028-507350717EF6}"/>
              </a:ext>
            </a:extLst>
          </p:cNvPr>
          <p:cNvSpPr>
            <a:spLocks noChangeArrowheads="1"/>
          </p:cNvSpPr>
          <p:nvPr/>
        </p:nvSpPr>
        <p:spPr bwMode="auto">
          <a:xfrm>
            <a:off x="914400" y="5470525"/>
            <a:ext cx="69389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a:latin typeface="Arial" panose="020B0604020202020204" pitchFamily="34" charset="0"/>
              </a:rPr>
              <a:t>LW </a:t>
            </a:r>
            <a:r>
              <a:rPr lang="en-US" altLang="en-US" sz="1400" u="sng">
                <a:latin typeface="Arial" panose="020B0604020202020204" pitchFamily="34" charset="0"/>
              </a:rPr>
              <a:t>R1</a:t>
            </a:r>
            <a:r>
              <a:rPr lang="en-US" altLang="en-US" sz="1400">
                <a:latin typeface="Arial" panose="020B0604020202020204" pitchFamily="34" charset="0"/>
              </a:rPr>
              <a:t>, 0(R2)	IF	ID	EX	MEM1	MEM2	WB</a:t>
            </a:r>
          </a:p>
          <a:p>
            <a:pPr>
              <a:spcBef>
                <a:spcPct val="0"/>
              </a:spcBef>
              <a:buClrTx/>
              <a:buSzTx/>
              <a:buFontTx/>
              <a:buNone/>
            </a:pPr>
            <a:r>
              <a:rPr lang="en-US" altLang="en-US" sz="1400">
                <a:latin typeface="Arial" panose="020B0604020202020204" pitchFamily="34" charset="0"/>
              </a:rPr>
              <a:t>ADD </a:t>
            </a:r>
            <a:r>
              <a:rPr lang="en-US" altLang="en-US" sz="1400" u="sng">
                <a:latin typeface="Arial" panose="020B0604020202020204" pitchFamily="34" charset="0"/>
              </a:rPr>
              <a:t>R1</a:t>
            </a:r>
            <a:r>
              <a:rPr lang="en-US" altLang="en-US" sz="1400">
                <a:latin typeface="Arial" panose="020B0604020202020204" pitchFamily="34" charset="0"/>
              </a:rPr>
              <a:t>, R2, R3		IF	ID	EX	WB</a:t>
            </a:r>
          </a:p>
        </p:txBody>
      </p:sp>
      <p:grpSp>
        <p:nvGrpSpPr>
          <p:cNvPr id="203781" name="Group 5">
            <a:extLst>
              <a:ext uri="{FF2B5EF4-FFF2-40B4-BE49-F238E27FC236}">
                <a16:creationId xmlns:a16="http://schemas.microsoft.com/office/drawing/2014/main" id="{B7317577-5944-D742-A8A2-C40A0827E204}"/>
              </a:ext>
            </a:extLst>
          </p:cNvPr>
          <p:cNvGrpSpPr>
            <a:grpSpLocks/>
          </p:cNvGrpSpPr>
          <p:nvPr/>
        </p:nvGrpSpPr>
        <p:grpSpPr bwMode="auto">
          <a:xfrm>
            <a:off x="6553200" y="5029200"/>
            <a:ext cx="2046288" cy="788988"/>
            <a:chOff x="4128" y="3168"/>
            <a:chExt cx="1289" cy="497"/>
          </a:xfrm>
        </p:grpSpPr>
        <p:sp>
          <p:nvSpPr>
            <p:cNvPr id="94218" name="Rectangle 6">
              <a:extLst>
                <a:ext uri="{FF2B5EF4-FFF2-40B4-BE49-F238E27FC236}">
                  <a16:creationId xmlns:a16="http://schemas.microsoft.com/office/drawing/2014/main" id="{4BA40595-6C46-634D-A489-A7FB09B9DDF4}"/>
                </a:ext>
              </a:extLst>
            </p:cNvPr>
            <p:cNvSpPr>
              <a:spLocks noChangeArrowheads="1"/>
            </p:cNvSpPr>
            <p:nvPr/>
          </p:nvSpPr>
          <p:spPr bwMode="auto">
            <a:xfrm>
              <a:off x="4128" y="3168"/>
              <a:ext cx="128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i="1" u="sng">
                  <a:latin typeface="Arial" panose="020B0604020202020204" pitchFamily="34" charset="0"/>
                </a:rPr>
                <a:t>writes 1st version of R1</a:t>
              </a:r>
            </a:p>
          </p:txBody>
        </p:sp>
        <p:sp>
          <p:nvSpPr>
            <p:cNvPr id="94219" name="Oval 7">
              <a:extLst>
                <a:ext uri="{FF2B5EF4-FFF2-40B4-BE49-F238E27FC236}">
                  <a16:creationId xmlns:a16="http://schemas.microsoft.com/office/drawing/2014/main" id="{22AD5F63-8FF2-1244-985F-9819D97D25B5}"/>
                </a:ext>
              </a:extLst>
            </p:cNvPr>
            <p:cNvSpPr>
              <a:spLocks noChangeArrowheads="1"/>
            </p:cNvSpPr>
            <p:nvPr/>
          </p:nvSpPr>
          <p:spPr bwMode="auto">
            <a:xfrm>
              <a:off x="4512" y="3392"/>
              <a:ext cx="432" cy="27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94220" name="Line 8">
              <a:extLst>
                <a:ext uri="{FF2B5EF4-FFF2-40B4-BE49-F238E27FC236}">
                  <a16:creationId xmlns:a16="http://schemas.microsoft.com/office/drawing/2014/main" id="{8DE78737-9FCE-9E47-8D32-8289DEC10935}"/>
                </a:ext>
              </a:extLst>
            </p:cNvPr>
            <p:cNvSpPr>
              <a:spLocks noChangeShapeType="1"/>
            </p:cNvSpPr>
            <p:nvPr/>
          </p:nvSpPr>
          <p:spPr bwMode="auto">
            <a:xfrm flipV="1">
              <a:off x="4752" y="3312"/>
              <a:ext cx="48"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203785" name="Group 9">
            <a:extLst>
              <a:ext uri="{FF2B5EF4-FFF2-40B4-BE49-F238E27FC236}">
                <a16:creationId xmlns:a16="http://schemas.microsoft.com/office/drawing/2014/main" id="{4FD59D50-07D0-C941-BB98-6B38D682DA21}"/>
              </a:ext>
            </a:extLst>
          </p:cNvPr>
          <p:cNvGrpSpPr>
            <a:grpSpLocks/>
          </p:cNvGrpSpPr>
          <p:nvPr/>
        </p:nvGrpSpPr>
        <p:grpSpPr bwMode="auto">
          <a:xfrm>
            <a:off x="6019800" y="5613400"/>
            <a:ext cx="2106613" cy="714375"/>
            <a:chOff x="3792" y="3536"/>
            <a:chExt cx="1327" cy="450"/>
          </a:xfrm>
        </p:grpSpPr>
        <p:sp>
          <p:nvSpPr>
            <p:cNvPr id="94215" name="Rectangle 10">
              <a:extLst>
                <a:ext uri="{FF2B5EF4-FFF2-40B4-BE49-F238E27FC236}">
                  <a16:creationId xmlns:a16="http://schemas.microsoft.com/office/drawing/2014/main" id="{E6C6E412-7719-3943-A283-200B5C2F003C}"/>
                </a:ext>
              </a:extLst>
            </p:cNvPr>
            <p:cNvSpPr>
              <a:spLocks noChangeArrowheads="1"/>
            </p:cNvSpPr>
            <p:nvPr/>
          </p:nvSpPr>
          <p:spPr bwMode="auto">
            <a:xfrm>
              <a:off x="3792" y="3792"/>
              <a:ext cx="132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r>
                <a:rPr lang="en-US" altLang="en-US" sz="1400" i="1" u="sng">
                  <a:latin typeface="Arial" panose="020B0604020202020204" pitchFamily="34" charset="0"/>
                </a:rPr>
                <a:t>writes 2nd version of R1</a:t>
              </a:r>
            </a:p>
          </p:txBody>
        </p:sp>
        <p:sp>
          <p:nvSpPr>
            <p:cNvPr id="94216" name="Oval 11">
              <a:extLst>
                <a:ext uri="{FF2B5EF4-FFF2-40B4-BE49-F238E27FC236}">
                  <a16:creationId xmlns:a16="http://schemas.microsoft.com/office/drawing/2014/main" id="{B4A87EDE-8C56-E54A-BA4B-B8022C41AA06}"/>
                </a:ext>
              </a:extLst>
            </p:cNvPr>
            <p:cNvSpPr>
              <a:spLocks noChangeArrowheads="1"/>
            </p:cNvSpPr>
            <p:nvPr/>
          </p:nvSpPr>
          <p:spPr bwMode="auto">
            <a:xfrm>
              <a:off x="3936" y="3536"/>
              <a:ext cx="432" cy="27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88"/>
                </a:spcBef>
                <a:buClr>
                  <a:srgbClr val="FFC000"/>
                </a:buClr>
                <a:buSzPct val="100000"/>
                <a:buFont typeface="Wingdings" pitchFamily="2" charset="2"/>
                <a:buChar char=""/>
                <a:defRPr sz="2800">
                  <a:solidFill>
                    <a:srgbClr val="000000"/>
                  </a:solidFill>
                  <a:latin typeface="Garamond" panose="02020404030301010803" pitchFamily="18" charset="0"/>
                  <a:ea typeface="MS PGothic" panose="020B0600070205080204" pitchFamily="34" charset="-128"/>
                  <a:cs typeface="HG Mincho Light J" charset="0"/>
                </a:defRPr>
              </a:lvl1pPr>
              <a:lvl2pPr marL="742950" indent="-285750">
                <a:spcBef>
                  <a:spcPts val="588"/>
                </a:spcBef>
                <a:buClr>
                  <a:srgbClr val="000000"/>
                </a:buClr>
                <a:buSzPct val="100000"/>
                <a:buFont typeface="Times New Roman" panose="02020603050405020304" pitchFamily="18" charset="0"/>
                <a:buChar char="–"/>
                <a:defRPr sz="2400">
                  <a:solidFill>
                    <a:srgbClr val="000000"/>
                  </a:solidFill>
                  <a:latin typeface="Garamond" panose="02020404030301010803" pitchFamily="18" charset="0"/>
                  <a:ea typeface="HG Mincho Light J" charset="0"/>
                  <a:cs typeface="HG Mincho Light J" charset="0"/>
                </a:defRPr>
              </a:lvl2pPr>
              <a:lvl3pPr marL="1143000" indent="-228600">
                <a:spcBef>
                  <a:spcPts val="588"/>
                </a:spcBef>
                <a:buClr>
                  <a:srgbClr val="000000"/>
                </a:buClr>
                <a:buSzPct val="100000"/>
                <a:buFont typeface="Times New Roman" panose="02020603050405020304" pitchFamily="18" charset="0"/>
                <a:buChar char="•"/>
                <a:defRPr sz="2000">
                  <a:solidFill>
                    <a:srgbClr val="000000"/>
                  </a:solidFill>
                  <a:latin typeface="Garamond" panose="02020404030301010803" pitchFamily="18" charset="0"/>
                  <a:ea typeface="HG Mincho Light J" charset="0"/>
                  <a:cs typeface="HG Mincho Light J" charset="0"/>
                </a:defRPr>
              </a:lvl3pPr>
              <a:lvl4pPr marL="1600200" indent="-228600">
                <a:spcBef>
                  <a:spcPts val="488"/>
                </a:spcBef>
                <a:buClr>
                  <a:srgbClr val="000000"/>
                </a:buClr>
                <a:buSzPct val="100000"/>
                <a:buFont typeface="Wingdings" pitchFamily="2" charset="2"/>
                <a:defRPr>
                  <a:solidFill>
                    <a:srgbClr val="000000"/>
                  </a:solidFill>
                  <a:latin typeface="Garamond" panose="02020404030301010803" pitchFamily="18" charset="0"/>
                  <a:ea typeface="HG Mincho Light J" charset="0"/>
                  <a:cs typeface="HG Mincho Light J" charset="0"/>
                </a:defRPr>
              </a:lvl4pPr>
              <a:lvl5pPr marL="2057400" indent="-228600">
                <a:spcBef>
                  <a:spcPts val="488"/>
                </a:spcBef>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5pPr>
              <a:lvl6pPr marL="25146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6pPr>
              <a:lvl7pPr marL="29718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7pPr>
              <a:lvl8pPr marL="34290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8pPr>
              <a:lvl9pPr marL="3886200" indent="-228600" eaLnBrk="0" fontAlgn="base" hangingPunct="0">
                <a:spcBef>
                  <a:spcPts val="488"/>
                </a:spcBef>
                <a:spcAft>
                  <a:spcPct val="0"/>
                </a:spcAft>
                <a:buClr>
                  <a:srgbClr val="000000"/>
                </a:buClr>
                <a:buSzPct val="100000"/>
                <a:buFont typeface="Times New Roman" panose="02020603050405020304" pitchFamily="18" charset="0"/>
                <a:defRPr sz="1400">
                  <a:solidFill>
                    <a:srgbClr val="000000"/>
                  </a:solidFill>
                  <a:latin typeface="Garamond" panose="02020404030301010803" pitchFamily="18" charset="0"/>
                  <a:ea typeface="HG Mincho Light J" charset="0"/>
                  <a:cs typeface="HG Mincho Light J" charset="0"/>
                </a:defRPr>
              </a:lvl9pPr>
            </a:lstStyle>
            <a:p>
              <a:pPr>
                <a:spcBef>
                  <a:spcPct val="0"/>
                </a:spcBef>
                <a:buClrTx/>
                <a:buSzTx/>
                <a:buFontTx/>
                <a:buNone/>
              </a:pPr>
              <a:endParaRPr lang="en-US" altLang="en-US" sz="1400">
                <a:latin typeface="Arial" panose="020B0604020202020204" pitchFamily="34" charset="0"/>
              </a:endParaRPr>
            </a:p>
          </p:txBody>
        </p:sp>
        <p:sp>
          <p:nvSpPr>
            <p:cNvPr id="94217" name="Line 12">
              <a:extLst>
                <a:ext uri="{FF2B5EF4-FFF2-40B4-BE49-F238E27FC236}">
                  <a16:creationId xmlns:a16="http://schemas.microsoft.com/office/drawing/2014/main" id="{3E5A4B12-B4C0-7845-B080-FFF0F89BB253}"/>
                </a:ext>
              </a:extLst>
            </p:cNvPr>
            <p:cNvSpPr>
              <a:spLocks noChangeShapeType="1"/>
            </p:cNvSpPr>
            <p:nvPr/>
          </p:nvSpPr>
          <p:spPr bwMode="auto">
            <a:xfrm flipH="1" flipV="1">
              <a:off x="4272" y="3696"/>
              <a:ext cx="96"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37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37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377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377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377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03779">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03779">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20378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20378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2037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build="p" bldLvl="2" autoUpdateAnimBg="0"/>
      <p:bldP spid="203780"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02" name="Rectangle 2">
            <a:extLst>
              <a:ext uri="{FF2B5EF4-FFF2-40B4-BE49-F238E27FC236}">
                <a16:creationId xmlns:a16="http://schemas.microsoft.com/office/drawing/2014/main" id="{522DB9F9-17B2-5A4C-AD90-D0E44F5D51E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charset="0"/>
              </a:rPr>
              <a:t>Other data hazards (cont.)</a:t>
            </a:r>
          </a:p>
        </p:txBody>
      </p:sp>
      <p:sp>
        <p:nvSpPr>
          <p:cNvPr id="204803" name="Rectangle 3">
            <a:extLst>
              <a:ext uri="{FF2B5EF4-FFF2-40B4-BE49-F238E27FC236}">
                <a16:creationId xmlns:a16="http://schemas.microsoft.com/office/drawing/2014/main" id="{8A25950D-16E3-C648-8B48-90DB2B087215}"/>
              </a:ext>
            </a:extLst>
          </p:cNvPr>
          <p:cNvSpPr>
            <a:spLocks noGrp="1" noChangeArrowheads="1"/>
          </p:cNvSpPr>
          <p:nvPr>
            <p:ph type="body" idx="1"/>
          </p:nvPr>
        </p:nvSpPr>
        <p:spPr/>
        <p:txBody>
          <a:bodyPr/>
          <a:lstStyle/>
          <a:p>
            <a:pPr marL="342900" indent="-342900"/>
            <a:r>
              <a:rPr lang="en-US" altLang="en-US"/>
              <a:t>Handling WAR/WAW hazards</a:t>
            </a:r>
          </a:p>
          <a:p>
            <a:pPr marL="742950" lvl="1"/>
            <a:r>
              <a:rPr lang="en-US" altLang="en-US"/>
              <a:t>Stall the later instruction (stalls in WB stage)</a:t>
            </a:r>
          </a:p>
          <a:p>
            <a:pPr marL="742950" lvl="1"/>
            <a:r>
              <a:rPr lang="en-US" altLang="en-US"/>
              <a:t>Compiler: don</a:t>
            </a:r>
            <a:r>
              <a:rPr lang="ja-JP" altLang="en-US"/>
              <a:t>’</a:t>
            </a:r>
            <a:r>
              <a:rPr lang="en-US" altLang="ja-JP"/>
              <a:t>t reuse register specifier</a:t>
            </a:r>
          </a:p>
          <a:p>
            <a:pPr marL="742950" lvl="1"/>
            <a:r>
              <a:rPr lang="en-US" altLang="en-US"/>
              <a:t>Hardware: register renaming (</a:t>
            </a:r>
            <a:r>
              <a:rPr lang="en-US" altLang="en-US" i="1"/>
              <a:t>see next major topic – ILP</a:t>
            </a:r>
            <a:r>
              <a:rPr lang="en-US" altLang="en-US"/>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196C528A-023F-4B45-B747-C7EED12F7CC5}"/>
              </a:ext>
            </a:extLst>
          </p:cNvPr>
          <p:cNvSpPr>
            <a:spLocks noGrp="1" noChangeArrowheads="1"/>
          </p:cNvSpPr>
          <p:nvPr>
            <p:ph type="title"/>
          </p:nvPr>
        </p:nvSpPr>
        <p:spPr/>
        <p:txBody>
          <a:bodyPr/>
          <a:lstStyle/>
          <a:p>
            <a:r>
              <a:rPr lang="en-US" altLang="en-US"/>
              <a:t>Pipeline Performance</a:t>
            </a:r>
          </a:p>
        </p:txBody>
      </p:sp>
      <p:sp>
        <p:nvSpPr>
          <p:cNvPr id="96259" name="Content Placeholder 2">
            <a:extLst>
              <a:ext uri="{FF2B5EF4-FFF2-40B4-BE49-F238E27FC236}">
                <a16:creationId xmlns:a16="http://schemas.microsoft.com/office/drawing/2014/main" id="{B1BC36EB-20C2-0F4F-89D8-69AFEA882E0F}"/>
              </a:ext>
            </a:extLst>
          </p:cNvPr>
          <p:cNvSpPr>
            <a:spLocks noGrp="1" noChangeArrowheads="1"/>
          </p:cNvSpPr>
          <p:nvPr>
            <p:ph idx="1"/>
          </p:nvPr>
        </p:nvSpPr>
        <p:spPr/>
        <p:txBody>
          <a:bodyPr/>
          <a:lstStyle/>
          <a:p>
            <a:r>
              <a:rPr lang="en-US" altLang="en-US"/>
              <a:t>Pipeline performance depends on hazards</a:t>
            </a:r>
          </a:p>
          <a:p>
            <a:r>
              <a:rPr lang="en-US" altLang="en-US">
                <a:solidFill>
                  <a:srgbClr val="FF0000"/>
                </a:solidFill>
              </a:rPr>
              <a:t>Pipeline loop analysis </a:t>
            </a:r>
            <a:r>
              <a:rPr lang="en-US" altLang="en-US">
                <a:solidFill>
                  <a:schemeClr val="tx1"/>
                </a:solidFill>
              </a:rPr>
              <a:t>helps analyze pipeline performance</a:t>
            </a:r>
          </a:p>
          <a:p>
            <a:pPr lvl="1"/>
            <a:r>
              <a:rPr lang="en-US" altLang="en-US">
                <a:solidFill>
                  <a:schemeClr val="tx1"/>
                </a:solidFill>
                <a:ea typeface="MS PGothic" panose="020B0600070205080204" pitchFamily="34" charset="-128"/>
              </a:rPr>
              <a:t>Evaluating impact of design changes</a:t>
            </a:r>
          </a:p>
          <a:p>
            <a:pPr lvl="1"/>
            <a:r>
              <a:rPr lang="en-US" altLang="en-US">
                <a:solidFill>
                  <a:schemeClr val="tx1"/>
                </a:solidFill>
                <a:ea typeface="MS PGothic" panose="020B0600070205080204" pitchFamily="34" charset="-128"/>
              </a:rPr>
              <a:t>Identifying techniques needed to improve performance</a:t>
            </a:r>
            <a:endParaRPr lang="en-US" altLang="en-US">
              <a:solidFill>
                <a:srgbClr val="FF0000"/>
              </a:solidFill>
              <a:ea typeface="MS PGothic" panose="020B0600070205080204" pitchFamily="34" charset="-128"/>
            </a:endParaRPr>
          </a:p>
          <a:p>
            <a:r>
              <a:rPr lang="en-US" altLang="en-US"/>
              <a:t>Important for analysis: loop types and loop size</a:t>
            </a:r>
          </a:p>
          <a:p>
            <a:pPr lvl="1"/>
            <a:r>
              <a:rPr lang="en-US" altLang="en-US"/>
              <a:t>ALU Loop: loop for dependent ALU instructions</a:t>
            </a:r>
          </a:p>
          <a:p>
            <a:pPr lvl="2"/>
            <a:r>
              <a:rPr lang="en-US" altLang="en-US"/>
              <a:t>Size of loop: stage when value is produced – when needed</a:t>
            </a:r>
          </a:p>
          <a:p>
            <a:pPr lvl="1"/>
            <a:r>
              <a:rPr lang="en-US" altLang="en-US"/>
              <a:t>Load-to-use Loop: loop for inst dependent on a load inst</a:t>
            </a:r>
          </a:p>
          <a:p>
            <a:pPr lvl="2"/>
            <a:r>
              <a:rPr lang="en-US" altLang="en-US"/>
              <a:t>Size of loop: stage when value is read out from cache – when needed</a:t>
            </a:r>
          </a:p>
          <a:p>
            <a:pPr lvl="1"/>
            <a:r>
              <a:rPr lang="en-US" altLang="en-US"/>
              <a:t>Branch misprediction Loop: loop for when a conditional branch is mispredicted</a:t>
            </a:r>
          </a:p>
          <a:p>
            <a:pPr lvl="2"/>
            <a:r>
              <a:rPr lang="en-US" altLang="en-US"/>
              <a:t>Size of loop: when branch is resolved – fetch stage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855B6B9F-7DC1-C043-ABFE-60252C27EA99}"/>
              </a:ext>
            </a:extLst>
          </p:cNvPr>
          <p:cNvSpPr>
            <a:spLocks noGrp="1" noChangeArrowheads="1"/>
          </p:cNvSpPr>
          <p:nvPr>
            <p:ph type="title"/>
          </p:nvPr>
        </p:nvSpPr>
        <p:spPr/>
        <p:txBody>
          <a:bodyPr/>
          <a:lstStyle/>
          <a:p>
            <a:r>
              <a:rPr lang="en-US" altLang="en-US"/>
              <a:t>Example</a:t>
            </a:r>
          </a:p>
        </p:txBody>
      </p:sp>
      <p:sp>
        <p:nvSpPr>
          <p:cNvPr id="97283" name="Content Placeholder 5">
            <a:extLst>
              <a:ext uri="{FF2B5EF4-FFF2-40B4-BE49-F238E27FC236}">
                <a16:creationId xmlns:a16="http://schemas.microsoft.com/office/drawing/2014/main" id="{53215D69-6923-0D46-8ACE-3EC5A87A30D1}"/>
              </a:ext>
            </a:extLst>
          </p:cNvPr>
          <p:cNvSpPr>
            <a:spLocks noGrp="1" noChangeArrowheads="1"/>
          </p:cNvSpPr>
          <p:nvPr>
            <p:ph sz="half" idx="1"/>
          </p:nvPr>
        </p:nvSpPr>
        <p:spPr>
          <a:xfrm>
            <a:off x="495300" y="993648"/>
            <a:ext cx="4038600" cy="4718304"/>
          </a:xfrm>
        </p:spPr>
        <p:txBody>
          <a:bodyPr/>
          <a:lstStyle/>
          <a:p>
            <a:pPr>
              <a:buFont typeface="Wingdings" pitchFamily="2" charset="2"/>
              <a:buChar char="w"/>
            </a:pPr>
            <a:r>
              <a:rPr lang="en-US" altLang="en-US"/>
              <a:t>Without Data Forwarding</a:t>
            </a:r>
          </a:p>
          <a:p>
            <a:pPr>
              <a:buFont typeface="Wingdings" pitchFamily="2" charset="2"/>
              <a:buChar char="w"/>
            </a:pPr>
            <a:endParaRPr lang="en-US" altLang="en-US"/>
          </a:p>
          <a:p>
            <a:pPr>
              <a:buFont typeface="Wingdings" pitchFamily="2" charset="2"/>
              <a:buChar char="w"/>
            </a:pPr>
            <a:endParaRPr lang="en-US" altLang="en-US"/>
          </a:p>
          <a:p>
            <a:pPr>
              <a:buFont typeface="Wingdings" pitchFamily="2" charset="2"/>
              <a:buChar char="w"/>
            </a:pPr>
            <a:endParaRPr lang="en-US" altLang="en-US"/>
          </a:p>
          <a:p>
            <a:pPr>
              <a:buFont typeface="Wingdings" pitchFamily="2" charset="2"/>
              <a:buChar char="w"/>
            </a:pPr>
            <a:endParaRPr lang="en-US" altLang="en-US"/>
          </a:p>
          <a:p>
            <a:pPr lvl="1"/>
            <a:r>
              <a:rPr lang="en-US" altLang="en-US"/>
              <a:t>ALU Loop size = 4</a:t>
            </a:r>
          </a:p>
          <a:p>
            <a:pPr lvl="1"/>
            <a:r>
              <a:rPr lang="en-US" altLang="en-US"/>
              <a:t>Load-to-use Loop = 4</a:t>
            </a:r>
          </a:p>
          <a:p>
            <a:pPr lvl="1"/>
            <a:r>
              <a:rPr lang="en-US" altLang="en-US"/>
              <a:t>Branch Loop = 3</a:t>
            </a:r>
          </a:p>
          <a:p>
            <a:pPr>
              <a:buFont typeface="Wingdings" pitchFamily="2" charset="2"/>
              <a:buChar char="w"/>
            </a:pPr>
            <a:endParaRPr lang="en-US" altLang="en-US"/>
          </a:p>
        </p:txBody>
      </p:sp>
      <p:sp>
        <p:nvSpPr>
          <p:cNvPr id="97284" name="Content Placeholder 6">
            <a:extLst>
              <a:ext uri="{FF2B5EF4-FFF2-40B4-BE49-F238E27FC236}">
                <a16:creationId xmlns:a16="http://schemas.microsoft.com/office/drawing/2014/main" id="{B2165A86-19DE-274C-884D-B088DB335680}"/>
              </a:ext>
            </a:extLst>
          </p:cNvPr>
          <p:cNvSpPr>
            <a:spLocks noGrp="1" noChangeArrowheads="1"/>
          </p:cNvSpPr>
          <p:nvPr>
            <p:ph sz="half" idx="2"/>
          </p:nvPr>
        </p:nvSpPr>
        <p:spPr>
          <a:xfrm>
            <a:off x="4636145" y="1014868"/>
            <a:ext cx="4038600" cy="4718304"/>
          </a:xfrm>
        </p:spPr>
        <p:txBody>
          <a:bodyPr/>
          <a:lstStyle/>
          <a:p>
            <a:pPr>
              <a:buFont typeface="Wingdings" pitchFamily="2" charset="2"/>
              <a:buChar char="w"/>
            </a:pPr>
            <a:r>
              <a:rPr lang="en-US" altLang="en-US" dirty="0"/>
              <a:t>With Data Forwarding</a:t>
            </a:r>
          </a:p>
          <a:p>
            <a:pPr>
              <a:buFont typeface="Wingdings" pitchFamily="2" charset="2"/>
              <a:buChar char="w"/>
            </a:pPr>
            <a:endParaRPr lang="en-US" altLang="en-US" dirty="0"/>
          </a:p>
          <a:p>
            <a:pPr>
              <a:buFont typeface="Wingdings" pitchFamily="2" charset="2"/>
              <a:buChar char="w"/>
            </a:pPr>
            <a:endParaRPr lang="en-US" altLang="en-US" dirty="0"/>
          </a:p>
          <a:p>
            <a:pPr>
              <a:buFont typeface="Wingdings" pitchFamily="2" charset="2"/>
              <a:buChar char="w"/>
            </a:pPr>
            <a:endParaRPr lang="en-US" altLang="en-US" dirty="0"/>
          </a:p>
          <a:p>
            <a:pPr>
              <a:buFont typeface="Wingdings" pitchFamily="2" charset="2"/>
              <a:buChar char="w"/>
            </a:pPr>
            <a:endParaRPr lang="en-US" altLang="en-US" dirty="0"/>
          </a:p>
          <a:p>
            <a:pPr lvl="1"/>
            <a:r>
              <a:rPr lang="en-US" altLang="en-US" dirty="0"/>
              <a:t>ALU Loop size = 1</a:t>
            </a:r>
          </a:p>
          <a:p>
            <a:pPr lvl="1"/>
            <a:r>
              <a:rPr lang="en-US" altLang="en-US" dirty="0"/>
              <a:t>Load-to-use Loop = 2</a:t>
            </a:r>
          </a:p>
          <a:p>
            <a:pPr lvl="1"/>
            <a:r>
              <a:rPr lang="en-US" altLang="en-US" dirty="0"/>
              <a:t>Branch Loop = 3</a:t>
            </a:r>
          </a:p>
        </p:txBody>
      </p:sp>
      <p:pic>
        <p:nvPicPr>
          <p:cNvPr id="97285" name="Picture 2">
            <a:extLst>
              <a:ext uri="{FF2B5EF4-FFF2-40B4-BE49-F238E27FC236}">
                <a16:creationId xmlns:a16="http://schemas.microsoft.com/office/drawing/2014/main" id="{B95DF573-E21A-0C4C-B8B8-601E7688685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057400"/>
            <a:ext cx="35877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8">
            <a:extLst>
              <a:ext uri="{FF2B5EF4-FFF2-40B4-BE49-F238E27FC236}">
                <a16:creationId xmlns:a16="http://schemas.microsoft.com/office/drawing/2014/main" id="{214F7143-14F1-2542-B49D-8CD6EC93CB5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905000"/>
            <a:ext cx="3848100" cy="154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8BD69EC1-5764-2D45-B14F-57A4C82A005C}"/>
              </a:ext>
            </a:extLst>
          </p:cNvPr>
          <p:cNvSpPr>
            <a:spLocks noGrp="1" noChangeArrowheads="1"/>
          </p:cNvSpPr>
          <p:nvPr>
            <p:ph type="title"/>
          </p:nvPr>
        </p:nvSpPr>
        <p:spPr/>
        <p:txBody>
          <a:bodyPr/>
          <a:lstStyle/>
          <a:p>
            <a:r>
              <a:rPr lang="en-US" altLang="en-US"/>
              <a:t>Case 1: Deep Pipeline</a:t>
            </a:r>
          </a:p>
        </p:txBody>
      </p:sp>
      <p:sp>
        <p:nvSpPr>
          <p:cNvPr id="6" name="Content Placeholder 5">
            <a:extLst>
              <a:ext uri="{FF2B5EF4-FFF2-40B4-BE49-F238E27FC236}">
                <a16:creationId xmlns:a16="http://schemas.microsoft.com/office/drawing/2014/main" id="{13CA320F-9197-F440-8A7A-E810E74EE60E}"/>
              </a:ext>
            </a:extLst>
          </p:cNvPr>
          <p:cNvSpPr>
            <a:spLocks noGrp="1"/>
          </p:cNvSpPr>
          <p:nvPr>
            <p:ph idx="1"/>
          </p:nvPr>
        </p:nvSpPr>
        <p:spPr/>
        <p:txBody>
          <a:bodyPr>
            <a:normAutofit lnSpcReduction="10000"/>
          </a:bodyPr>
          <a:lstStyle/>
          <a:p>
            <a:pPr>
              <a:buFont typeface="Wingdings" charset="0"/>
              <a:buChar char="w"/>
              <a:defRPr/>
            </a:pPr>
            <a:endParaRPr lang="en-US" sz="2400" dirty="0">
              <a:ea typeface="ＭＳ Ｐゴシック" charset="0"/>
            </a:endParaRPr>
          </a:p>
          <a:p>
            <a:pPr>
              <a:buFont typeface="Wingdings" charset="0"/>
              <a:buChar char="w"/>
              <a:defRPr/>
            </a:pPr>
            <a:endParaRPr lang="en-US" sz="2400" dirty="0">
              <a:ea typeface="ＭＳ Ｐゴシック" charset="0"/>
            </a:endParaRPr>
          </a:p>
          <a:p>
            <a:pPr>
              <a:buFont typeface="Wingdings" charset="0"/>
              <a:buChar char="w"/>
              <a:defRPr/>
            </a:pPr>
            <a:endParaRPr lang="en-US" sz="2400" dirty="0">
              <a:ea typeface="ＭＳ Ｐゴシック" charset="0"/>
            </a:endParaRPr>
          </a:p>
          <a:p>
            <a:pPr marL="0" indent="0">
              <a:buFont typeface="Wingdings" charset="0"/>
              <a:buNone/>
              <a:defRPr/>
            </a:pPr>
            <a:endParaRPr lang="en-US" sz="2400" dirty="0">
              <a:ea typeface="ＭＳ Ｐゴシック" charset="0"/>
            </a:endParaRPr>
          </a:p>
          <a:p>
            <a:pPr lvl="1">
              <a:defRPr/>
            </a:pPr>
            <a:endParaRPr lang="en-US" sz="2000" dirty="0"/>
          </a:p>
          <a:p>
            <a:pPr lvl="1">
              <a:defRPr/>
            </a:pPr>
            <a:r>
              <a:rPr lang="en-US" sz="2000" dirty="0"/>
              <a:t>ALU Loop size = 2 (was 1)</a:t>
            </a:r>
          </a:p>
          <a:p>
            <a:pPr lvl="1">
              <a:defRPr/>
            </a:pPr>
            <a:r>
              <a:rPr lang="en-US" sz="2000" dirty="0"/>
              <a:t>Load-to-use Loop = 4 (was 2)</a:t>
            </a:r>
          </a:p>
          <a:p>
            <a:pPr lvl="1">
              <a:defRPr/>
            </a:pPr>
            <a:r>
              <a:rPr lang="en-US" sz="2000" dirty="0"/>
              <a:t>Branch Loop = 6 (was 3)</a:t>
            </a:r>
          </a:p>
          <a:p>
            <a:pPr>
              <a:buFont typeface="Wingdings" charset="0"/>
              <a:buChar char="w"/>
              <a:defRPr/>
            </a:pPr>
            <a:r>
              <a:rPr lang="en-US" sz="2400" dirty="0">
                <a:ea typeface="ＭＳ Ｐゴシック" charset="0"/>
              </a:rPr>
              <a:t>Thus, deepening the pipeline also increases the critical loop size</a:t>
            </a:r>
          </a:p>
          <a:p>
            <a:pPr lvl="1">
              <a:defRPr/>
            </a:pPr>
            <a:r>
              <a:rPr lang="en-US" sz="2000" dirty="0"/>
              <a:t>Benefit primarily comes when instructions do not have dependences, or when branches are easy to predict</a:t>
            </a:r>
          </a:p>
          <a:p>
            <a:pPr lvl="1">
              <a:defRPr/>
            </a:pPr>
            <a:r>
              <a:rPr lang="en-US" sz="2000" dirty="0"/>
              <a:t>Diminishing return from deepening the pipeline</a:t>
            </a:r>
          </a:p>
        </p:txBody>
      </p:sp>
      <p:pic>
        <p:nvPicPr>
          <p:cNvPr id="98308" name="Picture 2">
            <a:extLst>
              <a:ext uri="{FF2B5EF4-FFF2-40B4-BE49-F238E27FC236}">
                <a16:creationId xmlns:a16="http://schemas.microsoft.com/office/drawing/2014/main" id="{B7543567-C544-0A4D-B757-A630B4D203E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447800"/>
            <a:ext cx="662940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24C0A4CE-0543-E243-B5E8-D0F0EE1CC562}"/>
              </a:ext>
            </a:extLst>
          </p:cNvPr>
          <p:cNvSpPr>
            <a:spLocks noGrp="1" noChangeArrowheads="1"/>
          </p:cNvSpPr>
          <p:nvPr>
            <p:ph type="title"/>
          </p:nvPr>
        </p:nvSpPr>
        <p:spPr/>
        <p:txBody>
          <a:bodyPr/>
          <a:lstStyle/>
          <a:p>
            <a:r>
              <a:rPr lang="en-US" altLang="en-US"/>
              <a:t>Case 2: RISC vs. CISC Pipeline</a:t>
            </a:r>
          </a:p>
        </p:txBody>
      </p:sp>
      <p:sp>
        <p:nvSpPr>
          <p:cNvPr id="99331" name="Content Placeholder 5">
            <a:extLst>
              <a:ext uri="{FF2B5EF4-FFF2-40B4-BE49-F238E27FC236}">
                <a16:creationId xmlns:a16="http://schemas.microsoft.com/office/drawing/2014/main" id="{7E6FA066-2C88-A346-993B-A3B990114F6E}"/>
              </a:ext>
            </a:extLst>
          </p:cNvPr>
          <p:cNvSpPr>
            <a:spLocks noGrp="1" noChangeArrowheads="1"/>
          </p:cNvSpPr>
          <p:nvPr>
            <p:ph idx="1"/>
          </p:nvPr>
        </p:nvSpPr>
        <p:spPr/>
        <p:txBody>
          <a:bodyPr>
            <a:normAutofit fontScale="92500"/>
          </a:bodyPr>
          <a:lstStyle/>
          <a:p>
            <a:pPr>
              <a:buFont typeface="Wingdings" pitchFamily="2" charset="2"/>
              <a:buChar char="w"/>
            </a:pPr>
            <a:r>
              <a:rPr lang="en-US" altLang="en-US" dirty="0"/>
              <a:t>CISC</a:t>
            </a:r>
          </a:p>
          <a:p>
            <a:pPr lvl="1"/>
            <a:r>
              <a:rPr lang="en-US" altLang="en-US" sz="2000" dirty="0"/>
              <a:t>Assume CISC instruction decoded and broken into small RISC-like instructions (e.g. Macro Op -&gt; Micro Op)</a:t>
            </a:r>
          </a:p>
          <a:p>
            <a:pPr lvl="1"/>
            <a:r>
              <a:rPr lang="en-US" altLang="en-US" sz="2000" dirty="0"/>
              <a:t>Question: is there a cost for doing this vs. RISC?</a:t>
            </a:r>
          </a:p>
          <a:p>
            <a:pPr>
              <a:buFont typeface="Wingdings" pitchFamily="2" charset="2"/>
              <a:buChar char="w"/>
            </a:pPr>
            <a:endParaRPr lang="en-US" altLang="en-US" dirty="0"/>
          </a:p>
          <a:p>
            <a:pPr>
              <a:buFont typeface="Wingdings" pitchFamily="2" charset="2"/>
              <a:buChar char="w"/>
            </a:pPr>
            <a:endParaRPr lang="en-US" altLang="en-US" dirty="0"/>
          </a:p>
          <a:p>
            <a:pPr>
              <a:buFont typeface="Wingdings" pitchFamily="2" charset="2"/>
              <a:buChar char="w"/>
            </a:pPr>
            <a:endParaRPr lang="en-US" altLang="en-US" dirty="0"/>
          </a:p>
          <a:p>
            <a:pPr>
              <a:buFont typeface="Wingdings" pitchFamily="2" charset="2"/>
              <a:buChar char="w"/>
            </a:pPr>
            <a:endParaRPr lang="en-US" altLang="en-US" dirty="0"/>
          </a:p>
          <a:p>
            <a:pPr lvl="1"/>
            <a:endParaRPr lang="en-US" altLang="en-US" sz="2000" dirty="0"/>
          </a:p>
          <a:p>
            <a:pPr lvl="1"/>
            <a:r>
              <a:rPr lang="en-US" altLang="en-US" sz="2000" dirty="0"/>
              <a:t>ALU Loop and Load-to-use Loop have the same size as RISC</a:t>
            </a:r>
          </a:p>
          <a:p>
            <a:pPr lvl="1"/>
            <a:r>
              <a:rPr lang="en-US" altLang="en-US" sz="2000" dirty="0"/>
              <a:t>But Branch Loop = 4 (vs. 3 in RISC) =&gt; branch misprediction is costlier</a:t>
            </a:r>
          </a:p>
          <a:p>
            <a:pPr>
              <a:buFont typeface="Wingdings" pitchFamily="2" charset="2"/>
              <a:buChar char="w"/>
            </a:pPr>
            <a:r>
              <a:rPr lang="en-US" altLang="en-US" sz="2400" dirty="0"/>
              <a:t>Thus, everything else the same, must compensate with a better branch predictor</a:t>
            </a:r>
            <a:endParaRPr lang="en-US" altLang="en-US" sz="2000" dirty="0"/>
          </a:p>
        </p:txBody>
      </p:sp>
      <p:pic>
        <p:nvPicPr>
          <p:cNvPr id="99332" name="Picture 2">
            <a:extLst>
              <a:ext uri="{FF2B5EF4-FFF2-40B4-BE49-F238E27FC236}">
                <a16:creationId xmlns:a16="http://schemas.microsoft.com/office/drawing/2014/main" id="{32E3D7E3-F787-B541-A886-3569DF5456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71700" y="3048000"/>
            <a:ext cx="48006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0174F248-1E3F-FE41-B995-AD7FC4538E25}"/>
              </a:ext>
            </a:extLst>
          </p:cNvPr>
          <p:cNvSpPr>
            <a:spLocks noGrp="1" noChangeArrowheads="1"/>
          </p:cNvSpPr>
          <p:nvPr>
            <p:ph type="title"/>
          </p:nvPr>
        </p:nvSpPr>
        <p:spPr/>
        <p:txBody>
          <a:bodyPr/>
          <a:lstStyle/>
          <a:p>
            <a:r>
              <a:rPr lang="en-US" altLang="en-US"/>
              <a:t>Case 3: Increasing the L1Cache Size</a:t>
            </a:r>
          </a:p>
        </p:txBody>
      </p:sp>
      <p:sp>
        <p:nvSpPr>
          <p:cNvPr id="100355" name="Content Placeholder 5">
            <a:extLst>
              <a:ext uri="{FF2B5EF4-FFF2-40B4-BE49-F238E27FC236}">
                <a16:creationId xmlns:a16="http://schemas.microsoft.com/office/drawing/2014/main" id="{ACFF49AE-82F8-AE45-A625-18A33F1BA62C}"/>
              </a:ext>
            </a:extLst>
          </p:cNvPr>
          <p:cNvSpPr>
            <a:spLocks noGrp="1" noChangeArrowheads="1"/>
          </p:cNvSpPr>
          <p:nvPr>
            <p:ph idx="1"/>
          </p:nvPr>
        </p:nvSpPr>
        <p:spPr/>
        <p:txBody>
          <a:bodyPr>
            <a:normAutofit fontScale="92500" lnSpcReduction="20000"/>
          </a:bodyPr>
          <a:lstStyle/>
          <a:p>
            <a:r>
              <a:rPr lang="en-US" altLang="en-US" dirty="0"/>
              <a:t>Larger L1 Data Cache Size</a:t>
            </a:r>
          </a:p>
          <a:p>
            <a:pPr lvl="1"/>
            <a:r>
              <a:rPr lang="en-US" altLang="en-US" sz="2000" dirty="0"/>
              <a:t>Suppose doubling the size adds 1 additional cycle (one extra “M2” stage)</a:t>
            </a:r>
          </a:p>
          <a:p>
            <a:pPr lvl="1"/>
            <a:r>
              <a:rPr lang="en-US" altLang="en-US" sz="2000" dirty="0"/>
              <a:t>Question: what is the performance cost for doing this?</a:t>
            </a:r>
          </a:p>
          <a:p>
            <a:endParaRPr lang="en-US" altLang="en-US" dirty="0"/>
          </a:p>
          <a:p>
            <a:endParaRPr lang="en-US" altLang="en-US" dirty="0"/>
          </a:p>
          <a:p>
            <a:endParaRPr lang="en-US" altLang="en-US" dirty="0"/>
          </a:p>
          <a:p>
            <a:endParaRPr lang="en-US" altLang="en-US" dirty="0"/>
          </a:p>
          <a:p>
            <a:endParaRPr lang="en-US" altLang="en-US" dirty="0"/>
          </a:p>
          <a:p>
            <a:pPr lvl="1"/>
            <a:endParaRPr lang="en-US" altLang="en-US" sz="2000" dirty="0"/>
          </a:p>
          <a:p>
            <a:pPr lvl="1"/>
            <a:r>
              <a:rPr lang="en-US" altLang="en-US" sz="2000" dirty="0"/>
              <a:t>Load-to-use Loop is now 3 cycles (was 2 cycles)</a:t>
            </a:r>
          </a:p>
          <a:p>
            <a:r>
              <a:rPr lang="en-US" altLang="en-US" sz="2400" dirty="0"/>
              <a:t>Thus, worse performance for instructions dependent on the loads</a:t>
            </a:r>
          </a:p>
          <a:p>
            <a:pPr lvl="1"/>
            <a:r>
              <a:rPr lang="en-US" altLang="en-US" sz="1800" dirty="0"/>
              <a:t>Can compensate by scheduling the loads early</a:t>
            </a:r>
          </a:p>
          <a:p>
            <a:pPr lvl="1"/>
            <a:r>
              <a:rPr lang="en-US" altLang="en-US" sz="1800" dirty="0"/>
              <a:t>May also avoid increasing L1 cache size further, back it up with a large L2 cache instead</a:t>
            </a:r>
            <a:endParaRPr lang="en-US" altLang="en-US" sz="1600" dirty="0"/>
          </a:p>
        </p:txBody>
      </p:sp>
      <p:pic>
        <p:nvPicPr>
          <p:cNvPr id="100356" name="Picture 2">
            <a:extLst>
              <a:ext uri="{FF2B5EF4-FFF2-40B4-BE49-F238E27FC236}">
                <a16:creationId xmlns:a16="http://schemas.microsoft.com/office/drawing/2014/main" id="{0210009A-315B-D041-A36F-163CE6E8A7B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819400"/>
            <a:ext cx="47244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2A3BA41-5C67-DF46-A335-BC9DEB0238BC}"/>
              </a:ext>
            </a:extLst>
          </p:cNvPr>
          <p:cNvSpPr>
            <a:spLocks noGrp="1" noChangeArrowheads="1"/>
          </p:cNvSpPr>
          <p:nvPr>
            <p:ph type="title"/>
          </p:nvPr>
        </p:nvSpPr>
        <p:spPr/>
        <p:txBody>
          <a:bodyPr/>
          <a:lstStyle/>
          <a:p>
            <a:r>
              <a:rPr lang="en-US" altLang="en-US"/>
              <a:t>Case Study: Intel 486</a:t>
            </a:r>
          </a:p>
        </p:txBody>
      </p:sp>
      <p:sp>
        <p:nvSpPr>
          <p:cNvPr id="101379" name="Content Placeholder 2">
            <a:extLst>
              <a:ext uri="{FF2B5EF4-FFF2-40B4-BE49-F238E27FC236}">
                <a16:creationId xmlns:a16="http://schemas.microsoft.com/office/drawing/2014/main" id="{C9500537-C1D4-C141-8087-BCB05D9A329B}"/>
              </a:ext>
            </a:extLst>
          </p:cNvPr>
          <p:cNvSpPr>
            <a:spLocks noGrp="1" noChangeArrowheads="1"/>
          </p:cNvSpPr>
          <p:nvPr>
            <p:ph idx="1"/>
          </p:nvPr>
        </p:nvSpPr>
        <p:spPr/>
        <p:txBody>
          <a:bodyPr/>
          <a:lstStyle/>
          <a:p>
            <a:pPr>
              <a:buFont typeface="Wingdings" pitchFamily="2" charset="2"/>
              <a:buChar char="w"/>
            </a:pPr>
            <a:r>
              <a:rPr lang="en-US" altLang="en-US" sz="2400"/>
              <a:t>486:</a:t>
            </a:r>
          </a:p>
          <a:p>
            <a:pPr lvl="1"/>
            <a:r>
              <a:rPr lang="en-US" altLang="en-US" sz="2000"/>
              <a:t>1989: first pipelined implementation of x86 processor (1M transistors)</a:t>
            </a:r>
          </a:p>
          <a:p>
            <a:pPr lvl="1"/>
            <a:r>
              <a:rPr lang="en-US" altLang="en-US" sz="2000"/>
              <a:t>CPI improved from 4.9 (386) to 1.95 (486)</a:t>
            </a:r>
          </a:p>
          <a:p>
            <a:pPr>
              <a:buFont typeface="Wingdings" pitchFamily="2" charset="2"/>
              <a:buChar char="w"/>
            </a:pPr>
            <a:r>
              <a:rPr lang="en-US" altLang="en-US" sz="2400"/>
              <a:t>5 Pipeline Stages</a:t>
            </a:r>
          </a:p>
          <a:p>
            <a:pPr lvl="1"/>
            <a:r>
              <a:rPr lang="en-US" altLang="en-US" sz="2000"/>
              <a:t>IF: fetch instruction from 32-byte prefetch queue</a:t>
            </a:r>
          </a:p>
          <a:p>
            <a:pPr lvl="1"/>
            <a:r>
              <a:rPr lang="en-US" altLang="en-US" sz="2000"/>
              <a:t>ID1: translate instruction into control signals or microcode, initiate address generation and memory access</a:t>
            </a:r>
          </a:p>
          <a:p>
            <a:pPr lvl="1"/>
            <a:r>
              <a:rPr lang="en-US" altLang="en-US" sz="2000"/>
              <a:t>ID2: access microcode memory. Output microinstruction to execute unit</a:t>
            </a:r>
          </a:p>
          <a:p>
            <a:pPr lvl="1"/>
            <a:r>
              <a:rPr lang="en-US" altLang="en-US" sz="2000"/>
              <a:t>EX: execute ALU and memory accessing operations (Note: Mem is folded into EX)</a:t>
            </a:r>
          </a:p>
          <a:p>
            <a:pPr lvl="1"/>
            <a:r>
              <a:rPr lang="en-US" altLang="en-US" sz="2000"/>
              <a:t>WB: write back result to register</a:t>
            </a:r>
          </a:p>
          <a:p>
            <a:pPr>
              <a:buFont typeface="Wingdings" pitchFamily="2" charset="2"/>
              <a:buChar char="w"/>
            </a:pPr>
            <a:endParaRPr lang="en-US" altLang="en-US" sz="2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a:extLst>
              <a:ext uri="{FF2B5EF4-FFF2-40B4-BE49-F238E27FC236}">
                <a16:creationId xmlns:a16="http://schemas.microsoft.com/office/drawing/2014/main" id="{CB157F72-7626-6349-95D5-EF644FFB0255}"/>
              </a:ext>
            </a:extLst>
          </p:cNvPr>
          <p:cNvSpPr>
            <a:spLocks noGrp="1" noChangeArrowheads="1"/>
          </p:cNvSpPr>
          <p:nvPr>
            <p:ph type="title"/>
          </p:nvPr>
        </p:nvSpPr>
        <p:spPr/>
        <p:txBody>
          <a:bodyPr/>
          <a:lstStyle/>
          <a:p>
            <a:r>
              <a:rPr lang="en-US" altLang="en-US"/>
              <a:t>Other Examples</a:t>
            </a:r>
          </a:p>
        </p:txBody>
      </p:sp>
      <p:sp>
        <p:nvSpPr>
          <p:cNvPr id="102403" name="Content Placeholder 2">
            <a:extLst>
              <a:ext uri="{FF2B5EF4-FFF2-40B4-BE49-F238E27FC236}">
                <a16:creationId xmlns:a16="http://schemas.microsoft.com/office/drawing/2014/main" id="{271053DE-94FC-984C-9DF3-CB16446FD5E7}"/>
              </a:ext>
            </a:extLst>
          </p:cNvPr>
          <p:cNvSpPr>
            <a:spLocks noGrp="1" noChangeArrowheads="1"/>
          </p:cNvSpPr>
          <p:nvPr>
            <p:ph idx="1"/>
          </p:nvPr>
        </p:nvSpPr>
        <p:spPr/>
        <p:txBody>
          <a:bodyPr/>
          <a:lstStyle/>
          <a:p>
            <a:pPr>
              <a:buFont typeface="Wingdings" pitchFamily="2" charset="2"/>
              <a:buChar char="w"/>
            </a:pPr>
            <a:r>
              <a:rPr lang="en-US" altLang="en-US"/>
              <a:t>P5, P6, and NetBurst</a:t>
            </a:r>
          </a:p>
          <a:p>
            <a:pPr>
              <a:buFont typeface="Wingdings" pitchFamily="2" charset="2"/>
              <a:buChar char="w"/>
            </a:pPr>
            <a:endParaRPr lang="en-US" altLang="en-US"/>
          </a:p>
          <a:p>
            <a:pPr>
              <a:buFont typeface="Wingdings" pitchFamily="2" charset="2"/>
              <a:buChar char="w"/>
            </a:pPr>
            <a:endParaRPr lang="en-US" altLang="en-US"/>
          </a:p>
          <a:p>
            <a:pPr>
              <a:buFont typeface="Wingdings" pitchFamily="2" charset="2"/>
              <a:buChar char="w"/>
            </a:pPr>
            <a:endParaRPr lang="en-US" altLang="en-US"/>
          </a:p>
          <a:p>
            <a:pPr>
              <a:buFont typeface="Wingdings" pitchFamily="2" charset="2"/>
              <a:buChar char="w"/>
            </a:pPr>
            <a:endParaRPr lang="en-US" altLang="en-US"/>
          </a:p>
          <a:p>
            <a:pPr>
              <a:buFont typeface="Wingdings" pitchFamily="2" charset="2"/>
              <a:buChar char="w"/>
            </a:pPr>
            <a:r>
              <a:rPr lang="en-US" altLang="en-US"/>
              <a:t>Atom</a:t>
            </a:r>
          </a:p>
        </p:txBody>
      </p:sp>
      <p:pic>
        <p:nvPicPr>
          <p:cNvPr id="102404" name="Picture 6">
            <a:extLst>
              <a:ext uri="{FF2B5EF4-FFF2-40B4-BE49-F238E27FC236}">
                <a16:creationId xmlns:a16="http://schemas.microsoft.com/office/drawing/2014/main" id="{246E8A8E-E246-A547-9491-0AB2F4C6F67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981200"/>
            <a:ext cx="43053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5" name="Picture 9">
            <a:extLst>
              <a:ext uri="{FF2B5EF4-FFF2-40B4-BE49-F238E27FC236}">
                <a16:creationId xmlns:a16="http://schemas.microsoft.com/office/drawing/2014/main" id="{D0058AAE-983F-044E-98F1-5BF9A8E7023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4419600"/>
            <a:ext cx="38100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6">
            <a:extLst>
              <a:ext uri="{FF2B5EF4-FFF2-40B4-BE49-F238E27FC236}">
                <a16:creationId xmlns:a16="http://schemas.microsoft.com/office/drawing/2014/main" id="{181AFF82-F4BA-0046-A92B-58DE81932BD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2971800"/>
            <a:ext cx="4394200" cy="365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7" name="Title 1">
            <a:extLst>
              <a:ext uri="{FF2B5EF4-FFF2-40B4-BE49-F238E27FC236}">
                <a16:creationId xmlns:a16="http://schemas.microsoft.com/office/drawing/2014/main" id="{AA52A07D-C00A-2C46-8CD1-4BCD02E000CC}"/>
              </a:ext>
            </a:extLst>
          </p:cNvPr>
          <p:cNvSpPr>
            <a:spLocks noGrp="1" noChangeArrowheads="1"/>
          </p:cNvSpPr>
          <p:nvPr>
            <p:ph type="title"/>
          </p:nvPr>
        </p:nvSpPr>
        <p:spPr/>
        <p:txBody>
          <a:bodyPr/>
          <a:lstStyle/>
          <a:p>
            <a:r>
              <a:rPr lang="en-US" altLang="en-US"/>
              <a:t>Other Examples</a:t>
            </a:r>
          </a:p>
        </p:txBody>
      </p:sp>
      <p:sp>
        <p:nvSpPr>
          <p:cNvPr id="103428" name="Content Placeholder 2">
            <a:extLst>
              <a:ext uri="{FF2B5EF4-FFF2-40B4-BE49-F238E27FC236}">
                <a16:creationId xmlns:a16="http://schemas.microsoft.com/office/drawing/2014/main" id="{87B32297-BA93-B244-9BB6-B42A817F0559}"/>
              </a:ext>
            </a:extLst>
          </p:cNvPr>
          <p:cNvSpPr>
            <a:spLocks noGrp="1" noChangeArrowheads="1"/>
          </p:cNvSpPr>
          <p:nvPr>
            <p:ph idx="1"/>
          </p:nvPr>
        </p:nvSpPr>
        <p:spPr/>
        <p:txBody>
          <a:bodyPr/>
          <a:lstStyle/>
          <a:p>
            <a:pPr>
              <a:buFont typeface="Wingdings" pitchFamily="2" charset="2"/>
              <a:buChar char="w"/>
            </a:pPr>
            <a:r>
              <a:rPr lang="en-US" altLang="en-US"/>
              <a:t>Power4</a:t>
            </a:r>
          </a:p>
          <a:p>
            <a:pPr>
              <a:buFont typeface="Wingdings" pitchFamily="2" charset="2"/>
              <a:buChar char="w"/>
            </a:pPr>
            <a:endParaRPr lang="en-US" altLang="en-US"/>
          </a:p>
          <a:p>
            <a:pPr>
              <a:buFont typeface="Wingdings" pitchFamily="2" charset="2"/>
              <a:buChar char="w"/>
            </a:pPr>
            <a:endParaRPr lang="en-US" altLang="en-US"/>
          </a:p>
          <a:p>
            <a:pPr>
              <a:buFont typeface="Wingdings" pitchFamily="2" charset="2"/>
              <a:buChar char="w"/>
            </a:pPr>
            <a:endParaRPr lang="en-US" altLang="en-US"/>
          </a:p>
          <a:p>
            <a:pPr>
              <a:buFont typeface="Wingdings" pitchFamily="2" charset="2"/>
              <a:buChar char="w"/>
            </a:pPr>
            <a:r>
              <a:rPr lang="en-US" altLang="en-US"/>
              <a:t>ARM A7 and A15</a:t>
            </a:r>
          </a:p>
        </p:txBody>
      </p:sp>
      <p:pic>
        <p:nvPicPr>
          <p:cNvPr id="103429" name="Picture 5">
            <a:extLst>
              <a:ext uri="{FF2B5EF4-FFF2-40B4-BE49-F238E27FC236}">
                <a16:creationId xmlns:a16="http://schemas.microsoft.com/office/drawing/2014/main" id="{BD054C4E-5D50-404F-8E82-506DB69211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295400"/>
            <a:ext cx="4267200"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F0373DE5-F972-6243-B72D-E33266A3E4F5}"/>
              </a:ext>
            </a:extLst>
          </p:cNvPr>
          <p:cNvSpPr>
            <a:spLocks noGrp="1" noChangeArrowheads="1"/>
          </p:cNvSpPr>
          <p:nvPr>
            <p:ph type="title"/>
          </p:nvPr>
        </p:nvSpPr>
        <p:spPr/>
        <p:txBody>
          <a:bodyPr/>
          <a:lstStyle/>
          <a:p>
            <a:r>
              <a:rPr lang="en-US" altLang="en-US"/>
              <a:t>Other Examples</a:t>
            </a:r>
          </a:p>
        </p:txBody>
      </p:sp>
      <p:pic>
        <p:nvPicPr>
          <p:cNvPr id="104451" name="Picture 3">
            <a:extLst>
              <a:ext uri="{FF2B5EF4-FFF2-40B4-BE49-F238E27FC236}">
                <a16:creationId xmlns:a16="http://schemas.microsoft.com/office/drawing/2014/main" id="{F8BFFF2C-24BA-B54D-A8C0-0B2AB49D53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141413"/>
            <a:ext cx="8029575"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2" name="Picture 5">
            <a:extLst>
              <a:ext uri="{FF2B5EF4-FFF2-40B4-BE49-F238E27FC236}">
                <a16:creationId xmlns:a16="http://schemas.microsoft.com/office/drawing/2014/main" id="{68AB1ACF-8CBE-CB41-99A2-7B8257B6B9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100" y="4724400"/>
            <a:ext cx="505301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3907D69A-2A9C-4540-9CA8-465C509B9ADE}"/>
              </a:ext>
            </a:extLst>
          </p:cNvPr>
          <p:cNvSpPr>
            <a:spLocks noGrp="1" noChangeArrowheads="1"/>
          </p:cNvSpPr>
          <p:nvPr>
            <p:ph type="title"/>
          </p:nvPr>
        </p:nvSpPr>
        <p:spPr/>
        <p:txBody>
          <a:bodyPr/>
          <a:lstStyle/>
          <a:p>
            <a:r>
              <a:rPr lang="en-US" altLang="en-US"/>
              <a:t>Other Examples</a:t>
            </a:r>
          </a:p>
        </p:txBody>
      </p:sp>
      <p:pic>
        <p:nvPicPr>
          <p:cNvPr id="105475" name="Picture 2">
            <a:extLst>
              <a:ext uri="{FF2B5EF4-FFF2-40B4-BE49-F238E27FC236}">
                <a16:creationId xmlns:a16="http://schemas.microsoft.com/office/drawing/2014/main" id="{5713F059-CC2D-4745-819E-00F79C3B5E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713" y="1141413"/>
            <a:ext cx="6934200" cy="284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6" name="Picture 6">
            <a:extLst>
              <a:ext uri="{FF2B5EF4-FFF2-40B4-BE49-F238E27FC236}">
                <a16:creationId xmlns:a16="http://schemas.microsoft.com/office/drawing/2014/main" id="{DA387351-5CF3-3745-8066-6728B833DB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288" y="3987800"/>
            <a:ext cx="6505575"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4">
            <a:extLst>
              <a:ext uri="{FF2B5EF4-FFF2-40B4-BE49-F238E27FC236}">
                <a16:creationId xmlns:a16="http://schemas.microsoft.com/office/drawing/2014/main" id="{8D5AF9CC-B7D5-6643-881E-97FA47544F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73188"/>
            <a:ext cx="9144000" cy="411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a:extLst>
              <a:ext uri="{FF2B5EF4-FFF2-40B4-BE49-F238E27FC236}">
                <a16:creationId xmlns:a16="http://schemas.microsoft.com/office/drawing/2014/main" id="{D9F3E125-AB63-5045-9B03-900DBC115B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775" y="1490663"/>
            <a:ext cx="741045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80121</TotalTime>
  <Words>5428</Words>
  <Application>Microsoft Macintosh PowerPoint</Application>
  <PresentationFormat>On-screen Show (4:3)</PresentationFormat>
  <Paragraphs>1599</Paragraphs>
  <Slides>70</Slides>
  <Notes>29</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70</vt:i4>
      </vt:variant>
    </vt:vector>
  </HeadingPairs>
  <TitlesOfParts>
    <vt:vector size="84" baseType="lpstr">
      <vt:lpstr>CMR10</vt:lpstr>
      <vt:lpstr>MS PGothic</vt:lpstr>
      <vt:lpstr>MS PGothic</vt:lpstr>
      <vt:lpstr>SFRM1095</vt:lpstr>
      <vt:lpstr>Arial</vt:lpstr>
      <vt:lpstr>Calibri</vt:lpstr>
      <vt:lpstr>Courier</vt:lpstr>
      <vt:lpstr>Courier New</vt:lpstr>
      <vt:lpstr>Garamond</vt:lpstr>
      <vt:lpstr>Tahoma</vt:lpstr>
      <vt:lpstr>Times New Roman</vt:lpstr>
      <vt:lpstr>Wingdings</vt:lpstr>
      <vt:lpstr>Clarity</vt:lpstr>
      <vt:lpstr>Equation</vt:lpstr>
      <vt:lpstr>PowerPoint Presentation</vt:lpstr>
      <vt:lpstr>Objectives and Outline</vt:lpstr>
      <vt:lpstr>PowerPoint Presentation</vt:lpstr>
      <vt:lpstr>Objectives and Outline</vt:lpstr>
      <vt:lpstr>Instruction Level Parallelism</vt:lpstr>
      <vt:lpstr>How to Execute an Instruction</vt:lpstr>
      <vt:lpstr>Executing an Instruction (cont.)</vt:lpstr>
      <vt:lpstr>PowerPoint Presentation</vt:lpstr>
      <vt:lpstr>Example: Analysis (non-pipelined)</vt:lpstr>
      <vt:lpstr>Pipelined DLX</vt:lpstr>
      <vt:lpstr>Pipeline speedup (no stalls)</vt:lpstr>
      <vt:lpstr>Pipeline hazards</vt:lpstr>
      <vt:lpstr>Structural hazards</vt:lpstr>
      <vt:lpstr>Modeling stalls</vt:lpstr>
      <vt:lpstr>Example</vt:lpstr>
      <vt:lpstr>Answer: </vt:lpstr>
      <vt:lpstr>PowerPoint Presentation</vt:lpstr>
      <vt:lpstr>Schedule</vt:lpstr>
      <vt:lpstr>Objectives and Outline</vt:lpstr>
      <vt:lpstr>Control Hazards</vt:lpstr>
      <vt:lpstr>PowerPoint Presentation</vt:lpstr>
      <vt:lpstr>Move branch target back</vt:lpstr>
      <vt:lpstr>Branch Prediction: Eliminating Control Hazard Stalls</vt:lpstr>
      <vt:lpstr>Issues with When and Where</vt:lpstr>
      <vt:lpstr>Aside: Predicting Where with returns</vt:lpstr>
      <vt:lpstr>Issues with Whether: Hardware branch prediction</vt:lpstr>
      <vt:lpstr>Smith n-bit counter predictor</vt:lpstr>
      <vt:lpstr>Example of Smith counter</vt:lpstr>
      <vt:lpstr>Effectivenss of 2-bit Predictor</vt:lpstr>
      <vt:lpstr>Example</vt:lpstr>
      <vt:lpstr>Example</vt:lpstr>
      <vt:lpstr>Example</vt:lpstr>
      <vt:lpstr>Improving the Smith Counter</vt:lpstr>
      <vt:lpstr>McFarling’s Gshare Correlating Predictor</vt:lpstr>
      <vt:lpstr>Gshare example</vt:lpstr>
      <vt:lpstr>PowerPoint Presentation</vt:lpstr>
      <vt:lpstr>Objectives and Outline</vt:lpstr>
      <vt:lpstr>Yeh/Patt predictor</vt:lpstr>
      <vt:lpstr>Yeh/Patt Example: toggle branch</vt:lpstr>
      <vt:lpstr>Hybrid/Tournament Predictors</vt:lpstr>
      <vt:lpstr>Accuracy of Various Predictors</vt:lpstr>
      <vt:lpstr>Aside: Seznec’s TAGE Predictor [2006]</vt:lpstr>
      <vt:lpstr>Can Compiler Help Predict Branch?</vt:lpstr>
      <vt:lpstr>Examples of Ball/Larus predictions</vt:lpstr>
      <vt:lpstr>Profiling</vt:lpstr>
      <vt:lpstr>Effectiveness of Static Predictor</vt:lpstr>
      <vt:lpstr>PowerPoint Presentation</vt:lpstr>
      <vt:lpstr>Objectives and Outline</vt:lpstr>
      <vt:lpstr>Let’s Revisit Types of dependencies</vt:lpstr>
      <vt:lpstr>Dependence Graph</vt:lpstr>
      <vt:lpstr>Aside: Memory Dependences</vt:lpstr>
      <vt:lpstr>Data hazard</vt:lpstr>
      <vt:lpstr>Data forwarding (bypasses)</vt:lpstr>
      <vt:lpstr>Data forwarding (cont.)</vt:lpstr>
      <vt:lpstr>Stalls due to data hazards</vt:lpstr>
      <vt:lpstr>Other data hazards</vt:lpstr>
      <vt:lpstr>Other data hazards (cont.)</vt:lpstr>
      <vt:lpstr>Other data hazards (cont.)</vt:lpstr>
      <vt:lpstr>Pipeline Performance</vt:lpstr>
      <vt:lpstr>Example</vt:lpstr>
      <vt:lpstr>Case 1: Deep Pipeline</vt:lpstr>
      <vt:lpstr>Case 2: RISC vs. CISC Pipeline</vt:lpstr>
      <vt:lpstr>Case 3: Increasing the L1Cache Size</vt:lpstr>
      <vt:lpstr>Case Study: Intel 486</vt:lpstr>
      <vt:lpstr>Other Examples</vt:lpstr>
      <vt:lpstr>Other Examples</vt:lpstr>
      <vt:lpstr>Other Examples</vt:lpstr>
      <vt:lpstr>Other Examples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 Design</dc:title>
  <dc:creator>Sarah</dc:creator>
  <cp:lastModifiedBy>Jongouk Choi</cp:lastModifiedBy>
  <cp:revision>157</cp:revision>
  <dcterms:created xsi:type="dcterms:W3CDTF">2013-08-25T15:09:28Z</dcterms:created>
  <dcterms:modified xsi:type="dcterms:W3CDTF">2026-02-18T21:56:44Z</dcterms:modified>
</cp:coreProperties>
</file>